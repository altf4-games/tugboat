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0:30. On screen: Title slide. Look at the camera for the first sentence.]</a:t>
            </a:r>
          </a:p>
          <a:p>
            <a:r>
              <a:t>Hi, I'm Pradyum Mistry. For my DevOps theory case study I picked Traefik. In the next fifteen minutes I'll explain what it is, show its two main features working on my own machine, and compare it with the alternatives.</a:t>
            </a:r>
          </a:p>
          <a:p>
            <a:r>
              <a:t>The two features are in the title: service discovery with no configuration, and automatic HTTPS.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1:00. On screen: Slide 2. Point at the left items first, then the card on the right.]</a:t>
            </a:r>
          </a:p>
          <a:p>
            <a:r>
              <a:t>Think about what happens when you run containers. Each one gets a new internal address every time it starts, and they start and stop all the time. Something has to sit in front and send each request to the right one. If that something reads its backends from a file, someone has to edit the file and reload the proxy every time a container appears or moves. That's the first chore.</a:t>
            </a:r>
          </a:p>
          <a:p>
            <a:r>
              <a:t>The second chore is HTTPS. Every hostname needs a certificate, and a certificate has to be requested, installed, and renewed before it expires. Traefik takes both chores away. It reads what is running, and it gets the certificates itself.</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0:45. On screen: Slide 3. Trace the loop with the cursor from Plan to Monitor, then rest on Deploy and Operate.]</a:t>
            </a:r>
          </a:p>
          <a:p>
            <a:r>
              <a:t>This is the usual DevOps cycle. Traefik works near the end, in deploy and operate. Once a new version is running, Traefik is what sends live traffic to it, and while the app runs it keeps the routing right as containers come and go.</a:t>
            </a:r>
          </a:p>
          <a:p>
            <a:r>
              <a:t>I chose it for three reasons. It was built for containers, it handles certificates in the same tool, and I already use it in my mini project, Tugboat, so I know where it works well.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1:00. On screen: Slide 4. Read the left column, then the reasons on the right.]</a:t>
            </a:r>
          </a:p>
          <a:p>
            <a:r>
              <a:t>Some facts. Traefik is written in Go and released under the MIT license. It started in 2015 as a side project of Emile Vauge, and version 1.0 came out in 2016. Today it's developed by Traefik Labs. It ships as one binary or as a container image, and it has a dashboard and an API built in.</a:t>
            </a:r>
          </a:p>
          <a:p>
            <a:r>
              <a:t>I used version 3.7.14 for everything you'll see in this video. On the right are my reasons for choosing it: it's made for containers, it does certificates too, I already use it, and I can test both features on a laptop.</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1:30. On screen: Slide 5. Follow the arrows left to right with the cursor, then go to the Providers box, then the two lines at the bottom right.]</a:t>
            </a:r>
          </a:p>
          <a:p>
            <a:r>
              <a:t>Traefik has a handful of ideas to learn. A request arrives on an entrypoint, which is just a port, like 80 or 443. Traefik checks it against its routers. A router is a rule, such as 'the host is whoami dot something'. The router can run middlewares, which change the request or the response, for example by adding a header or redirecting to HTTPS. Then the router passes the request to a service, which usually shares the load over several containers.</a:t>
            </a:r>
          </a:p>
          <a:p>
            <a:r>
              <a:t>The last idea is the provider, at the bottom. A provider is where routes come from, and it can change them while Traefik is running. Docker is a provider, a file is a provider, Kubernetes is a provider.</a:t>
            </a:r>
          </a:p>
          <a:p>
            <a:r>
              <a:t>That gives two kinds of configuration. The static one is read once at start: entrypoints, providers, and certificate resolvers. The dynamic one is the routers, services and middlewares, and it changes live.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1:00. On screen: Slide 6. Read the four steps, then move to the label box.]</a:t>
            </a:r>
          </a:p>
          <a:p>
            <a:r>
              <a:t>Traefik connects to the Docker socket, lists the running containers, and then watches Docker's events. When a container starts, Traefik inspects it, reads the labels that start with traefik, and builds a router and a service from them.</a:t>
            </a:r>
          </a:p>
          <a:p>
            <a:r>
              <a:t>On the right is the whole configuration for one app: a few labels. There's no proxy file to edit, and Traefik isn't restarted.</a:t>
            </a:r>
          </a:p>
          <a:p>
            <a:r>
              <a:t>One caution from the documentation. Access to the Docker socket is powerful, so on a shared server you would put a socket proxy in front of 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1:45. On screen: Slide 7 for ten seconds, then switch to the terminal and run the Demo 1 commands. Switch back to the slide at the end.]</a:t>
            </a:r>
          </a:p>
          <a:p>
            <a:r>
              <a:t>I start Traefik with no apps. Its API lists only its own two routers, and a request for my app's hostname gets a 404.</a:t>
            </a:r>
          </a:p>
          <a:p>
            <a:r>
              <a:t>Now I start the first app. Traefik isn't touched. The same request returns 200, and you can see the header my middleware added.</a:t>
            </a:r>
          </a:p>
          <a:p>
            <a:r>
              <a:t>I add a second app with its own hostname, and that works too. Now I scale the first app to three copies. Six requests in a row, and they rotate across all three containers. Here they are in the dashboard.</a:t>
            </a:r>
          </a:p>
          <a:p>
            <a:r>
              <a:t>Finally I stop the second app, and its hostname goes back to 404. Traefik started once at the beginning and was never restarted.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1:15. On screen: Slide 8. Walk along the five steps, then point at the label and the storage line.]</a:t>
            </a:r>
          </a:p>
          <a:p>
            <a:r>
              <a:t>Now HTTPS. The protocol is called ACME, and Let's Encrypt is the best-known authority that speaks it. A client registers an account, asks for a certificate for a name, and proves that it controls the name by completing a challenge. Then it sends a signing request and gets the certificate back.</a:t>
            </a:r>
          </a:p>
          <a:p>
            <a:r>
              <a:t>Traefik has this client built in. You declare a certificate resolver once, and then a router asks for a certificate with a single label. When that router appears and no certificate exists yet, Traefik runs the whole exchange itself, saves the result in a file called acme.json, and starts renewing thirty days before the certificate expires.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0:45. On screen: Slide 9. Read down the table, then the limits strip.]</a:t>
            </a:r>
          </a:p>
          <a:p>
            <a:r>
              <a:t>The proof of control comes in three kinds. With HTTP-01, the authority fetches a token over plain HTTP, so Traefik has to be reachable on port 80. With TLS-ALPN-01 the authority connects on port 443. With DNS-01 it looks for a record in DNS, and that's the only way to get a wildcard certificate.</a:t>
            </a:r>
          </a:p>
          <a:p>
            <a:r>
              <a:t>There are three limits to know. A public authority has to be able to reach you, so you need a real domain. Public authorities have rate limits, so you test on a staging server first. And the state lives in one file, so the simple case is one Traefik instance.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1:45. On screen: Slide 10 for ten seconds, then switch to the terminal and run the Demo 2 commands. Show the dashboard certificate page, then switch back to the slide.]</a:t>
            </a:r>
          </a:p>
          <a:p>
            <a:r>
              <a:t>I can't use Let's Encrypt from a laptop, so I used Pebble, which is Let's Encrypt's own test server. It speaks the same protocol, so Traefik can't tell the difference. I start Pebble, its challenge server, and Traefik.</a:t>
            </a:r>
          </a:p>
          <a:p>
            <a:r>
              <a:t>Then I start an app whose router asks for the resolver. Look at Traefik's log: it registers, obtains a certificate, the validations succeed, and the server responds with a certificate. I didn't run any certificate command.</a:t>
            </a:r>
          </a:p>
          <a:p>
            <a:r>
              <a:t>Now I check from the client side. The certificate is issued by Pebble's intermediate CA, it works over TLS 1.3, and it verifies when I trust Pebble's root. Without that root, verification fails, as it should. The dashboard shows the router with its resolver, and the certificate.</a:t>
            </a:r>
          </a:p>
          <a:p>
            <a:r>
              <a:t>One limit: this used a test authority, not Let's Encrypt itself.</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1:00. On screen: Slide 11. Point at the diagram: previews on top, production below.]</a:t>
            </a:r>
          </a:p>
          <a:p>
            <a:r>
              <a:t>Traefik is also part of my mini project, Tugboat. For branch previews, Tugboat starts each container with labels, and Traefik discovers it through the Docker provider, exactly like the first demo.</a:t>
            </a:r>
          </a:p>
          <a:p>
            <a:r>
              <a:t>Production is different. A swap done with labels removes and re-adds the router, and requests can be dropped in between. So for production Tugboat writes one route file for the file provider, then asks Traefik's API to confirm the route loaded before it stops the old container. A test sends a request every fifty milliseconds across two production swaps, and none fail.</a:t>
            </a:r>
          </a:p>
          <a:p>
            <a:r>
              <a:t>Tugboat doesn't use Traefik's HTTPS, because its public links come from Cloudflare tunnels. That's why I showed HTTPS separately.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1:00. On screen: Slide 12. Read the Traefik row, then run down the other four.]</a:t>
            </a:r>
          </a:p>
          <a:p>
            <a:r>
              <a:t>How does it compare? I ran only Traefik, so the others are from their documentation.</a:t>
            </a:r>
          </a:p>
          <a:p>
            <a:r>
              <a:t>nginx is configured through files and reloaded, and it has no container discovery in the core. It announced an official ACME module in 2025 as a preview. Caddy has automatic HTTPS on by default, and a community plugin reads Docker labels. HAProxy uses a config file plus a runtime API, and added experimental ACME support in version 3.2. Envoy is configured by a control plane through the xDS APIs, and it leaves certificates to that system.</a:t>
            </a:r>
          </a:p>
          <a:p>
            <a:r>
              <a:t>Only Traefik reads the container platform directly in its core, and it has certificates built in.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0:45. On screen: Slide 13. Left column, then right column.]</a:t>
            </a:r>
          </a:p>
          <a:p>
            <a:r>
              <a:t>What worked: discovery behaved as documented, every change showed up within seconds without a restart, the certificate exchange needed no commands from me, and the dashboard made mistakes easy to see.</a:t>
            </a:r>
          </a:p>
          <a:p>
            <a:r>
              <a:t>What was hard: labels are long strings with no type checking, and Docker socket access is powerful. Traefik and Docker also have to agree on an API version, which I hit when version 3.1 stopped working with a newer Docker. Automatic HTTPS needs a public name. And I didn't measure performance, so I make no claim about speed.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0:30. On screen: Slide 14. Slow down on the last sentence.]</a:t>
            </a:r>
          </a:p>
          <a:p>
            <a:r>
              <a:t>To sum up: Traefik builds its routes from the containers that are running, and it gets certificates through ACME. I confirmed both on real software, with the limits I mentioned.</a:t>
            </a:r>
          </a:p>
          <a:p>
            <a:r>
              <a:t>For my own project, the next step is to use its HTTPS with a real domain.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0:10. On screen: Slide 15. Hold for a couple of seconds, then stop the recording.]</a:t>
            </a:r>
          </a:p>
          <a:p>
            <a:r>
              <a:t>Thank you. The demo files are in the traefik-demo folder of my Tugboat repository.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notesSlide" Target="../notesSlides/notesSlide7.xml"/><Relationship Id="rId7" Type="http://schemas.openxmlformats.org/officeDocument/2006/relationships/image" Target="../media/image6.png"/><Relationship Id="rId8"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notesSlide" Target="../notesSlides/notesSlide11.xml"/><Relationship Id="rId7"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pic>
        <p:nvPicPr>
          <p:cNvPr id="2" name="Picture 1" descr="hero_title.png"/>
          <p:cNvPicPr>
            <a:picLocks noChangeAspect="1"/>
          </p:cNvPicPr>
          <p:nvPr/>
        </p:nvPicPr>
        <p:blipFill>
          <a:blip r:embed="rId2"/>
          <a:stretch>
            <a:fillRect/>
          </a:stretch>
        </p:blipFill>
        <p:spPr>
          <a:xfrm>
            <a:off x="-18288" y="-18288"/>
            <a:ext cx="12228271" cy="6894576"/>
          </a:xfrm>
          <a:prstGeom prst="rect">
            <a:avLst/>
          </a:prstGeom>
        </p:spPr>
      </p:pic>
      <p:pic>
        <p:nvPicPr>
          <p:cNvPr id="3" name="Picture 2" descr="logo_college.png"/>
          <p:cNvPicPr>
            <a:picLocks noChangeAspect="1"/>
          </p:cNvPicPr>
          <p:nvPr/>
        </p:nvPicPr>
        <p:blipFill>
          <a:blip r:embed="rId3"/>
          <a:stretch>
            <a:fillRect/>
          </a:stretch>
        </p:blipFill>
        <p:spPr>
          <a:xfrm>
            <a:off x="640080" y="91440"/>
            <a:ext cx="1625550" cy="475488"/>
          </a:xfrm>
          <a:prstGeom prst="rect">
            <a:avLst/>
          </a:prstGeom>
        </p:spPr>
      </p:pic>
      <p:pic>
        <p:nvPicPr>
          <p:cNvPr id="4" name="Picture 3" descr="logo_trust.png"/>
          <p:cNvPicPr>
            <a:picLocks noChangeAspect="1"/>
          </p:cNvPicPr>
          <p:nvPr/>
        </p:nvPicPr>
        <p:blipFill>
          <a:blip r:embed="rId4"/>
          <a:stretch>
            <a:fillRect/>
          </a:stretch>
        </p:blipFill>
        <p:spPr>
          <a:xfrm>
            <a:off x="10940472" y="91440"/>
            <a:ext cx="608400" cy="457200"/>
          </a:xfrm>
          <a:prstGeom prst="rect">
            <a:avLst/>
          </a:prstGeom>
        </p:spPr>
      </p:pic>
      <p:sp>
        <p:nvSpPr>
          <p:cNvPr id="5" name="TextBox 4"/>
          <p:cNvSpPr txBox="1"/>
          <p:nvPr/>
        </p:nvSpPr>
        <p:spPr>
          <a:xfrm>
            <a:off x="640080" y="685800"/>
            <a:ext cx="7315200" cy="1097280"/>
          </a:xfrm>
          <a:prstGeom prst="rect">
            <a:avLst/>
          </a:prstGeom>
          <a:noFill/>
        </p:spPr>
        <p:txBody>
          <a:bodyPr wrap="square" lIns="0" rIns="0" tIns="0" bIns="0" anchor="t">
            <a:noAutofit/>
          </a:bodyPr>
          <a:lstStyle/>
          <a:p>
            <a:pPr algn="l">
              <a:spcBef>
                <a:spcPts val="0"/>
              </a:spcBef>
              <a:spcAft>
                <a:spcPts val="0"/>
              </a:spcAft>
            </a:pPr>
            <a:r>
              <a:rPr sz="7200" b="1" i="0">
                <a:solidFill>
                  <a:srgbClr val="10263F"/>
                </a:solidFill>
                <a:latin typeface="Georgia"/>
              </a:rPr>
              <a:t>TRAEFIK</a:t>
            </a:r>
          </a:p>
        </p:txBody>
      </p:sp>
      <p:sp>
        <p:nvSpPr>
          <p:cNvPr id="6" name="TextBox 5"/>
          <p:cNvSpPr txBox="1"/>
          <p:nvPr/>
        </p:nvSpPr>
        <p:spPr>
          <a:xfrm>
            <a:off x="640080" y="1874519"/>
            <a:ext cx="6949440" cy="1097280"/>
          </a:xfrm>
          <a:prstGeom prst="rect">
            <a:avLst/>
          </a:prstGeom>
          <a:noFill/>
        </p:spPr>
        <p:txBody>
          <a:bodyPr wrap="square" lIns="0" rIns="0" tIns="0" bIns="0" anchor="t">
            <a:noAutofit/>
          </a:bodyPr>
          <a:lstStyle/>
          <a:p>
            <a:pPr algn="l">
              <a:lnSpc>
                <a:spcPct val="110000"/>
              </a:lnSpc>
              <a:spcBef>
                <a:spcPts val="0"/>
              </a:spcBef>
              <a:spcAft>
                <a:spcPts val="0"/>
              </a:spcAft>
            </a:pPr>
            <a:r>
              <a:rPr sz="3000" b="0" i="0">
                <a:solidFill>
                  <a:srgbClr val="10263F"/>
                </a:solidFill>
                <a:latin typeface="Georgia"/>
              </a:rPr>
              <a:t>Routes that </a:t>
            </a:r>
            <a:r>
              <a:rPr sz="3000" b="0" i="0">
                <a:solidFill>
                  <a:srgbClr val="C8472D"/>
                </a:solidFill>
                <a:latin typeface="Georgia"/>
              </a:rPr>
              <a:t>follow</a:t>
            </a:r>
            <a:r>
              <a:rPr sz="3000" b="0" i="0">
                <a:solidFill>
                  <a:srgbClr val="10263F"/>
                </a:solidFill>
                <a:latin typeface="Georgia"/>
              </a:rPr>
              <a:t> your containers.</a:t>
            </a:r>
          </a:p>
        </p:txBody>
      </p:sp>
      <p:sp>
        <p:nvSpPr>
          <p:cNvPr id="7" name="TextBox 6"/>
          <p:cNvSpPr txBox="1"/>
          <p:nvPr/>
        </p:nvSpPr>
        <p:spPr>
          <a:xfrm>
            <a:off x="640080" y="3063240"/>
            <a:ext cx="5760720" cy="1005840"/>
          </a:xfrm>
          <a:prstGeom prst="rect">
            <a:avLst/>
          </a:prstGeom>
          <a:noFill/>
        </p:spPr>
        <p:txBody>
          <a:bodyPr wrap="square" lIns="0" rIns="0" tIns="0" bIns="0" anchor="t">
            <a:noAutofit/>
          </a:bodyPr>
          <a:lstStyle/>
          <a:p>
            <a:pPr algn="l">
              <a:lnSpc>
                <a:spcPct val="125000"/>
              </a:lnSpc>
              <a:spcBef>
                <a:spcPts val="0"/>
              </a:spcBef>
              <a:spcAft>
                <a:spcPts val="0"/>
              </a:spcAft>
            </a:pPr>
            <a:r>
              <a:rPr sz="1600" b="0" i="0">
                <a:solidFill>
                  <a:srgbClr val="4A5A6B"/>
                </a:solidFill>
                <a:latin typeface="Arial"/>
              </a:rPr>
              <a:t>Zero-config service discovery and automatic HTTPS routing for containerized deployments.</a:t>
            </a:r>
          </a:p>
        </p:txBody>
      </p:sp>
      <p:sp>
        <p:nvSpPr>
          <p:cNvPr id="8" name="TextBox 7"/>
          <p:cNvSpPr txBox="1"/>
          <p:nvPr/>
        </p:nvSpPr>
        <p:spPr>
          <a:xfrm>
            <a:off x="640080" y="6437376"/>
            <a:ext cx="10058400" cy="274320"/>
          </a:xfrm>
          <a:prstGeom prst="rect">
            <a:avLst/>
          </a:prstGeom>
          <a:noFill/>
        </p:spPr>
        <p:txBody>
          <a:bodyPr wrap="square" lIns="0" rIns="0" tIns="0" bIns="0" anchor="ctr">
            <a:noAutofit/>
          </a:bodyPr>
          <a:lstStyle/>
          <a:p>
            <a:pPr algn="l">
              <a:spcBef>
                <a:spcPts val="0"/>
              </a:spcBef>
              <a:spcAft>
                <a:spcPts val="0"/>
              </a:spcAft>
            </a:pPr>
            <a:r>
              <a:rPr sz="1250" b="0" i="0">
                <a:solidFill>
                  <a:srgbClr val="FFFFFF"/>
                </a:solidFill>
                <a:latin typeface="Arial"/>
              </a:rPr>
              <a:t>Pradyum Mistry      |      16010123236      |      DevOps Theory IA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Rectangle 1"/>
          <p:cNvSpPr/>
          <p:nvPr/>
        </p:nvSpPr>
        <p:spPr>
          <a:xfrm>
            <a:off x="640080" y="731520"/>
            <a:ext cx="566928" cy="310896"/>
          </a:xfrm>
          <a:prstGeom prst="rect">
            <a:avLst/>
          </a:prstGeom>
          <a:solidFill>
            <a:srgbClr val="C8472D"/>
          </a:solidFill>
          <a:ln w="15875">
            <a:solidFill>
              <a:srgbClr val="10263F"/>
            </a:solidFill>
          </a:ln>
        </p:spPr>
        <p:txBody>
          <a:bodyPr rtlCol="0" anchor="ctr"/>
          <a:lstStyle/>
          <a:p>
            <a:pPr algn="ctr"/>
          </a:p>
        </p:txBody>
      </p:sp>
      <p:cxnSp>
        <p:nvCxnSpPr>
          <p:cNvPr id="3" name="Connector 2"/>
          <p:cNvCxnSpPr/>
          <p:nvPr/>
        </p:nvCxnSpPr>
        <p:spPr>
          <a:xfrm>
            <a:off x="753465" y="777240"/>
            <a:ext cx="0" cy="219456"/>
          </a:xfrm>
          <a:prstGeom prst="line">
            <a:avLst/>
          </a:prstGeom>
          <a:ln w="9525">
            <a:solidFill>
              <a:srgbClr val="8C311F"/>
            </a:solidFill>
          </a:ln>
        </p:spPr>
      </p:cxnSp>
      <p:cxnSp>
        <p:nvCxnSpPr>
          <p:cNvPr id="4" name="Connector 3"/>
          <p:cNvCxnSpPr/>
          <p:nvPr/>
        </p:nvCxnSpPr>
        <p:spPr>
          <a:xfrm>
            <a:off x="866851" y="777240"/>
            <a:ext cx="0" cy="219456"/>
          </a:xfrm>
          <a:prstGeom prst="line">
            <a:avLst/>
          </a:prstGeom>
          <a:ln w="9525">
            <a:solidFill>
              <a:srgbClr val="8C311F"/>
            </a:solidFill>
          </a:ln>
        </p:spPr>
      </p:cxnSp>
      <p:cxnSp>
        <p:nvCxnSpPr>
          <p:cNvPr id="5" name="Connector 4"/>
          <p:cNvCxnSpPr/>
          <p:nvPr/>
        </p:nvCxnSpPr>
        <p:spPr>
          <a:xfrm>
            <a:off x="980236" y="777240"/>
            <a:ext cx="0" cy="219456"/>
          </a:xfrm>
          <a:prstGeom prst="line">
            <a:avLst/>
          </a:prstGeom>
          <a:ln w="9525">
            <a:solidFill>
              <a:srgbClr val="8C311F"/>
            </a:solidFill>
          </a:ln>
        </p:spPr>
      </p:cxnSp>
      <p:cxnSp>
        <p:nvCxnSpPr>
          <p:cNvPr id="6" name="Connector 5"/>
          <p:cNvCxnSpPr/>
          <p:nvPr/>
        </p:nvCxnSpPr>
        <p:spPr>
          <a:xfrm>
            <a:off x="1093622" y="777240"/>
            <a:ext cx="0" cy="219456"/>
          </a:xfrm>
          <a:prstGeom prst="line">
            <a:avLst/>
          </a:prstGeom>
          <a:ln w="9525">
            <a:solidFill>
              <a:srgbClr val="8C311F"/>
            </a:solidFill>
          </a:ln>
        </p:spPr>
      </p:cxnSp>
      <p:sp>
        <p:nvSpPr>
          <p:cNvPr id="7" name="TextBox 6"/>
          <p:cNvSpPr txBox="1"/>
          <p:nvPr/>
        </p:nvSpPr>
        <p:spPr>
          <a:xfrm>
            <a:off x="1417320" y="548640"/>
            <a:ext cx="10149840" cy="685800"/>
          </a:xfrm>
          <a:prstGeom prst="rect">
            <a:avLst/>
          </a:prstGeom>
          <a:noFill/>
        </p:spPr>
        <p:txBody>
          <a:bodyPr wrap="square" lIns="0" rIns="0" tIns="0" bIns="0" anchor="ctr">
            <a:noAutofit/>
          </a:bodyPr>
          <a:lstStyle/>
          <a:p>
            <a:pPr algn="l">
              <a:spcBef>
                <a:spcPts val="0"/>
              </a:spcBef>
              <a:spcAft>
                <a:spcPts val="0"/>
              </a:spcAft>
            </a:pPr>
            <a:r>
              <a:rPr sz="3000" b="1" i="0">
                <a:solidFill>
                  <a:srgbClr val="10263F"/>
                </a:solidFill>
                <a:latin typeface="Georgia"/>
              </a:rPr>
              <a:t>Two chores every container deployment has</a:t>
            </a:r>
          </a:p>
        </p:txBody>
      </p:sp>
      <p:cxnSp>
        <p:nvCxnSpPr>
          <p:cNvPr id="8" name="Connector 7"/>
          <p:cNvCxnSpPr/>
          <p:nvPr/>
        </p:nvCxnSpPr>
        <p:spPr>
          <a:xfrm>
            <a:off x="640080" y="1335024"/>
            <a:ext cx="10908792" cy="0"/>
          </a:xfrm>
          <a:prstGeom prst="line">
            <a:avLst/>
          </a:prstGeom>
          <a:ln w="15875">
            <a:solidFill>
              <a:srgbClr val="9AA5AE"/>
            </a:solidFill>
            <a:prstDash val="dash"/>
          </a:ln>
        </p:spPr>
      </p:cxnSp>
      <p:pic>
        <p:nvPicPr>
          <p:cNvPr id="9" name="Picture 8" descr="wave_band.png"/>
          <p:cNvPicPr>
            <a:picLocks noChangeAspect="1"/>
          </p:cNvPicPr>
          <p:nvPr/>
        </p:nvPicPr>
        <p:blipFill>
          <a:blip r:embed="rId2"/>
          <a:stretch>
            <a:fillRect/>
          </a:stretch>
        </p:blipFill>
        <p:spPr>
          <a:xfrm>
            <a:off x="0" y="6355080"/>
            <a:ext cx="12191695" cy="502845"/>
          </a:xfrm>
          <a:prstGeom prst="rect">
            <a:avLst/>
          </a:prstGeom>
        </p:spPr>
      </p:pic>
      <p:pic>
        <p:nvPicPr>
          <p:cNvPr id="10" name="Picture 9" descr="tug_small.png"/>
          <p:cNvPicPr>
            <a:picLocks noChangeAspect="1"/>
          </p:cNvPicPr>
          <p:nvPr/>
        </p:nvPicPr>
        <p:blipFill>
          <a:blip r:embed="rId3"/>
          <a:stretch>
            <a:fillRect/>
          </a:stretch>
        </p:blipFill>
        <p:spPr>
          <a:xfrm>
            <a:off x="1371600" y="6070981"/>
            <a:ext cx="566928" cy="457835"/>
          </a:xfrm>
          <a:prstGeom prst="rect">
            <a:avLst/>
          </a:prstGeom>
        </p:spPr>
      </p:pic>
      <p:sp>
        <p:nvSpPr>
          <p:cNvPr id="11" name="TextBox 10"/>
          <p:cNvSpPr txBox="1"/>
          <p:nvPr/>
        </p:nvSpPr>
        <p:spPr>
          <a:xfrm>
            <a:off x="640080" y="6126480"/>
            <a:ext cx="2743200" cy="228600"/>
          </a:xfrm>
          <a:prstGeom prst="rect">
            <a:avLst/>
          </a:prstGeom>
          <a:noFill/>
        </p:spPr>
        <p:txBody>
          <a:bodyPr wrap="square" lIns="0" rIns="0" tIns="0" bIns="0" anchor="ctr">
            <a:noAutofit/>
          </a:bodyPr>
          <a:lstStyle/>
          <a:p>
            <a:pPr algn="l">
              <a:spcBef>
                <a:spcPts val="0"/>
              </a:spcBef>
              <a:spcAft>
                <a:spcPts val="0"/>
              </a:spcAft>
            </a:pPr>
            <a:r>
              <a:rPr sz="1000" b="0" i="0">
                <a:solidFill>
                  <a:srgbClr val="7E8A97"/>
                </a:solidFill>
                <a:latin typeface="Arial"/>
              </a:rPr>
              <a:t>Traefik   2 / 15</a:t>
            </a:r>
          </a:p>
        </p:txBody>
      </p:sp>
      <p:pic>
        <p:nvPicPr>
          <p:cNvPr id="12" name="Picture 11" descr="logo_college.png"/>
          <p:cNvPicPr>
            <a:picLocks noChangeAspect="1"/>
          </p:cNvPicPr>
          <p:nvPr/>
        </p:nvPicPr>
        <p:blipFill>
          <a:blip r:embed="rId4"/>
          <a:stretch>
            <a:fillRect/>
          </a:stretch>
        </p:blipFill>
        <p:spPr>
          <a:xfrm>
            <a:off x="640080" y="91440"/>
            <a:ext cx="1625550" cy="475488"/>
          </a:xfrm>
          <a:prstGeom prst="rect">
            <a:avLst/>
          </a:prstGeom>
        </p:spPr>
      </p:pic>
      <p:pic>
        <p:nvPicPr>
          <p:cNvPr id="13" name="Picture 12" descr="logo_trust.png"/>
          <p:cNvPicPr>
            <a:picLocks noChangeAspect="1"/>
          </p:cNvPicPr>
          <p:nvPr/>
        </p:nvPicPr>
        <p:blipFill>
          <a:blip r:embed="rId5"/>
          <a:stretch>
            <a:fillRect/>
          </a:stretch>
        </p:blipFill>
        <p:spPr>
          <a:xfrm>
            <a:off x="10940472" y="91440"/>
            <a:ext cx="608400" cy="457200"/>
          </a:xfrm>
          <a:prstGeom prst="rect">
            <a:avLst/>
          </a:prstGeom>
        </p:spPr>
      </p:pic>
      <p:sp>
        <p:nvSpPr>
          <p:cNvPr id="14" name="Rounded Rectangle 13"/>
          <p:cNvSpPr/>
          <p:nvPr/>
        </p:nvSpPr>
        <p:spPr>
          <a:xfrm>
            <a:off x="640080" y="1874519"/>
            <a:ext cx="731520" cy="731520"/>
          </a:xfrm>
          <a:prstGeom prst="roundRect">
            <a:avLst>
              <a:gd name="adj" fmla="val 6250"/>
            </a:avLst>
          </a:prstGeom>
          <a:solidFill>
            <a:srgbClr val="C8472D"/>
          </a:solidFill>
          <a:ln w="19050">
            <a:solidFill>
              <a:srgbClr val="10263F"/>
            </a:solidFill>
          </a:ln>
        </p:spPr>
        <p:txBody>
          <a:bodyPr rtlCol="0" anchor="ctr"/>
          <a:lstStyle/>
          <a:p>
            <a:pPr algn="ctr"/>
          </a:p>
        </p:txBody>
      </p:sp>
      <p:sp>
        <p:nvSpPr>
          <p:cNvPr id="15" name="TextBox 14"/>
          <p:cNvSpPr txBox="1"/>
          <p:nvPr/>
        </p:nvSpPr>
        <p:spPr>
          <a:xfrm>
            <a:off x="640080" y="1874519"/>
            <a:ext cx="731520" cy="731520"/>
          </a:xfrm>
          <a:prstGeom prst="rect">
            <a:avLst/>
          </a:prstGeom>
          <a:noFill/>
        </p:spPr>
        <p:txBody>
          <a:bodyPr wrap="square" lIns="0" rIns="0" tIns="0" bIns="0" anchor="ctr">
            <a:noAutofit/>
          </a:bodyPr>
          <a:lstStyle/>
          <a:p>
            <a:pPr algn="ctr">
              <a:spcBef>
                <a:spcPts val="0"/>
              </a:spcBef>
              <a:spcAft>
                <a:spcPts val="0"/>
              </a:spcAft>
            </a:pPr>
            <a:r>
              <a:rPr sz="3000" b="1" i="0">
                <a:solidFill>
                  <a:srgbClr val="FFFFFF"/>
                </a:solidFill>
                <a:latin typeface="Georgia"/>
              </a:rPr>
              <a:t>1</a:t>
            </a:r>
          </a:p>
        </p:txBody>
      </p:sp>
      <p:sp>
        <p:nvSpPr>
          <p:cNvPr id="16" name="TextBox 15"/>
          <p:cNvSpPr txBox="1"/>
          <p:nvPr/>
        </p:nvSpPr>
        <p:spPr>
          <a:xfrm>
            <a:off x="1645920" y="1783080"/>
            <a:ext cx="4663440" cy="457200"/>
          </a:xfrm>
          <a:prstGeom prst="rect">
            <a:avLst/>
          </a:prstGeom>
          <a:noFill/>
        </p:spPr>
        <p:txBody>
          <a:bodyPr wrap="square" lIns="0" rIns="0" tIns="0" bIns="0" anchor="t">
            <a:noAutofit/>
          </a:bodyPr>
          <a:lstStyle/>
          <a:p>
            <a:pPr algn="l">
              <a:spcBef>
                <a:spcPts val="0"/>
              </a:spcBef>
              <a:spcAft>
                <a:spcPts val="0"/>
              </a:spcAft>
            </a:pPr>
            <a:r>
              <a:rPr sz="2300" b="1" i="0">
                <a:solidFill>
                  <a:srgbClr val="10263F"/>
                </a:solidFill>
                <a:latin typeface="Georgia"/>
              </a:rPr>
              <a:t>Keep the routes in step.</a:t>
            </a:r>
          </a:p>
        </p:txBody>
      </p:sp>
      <p:sp>
        <p:nvSpPr>
          <p:cNvPr id="17" name="TextBox 16"/>
          <p:cNvSpPr txBox="1"/>
          <p:nvPr/>
        </p:nvSpPr>
        <p:spPr>
          <a:xfrm>
            <a:off x="1645920" y="2350008"/>
            <a:ext cx="4663440" cy="731520"/>
          </a:xfrm>
          <a:prstGeom prst="rect">
            <a:avLst/>
          </a:prstGeom>
          <a:noFill/>
        </p:spPr>
        <p:txBody>
          <a:bodyPr wrap="square" lIns="0" rIns="0" tIns="0" bIns="0" anchor="t">
            <a:noAutofit/>
          </a:bodyPr>
          <a:lstStyle/>
          <a:p>
            <a:pPr algn="l">
              <a:lnSpc>
                <a:spcPct val="120000"/>
              </a:lnSpc>
              <a:spcBef>
                <a:spcPts val="0"/>
              </a:spcBef>
              <a:spcAft>
                <a:spcPts val="0"/>
              </a:spcAft>
            </a:pPr>
            <a:r>
              <a:rPr sz="1500" b="0" i="0">
                <a:solidFill>
                  <a:srgbClr val="4A5A6B"/>
                </a:solidFill>
                <a:latin typeface="Arial"/>
              </a:rPr>
              <a:t>Containers start and stop all the time, and each gets a new address.</a:t>
            </a:r>
          </a:p>
        </p:txBody>
      </p:sp>
      <p:cxnSp>
        <p:nvCxnSpPr>
          <p:cNvPr id="18" name="Connector 17"/>
          <p:cNvCxnSpPr/>
          <p:nvPr/>
        </p:nvCxnSpPr>
        <p:spPr>
          <a:xfrm>
            <a:off x="640080" y="3337559"/>
            <a:ext cx="5669280" cy="0"/>
          </a:xfrm>
          <a:prstGeom prst="line">
            <a:avLst/>
          </a:prstGeom>
          <a:ln w="15875">
            <a:solidFill>
              <a:srgbClr val="9AA5AE"/>
            </a:solidFill>
            <a:prstDash val="dash"/>
          </a:ln>
        </p:spPr>
      </p:cxnSp>
      <p:sp>
        <p:nvSpPr>
          <p:cNvPr id="19" name="Rounded Rectangle 18"/>
          <p:cNvSpPr/>
          <p:nvPr/>
        </p:nvSpPr>
        <p:spPr>
          <a:xfrm>
            <a:off x="640080" y="3611879"/>
            <a:ext cx="731520" cy="731520"/>
          </a:xfrm>
          <a:prstGeom prst="roundRect">
            <a:avLst>
              <a:gd name="adj" fmla="val 6250"/>
            </a:avLst>
          </a:prstGeom>
          <a:solidFill>
            <a:srgbClr val="E9B93A"/>
          </a:solidFill>
          <a:ln w="19050">
            <a:solidFill>
              <a:srgbClr val="10263F"/>
            </a:solidFill>
          </a:ln>
        </p:spPr>
        <p:txBody>
          <a:bodyPr rtlCol="0" anchor="ctr"/>
          <a:lstStyle/>
          <a:p>
            <a:pPr algn="ctr"/>
          </a:p>
        </p:txBody>
      </p:sp>
      <p:sp>
        <p:nvSpPr>
          <p:cNvPr id="20" name="TextBox 19"/>
          <p:cNvSpPr txBox="1"/>
          <p:nvPr/>
        </p:nvSpPr>
        <p:spPr>
          <a:xfrm>
            <a:off x="640080" y="3611879"/>
            <a:ext cx="731520" cy="731520"/>
          </a:xfrm>
          <a:prstGeom prst="rect">
            <a:avLst/>
          </a:prstGeom>
          <a:noFill/>
        </p:spPr>
        <p:txBody>
          <a:bodyPr wrap="square" lIns="0" rIns="0" tIns="0" bIns="0" anchor="ctr">
            <a:noAutofit/>
          </a:bodyPr>
          <a:lstStyle/>
          <a:p>
            <a:pPr algn="ctr">
              <a:spcBef>
                <a:spcPts val="0"/>
              </a:spcBef>
              <a:spcAft>
                <a:spcPts val="0"/>
              </a:spcAft>
            </a:pPr>
            <a:r>
              <a:rPr sz="3000" b="1" i="0">
                <a:solidFill>
                  <a:srgbClr val="10263F"/>
                </a:solidFill>
                <a:latin typeface="Georgia"/>
              </a:rPr>
              <a:t>2</a:t>
            </a:r>
          </a:p>
        </p:txBody>
      </p:sp>
      <p:sp>
        <p:nvSpPr>
          <p:cNvPr id="21" name="TextBox 20"/>
          <p:cNvSpPr txBox="1"/>
          <p:nvPr/>
        </p:nvSpPr>
        <p:spPr>
          <a:xfrm>
            <a:off x="1645920" y="3520439"/>
            <a:ext cx="4663440" cy="457200"/>
          </a:xfrm>
          <a:prstGeom prst="rect">
            <a:avLst/>
          </a:prstGeom>
          <a:noFill/>
        </p:spPr>
        <p:txBody>
          <a:bodyPr wrap="square" lIns="0" rIns="0" tIns="0" bIns="0" anchor="t">
            <a:noAutofit/>
          </a:bodyPr>
          <a:lstStyle/>
          <a:p>
            <a:pPr algn="l">
              <a:spcBef>
                <a:spcPts val="0"/>
              </a:spcBef>
              <a:spcAft>
                <a:spcPts val="0"/>
              </a:spcAft>
            </a:pPr>
            <a:r>
              <a:rPr sz="2300" b="1" i="0">
                <a:solidFill>
                  <a:srgbClr val="10263F"/>
                </a:solidFill>
                <a:latin typeface="Georgia"/>
              </a:rPr>
              <a:t>Get a certificate for every name.</a:t>
            </a:r>
          </a:p>
        </p:txBody>
      </p:sp>
      <p:sp>
        <p:nvSpPr>
          <p:cNvPr id="22" name="TextBox 21"/>
          <p:cNvSpPr txBox="1"/>
          <p:nvPr/>
        </p:nvSpPr>
        <p:spPr>
          <a:xfrm>
            <a:off x="1645920" y="4087368"/>
            <a:ext cx="4663440" cy="731520"/>
          </a:xfrm>
          <a:prstGeom prst="rect">
            <a:avLst/>
          </a:prstGeom>
          <a:noFill/>
        </p:spPr>
        <p:txBody>
          <a:bodyPr wrap="square" lIns="0" rIns="0" tIns="0" bIns="0" anchor="t">
            <a:noAutofit/>
          </a:bodyPr>
          <a:lstStyle/>
          <a:p>
            <a:pPr algn="l">
              <a:lnSpc>
                <a:spcPct val="120000"/>
              </a:lnSpc>
              <a:spcBef>
                <a:spcPts val="0"/>
              </a:spcBef>
              <a:spcAft>
                <a:spcPts val="0"/>
              </a:spcAft>
            </a:pPr>
            <a:r>
              <a:rPr sz="1500" b="0" i="0">
                <a:solidFill>
                  <a:srgbClr val="4A5A6B"/>
                </a:solidFill>
                <a:latin typeface="Arial"/>
              </a:rPr>
              <a:t>Request it, install it, and renew it before it expires.</a:t>
            </a:r>
          </a:p>
        </p:txBody>
      </p:sp>
      <p:sp>
        <p:nvSpPr>
          <p:cNvPr id="23" name="Rounded Rectangle 22"/>
          <p:cNvSpPr/>
          <p:nvPr/>
        </p:nvSpPr>
        <p:spPr>
          <a:xfrm>
            <a:off x="7013448" y="1801368"/>
            <a:ext cx="4599432" cy="3246120"/>
          </a:xfrm>
          <a:prstGeom prst="roundRect">
            <a:avLst>
              <a:gd name="adj" fmla="val 1126"/>
            </a:avLst>
          </a:prstGeom>
          <a:solidFill>
            <a:srgbClr val="10263F"/>
          </a:solidFill>
          <a:ln>
            <a:noFill/>
          </a:ln>
        </p:spPr>
        <p:txBody>
          <a:bodyPr rtlCol="0" anchor="ctr"/>
          <a:lstStyle/>
          <a:p>
            <a:pPr algn="ctr"/>
          </a:p>
        </p:txBody>
      </p:sp>
      <p:sp>
        <p:nvSpPr>
          <p:cNvPr id="24" name="Rounded Rectangle 23"/>
          <p:cNvSpPr/>
          <p:nvPr/>
        </p:nvSpPr>
        <p:spPr>
          <a:xfrm>
            <a:off x="6949440" y="1737360"/>
            <a:ext cx="4599432" cy="3246120"/>
          </a:xfrm>
          <a:prstGeom prst="roundRect">
            <a:avLst>
              <a:gd name="adj" fmla="val 1126"/>
            </a:avLst>
          </a:prstGeom>
          <a:solidFill>
            <a:srgbClr val="FFFFFF"/>
          </a:solidFill>
          <a:ln w="22225">
            <a:solidFill>
              <a:srgbClr val="10263F"/>
            </a:solidFill>
          </a:ln>
        </p:spPr>
        <p:txBody>
          <a:bodyPr rtlCol="0" anchor="ctr"/>
          <a:lstStyle/>
          <a:p>
            <a:pPr algn="ctr"/>
          </a:p>
        </p:txBody>
      </p:sp>
      <p:sp>
        <p:nvSpPr>
          <p:cNvPr id="25" name="TextBox 24"/>
          <p:cNvSpPr txBox="1"/>
          <p:nvPr/>
        </p:nvSpPr>
        <p:spPr>
          <a:xfrm>
            <a:off x="7269480" y="2011680"/>
            <a:ext cx="4023360" cy="2834640"/>
          </a:xfrm>
          <a:prstGeom prst="rect">
            <a:avLst/>
          </a:prstGeom>
          <a:noFill/>
        </p:spPr>
        <p:txBody>
          <a:bodyPr wrap="square" lIns="0" rIns="0" tIns="0" bIns="0" anchor="t">
            <a:noAutofit/>
          </a:bodyPr>
          <a:lstStyle/>
          <a:p>
            <a:pPr algn="l">
              <a:lnSpc>
                <a:spcPct val="125000"/>
              </a:lnSpc>
              <a:spcBef>
                <a:spcPts val="0"/>
              </a:spcBef>
              <a:spcAft>
                <a:spcPts val="2200"/>
              </a:spcAft>
            </a:pPr>
            <a:r>
              <a:rPr sz="1500" b="0" i="0">
                <a:solidFill>
                  <a:srgbClr val="4A5A6B"/>
                </a:solidFill>
                <a:latin typeface="Arial"/>
              </a:rPr>
              <a:t>With a proxy that reads a config file, someone edits the file and reloads the proxy every time a container moves.</a:t>
            </a:r>
          </a:p>
          <a:p>
            <a:pPr algn="l">
              <a:lnSpc>
                <a:spcPct val="120000"/>
              </a:lnSpc>
              <a:spcBef>
                <a:spcPts val="0"/>
              </a:spcBef>
              <a:spcAft>
                <a:spcPts val="0"/>
              </a:spcAft>
            </a:pPr>
            <a:r>
              <a:rPr sz="2400" b="1" i="0">
                <a:solidFill>
                  <a:srgbClr val="10263F"/>
                </a:solidFill>
                <a:latin typeface="Georgia"/>
              </a:rPr>
              <a:t>Traefik reads what is running, and gets the certificates itself.</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Rectangle 1"/>
          <p:cNvSpPr/>
          <p:nvPr/>
        </p:nvSpPr>
        <p:spPr>
          <a:xfrm>
            <a:off x="640080" y="731520"/>
            <a:ext cx="566928" cy="310896"/>
          </a:xfrm>
          <a:prstGeom prst="rect">
            <a:avLst/>
          </a:prstGeom>
          <a:solidFill>
            <a:srgbClr val="E9B93A"/>
          </a:solidFill>
          <a:ln w="15875">
            <a:solidFill>
              <a:srgbClr val="10263F"/>
            </a:solidFill>
          </a:ln>
        </p:spPr>
        <p:txBody>
          <a:bodyPr rtlCol="0" anchor="ctr"/>
          <a:lstStyle/>
          <a:p>
            <a:pPr algn="ctr"/>
          </a:p>
        </p:txBody>
      </p:sp>
      <p:cxnSp>
        <p:nvCxnSpPr>
          <p:cNvPr id="3" name="Connector 2"/>
          <p:cNvCxnSpPr/>
          <p:nvPr/>
        </p:nvCxnSpPr>
        <p:spPr>
          <a:xfrm>
            <a:off x="753465" y="777240"/>
            <a:ext cx="0" cy="219456"/>
          </a:xfrm>
          <a:prstGeom prst="line">
            <a:avLst/>
          </a:prstGeom>
          <a:ln w="9525">
            <a:solidFill>
              <a:srgbClr val="A38128"/>
            </a:solidFill>
          </a:ln>
        </p:spPr>
      </p:cxnSp>
      <p:cxnSp>
        <p:nvCxnSpPr>
          <p:cNvPr id="4" name="Connector 3"/>
          <p:cNvCxnSpPr/>
          <p:nvPr/>
        </p:nvCxnSpPr>
        <p:spPr>
          <a:xfrm>
            <a:off x="866851" y="777240"/>
            <a:ext cx="0" cy="219456"/>
          </a:xfrm>
          <a:prstGeom prst="line">
            <a:avLst/>
          </a:prstGeom>
          <a:ln w="9525">
            <a:solidFill>
              <a:srgbClr val="A38128"/>
            </a:solidFill>
          </a:ln>
        </p:spPr>
      </p:cxnSp>
      <p:cxnSp>
        <p:nvCxnSpPr>
          <p:cNvPr id="5" name="Connector 4"/>
          <p:cNvCxnSpPr/>
          <p:nvPr/>
        </p:nvCxnSpPr>
        <p:spPr>
          <a:xfrm>
            <a:off x="980236" y="777240"/>
            <a:ext cx="0" cy="219456"/>
          </a:xfrm>
          <a:prstGeom prst="line">
            <a:avLst/>
          </a:prstGeom>
          <a:ln w="9525">
            <a:solidFill>
              <a:srgbClr val="A38128"/>
            </a:solidFill>
          </a:ln>
        </p:spPr>
      </p:cxnSp>
      <p:cxnSp>
        <p:nvCxnSpPr>
          <p:cNvPr id="6" name="Connector 5"/>
          <p:cNvCxnSpPr/>
          <p:nvPr/>
        </p:nvCxnSpPr>
        <p:spPr>
          <a:xfrm>
            <a:off x="1093622" y="777240"/>
            <a:ext cx="0" cy="219456"/>
          </a:xfrm>
          <a:prstGeom prst="line">
            <a:avLst/>
          </a:prstGeom>
          <a:ln w="9525">
            <a:solidFill>
              <a:srgbClr val="A38128"/>
            </a:solidFill>
          </a:ln>
        </p:spPr>
      </p:cxnSp>
      <p:sp>
        <p:nvSpPr>
          <p:cNvPr id="7" name="TextBox 6"/>
          <p:cNvSpPr txBox="1"/>
          <p:nvPr/>
        </p:nvSpPr>
        <p:spPr>
          <a:xfrm>
            <a:off x="1417320" y="548640"/>
            <a:ext cx="10149840" cy="685800"/>
          </a:xfrm>
          <a:prstGeom prst="rect">
            <a:avLst/>
          </a:prstGeom>
          <a:noFill/>
        </p:spPr>
        <p:txBody>
          <a:bodyPr wrap="square" lIns="0" rIns="0" tIns="0" bIns="0" anchor="ctr">
            <a:noAutofit/>
          </a:bodyPr>
          <a:lstStyle/>
          <a:p>
            <a:pPr algn="l">
              <a:spcBef>
                <a:spcPts val="0"/>
              </a:spcBef>
              <a:spcAft>
                <a:spcPts val="0"/>
              </a:spcAft>
            </a:pPr>
            <a:r>
              <a:rPr sz="3000" b="1" i="0">
                <a:solidFill>
                  <a:srgbClr val="10263F"/>
                </a:solidFill>
                <a:latin typeface="Georgia"/>
              </a:rPr>
              <a:t>Where Traefik fits in the DevOps cycle</a:t>
            </a:r>
          </a:p>
        </p:txBody>
      </p:sp>
      <p:cxnSp>
        <p:nvCxnSpPr>
          <p:cNvPr id="8" name="Connector 7"/>
          <p:cNvCxnSpPr/>
          <p:nvPr/>
        </p:nvCxnSpPr>
        <p:spPr>
          <a:xfrm>
            <a:off x="640080" y="1335024"/>
            <a:ext cx="10908792" cy="0"/>
          </a:xfrm>
          <a:prstGeom prst="line">
            <a:avLst/>
          </a:prstGeom>
          <a:ln w="15875">
            <a:solidFill>
              <a:srgbClr val="9AA5AE"/>
            </a:solidFill>
            <a:prstDash val="dash"/>
          </a:ln>
        </p:spPr>
      </p:cxnSp>
      <p:pic>
        <p:nvPicPr>
          <p:cNvPr id="9" name="Picture 8" descr="wave_band.png"/>
          <p:cNvPicPr>
            <a:picLocks noChangeAspect="1"/>
          </p:cNvPicPr>
          <p:nvPr/>
        </p:nvPicPr>
        <p:blipFill>
          <a:blip r:embed="rId2"/>
          <a:stretch>
            <a:fillRect/>
          </a:stretch>
        </p:blipFill>
        <p:spPr>
          <a:xfrm>
            <a:off x="0" y="6355080"/>
            <a:ext cx="12191695" cy="502845"/>
          </a:xfrm>
          <a:prstGeom prst="rect">
            <a:avLst/>
          </a:prstGeom>
        </p:spPr>
      </p:pic>
      <p:pic>
        <p:nvPicPr>
          <p:cNvPr id="10" name="Picture 9" descr="tug_small.png"/>
          <p:cNvPicPr>
            <a:picLocks noChangeAspect="1"/>
          </p:cNvPicPr>
          <p:nvPr/>
        </p:nvPicPr>
        <p:blipFill>
          <a:blip r:embed="rId3"/>
          <a:stretch>
            <a:fillRect/>
          </a:stretch>
        </p:blipFill>
        <p:spPr>
          <a:xfrm>
            <a:off x="2138289" y="6070981"/>
            <a:ext cx="566928" cy="457835"/>
          </a:xfrm>
          <a:prstGeom prst="rect">
            <a:avLst/>
          </a:prstGeom>
        </p:spPr>
      </p:pic>
      <p:sp>
        <p:nvSpPr>
          <p:cNvPr id="11" name="TextBox 10"/>
          <p:cNvSpPr txBox="1"/>
          <p:nvPr/>
        </p:nvSpPr>
        <p:spPr>
          <a:xfrm>
            <a:off x="640080" y="6126480"/>
            <a:ext cx="2743200" cy="228600"/>
          </a:xfrm>
          <a:prstGeom prst="rect">
            <a:avLst/>
          </a:prstGeom>
          <a:noFill/>
        </p:spPr>
        <p:txBody>
          <a:bodyPr wrap="square" lIns="0" rIns="0" tIns="0" bIns="0" anchor="ctr">
            <a:noAutofit/>
          </a:bodyPr>
          <a:lstStyle/>
          <a:p>
            <a:pPr algn="l">
              <a:spcBef>
                <a:spcPts val="0"/>
              </a:spcBef>
              <a:spcAft>
                <a:spcPts val="0"/>
              </a:spcAft>
            </a:pPr>
            <a:r>
              <a:rPr sz="1000" b="0" i="0">
                <a:solidFill>
                  <a:srgbClr val="7E8A97"/>
                </a:solidFill>
                <a:latin typeface="Arial"/>
              </a:rPr>
              <a:t>Traefik   3 / 15</a:t>
            </a:r>
          </a:p>
        </p:txBody>
      </p:sp>
      <p:pic>
        <p:nvPicPr>
          <p:cNvPr id="12" name="Picture 11" descr="logo_college.png"/>
          <p:cNvPicPr>
            <a:picLocks noChangeAspect="1"/>
          </p:cNvPicPr>
          <p:nvPr/>
        </p:nvPicPr>
        <p:blipFill>
          <a:blip r:embed="rId4"/>
          <a:stretch>
            <a:fillRect/>
          </a:stretch>
        </p:blipFill>
        <p:spPr>
          <a:xfrm>
            <a:off x="640080" y="91440"/>
            <a:ext cx="1625550" cy="475488"/>
          </a:xfrm>
          <a:prstGeom prst="rect">
            <a:avLst/>
          </a:prstGeom>
        </p:spPr>
      </p:pic>
      <p:pic>
        <p:nvPicPr>
          <p:cNvPr id="13" name="Picture 12" descr="logo_trust.png"/>
          <p:cNvPicPr>
            <a:picLocks noChangeAspect="1"/>
          </p:cNvPicPr>
          <p:nvPr/>
        </p:nvPicPr>
        <p:blipFill>
          <a:blip r:embed="rId5"/>
          <a:stretch>
            <a:fillRect/>
          </a:stretch>
        </p:blipFill>
        <p:spPr>
          <a:xfrm>
            <a:off x="10940472" y="91440"/>
            <a:ext cx="608400" cy="457200"/>
          </a:xfrm>
          <a:prstGeom prst="rect">
            <a:avLst/>
          </a:prstGeom>
        </p:spPr>
      </p:pic>
      <p:sp>
        <p:nvSpPr>
          <p:cNvPr id="14" name="Rectangle 13"/>
          <p:cNvSpPr/>
          <p:nvPr/>
        </p:nvSpPr>
        <p:spPr>
          <a:xfrm>
            <a:off x="640080" y="1691640"/>
            <a:ext cx="2286000" cy="914400"/>
          </a:xfrm>
          <a:prstGeom prst="rect">
            <a:avLst/>
          </a:prstGeom>
          <a:solidFill>
            <a:srgbClr val="C8472D"/>
          </a:solidFill>
          <a:ln w="22225">
            <a:solidFill>
              <a:srgbClr val="10263F"/>
            </a:solidFill>
          </a:ln>
        </p:spPr>
        <p:txBody>
          <a:bodyPr rtlCol="0" anchor="ctr"/>
          <a:lstStyle/>
          <a:p>
            <a:pPr algn="ctr"/>
          </a:p>
        </p:txBody>
      </p:sp>
      <p:cxnSp>
        <p:nvCxnSpPr>
          <p:cNvPr id="15" name="Connector 14"/>
          <p:cNvCxnSpPr/>
          <p:nvPr/>
        </p:nvCxnSpPr>
        <p:spPr>
          <a:xfrm>
            <a:off x="782955" y="1764792"/>
            <a:ext cx="0" cy="768096"/>
          </a:xfrm>
          <a:prstGeom prst="line">
            <a:avLst/>
          </a:prstGeom>
          <a:ln w="12700">
            <a:solidFill>
              <a:srgbClr val="A03824"/>
            </a:solidFill>
          </a:ln>
        </p:spPr>
      </p:cxnSp>
      <p:cxnSp>
        <p:nvCxnSpPr>
          <p:cNvPr id="16" name="Connector 15"/>
          <p:cNvCxnSpPr/>
          <p:nvPr/>
        </p:nvCxnSpPr>
        <p:spPr>
          <a:xfrm>
            <a:off x="925830" y="1764792"/>
            <a:ext cx="0" cy="768096"/>
          </a:xfrm>
          <a:prstGeom prst="line">
            <a:avLst/>
          </a:prstGeom>
          <a:ln w="12700">
            <a:solidFill>
              <a:srgbClr val="A03824"/>
            </a:solidFill>
          </a:ln>
        </p:spPr>
      </p:cxnSp>
      <p:cxnSp>
        <p:nvCxnSpPr>
          <p:cNvPr id="17" name="Connector 16"/>
          <p:cNvCxnSpPr/>
          <p:nvPr/>
        </p:nvCxnSpPr>
        <p:spPr>
          <a:xfrm>
            <a:off x="1068705" y="1764792"/>
            <a:ext cx="0" cy="768096"/>
          </a:xfrm>
          <a:prstGeom prst="line">
            <a:avLst/>
          </a:prstGeom>
          <a:ln w="12700">
            <a:solidFill>
              <a:srgbClr val="A03824"/>
            </a:solidFill>
          </a:ln>
        </p:spPr>
      </p:cxnSp>
      <p:cxnSp>
        <p:nvCxnSpPr>
          <p:cNvPr id="18" name="Connector 17"/>
          <p:cNvCxnSpPr/>
          <p:nvPr/>
        </p:nvCxnSpPr>
        <p:spPr>
          <a:xfrm>
            <a:off x="1211580" y="1764792"/>
            <a:ext cx="0" cy="768096"/>
          </a:xfrm>
          <a:prstGeom prst="line">
            <a:avLst/>
          </a:prstGeom>
          <a:ln w="12700">
            <a:solidFill>
              <a:srgbClr val="A03824"/>
            </a:solidFill>
          </a:ln>
        </p:spPr>
      </p:cxnSp>
      <p:cxnSp>
        <p:nvCxnSpPr>
          <p:cNvPr id="19" name="Connector 18"/>
          <p:cNvCxnSpPr/>
          <p:nvPr/>
        </p:nvCxnSpPr>
        <p:spPr>
          <a:xfrm>
            <a:off x="1354455" y="1764792"/>
            <a:ext cx="0" cy="768096"/>
          </a:xfrm>
          <a:prstGeom prst="line">
            <a:avLst/>
          </a:prstGeom>
          <a:ln w="12700">
            <a:solidFill>
              <a:srgbClr val="A03824"/>
            </a:solidFill>
          </a:ln>
        </p:spPr>
      </p:cxnSp>
      <p:cxnSp>
        <p:nvCxnSpPr>
          <p:cNvPr id="20" name="Connector 19"/>
          <p:cNvCxnSpPr/>
          <p:nvPr/>
        </p:nvCxnSpPr>
        <p:spPr>
          <a:xfrm>
            <a:off x="1497330" y="1764792"/>
            <a:ext cx="0" cy="768096"/>
          </a:xfrm>
          <a:prstGeom prst="line">
            <a:avLst/>
          </a:prstGeom>
          <a:ln w="12700">
            <a:solidFill>
              <a:srgbClr val="A03824"/>
            </a:solidFill>
          </a:ln>
        </p:spPr>
      </p:cxnSp>
      <p:cxnSp>
        <p:nvCxnSpPr>
          <p:cNvPr id="21" name="Connector 20"/>
          <p:cNvCxnSpPr/>
          <p:nvPr/>
        </p:nvCxnSpPr>
        <p:spPr>
          <a:xfrm>
            <a:off x="1640205" y="1764792"/>
            <a:ext cx="0" cy="768096"/>
          </a:xfrm>
          <a:prstGeom prst="line">
            <a:avLst/>
          </a:prstGeom>
          <a:ln w="12700">
            <a:solidFill>
              <a:srgbClr val="A03824"/>
            </a:solidFill>
          </a:ln>
        </p:spPr>
      </p:cxnSp>
      <p:cxnSp>
        <p:nvCxnSpPr>
          <p:cNvPr id="22" name="Connector 21"/>
          <p:cNvCxnSpPr/>
          <p:nvPr/>
        </p:nvCxnSpPr>
        <p:spPr>
          <a:xfrm>
            <a:off x="1783080" y="1764792"/>
            <a:ext cx="0" cy="768096"/>
          </a:xfrm>
          <a:prstGeom prst="line">
            <a:avLst/>
          </a:prstGeom>
          <a:ln w="12700">
            <a:solidFill>
              <a:srgbClr val="A03824"/>
            </a:solidFill>
          </a:ln>
        </p:spPr>
      </p:cxnSp>
      <p:cxnSp>
        <p:nvCxnSpPr>
          <p:cNvPr id="23" name="Connector 22"/>
          <p:cNvCxnSpPr/>
          <p:nvPr/>
        </p:nvCxnSpPr>
        <p:spPr>
          <a:xfrm>
            <a:off x="1925955" y="1764792"/>
            <a:ext cx="0" cy="768096"/>
          </a:xfrm>
          <a:prstGeom prst="line">
            <a:avLst/>
          </a:prstGeom>
          <a:ln w="12700">
            <a:solidFill>
              <a:srgbClr val="A03824"/>
            </a:solidFill>
          </a:ln>
        </p:spPr>
      </p:cxnSp>
      <p:cxnSp>
        <p:nvCxnSpPr>
          <p:cNvPr id="24" name="Connector 23"/>
          <p:cNvCxnSpPr/>
          <p:nvPr/>
        </p:nvCxnSpPr>
        <p:spPr>
          <a:xfrm>
            <a:off x="2068830" y="1764792"/>
            <a:ext cx="0" cy="768096"/>
          </a:xfrm>
          <a:prstGeom prst="line">
            <a:avLst/>
          </a:prstGeom>
          <a:ln w="12700">
            <a:solidFill>
              <a:srgbClr val="A03824"/>
            </a:solidFill>
          </a:ln>
        </p:spPr>
      </p:cxnSp>
      <p:cxnSp>
        <p:nvCxnSpPr>
          <p:cNvPr id="25" name="Connector 24"/>
          <p:cNvCxnSpPr/>
          <p:nvPr/>
        </p:nvCxnSpPr>
        <p:spPr>
          <a:xfrm>
            <a:off x="2211705" y="1764792"/>
            <a:ext cx="0" cy="768096"/>
          </a:xfrm>
          <a:prstGeom prst="line">
            <a:avLst/>
          </a:prstGeom>
          <a:ln w="12700">
            <a:solidFill>
              <a:srgbClr val="A03824"/>
            </a:solidFill>
          </a:ln>
        </p:spPr>
      </p:cxnSp>
      <p:cxnSp>
        <p:nvCxnSpPr>
          <p:cNvPr id="26" name="Connector 25"/>
          <p:cNvCxnSpPr/>
          <p:nvPr/>
        </p:nvCxnSpPr>
        <p:spPr>
          <a:xfrm>
            <a:off x="2354580" y="1764792"/>
            <a:ext cx="0" cy="768096"/>
          </a:xfrm>
          <a:prstGeom prst="line">
            <a:avLst/>
          </a:prstGeom>
          <a:ln w="12700">
            <a:solidFill>
              <a:srgbClr val="A03824"/>
            </a:solidFill>
          </a:ln>
        </p:spPr>
      </p:cxnSp>
      <p:cxnSp>
        <p:nvCxnSpPr>
          <p:cNvPr id="27" name="Connector 26"/>
          <p:cNvCxnSpPr/>
          <p:nvPr/>
        </p:nvCxnSpPr>
        <p:spPr>
          <a:xfrm>
            <a:off x="2497455" y="1764792"/>
            <a:ext cx="0" cy="768096"/>
          </a:xfrm>
          <a:prstGeom prst="line">
            <a:avLst/>
          </a:prstGeom>
          <a:ln w="12700">
            <a:solidFill>
              <a:srgbClr val="A03824"/>
            </a:solidFill>
          </a:ln>
        </p:spPr>
      </p:cxnSp>
      <p:cxnSp>
        <p:nvCxnSpPr>
          <p:cNvPr id="28" name="Connector 27"/>
          <p:cNvCxnSpPr/>
          <p:nvPr/>
        </p:nvCxnSpPr>
        <p:spPr>
          <a:xfrm>
            <a:off x="2640330" y="1764792"/>
            <a:ext cx="0" cy="768096"/>
          </a:xfrm>
          <a:prstGeom prst="line">
            <a:avLst/>
          </a:prstGeom>
          <a:ln w="12700">
            <a:solidFill>
              <a:srgbClr val="A03824"/>
            </a:solidFill>
          </a:ln>
        </p:spPr>
      </p:cxnSp>
      <p:cxnSp>
        <p:nvCxnSpPr>
          <p:cNvPr id="29" name="Connector 28"/>
          <p:cNvCxnSpPr/>
          <p:nvPr/>
        </p:nvCxnSpPr>
        <p:spPr>
          <a:xfrm>
            <a:off x="2783205" y="1764792"/>
            <a:ext cx="0" cy="768096"/>
          </a:xfrm>
          <a:prstGeom prst="line">
            <a:avLst/>
          </a:prstGeom>
          <a:ln w="12700">
            <a:solidFill>
              <a:srgbClr val="A03824"/>
            </a:solidFill>
          </a:ln>
        </p:spPr>
      </p:cxnSp>
      <p:sp>
        <p:nvSpPr>
          <p:cNvPr id="30" name="TextBox 29"/>
          <p:cNvSpPr txBox="1"/>
          <p:nvPr/>
        </p:nvSpPr>
        <p:spPr>
          <a:xfrm>
            <a:off x="640080" y="1691640"/>
            <a:ext cx="2286000" cy="914400"/>
          </a:xfrm>
          <a:prstGeom prst="rect">
            <a:avLst/>
          </a:prstGeom>
          <a:noFill/>
        </p:spPr>
        <p:txBody>
          <a:bodyPr wrap="square" lIns="0" rIns="0" tIns="0" bIns="0" anchor="ctr">
            <a:noAutofit/>
          </a:bodyPr>
          <a:lstStyle/>
          <a:p>
            <a:pPr algn="ctr">
              <a:spcBef>
                <a:spcPts val="0"/>
              </a:spcBef>
              <a:spcAft>
                <a:spcPts val="0"/>
              </a:spcAft>
            </a:pPr>
            <a:r>
              <a:rPr sz="2100" b="1" i="0">
                <a:solidFill>
                  <a:srgbClr val="FFFFFF"/>
                </a:solidFill>
                <a:latin typeface="Georgia"/>
              </a:rPr>
              <a:t>Plan</a:t>
            </a:r>
          </a:p>
        </p:txBody>
      </p:sp>
      <p:sp>
        <p:nvSpPr>
          <p:cNvPr id="31" name="Rectangle 30"/>
          <p:cNvSpPr/>
          <p:nvPr/>
        </p:nvSpPr>
        <p:spPr>
          <a:xfrm>
            <a:off x="3511296" y="1691640"/>
            <a:ext cx="2286000" cy="914400"/>
          </a:xfrm>
          <a:prstGeom prst="rect">
            <a:avLst/>
          </a:prstGeom>
          <a:solidFill>
            <a:srgbClr val="E9B93A"/>
          </a:solidFill>
          <a:ln w="22225">
            <a:solidFill>
              <a:srgbClr val="10263F"/>
            </a:solidFill>
          </a:ln>
        </p:spPr>
        <p:txBody>
          <a:bodyPr rtlCol="0" anchor="ctr"/>
          <a:lstStyle/>
          <a:p>
            <a:pPr algn="ctr"/>
          </a:p>
        </p:txBody>
      </p:sp>
      <p:cxnSp>
        <p:nvCxnSpPr>
          <p:cNvPr id="32" name="Connector 31"/>
          <p:cNvCxnSpPr/>
          <p:nvPr/>
        </p:nvCxnSpPr>
        <p:spPr>
          <a:xfrm>
            <a:off x="3654171" y="1764792"/>
            <a:ext cx="0" cy="768096"/>
          </a:xfrm>
          <a:prstGeom prst="line">
            <a:avLst/>
          </a:prstGeom>
          <a:ln w="12700">
            <a:solidFill>
              <a:srgbClr val="BA942E"/>
            </a:solidFill>
          </a:ln>
        </p:spPr>
      </p:cxnSp>
      <p:cxnSp>
        <p:nvCxnSpPr>
          <p:cNvPr id="33" name="Connector 32"/>
          <p:cNvCxnSpPr/>
          <p:nvPr/>
        </p:nvCxnSpPr>
        <p:spPr>
          <a:xfrm>
            <a:off x="3797046" y="1764792"/>
            <a:ext cx="0" cy="768096"/>
          </a:xfrm>
          <a:prstGeom prst="line">
            <a:avLst/>
          </a:prstGeom>
          <a:ln w="12700">
            <a:solidFill>
              <a:srgbClr val="BA942E"/>
            </a:solidFill>
          </a:ln>
        </p:spPr>
      </p:cxnSp>
      <p:cxnSp>
        <p:nvCxnSpPr>
          <p:cNvPr id="34" name="Connector 33"/>
          <p:cNvCxnSpPr/>
          <p:nvPr/>
        </p:nvCxnSpPr>
        <p:spPr>
          <a:xfrm>
            <a:off x="3939921" y="1764792"/>
            <a:ext cx="0" cy="768096"/>
          </a:xfrm>
          <a:prstGeom prst="line">
            <a:avLst/>
          </a:prstGeom>
          <a:ln w="12700">
            <a:solidFill>
              <a:srgbClr val="BA942E"/>
            </a:solidFill>
          </a:ln>
        </p:spPr>
      </p:cxnSp>
      <p:cxnSp>
        <p:nvCxnSpPr>
          <p:cNvPr id="35" name="Connector 34"/>
          <p:cNvCxnSpPr/>
          <p:nvPr/>
        </p:nvCxnSpPr>
        <p:spPr>
          <a:xfrm>
            <a:off x="4082796" y="1764792"/>
            <a:ext cx="0" cy="768096"/>
          </a:xfrm>
          <a:prstGeom prst="line">
            <a:avLst/>
          </a:prstGeom>
          <a:ln w="12700">
            <a:solidFill>
              <a:srgbClr val="BA942E"/>
            </a:solidFill>
          </a:ln>
        </p:spPr>
      </p:cxnSp>
      <p:cxnSp>
        <p:nvCxnSpPr>
          <p:cNvPr id="36" name="Connector 35"/>
          <p:cNvCxnSpPr/>
          <p:nvPr/>
        </p:nvCxnSpPr>
        <p:spPr>
          <a:xfrm>
            <a:off x="4225671" y="1764792"/>
            <a:ext cx="0" cy="768096"/>
          </a:xfrm>
          <a:prstGeom prst="line">
            <a:avLst/>
          </a:prstGeom>
          <a:ln w="12700">
            <a:solidFill>
              <a:srgbClr val="BA942E"/>
            </a:solidFill>
          </a:ln>
        </p:spPr>
      </p:cxnSp>
      <p:cxnSp>
        <p:nvCxnSpPr>
          <p:cNvPr id="37" name="Connector 36"/>
          <p:cNvCxnSpPr/>
          <p:nvPr/>
        </p:nvCxnSpPr>
        <p:spPr>
          <a:xfrm>
            <a:off x="4368546" y="1764792"/>
            <a:ext cx="0" cy="768096"/>
          </a:xfrm>
          <a:prstGeom prst="line">
            <a:avLst/>
          </a:prstGeom>
          <a:ln w="12700">
            <a:solidFill>
              <a:srgbClr val="BA942E"/>
            </a:solidFill>
          </a:ln>
        </p:spPr>
      </p:cxnSp>
      <p:cxnSp>
        <p:nvCxnSpPr>
          <p:cNvPr id="38" name="Connector 37"/>
          <p:cNvCxnSpPr/>
          <p:nvPr/>
        </p:nvCxnSpPr>
        <p:spPr>
          <a:xfrm>
            <a:off x="4511421" y="1764792"/>
            <a:ext cx="0" cy="768096"/>
          </a:xfrm>
          <a:prstGeom prst="line">
            <a:avLst/>
          </a:prstGeom>
          <a:ln w="12700">
            <a:solidFill>
              <a:srgbClr val="BA942E"/>
            </a:solidFill>
          </a:ln>
        </p:spPr>
      </p:cxnSp>
      <p:cxnSp>
        <p:nvCxnSpPr>
          <p:cNvPr id="39" name="Connector 38"/>
          <p:cNvCxnSpPr/>
          <p:nvPr/>
        </p:nvCxnSpPr>
        <p:spPr>
          <a:xfrm>
            <a:off x="4654296" y="1764792"/>
            <a:ext cx="0" cy="768096"/>
          </a:xfrm>
          <a:prstGeom prst="line">
            <a:avLst/>
          </a:prstGeom>
          <a:ln w="12700">
            <a:solidFill>
              <a:srgbClr val="BA942E"/>
            </a:solidFill>
          </a:ln>
        </p:spPr>
      </p:cxnSp>
      <p:cxnSp>
        <p:nvCxnSpPr>
          <p:cNvPr id="40" name="Connector 39"/>
          <p:cNvCxnSpPr/>
          <p:nvPr/>
        </p:nvCxnSpPr>
        <p:spPr>
          <a:xfrm>
            <a:off x="4797171" y="1764792"/>
            <a:ext cx="0" cy="768096"/>
          </a:xfrm>
          <a:prstGeom prst="line">
            <a:avLst/>
          </a:prstGeom>
          <a:ln w="12700">
            <a:solidFill>
              <a:srgbClr val="BA942E"/>
            </a:solidFill>
          </a:ln>
        </p:spPr>
      </p:cxnSp>
      <p:cxnSp>
        <p:nvCxnSpPr>
          <p:cNvPr id="41" name="Connector 40"/>
          <p:cNvCxnSpPr/>
          <p:nvPr/>
        </p:nvCxnSpPr>
        <p:spPr>
          <a:xfrm>
            <a:off x="4940046" y="1764792"/>
            <a:ext cx="0" cy="768096"/>
          </a:xfrm>
          <a:prstGeom prst="line">
            <a:avLst/>
          </a:prstGeom>
          <a:ln w="12700">
            <a:solidFill>
              <a:srgbClr val="BA942E"/>
            </a:solidFill>
          </a:ln>
        </p:spPr>
      </p:cxnSp>
      <p:cxnSp>
        <p:nvCxnSpPr>
          <p:cNvPr id="42" name="Connector 41"/>
          <p:cNvCxnSpPr/>
          <p:nvPr/>
        </p:nvCxnSpPr>
        <p:spPr>
          <a:xfrm>
            <a:off x="5082921" y="1764792"/>
            <a:ext cx="0" cy="768096"/>
          </a:xfrm>
          <a:prstGeom prst="line">
            <a:avLst/>
          </a:prstGeom>
          <a:ln w="12700">
            <a:solidFill>
              <a:srgbClr val="BA942E"/>
            </a:solidFill>
          </a:ln>
        </p:spPr>
      </p:cxnSp>
      <p:cxnSp>
        <p:nvCxnSpPr>
          <p:cNvPr id="43" name="Connector 42"/>
          <p:cNvCxnSpPr/>
          <p:nvPr/>
        </p:nvCxnSpPr>
        <p:spPr>
          <a:xfrm>
            <a:off x="5225796" y="1764792"/>
            <a:ext cx="0" cy="768096"/>
          </a:xfrm>
          <a:prstGeom prst="line">
            <a:avLst/>
          </a:prstGeom>
          <a:ln w="12700">
            <a:solidFill>
              <a:srgbClr val="BA942E"/>
            </a:solidFill>
          </a:ln>
        </p:spPr>
      </p:cxnSp>
      <p:cxnSp>
        <p:nvCxnSpPr>
          <p:cNvPr id="44" name="Connector 43"/>
          <p:cNvCxnSpPr/>
          <p:nvPr/>
        </p:nvCxnSpPr>
        <p:spPr>
          <a:xfrm>
            <a:off x="5368671" y="1764792"/>
            <a:ext cx="0" cy="768096"/>
          </a:xfrm>
          <a:prstGeom prst="line">
            <a:avLst/>
          </a:prstGeom>
          <a:ln w="12700">
            <a:solidFill>
              <a:srgbClr val="BA942E"/>
            </a:solidFill>
          </a:ln>
        </p:spPr>
      </p:cxnSp>
      <p:cxnSp>
        <p:nvCxnSpPr>
          <p:cNvPr id="45" name="Connector 44"/>
          <p:cNvCxnSpPr/>
          <p:nvPr/>
        </p:nvCxnSpPr>
        <p:spPr>
          <a:xfrm>
            <a:off x="5511546" y="1764792"/>
            <a:ext cx="0" cy="768096"/>
          </a:xfrm>
          <a:prstGeom prst="line">
            <a:avLst/>
          </a:prstGeom>
          <a:ln w="12700">
            <a:solidFill>
              <a:srgbClr val="BA942E"/>
            </a:solidFill>
          </a:ln>
        </p:spPr>
      </p:cxnSp>
      <p:cxnSp>
        <p:nvCxnSpPr>
          <p:cNvPr id="46" name="Connector 45"/>
          <p:cNvCxnSpPr/>
          <p:nvPr/>
        </p:nvCxnSpPr>
        <p:spPr>
          <a:xfrm>
            <a:off x="5654421" y="1764792"/>
            <a:ext cx="0" cy="768096"/>
          </a:xfrm>
          <a:prstGeom prst="line">
            <a:avLst/>
          </a:prstGeom>
          <a:ln w="12700">
            <a:solidFill>
              <a:srgbClr val="BA942E"/>
            </a:solidFill>
          </a:ln>
        </p:spPr>
      </p:cxnSp>
      <p:sp>
        <p:nvSpPr>
          <p:cNvPr id="47" name="TextBox 46"/>
          <p:cNvSpPr txBox="1"/>
          <p:nvPr/>
        </p:nvSpPr>
        <p:spPr>
          <a:xfrm>
            <a:off x="3511296" y="1691640"/>
            <a:ext cx="2286000" cy="914400"/>
          </a:xfrm>
          <a:prstGeom prst="rect">
            <a:avLst/>
          </a:prstGeom>
          <a:noFill/>
        </p:spPr>
        <p:txBody>
          <a:bodyPr wrap="square" lIns="0" rIns="0" tIns="0" bIns="0" anchor="ctr">
            <a:noAutofit/>
          </a:bodyPr>
          <a:lstStyle/>
          <a:p>
            <a:pPr algn="ctr">
              <a:spcBef>
                <a:spcPts val="0"/>
              </a:spcBef>
              <a:spcAft>
                <a:spcPts val="0"/>
              </a:spcAft>
            </a:pPr>
            <a:r>
              <a:rPr sz="2100" b="1" i="0">
                <a:solidFill>
                  <a:srgbClr val="10263F"/>
                </a:solidFill>
                <a:latin typeface="Georgia"/>
              </a:rPr>
              <a:t>Code</a:t>
            </a:r>
          </a:p>
        </p:txBody>
      </p:sp>
      <p:sp>
        <p:nvSpPr>
          <p:cNvPr id="48" name="Rectangle 47"/>
          <p:cNvSpPr/>
          <p:nvPr/>
        </p:nvSpPr>
        <p:spPr>
          <a:xfrm>
            <a:off x="6382512" y="1691640"/>
            <a:ext cx="2286000" cy="914400"/>
          </a:xfrm>
          <a:prstGeom prst="rect">
            <a:avLst/>
          </a:prstGeom>
          <a:solidFill>
            <a:srgbClr val="2F8F83"/>
          </a:solidFill>
          <a:ln w="22225">
            <a:solidFill>
              <a:srgbClr val="10263F"/>
            </a:solidFill>
          </a:ln>
        </p:spPr>
        <p:txBody>
          <a:bodyPr rtlCol="0" anchor="ctr"/>
          <a:lstStyle/>
          <a:p>
            <a:pPr algn="ctr"/>
          </a:p>
        </p:txBody>
      </p:sp>
      <p:cxnSp>
        <p:nvCxnSpPr>
          <p:cNvPr id="49" name="Connector 48"/>
          <p:cNvCxnSpPr/>
          <p:nvPr/>
        </p:nvCxnSpPr>
        <p:spPr>
          <a:xfrm>
            <a:off x="6525387" y="1764792"/>
            <a:ext cx="0" cy="768096"/>
          </a:xfrm>
          <a:prstGeom prst="line">
            <a:avLst/>
          </a:prstGeom>
          <a:ln w="12700">
            <a:solidFill>
              <a:srgbClr val="257268"/>
            </a:solidFill>
          </a:ln>
        </p:spPr>
      </p:cxnSp>
      <p:cxnSp>
        <p:nvCxnSpPr>
          <p:cNvPr id="50" name="Connector 49"/>
          <p:cNvCxnSpPr/>
          <p:nvPr/>
        </p:nvCxnSpPr>
        <p:spPr>
          <a:xfrm>
            <a:off x="6668262" y="1764792"/>
            <a:ext cx="0" cy="768096"/>
          </a:xfrm>
          <a:prstGeom prst="line">
            <a:avLst/>
          </a:prstGeom>
          <a:ln w="12700">
            <a:solidFill>
              <a:srgbClr val="257268"/>
            </a:solidFill>
          </a:ln>
        </p:spPr>
      </p:cxnSp>
      <p:cxnSp>
        <p:nvCxnSpPr>
          <p:cNvPr id="51" name="Connector 50"/>
          <p:cNvCxnSpPr/>
          <p:nvPr/>
        </p:nvCxnSpPr>
        <p:spPr>
          <a:xfrm>
            <a:off x="6811137" y="1764792"/>
            <a:ext cx="0" cy="768096"/>
          </a:xfrm>
          <a:prstGeom prst="line">
            <a:avLst/>
          </a:prstGeom>
          <a:ln w="12700">
            <a:solidFill>
              <a:srgbClr val="257268"/>
            </a:solidFill>
          </a:ln>
        </p:spPr>
      </p:cxnSp>
      <p:cxnSp>
        <p:nvCxnSpPr>
          <p:cNvPr id="52" name="Connector 51"/>
          <p:cNvCxnSpPr/>
          <p:nvPr/>
        </p:nvCxnSpPr>
        <p:spPr>
          <a:xfrm>
            <a:off x="6954012" y="1764792"/>
            <a:ext cx="0" cy="768096"/>
          </a:xfrm>
          <a:prstGeom prst="line">
            <a:avLst/>
          </a:prstGeom>
          <a:ln w="12700">
            <a:solidFill>
              <a:srgbClr val="257268"/>
            </a:solidFill>
          </a:ln>
        </p:spPr>
      </p:cxnSp>
      <p:cxnSp>
        <p:nvCxnSpPr>
          <p:cNvPr id="53" name="Connector 52"/>
          <p:cNvCxnSpPr/>
          <p:nvPr/>
        </p:nvCxnSpPr>
        <p:spPr>
          <a:xfrm>
            <a:off x="7096887" y="1764792"/>
            <a:ext cx="0" cy="768096"/>
          </a:xfrm>
          <a:prstGeom prst="line">
            <a:avLst/>
          </a:prstGeom>
          <a:ln w="12700">
            <a:solidFill>
              <a:srgbClr val="257268"/>
            </a:solidFill>
          </a:ln>
        </p:spPr>
      </p:cxnSp>
      <p:cxnSp>
        <p:nvCxnSpPr>
          <p:cNvPr id="54" name="Connector 53"/>
          <p:cNvCxnSpPr/>
          <p:nvPr/>
        </p:nvCxnSpPr>
        <p:spPr>
          <a:xfrm>
            <a:off x="7239762" y="1764792"/>
            <a:ext cx="0" cy="768096"/>
          </a:xfrm>
          <a:prstGeom prst="line">
            <a:avLst/>
          </a:prstGeom>
          <a:ln w="12700">
            <a:solidFill>
              <a:srgbClr val="257268"/>
            </a:solidFill>
          </a:ln>
        </p:spPr>
      </p:cxnSp>
      <p:cxnSp>
        <p:nvCxnSpPr>
          <p:cNvPr id="55" name="Connector 54"/>
          <p:cNvCxnSpPr/>
          <p:nvPr/>
        </p:nvCxnSpPr>
        <p:spPr>
          <a:xfrm>
            <a:off x="7382637" y="1764792"/>
            <a:ext cx="0" cy="768096"/>
          </a:xfrm>
          <a:prstGeom prst="line">
            <a:avLst/>
          </a:prstGeom>
          <a:ln w="12700">
            <a:solidFill>
              <a:srgbClr val="257268"/>
            </a:solidFill>
          </a:ln>
        </p:spPr>
      </p:cxnSp>
      <p:cxnSp>
        <p:nvCxnSpPr>
          <p:cNvPr id="56" name="Connector 55"/>
          <p:cNvCxnSpPr/>
          <p:nvPr/>
        </p:nvCxnSpPr>
        <p:spPr>
          <a:xfrm>
            <a:off x="7525512" y="1764792"/>
            <a:ext cx="0" cy="768096"/>
          </a:xfrm>
          <a:prstGeom prst="line">
            <a:avLst/>
          </a:prstGeom>
          <a:ln w="12700">
            <a:solidFill>
              <a:srgbClr val="257268"/>
            </a:solidFill>
          </a:ln>
        </p:spPr>
      </p:cxnSp>
      <p:cxnSp>
        <p:nvCxnSpPr>
          <p:cNvPr id="57" name="Connector 56"/>
          <p:cNvCxnSpPr/>
          <p:nvPr/>
        </p:nvCxnSpPr>
        <p:spPr>
          <a:xfrm>
            <a:off x="7668387" y="1764792"/>
            <a:ext cx="0" cy="768096"/>
          </a:xfrm>
          <a:prstGeom prst="line">
            <a:avLst/>
          </a:prstGeom>
          <a:ln w="12700">
            <a:solidFill>
              <a:srgbClr val="257268"/>
            </a:solidFill>
          </a:ln>
        </p:spPr>
      </p:cxnSp>
      <p:cxnSp>
        <p:nvCxnSpPr>
          <p:cNvPr id="58" name="Connector 57"/>
          <p:cNvCxnSpPr/>
          <p:nvPr/>
        </p:nvCxnSpPr>
        <p:spPr>
          <a:xfrm>
            <a:off x="7811262" y="1764792"/>
            <a:ext cx="0" cy="768096"/>
          </a:xfrm>
          <a:prstGeom prst="line">
            <a:avLst/>
          </a:prstGeom>
          <a:ln w="12700">
            <a:solidFill>
              <a:srgbClr val="257268"/>
            </a:solidFill>
          </a:ln>
        </p:spPr>
      </p:cxnSp>
      <p:cxnSp>
        <p:nvCxnSpPr>
          <p:cNvPr id="59" name="Connector 58"/>
          <p:cNvCxnSpPr/>
          <p:nvPr/>
        </p:nvCxnSpPr>
        <p:spPr>
          <a:xfrm>
            <a:off x="7954137" y="1764792"/>
            <a:ext cx="0" cy="768096"/>
          </a:xfrm>
          <a:prstGeom prst="line">
            <a:avLst/>
          </a:prstGeom>
          <a:ln w="12700">
            <a:solidFill>
              <a:srgbClr val="257268"/>
            </a:solidFill>
          </a:ln>
        </p:spPr>
      </p:cxnSp>
      <p:cxnSp>
        <p:nvCxnSpPr>
          <p:cNvPr id="60" name="Connector 59"/>
          <p:cNvCxnSpPr/>
          <p:nvPr/>
        </p:nvCxnSpPr>
        <p:spPr>
          <a:xfrm>
            <a:off x="8097012" y="1764792"/>
            <a:ext cx="0" cy="768096"/>
          </a:xfrm>
          <a:prstGeom prst="line">
            <a:avLst/>
          </a:prstGeom>
          <a:ln w="12700">
            <a:solidFill>
              <a:srgbClr val="257268"/>
            </a:solidFill>
          </a:ln>
        </p:spPr>
      </p:cxnSp>
      <p:cxnSp>
        <p:nvCxnSpPr>
          <p:cNvPr id="61" name="Connector 60"/>
          <p:cNvCxnSpPr/>
          <p:nvPr/>
        </p:nvCxnSpPr>
        <p:spPr>
          <a:xfrm>
            <a:off x="8239887" y="1764792"/>
            <a:ext cx="0" cy="768096"/>
          </a:xfrm>
          <a:prstGeom prst="line">
            <a:avLst/>
          </a:prstGeom>
          <a:ln w="12700">
            <a:solidFill>
              <a:srgbClr val="257268"/>
            </a:solidFill>
          </a:ln>
        </p:spPr>
      </p:cxnSp>
      <p:cxnSp>
        <p:nvCxnSpPr>
          <p:cNvPr id="62" name="Connector 61"/>
          <p:cNvCxnSpPr/>
          <p:nvPr/>
        </p:nvCxnSpPr>
        <p:spPr>
          <a:xfrm>
            <a:off x="8382762" y="1764792"/>
            <a:ext cx="0" cy="768096"/>
          </a:xfrm>
          <a:prstGeom prst="line">
            <a:avLst/>
          </a:prstGeom>
          <a:ln w="12700">
            <a:solidFill>
              <a:srgbClr val="257268"/>
            </a:solidFill>
          </a:ln>
        </p:spPr>
      </p:cxnSp>
      <p:cxnSp>
        <p:nvCxnSpPr>
          <p:cNvPr id="63" name="Connector 62"/>
          <p:cNvCxnSpPr/>
          <p:nvPr/>
        </p:nvCxnSpPr>
        <p:spPr>
          <a:xfrm>
            <a:off x="8525637" y="1764792"/>
            <a:ext cx="0" cy="768096"/>
          </a:xfrm>
          <a:prstGeom prst="line">
            <a:avLst/>
          </a:prstGeom>
          <a:ln w="12700">
            <a:solidFill>
              <a:srgbClr val="257268"/>
            </a:solidFill>
          </a:ln>
        </p:spPr>
      </p:cxnSp>
      <p:sp>
        <p:nvSpPr>
          <p:cNvPr id="64" name="TextBox 63"/>
          <p:cNvSpPr txBox="1"/>
          <p:nvPr/>
        </p:nvSpPr>
        <p:spPr>
          <a:xfrm>
            <a:off x="6382512" y="1691640"/>
            <a:ext cx="2286000" cy="914400"/>
          </a:xfrm>
          <a:prstGeom prst="rect">
            <a:avLst/>
          </a:prstGeom>
          <a:noFill/>
        </p:spPr>
        <p:txBody>
          <a:bodyPr wrap="square" lIns="0" rIns="0" tIns="0" bIns="0" anchor="ctr">
            <a:noAutofit/>
          </a:bodyPr>
          <a:lstStyle/>
          <a:p>
            <a:pPr algn="ctr">
              <a:spcBef>
                <a:spcPts val="0"/>
              </a:spcBef>
              <a:spcAft>
                <a:spcPts val="0"/>
              </a:spcAft>
            </a:pPr>
            <a:r>
              <a:rPr sz="2100" b="1" i="0">
                <a:solidFill>
                  <a:srgbClr val="FFFFFF"/>
                </a:solidFill>
                <a:latin typeface="Georgia"/>
              </a:rPr>
              <a:t>Build</a:t>
            </a:r>
          </a:p>
        </p:txBody>
      </p:sp>
      <p:sp>
        <p:nvSpPr>
          <p:cNvPr id="65" name="Rectangle 64"/>
          <p:cNvSpPr/>
          <p:nvPr/>
        </p:nvSpPr>
        <p:spPr>
          <a:xfrm>
            <a:off x="9253728" y="1691640"/>
            <a:ext cx="2286000" cy="914400"/>
          </a:xfrm>
          <a:prstGeom prst="rect">
            <a:avLst/>
          </a:prstGeom>
          <a:solidFill>
            <a:srgbClr val="E58A2B"/>
          </a:solidFill>
          <a:ln w="22225">
            <a:solidFill>
              <a:srgbClr val="10263F"/>
            </a:solidFill>
          </a:ln>
        </p:spPr>
        <p:txBody>
          <a:bodyPr rtlCol="0" anchor="ctr"/>
          <a:lstStyle/>
          <a:p>
            <a:pPr algn="ctr"/>
          </a:p>
        </p:txBody>
      </p:sp>
      <p:cxnSp>
        <p:nvCxnSpPr>
          <p:cNvPr id="66" name="Connector 65"/>
          <p:cNvCxnSpPr/>
          <p:nvPr/>
        </p:nvCxnSpPr>
        <p:spPr>
          <a:xfrm>
            <a:off x="9396603" y="1764792"/>
            <a:ext cx="0" cy="768096"/>
          </a:xfrm>
          <a:prstGeom prst="line">
            <a:avLst/>
          </a:prstGeom>
          <a:ln w="12700">
            <a:solidFill>
              <a:srgbClr val="B76E22"/>
            </a:solidFill>
          </a:ln>
        </p:spPr>
      </p:cxnSp>
      <p:cxnSp>
        <p:nvCxnSpPr>
          <p:cNvPr id="67" name="Connector 66"/>
          <p:cNvCxnSpPr/>
          <p:nvPr/>
        </p:nvCxnSpPr>
        <p:spPr>
          <a:xfrm>
            <a:off x="9539478" y="1764792"/>
            <a:ext cx="0" cy="768096"/>
          </a:xfrm>
          <a:prstGeom prst="line">
            <a:avLst/>
          </a:prstGeom>
          <a:ln w="12700">
            <a:solidFill>
              <a:srgbClr val="B76E22"/>
            </a:solidFill>
          </a:ln>
        </p:spPr>
      </p:cxnSp>
      <p:cxnSp>
        <p:nvCxnSpPr>
          <p:cNvPr id="68" name="Connector 67"/>
          <p:cNvCxnSpPr/>
          <p:nvPr/>
        </p:nvCxnSpPr>
        <p:spPr>
          <a:xfrm>
            <a:off x="9682353" y="1764792"/>
            <a:ext cx="0" cy="768096"/>
          </a:xfrm>
          <a:prstGeom prst="line">
            <a:avLst/>
          </a:prstGeom>
          <a:ln w="12700">
            <a:solidFill>
              <a:srgbClr val="B76E22"/>
            </a:solidFill>
          </a:ln>
        </p:spPr>
      </p:cxnSp>
      <p:cxnSp>
        <p:nvCxnSpPr>
          <p:cNvPr id="69" name="Connector 68"/>
          <p:cNvCxnSpPr/>
          <p:nvPr/>
        </p:nvCxnSpPr>
        <p:spPr>
          <a:xfrm>
            <a:off x="9825228" y="1764792"/>
            <a:ext cx="0" cy="768096"/>
          </a:xfrm>
          <a:prstGeom prst="line">
            <a:avLst/>
          </a:prstGeom>
          <a:ln w="12700">
            <a:solidFill>
              <a:srgbClr val="B76E22"/>
            </a:solidFill>
          </a:ln>
        </p:spPr>
      </p:cxnSp>
      <p:cxnSp>
        <p:nvCxnSpPr>
          <p:cNvPr id="70" name="Connector 69"/>
          <p:cNvCxnSpPr/>
          <p:nvPr/>
        </p:nvCxnSpPr>
        <p:spPr>
          <a:xfrm>
            <a:off x="9968103" y="1764792"/>
            <a:ext cx="0" cy="768096"/>
          </a:xfrm>
          <a:prstGeom prst="line">
            <a:avLst/>
          </a:prstGeom>
          <a:ln w="12700">
            <a:solidFill>
              <a:srgbClr val="B76E22"/>
            </a:solidFill>
          </a:ln>
        </p:spPr>
      </p:cxnSp>
      <p:cxnSp>
        <p:nvCxnSpPr>
          <p:cNvPr id="71" name="Connector 70"/>
          <p:cNvCxnSpPr/>
          <p:nvPr/>
        </p:nvCxnSpPr>
        <p:spPr>
          <a:xfrm>
            <a:off x="10110978" y="1764792"/>
            <a:ext cx="0" cy="768096"/>
          </a:xfrm>
          <a:prstGeom prst="line">
            <a:avLst/>
          </a:prstGeom>
          <a:ln w="12700">
            <a:solidFill>
              <a:srgbClr val="B76E22"/>
            </a:solidFill>
          </a:ln>
        </p:spPr>
      </p:cxnSp>
      <p:cxnSp>
        <p:nvCxnSpPr>
          <p:cNvPr id="72" name="Connector 71"/>
          <p:cNvCxnSpPr/>
          <p:nvPr/>
        </p:nvCxnSpPr>
        <p:spPr>
          <a:xfrm>
            <a:off x="10253853" y="1764792"/>
            <a:ext cx="0" cy="768096"/>
          </a:xfrm>
          <a:prstGeom prst="line">
            <a:avLst/>
          </a:prstGeom>
          <a:ln w="12700">
            <a:solidFill>
              <a:srgbClr val="B76E22"/>
            </a:solidFill>
          </a:ln>
        </p:spPr>
      </p:cxnSp>
      <p:cxnSp>
        <p:nvCxnSpPr>
          <p:cNvPr id="73" name="Connector 72"/>
          <p:cNvCxnSpPr/>
          <p:nvPr/>
        </p:nvCxnSpPr>
        <p:spPr>
          <a:xfrm>
            <a:off x="10396728" y="1764792"/>
            <a:ext cx="0" cy="768096"/>
          </a:xfrm>
          <a:prstGeom prst="line">
            <a:avLst/>
          </a:prstGeom>
          <a:ln w="12700">
            <a:solidFill>
              <a:srgbClr val="B76E22"/>
            </a:solidFill>
          </a:ln>
        </p:spPr>
      </p:cxnSp>
      <p:cxnSp>
        <p:nvCxnSpPr>
          <p:cNvPr id="74" name="Connector 73"/>
          <p:cNvCxnSpPr/>
          <p:nvPr/>
        </p:nvCxnSpPr>
        <p:spPr>
          <a:xfrm>
            <a:off x="10539603" y="1764792"/>
            <a:ext cx="0" cy="768096"/>
          </a:xfrm>
          <a:prstGeom prst="line">
            <a:avLst/>
          </a:prstGeom>
          <a:ln w="12700">
            <a:solidFill>
              <a:srgbClr val="B76E22"/>
            </a:solidFill>
          </a:ln>
        </p:spPr>
      </p:cxnSp>
      <p:cxnSp>
        <p:nvCxnSpPr>
          <p:cNvPr id="75" name="Connector 74"/>
          <p:cNvCxnSpPr/>
          <p:nvPr/>
        </p:nvCxnSpPr>
        <p:spPr>
          <a:xfrm>
            <a:off x="10682478" y="1764792"/>
            <a:ext cx="0" cy="768096"/>
          </a:xfrm>
          <a:prstGeom prst="line">
            <a:avLst/>
          </a:prstGeom>
          <a:ln w="12700">
            <a:solidFill>
              <a:srgbClr val="B76E22"/>
            </a:solidFill>
          </a:ln>
        </p:spPr>
      </p:cxnSp>
      <p:cxnSp>
        <p:nvCxnSpPr>
          <p:cNvPr id="76" name="Connector 75"/>
          <p:cNvCxnSpPr/>
          <p:nvPr/>
        </p:nvCxnSpPr>
        <p:spPr>
          <a:xfrm>
            <a:off x="10825353" y="1764792"/>
            <a:ext cx="0" cy="768096"/>
          </a:xfrm>
          <a:prstGeom prst="line">
            <a:avLst/>
          </a:prstGeom>
          <a:ln w="12700">
            <a:solidFill>
              <a:srgbClr val="B76E22"/>
            </a:solidFill>
          </a:ln>
        </p:spPr>
      </p:cxnSp>
      <p:cxnSp>
        <p:nvCxnSpPr>
          <p:cNvPr id="77" name="Connector 76"/>
          <p:cNvCxnSpPr/>
          <p:nvPr/>
        </p:nvCxnSpPr>
        <p:spPr>
          <a:xfrm>
            <a:off x="10968228" y="1764792"/>
            <a:ext cx="0" cy="768096"/>
          </a:xfrm>
          <a:prstGeom prst="line">
            <a:avLst/>
          </a:prstGeom>
          <a:ln w="12700">
            <a:solidFill>
              <a:srgbClr val="B76E22"/>
            </a:solidFill>
          </a:ln>
        </p:spPr>
      </p:cxnSp>
      <p:cxnSp>
        <p:nvCxnSpPr>
          <p:cNvPr id="78" name="Connector 77"/>
          <p:cNvCxnSpPr/>
          <p:nvPr/>
        </p:nvCxnSpPr>
        <p:spPr>
          <a:xfrm>
            <a:off x="11111103" y="1764792"/>
            <a:ext cx="0" cy="768096"/>
          </a:xfrm>
          <a:prstGeom prst="line">
            <a:avLst/>
          </a:prstGeom>
          <a:ln w="12700">
            <a:solidFill>
              <a:srgbClr val="B76E22"/>
            </a:solidFill>
          </a:ln>
        </p:spPr>
      </p:cxnSp>
      <p:cxnSp>
        <p:nvCxnSpPr>
          <p:cNvPr id="79" name="Connector 78"/>
          <p:cNvCxnSpPr/>
          <p:nvPr/>
        </p:nvCxnSpPr>
        <p:spPr>
          <a:xfrm>
            <a:off x="11253978" y="1764792"/>
            <a:ext cx="0" cy="768096"/>
          </a:xfrm>
          <a:prstGeom prst="line">
            <a:avLst/>
          </a:prstGeom>
          <a:ln w="12700">
            <a:solidFill>
              <a:srgbClr val="B76E22"/>
            </a:solidFill>
          </a:ln>
        </p:spPr>
      </p:cxnSp>
      <p:cxnSp>
        <p:nvCxnSpPr>
          <p:cNvPr id="80" name="Connector 79"/>
          <p:cNvCxnSpPr/>
          <p:nvPr/>
        </p:nvCxnSpPr>
        <p:spPr>
          <a:xfrm>
            <a:off x="11396853" y="1764792"/>
            <a:ext cx="0" cy="768096"/>
          </a:xfrm>
          <a:prstGeom prst="line">
            <a:avLst/>
          </a:prstGeom>
          <a:ln w="12700">
            <a:solidFill>
              <a:srgbClr val="B76E22"/>
            </a:solidFill>
          </a:ln>
        </p:spPr>
      </p:cxnSp>
      <p:sp>
        <p:nvSpPr>
          <p:cNvPr id="81" name="TextBox 80"/>
          <p:cNvSpPr txBox="1"/>
          <p:nvPr/>
        </p:nvSpPr>
        <p:spPr>
          <a:xfrm>
            <a:off x="9253728" y="1691640"/>
            <a:ext cx="2286000" cy="914400"/>
          </a:xfrm>
          <a:prstGeom prst="rect">
            <a:avLst/>
          </a:prstGeom>
          <a:noFill/>
        </p:spPr>
        <p:txBody>
          <a:bodyPr wrap="square" lIns="0" rIns="0" tIns="0" bIns="0" anchor="ctr">
            <a:noAutofit/>
          </a:bodyPr>
          <a:lstStyle/>
          <a:p>
            <a:pPr algn="ctr">
              <a:spcBef>
                <a:spcPts val="0"/>
              </a:spcBef>
              <a:spcAft>
                <a:spcPts val="0"/>
              </a:spcAft>
            </a:pPr>
            <a:r>
              <a:rPr sz="2100" b="1" i="0">
                <a:solidFill>
                  <a:srgbClr val="10263F"/>
                </a:solidFill>
                <a:latin typeface="Georgia"/>
              </a:rPr>
              <a:t>Test</a:t>
            </a:r>
          </a:p>
        </p:txBody>
      </p:sp>
      <p:sp>
        <p:nvSpPr>
          <p:cNvPr id="82" name="Rectangle 81"/>
          <p:cNvSpPr/>
          <p:nvPr/>
        </p:nvSpPr>
        <p:spPr>
          <a:xfrm>
            <a:off x="640080" y="3291840"/>
            <a:ext cx="2286000" cy="914400"/>
          </a:xfrm>
          <a:prstGeom prst="rect">
            <a:avLst/>
          </a:prstGeom>
          <a:solidFill>
            <a:srgbClr val="2B6CA3"/>
          </a:solidFill>
          <a:ln w="22225">
            <a:solidFill>
              <a:srgbClr val="10263F"/>
            </a:solidFill>
          </a:ln>
        </p:spPr>
        <p:txBody>
          <a:bodyPr rtlCol="0" anchor="ctr"/>
          <a:lstStyle/>
          <a:p>
            <a:pPr algn="ctr"/>
          </a:p>
        </p:txBody>
      </p:sp>
      <p:cxnSp>
        <p:nvCxnSpPr>
          <p:cNvPr id="83" name="Connector 82"/>
          <p:cNvCxnSpPr/>
          <p:nvPr/>
        </p:nvCxnSpPr>
        <p:spPr>
          <a:xfrm>
            <a:off x="782955" y="3364992"/>
            <a:ext cx="0" cy="768095"/>
          </a:xfrm>
          <a:prstGeom prst="line">
            <a:avLst/>
          </a:prstGeom>
          <a:ln w="12700">
            <a:solidFill>
              <a:srgbClr val="225682"/>
            </a:solidFill>
          </a:ln>
        </p:spPr>
      </p:cxnSp>
      <p:cxnSp>
        <p:nvCxnSpPr>
          <p:cNvPr id="84" name="Connector 83"/>
          <p:cNvCxnSpPr/>
          <p:nvPr/>
        </p:nvCxnSpPr>
        <p:spPr>
          <a:xfrm>
            <a:off x="925830" y="3364992"/>
            <a:ext cx="0" cy="768095"/>
          </a:xfrm>
          <a:prstGeom prst="line">
            <a:avLst/>
          </a:prstGeom>
          <a:ln w="12700">
            <a:solidFill>
              <a:srgbClr val="225682"/>
            </a:solidFill>
          </a:ln>
        </p:spPr>
      </p:cxnSp>
      <p:cxnSp>
        <p:nvCxnSpPr>
          <p:cNvPr id="85" name="Connector 84"/>
          <p:cNvCxnSpPr/>
          <p:nvPr/>
        </p:nvCxnSpPr>
        <p:spPr>
          <a:xfrm>
            <a:off x="1068705" y="3364992"/>
            <a:ext cx="0" cy="768095"/>
          </a:xfrm>
          <a:prstGeom prst="line">
            <a:avLst/>
          </a:prstGeom>
          <a:ln w="12700">
            <a:solidFill>
              <a:srgbClr val="225682"/>
            </a:solidFill>
          </a:ln>
        </p:spPr>
      </p:cxnSp>
      <p:cxnSp>
        <p:nvCxnSpPr>
          <p:cNvPr id="86" name="Connector 85"/>
          <p:cNvCxnSpPr/>
          <p:nvPr/>
        </p:nvCxnSpPr>
        <p:spPr>
          <a:xfrm>
            <a:off x="1211580" y="3364992"/>
            <a:ext cx="0" cy="768095"/>
          </a:xfrm>
          <a:prstGeom prst="line">
            <a:avLst/>
          </a:prstGeom>
          <a:ln w="12700">
            <a:solidFill>
              <a:srgbClr val="225682"/>
            </a:solidFill>
          </a:ln>
        </p:spPr>
      </p:cxnSp>
      <p:cxnSp>
        <p:nvCxnSpPr>
          <p:cNvPr id="87" name="Connector 86"/>
          <p:cNvCxnSpPr/>
          <p:nvPr/>
        </p:nvCxnSpPr>
        <p:spPr>
          <a:xfrm>
            <a:off x="1354455" y="3364992"/>
            <a:ext cx="0" cy="768095"/>
          </a:xfrm>
          <a:prstGeom prst="line">
            <a:avLst/>
          </a:prstGeom>
          <a:ln w="12700">
            <a:solidFill>
              <a:srgbClr val="225682"/>
            </a:solidFill>
          </a:ln>
        </p:spPr>
      </p:cxnSp>
      <p:cxnSp>
        <p:nvCxnSpPr>
          <p:cNvPr id="88" name="Connector 87"/>
          <p:cNvCxnSpPr/>
          <p:nvPr/>
        </p:nvCxnSpPr>
        <p:spPr>
          <a:xfrm>
            <a:off x="1497330" y="3364992"/>
            <a:ext cx="0" cy="768095"/>
          </a:xfrm>
          <a:prstGeom prst="line">
            <a:avLst/>
          </a:prstGeom>
          <a:ln w="12700">
            <a:solidFill>
              <a:srgbClr val="225682"/>
            </a:solidFill>
          </a:ln>
        </p:spPr>
      </p:cxnSp>
      <p:cxnSp>
        <p:nvCxnSpPr>
          <p:cNvPr id="89" name="Connector 88"/>
          <p:cNvCxnSpPr/>
          <p:nvPr/>
        </p:nvCxnSpPr>
        <p:spPr>
          <a:xfrm>
            <a:off x="1640205" y="3364992"/>
            <a:ext cx="0" cy="768095"/>
          </a:xfrm>
          <a:prstGeom prst="line">
            <a:avLst/>
          </a:prstGeom>
          <a:ln w="12700">
            <a:solidFill>
              <a:srgbClr val="225682"/>
            </a:solidFill>
          </a:ln>
        </p:spPr>
      </p:cxnSp>
      <p:cxnSp>
        <p:nvCxnSpPr>
          <p:cNvPr id="90" name="Connector 89"/>
          <p:cNvCxnSpPr/>
          <p:nvPr/>
        </p:nvCxnSpPr>
        <p:spPr>
          <a:xfrm>
            <a:off x="1783080" y="3364992"/>
            <a:ext cx="0" cy="768095"/>
          </a:xfrm>
          <a:prstGeom prst="line">
            <a:avLst/>
          </a:prstGeom>
          <a:ln w="12700">
            <a:solidFill>
              <a:srgbClr val="225682"/>
            </a:solidFill>
          </a:ln>
        </p:spPr>
      </p:cxnSp>
      <p:cxnSp>
        <p:nvCxnSpPr>
          <p:cNvPr id="91" name="Connector 90"/>
          <p:cNvCxnSpPr/>
          <p:nvPr/>
        </p:nvCxnSpPr>
        <p:spPr>
          <a:xfrm>
            <a:off x="1925955" y="3364992"/>
            <a:ext cx="0" cy="768095"/>
          </a:xfrm>
          <a:prstGeom prst="line">
            <a:avLst/>
          </a:prstGeom>
          <a:ln w="12700">
            <a:solidFill>
              <a:srgbClr val="225682"/>
            </a:solidFill>
          </a:ln>
        </p:spPr>
      </p:cxnSp>
      <p:cxnSp>
        <p:nvCxnSpPr>
          <p:cNvPr id="92" name="Connector 91"/>
          <p:cNvCxnSpPr/>
          <p:nvPr/>
        </p:nvCxnSpPr>
        <p:spPr>
          <a:xfrm>
            <a:off x="2068830" y="3364992"/>
            <a:ext cx="0" cy="768095"/>
          </a:xfrm>
          <a:prstGeom prst="line">
            <a:avLst/>
          </a:prstGeom>
          <a:ln w="12700">
            <a:solidFill>
              <a:srgbClr val="225682"/>
            </a:solidFill>
          </a:ln>
        </p:spPr>
      </p:cxnSp>
      <p:cxnSp>
        <p:nvCxnSpPr>
          <p:cNvPr id="93" name="Connector 92"/>
          <p:cNvCxnSpPr/>
          <p:nvPr/>
        </p:nvCxnSpPr>
        <p:spPr>
          <a:xfrm>
            <a:off x="2211705" y="3364992"/>
            <a:ext cx="0" cy="768095"/>
          </a:xfrm>
          <a:prstGeom prst="line">
            <a:avLst/>
          </a:prstGeom>
          <a:ln w="12700">
            <a:solidFill>
              <a:srgbClr val="225682"/>
            </a:solidFill>
          </a:ln>
        </p:spPr>
      </p:cxnSp>
      <p:cxnSp>
        <p:nvCxnSpPr>
          <p:cNvPr id="94" name="Connector 93"/>
          <p:cNvCxnSpPr/>
          <p:nvPr/>
        </p:nvCxnSpPr>
        <p:spPr>
          <a:xfrm>
            <a:off x="2354580" y="3364992"/>
            <a:ext cx="0" cy="768095"/>
          </a:xfrm>
          <a:prstGeom prst="line">
            <a:avLst/>
          </a:prstGeom>
          <a:ln w="12700">
            <a:solidFill>
              <a:srgbClr val="225682"/>
            </a:solidFill>
          </a:ln>
        </p:spPr>
      </p:cxnSp>
      <p:cxnSp>
        <p:nvCxnSpPr>
          <p:cNvPr id="95" name="Connector 94"/>
          <p:cNvCxnSpPr/>
          <p:nvPr/>
        </p:nvCxnSpPr>
        <p:spPr>
          <a:xfrm>
            <a:off x="2497455" y="3364992"/>
            <a:ext cx="0" cy="768095"/>
          </a:xfrm>
          <a:prstGeom prst="line">
            <a:avLst/>
          </a:prstGeom>
          <a:ln w="12700">
            <a:solidFill>
              <a:srgbClr val="225682"/>
            </a:solidFill>
          </a:ln>
        </p:spPr>
      </p:cxnSp>
      <p:cxnSp>
        <p:nvCxnSpPr>
          <p:cNvPr id="96" name="Connector 95"/>
          <p:cNvCxnSpPr/>
          <p:nvPr/>
        </p:nvCxnSpPr>
        <p:spPr>
          <a:xfrm>
            <a:off x="2640330" y="3364992"/>
            <a:ext cx="0" cy="768095"/>
          </a:xfrm>
          <a:prstGeom prst="line">
            <a:avLst/>
          </a:prstGeom>
          <a:ln w="12700">
            <a:solidFill>
              <a:srgbClr val="225682"/>
            </a:solidFill>
          </a:ln>
        </p:spPr>
      </p:cxnSp>
      <p:cxnSp>
        <p:nvCxnSpPr>
          <p:cNvPr id="97" name="Connector 96"/>
          <p:cNvCxnSpPr/>
          <p:nvPr/>
        </p:nvCxnSpPr>
        <p:spPr>
          <a:xfrm>
            <a:off x="2783205" y="3364992"/>
            <a:ext cx="0" cy="768095"/>
          </a:xfrm>
          <a:prstGeom prst="line">
            <a:avLst/>
          </a:prstGeom>
          <a:ln w="12700">
            <a:solidFill>
              <a:srgbClr val="225682"/>
            </a:solidFill>
          </a:ln>
        </p:spPr>
      </p:cxnSp>
      <p:sp>
        <p:nvSpPr>
          <p:cNvPr id="98" name="TextBox 97"/>
          <p:cNvSpPr txBox="1"/>
          <p:nvPr/>
        </p:nvSpPr>
        <p:spPr>
          <a:xfrm>
            <a:off x="640080" y="3291840"/>
            <a:ext cx="2286000" cy="914400"/>
          </a:xfrm>
          <a:prstGeom prst="rect">
            <a:avLst/>
          </a:prstGeom>
          <a:noFill/>
        </p:spPr>
        <p:txBody>
          <a:bodyPr wrap="square" lIns="0" rIns="0" tIns="0" bIns="0" anchor="ctr">
            <a:noAutofit/>
          </a:bodyPr>
          <a:lstStyle/>
          <a:p>
            <a:pPr algn="ctr">
              <a:spcBef>
                <a:spcPts val="0"/>
              </a:spcBef>
              <a:spcAft>
                <a:spcPts val="0"/>
              </a:spcAft>
            </a:pPr>
            <a:r>
              <a:rPr sz="2100" b="1" i="0">
                <a:solidFill>
                  <a:srgbClr val="FFFFFF"/>
                </a:solidFill>
                <a:latin typeface="Georgia"/>
              </a:rPr>
              <a:t>Release</a:t>
            </a:r>
          </a:p>
        </p:txBody>
      </p:sp>
      <p:sp>
        <p:nvSpPr>
          <p:cNvPr id="99" name="Rectangle 98"/>
          <p:cNvSpPr/>
          <p:nvPr/>
        </p:nvSpPr>
        <p:spPr>
          <a:xfrm>
            <a:off x="3511296" y="3291840"/>
            <a:ext cx="2286000" cy="914400"/>
          </a:xfrm>
          <a:prstGeom prst="rect">
            <a:avLst/>
          </a:prstGeom>
          <a:solidFill>
            <a:srgbClr val="C8472D"/>
          </a:solidFill>
          <a:ln w="38100">
            <a:solidFill>
              <a:srgbClr val="10263F"/>
            </a:solidFill>
          </a:ln>
        </p:spPr>
        <p:txBody>
          <a:bodyPr rtlCol="0" anchor="ctr"/>
          <a:lstStyle/>
          <a:p>
            <a:pPr algn="ctr"/>
          </a:p>
        </p:txBody>
      </p:sp>
      <p:cxnSp>
        <p:nvCxnSpPr>
          <p:cNvPr id="100" name="Connector 99"/>
          <p:cNvCxnSpPr/>
          <p:nvPr/>
        </p:nvCxnSpPr>
        <p:spPr>
          <a:xfrm>
            <a:off x="3654171" y="3364992"/>
            <a:ext cx="0" cy="768095"/>
          </a:xfrm>
          <a:prstGeom prst="line">
            <a:avLst/>
          </a:prstGeom>
          <a:ln w="12700">
            <a:solidFill>
              <a:srgbClr val="A03824"/>
            </a:solidFill>
          </a:ln>
        </p:spPr>
      </p:cxnSp>
      <p:cxnSp>
        <p:nvCxnSpPr>
          <p:cNvPr id="101" name="Connector 100"/>
          <p:cNvCxnSpPr/>
          <p:nvPr/>
        </p:nvCxnSpPr>
        <p:spPr>
          <a:xfrm>
            <a:off x="3797046" y="3364992"/>
            <a:ext cx="0" cy="768095"/>
          </a:xfrm>
          <a:prstGeom prst="line">
            <a:avLst/>
          </a:prstGeom>
          <a:ln w="12700">
            <a:solidFill>
              <a:srgbClr val="A03824"/>
            </a:solidFill>
          </a:ln>
        </p:spPr>
      </p:cxnSp>
      <p:cxnSp>
        <p:nvCxnSpPr>
          <p:cNvPr id="102" name="Connector 101"/>
          <p:cNvCxnSpPr/>
          <p:nvPr/>
        </p:nvCxnSpPr>
        <p:spPr>
          <a:xfrm>
            <a:off x="3939921" y="3364992"/>
            <a:ext cx="0" cy="768095"/>
          </a:xfrm>
          <a:prstGeom prst="line">
            <a:avLst/>
          </a:prstGeom>
          <a:ln w="12700">
            <a:solidFill>
              <a:srgbClr val="A03824"/>
            </a:solidFill>
          </a:ln>
        </p:spPr>
      </p:cxnSp>
      <p:cxnSp>
        <p:nvCxnSpPr>
          <p:cNvPr id="103" name="Connector 102"/>
          <p:cNvCxnSpPr/>
          <p:nvPr/>
        </p:nvCxnSpPr>
        <p:spPr>
          <a:xfrm>
            <a:off x="4082796" y="3364992"/>
            <a:ext cx="0" cy="768095"/>
          </a:xfrm>
          <a:prstGeom prst="line">
            <a:avLst/>
          </a:prstGeom>
          <a:ln w="12700">
            <a:solidFill>
              <a:srgbClr val="A03824"/>
            </a:solidFill>
          </a:ln>
        </p:spPr>
      </p:cxnSp>
      <p:cxnSp>
        <p:nvCxnSpPr>
          <p:cNvPr id="104" name="Connector 103"/>
          <p:cNvCxnSpPr/>
          <p:nvPr/>
        </p:nvCxnSpPr>
        <p:spPr>
          <a:xfrm>
            <a:off x="4225671" y="3364992"/>
            <a:ext cx="0" cy="768095"/>
          </a:xfrm>
          <a:prstGeom prst="line">
            <a:avLst/>
          </a:prstGeom>
          <a:ln w="12700">
            <a:solidFill>
              <a:srgbClr val="A03824"/>
            </a:solidFill>
          </a:ln>
        </p:spPr>
      </p:cxnSp>
      <p:cxnSp>
        <p:nvCxnSpPr>
          <p:cNvPr id="105" name="Connector 104"/>
          <p:cNvCxnSpPr/>
          <p:nvPr/>
        </p:nvCxnSpPr>
        <p:spPr>
          <a:xfrm>
            <a:off x="4368546" y="3364992"/>
            <a:ext cx="0" cy="768095"/>
          </a:xfrm>
          <a:prstGeom prst="line">
            <a:avLst/>
          </a:prstGeom>
          <a:ln w="12700">
            <a:solidFill>
              <a:srgbClr val="A03824"/>
            </a:solidFill>
          </a:ln>
        </p:spPr>
      </p:cxnSp>
      <p:cxnSp>
        <p:nvCxnSpPr>
          <p:cNvPr id="106" name="Connector 105"/>
          <p:cNvCxnSpPr/>
          <p:nvPr/>
        </p:nvCxnSpPr>
        <p:spPr>
          <a:xfrm>
            <a:off x="4511421" y="3364992"/>
            <a:ext cx="0" cy="768095"/>
          </a:xfrm>
          <a:prstGeom prst="line">
            <a:avLst/>
          </a:prstGeom>
          <a:ln w="12700">
            <a:solidFill>
              <a:srgbClr val="A03824"/>
            </a:solidFill>
          </a:ln>
        </p:spPr>
      </p:cxnSp>
      <p:cxnSp>
        <p:nvCxnSpPr>
          <p:cNvPr id="107" name="Connector 106"/>
          <p:cNvCxnSpPr/>
          <p:nvPr/>
        </p:nvCxnSpPr>
        <p:spPr>
          <a:xfrm>
            <a:off x="4654296" y="3364992"/>
            <a:ext cx="0" cy="768095"/>
          </a:xfrm>
          <a:prstGeom prst="line">
            <a:avLst/>
          </a:prstGeom>
          <a:ln w="12700">
            <a:solidFill>
              <a:srgbClr val="A03824"/>
            </a:solidFill>
          </a:ln>
        </p:spPr>
      </p:cxnSp>
      <p:cxnSp>
        <p:nvCxnSpPr>
          <p:cNvPr id="108" name="Connector 107"/>
          <p:cNvCxnSpPr/>
          <p:nvPr/>
        </p:nvCxnSpPr>
        <p:spPr>
          <a:xfrm>
            <a:off x="4797171" y="3364992"/>
            <a:ext cx="0" cy="768095"/>
          </a:xfrm>
          <a:prstGeom prst="line">
            <a:avLst/>
          </a:prstGeom>
          <a:ln w="12700">
            <a:solidFill>
              <a:srgbClr val="A03824"/>
            </a:solidFill>
          </a:ln>
        </p:spPr>
      </p:cxnSp>
      <p:cxnSp>
        <p:nvCxnSpPr>
          <p:cNvPr id="109" name="Connector 108"/>
          <p:cNvCxnSpPr/>
          <p:nvPr/>
        </p:nvCxnSpPr>
        <p:spPr>
          <a:xfrm>
            <a:off x="4940046" y="3364992"/>
            <a:ext cx="0" cy="768095"/>
          </a:xfrm>
          <a:prstGeom prst="line">
            <a:avLst/>
          </a:prstGeom>
          <a:ln w="12700">
            <a:solidFill>
              <a:srgbClr val="A03824"/>
            </a:solidFill>
          </a:ln>
        </p:spPr>
      </p:cxnSp>
      <p:cxnSp>
        <p:nvCxnSpPr>
          <p:cNvPr id="110" name="Connector 109"/>
          <p:cNvCxnSpPr/>
          <p:nvPr/>
        </p:nvCxnSpPr>
        <p:spPr>
          <a:xfrm>
            <a:off x="5082921" y="3364992"/>
            <a:ext cx="0" cy="768095"/>
          </a:xfrm>
          <a:prstGeom prst="line">
            <a:avLst/>
          </a:prstGeom>
          <a:ln w="12700">
            <a:solidFill>
              <a:srgbClr val="A03824"/>
            </a:solidFill>
          </a:ln>
        </p:spPr>
      </p:cxnSp>
      <p:cxnSp>
        <p:nvCxnSpPr>
          <p:cNvPr id="111" name="Connector 110"/>
          <p:cNvCxnSpPr/>
          <p:nvPr/>
        </p:nvCxnSpPr>
        <p:spPr>
          <a:xfrm>
            <a:off x="5225796" y="3364992"/>
            <a:ext cx="0" cy="768095"/>
          </a:xfrm>
          <a:prstGeom prst="line">
            <a:avLst/>
          </a:prstGeom>
          <a:ln w="12700">
            <a:solidFill>
              <a:srgbClr val="A03824"/>
            </a:solidFill>
          </a:ln>
        </p:spPr>
      </p:cxnSp>
      <p:cxnSp>
        <p:nvCxnSpPr>
          <p:cNvPr id="112" name="Connector 111"/>
          <p:cNvCxnSpPr/>
          <p:nvPr/>
        </p:nvCxnSpPr>
        <p:spPr>
          <a:xfrm>
            <a:off x="5368671" y="3364992"/>
            <a:ext cx="0" cy="768095"/>
          </a:xfrm>
          <a:prstGeom prst="line">
            <a:avLst/>
          </a:prstGeom>
          <a:ln w="12700">
            <a:solidFill>
              <a:srgbClr val="A03824"/>
            </a:solidFill>
          </a:ln>
        </p:spPr>
      </p:cxnSp>
      <p:cxnSp>
        <p:nvCxnSpPr>
          <p:cNvPr id="113" name="Connector 112"/>
          <p:cNvCxnSpPr/>
          <p:nvPr/>
        </p:nvCxnSpPr>
        <p:spPr>
          <a:xfrm>
            <a:off x="5511546" y="3364992"/>
            <a:ext cx="0" cy="768095"/>
          </a:xfrm>
          <a:prstGeom prst="line">
            <a:avLst/>
          </a:prstGeom>
          <a:ln w="12700">
            <a:solidFill>
              <a:srgbClr val="A03824"/>
            </a:solidFill>
          </a:ln>
        </p:spPr>
      </p:cxnSp>
      <p:cxnSp>
        <p:nvCxnSpPr>
          <p:cNvPr id="114" name="Connector 113"/>
          <p:cNvCxnSpPr/>
          <p:nvPr/>
        </p:nvCxnSpPr>
        <p:spPr>
          <a:xfrm>
            <a:off x="5654421" y="3364992"/>
            <a:ext cx="0" cy="768095"/>
          </a:xfrm>
          <a:prstGeom prst="line">
            <a:avLst/>
          </a:prstGeom>
          <a:ln w="12700">
            <a:solidFill>
              <a:srgbClr val="A03824"/>
            </a:solidFill>
          </a:ln>
        </p:spPr>
      </p:cxnSp>
      <p:sp>
        <p:nvSpPr>
          <p:cNvPr id="115" name="TextBox 114"/>
          <p:cNvSpPr txBox="1"/>
          <p:nvPr/>
        </p:nvSpPr>
        <p:spPr>
          <a:xfrm>
            <a:off x="3511296" y="3291840"/>
            <a:ext cx="2286000" cy="914400"/>
          </a:xfrm>
          <a:prstGeom prst="rect">
            <a:avLst/>
          </a:prstGeom>
          <a:noFill/>
        </p:spPr>
        <p:txBody>
          <a:bodyPr wrap="square" lIns="0" rIns="0" tIns="0" bIns="0" anchor="ctr">
            <a:noAutofit/>
          </a:bodyPr>
          <a:lstStyle/>
          <a:p>
            <a:pPr algn="ctr">
              <a:spcBef>
                <a:spcPts val="0"/>
              </a:spcBef>
              <a:spcAft>
                <a:spcPts val="0"/>
              </a:spcAft>
            </a:pPr>
            <a:r>
              <a:rPr sz="2100" b="1" i="0">
                <a:solidFill>
                  <a:srgbClr val="FFFFFF"/>
                </a:solidFill>
                <a:latin typeface="Georgia"/>
              </a:rPr>
              <a:t>Deploy</a:t>
            </a:r>
          </a:p>
        </p:txBody>
      </p:sp>
      <p:sp>
        <p:nvSpPr>
          <p:cNvPr id="116" name="Rectangle 115"/>
          <p:cNvSpPr/>
          <p:nvPr/>
        </p:nvSpPr>
        <p:spPr>
          <a:xfrm>
            <a:off x="6382512" y="3291840"/>
            <a:ext cx="2286000" cy="914400"/>
          </a:xfrm>
          <a:prstGeom prst="rect">
            <a:avLst/>
          </a:prstGeom>
          <a:solidFill>
            <a:srgbClr val="E9B93A"/>
          </a:solidFill>
          <a:ln w="38100">
            <a:solidFill>
              <a:srgbClr val="10263F"/>
            </a:solidFill>
          </a:ln>
        </p:spPr>
        <p:txBody>
          <a:bodyPr rtlCol="0" anchor="ctr"/>
          <a:lstStyle/>
          <a:p>
            <a:pPr algn="ctr"/>
          </a:p>
        </p:txBody>
      </p:sp>
      <p:cxnSp>
        <p:nvCxnSpPr>
          <p:cNvPr id="117" name="Connector 116"/>
          <p:cNvCxnSpPr/>
          <p:nvPr/>
        </p:nvCxnSpPr>
        <p:spPr>
          <a:xfrm>
            <a:off x="6525387" y="3364992"/>
            <a:ext cx="0" cy="768095"/>
          </a:xfrm>
          <a:prstGeom prst="line">
            <a:avLst/>
          </a:prstGeom>
          <a:ln w="12700">
            <a:solidFill>
              <a:srgbClr val="BA942E"/>
            </a:solidFill>
          </a:ln>
        </p:spPr>
      </p:cxnSp>
      <p:cxnSp>
        <p:nvCxnSpPr>
          <p:cNvPr id="118" name="Connector 117"/>
          <p:cNvCxnSpPr/>
          <p:nvPr/>
        </p:nvCxnSpPr>
        <p:spPr>
          <a:xfrm>
            <a:off x="6668262" y="3364992"/>
            <a:ext cx="0" cy="768095"/>
          </a:xfrm>
          <a:prstGeom prst="line">
            <a:avLst/>
          </a:prstGeom>
          <a:ln w="12700">
            <a:solidFill>
              <a:srgbClr val="BA942E"/>
            </a:solidFill>
          </a:ln>
        </p:spPr>
      </p:cxnSp>
      <p:cxnSp>
        <p:nvCxnSpPr>
          <p:cNvPr id="119" name="Connector 118"/>
          <p:cNvCxnSpPr/>
          <p:nvPr/>
        </p:nvCxnSpPr>
        <p:spPr>
          <a:xfrm>
            <a:off x="6811137" y="3364992"/>
            <a:ext cx="0" cy="768095"/>
          </a:xfrm>
          <a:prstGeom prst="line">
            <a:avLst/>
          </a:prstGeom>
          <a:ln w="12700">
            <a:solidFill>
              <a:srgbClr val="BA942E"/>
            </a:solidFill>
          </a:ln>
        </p:spPr>
      </p:cxnSp>
      <p:cxnSp>
        <p:nvCxnSpPr>
          <p:cNvPr id="120" name="Connector 119"/>
          <p:cNvCxnSpPr/>
          <p:nvPr/>
        </p:nvCxnSpPr>
        <p:spPr>
          <a:xfrm>
            <a:off x="6954012" y="3364992"/>
            <a:ext cx="0" cy="768095"/>
          </a:xfrm>
          <a:prstGeom prst="line">
            <a:avLst/>
          </a:prstGeom>
          <a:ln w="12700">
            <a:solidFill>
              <a:srgbClr val="BA942E"/>
            </a:solidFill>
          </a:ln>
        </p:spPr>
      </p:cxnSp>
      <p:cxnSp>
        <p:nvCxnSpPr>
          <p:cNvPr id="121" name="Connector 120"/>
          <p:cNvCxnSpPr/>
          <p:nvPr/>
        </p:nvCxnSpPr>
        <p:spPr>
          <a:xfrm>
            <a:off x="7096887" y="3364992"/>
            <a:ext cx="0" cy="768095"/>
          </a:xfrm>
          <a:prstGeom prst="line">
            <a:avLst/>
          </a:prstGeom>
          <a:ln w="12700">
            <a:solidFill>
              <a:srgbClr val="BA942E"/>
            </a:solidFill>
          </a:ln>
        </p:spPr>
      </p:cxnSp>
      <p:cxnSp>
        <p:nvCxnSpPr>
          <p:cNvPr id="122" name="Connector 121"/>
          <p:cNvCxnSpPr/>
          <p:nvPr/>
        </p:nvCxnSpPr>
        <p:spPr>
          <a:xfrm>
            <a:off x="7239762" y="3364992"/>
            <a:ext cx="0" cy="768095"/>
          </a:xfrm>
          <a:prstGeom prst="line">
            <a:avLst/>
          </a:prstGeom>
          <a:ln w="12700">
            <a:solidFill>
              <a:srgbClr val="BA942E"/>
            </a:solidFill>
          </a:ln>
        </p:spPr>
      </p:cxnSp>
      <p:cxnSp>
        <p:nvCxnSpPr>
          <p:cNvPr id="123" name="Connector 122"/>
          <p:cNvCxnSpPr/>
          <p:nvPr/>
        </p:nvCxnSpPr>
        <p:spPr>
          <a:xfrm>
            <a:off x="7382637" y="3364992"/>
            <a:ext cx="0" cy="768095"/>
          </a:xfrm>
          <a:prstGeom prst="line">
            <a:avLst/>
          </a:prstGeom>
          <a:ln w="12700">
            <a:solidFill>
              <a:srgbClr val="BA942E"/>
            </a:solidFill>
          </a:ln>
        </p:spPr>
      </p:cxnSp>
      <p:cxnSp>
        <p:nvCxnSpPr>
          <p:cNvPr id="124" name="Connector 123"/>
          <p:cNvCxnSpPr/>
          <p:nvPr/>
        </p:nvCxnSpPr>
        <p:spPr>
          <a:xfrm>
            <a:off x="7525512" y="3364992"/>
            <a:ext cx="0" cy="768095"/>
          </a:xfrm>
          <a:prstGeom prst="line">
            <a:avLst/>
          </a:prstGeom>
          <a:ln w="12700">
            <a:solidFill>
              <a:srgbClr val="BA942E"/>
            </a:solidFill>
          </a:ln>
        </p:spPr>
      </p:cxnSp>
      <p:cxnSp>
        <p:nvCxnSpPr>
          <p:cNvPr id="125" name="Connector 124"/>
          <p:cNvCxnSpPr/>
          <p:nvPr/>
        </p:nvCxnSpPr>
        <p:spPr>
          <a:xfrm>
            <a:off x="7668387" y="3364992"/>
            <a:ext cx="0" cy="768095"/>
          </a:xfrm>
          <a:prstGeom prst="line">
            <a:avLst/>
          </a:prstGeom>
          <a:ln w="12700">
            <a:solidFill>
              <a:srgbClr val="BA942E"/>
            </a:solidFill>
          </a:ln>
        </p:spPr>
      </p:cxnSp>
      <p:cxnSp>
        <p:nvCxnSpPr>
          <p:cNvPr id="126" name="Connector 125"/>
          <p:cNvCxnSpPr/>
          <p:nvPr/>
        </p:nvCxnSpPr>
        <p:spPr>
          <a:xfrm>
            <a:off x="7811262" y="3364992"/>
            <a:ext cx="0" cy="768095"/>
          </a:xfrm>
          <a:prstGeom prst="line">
            <a:avLst/>
          </a:prstGeom>
          <a:ln w="12700">
            <a:solidFill>
              <a:srgbClr val="BA942E"/>
            </a:solidFill>
          </a:ln>
        </p:spPr>
      </p:cxnSp>
      <p:cxnSp>
        <p:nvCxnSpPr>
          <p:cNvPr id="127" name="Connector 126"/>
          <p:cNvCxnSpPr/>
          <p:nvPr/>
        </p:nvCxnSpPr>
        <p:spPr>
          <a:xfrm>
            <a:off x="7954137" y="3364992"/>
            <a:ext cx="0" cy="768095"/>
          </a:xfrm>
          <a:prstGeom prst="line">
            <a:avLst/>
          </a:prstGeom>
          <a:ln w="12700">
            <a:solidFill>
              <a:srgbClr val="BA942E"/>
            </a:solidFill>
          </a:ln>
        </p:spPr>
      </p:cxnSp>
      <p:cxnSp>
        <p:nvCxnSpPr>
          <p:cNvPr id="128" name="Connector 127"/>
          <p:cNvCxnSpPr/>
          <p:nvPr/>
        </p:nvCxnSpPr>
        <p:spPr>
          <a:xfrm>
            <a:off x="8097012" y="3364992"/>
            <a:ext cx="0" cy="768095"/>
          </a:xfrm>
          <a:prstGeom prst="line">
            <a:avLst/>
          </a:prstGeom>
          <a:ln w="12700">
            <a:solidFill>
              <a:srgbClr val="BA942E"/>
            </a:solidFill>
          </a:ln>
        </p:spPr>
      </p:cxnSp>
      <p:cxnSp>
        <p:nvCxnSpPr>
          <p:cNvPr id="129" name="Connector 128"/>
          <p:cNvCxnSpPr/>
          <p:nvPr/>
        </p:nvCxnSpPr>
        <p:spPr>
          <a:xfrm>
            <a:off x="8239887" y="3364992"/>
            <a:ext cx="0" cy="768095"/>
          </a:xfrm>
          <a:prstGeom prst="line">
            <a:avLst/>
          </a:prstGeom>
          <a:ln w="12700">
            <a:solidFill>
              <a:srgbClr val="BA942E"/>
            </a:solidFill>
          </a:ln>
        </p:spPr>
      </p:cxnSp>
      <p:cxnSp>
        <p:nvCxnSpPr>
          <p:cNvPr id="130" name="Connector 129"/>
          <p:cNvCxnSpPr/>
          <p:nvPr/>
        </p:nvCxnSpPr>
        <p:spPr>
          <a:xfrm>
            <a:off x="8382762" y="3364992"/>
            <a:ext cx="0" cy="768095"/>
          </a:xfrm>
          <a:prstGeom prst="line">
            <a:avLst/>
          </a:prstGeom>
          <a:ln w="12700">
            <a:solidFill>
              <a:srgbClr val="BA942E"/>
            </a:solidFill>
          </a:ln>
        </p:spPr>
      </p:cxnSp>
      <p:cxnSp>
        <p:nvCxnSpPr>
          <p:cNvPr id="131" name="Connector 130"/>
          <p:cNvCxnSpPr/>
          <p:nvPr/>
        </p:nvCxnSpPr>
        <p:spPr>
          <a:xfrm>
            <a:off x="8525637" y="3364992"/>
            <a:ext cx="0" cy="768095"/>
          </a:xfrm>
          <a:prstGeom prst="line">
            <a:avLst/>
          </a:prstGeom>
          <a:ln w="12700">
            <a:solidFill>
              <a:srgbClr val="BA942E"/>
            </a:solidFill>
          </a:ln>
        </p:spPr>
      </p:cxnSp>
      <p:sp>
        <p:nvSpPr>
          <p:cNvPr id="132" name="TextBox 131"/>
          <p:cNvSpPr txBox="1"/>
          <p:nvPr/>
        </p:nvSpPr>
        <p:spPr>
          <a:xfrm>
            <a:off x="6382512" y="3291840"/>
            <a:ext cx="2286000" cy="914400"/>
          </a:xfrm>
          <a:prstGeom prst="rect">
            <a:avLst/>
          </a:prstGeom>
          <a:noFill/>
        </p:spPr>
        <p:txBody>
          <a:bodyPr wrap="square" lIns="0" rIns="0" tIns="0" bIns="0" anchor="ctr">
            <a:noAutofit/>
          </a:bodyPr>
          <a:lstStyle/>
          <a:p>
            <a:pPr algn="ctr">
              <a:spcBef>
                <a:spcPts val="0"/>
              </a:spcBef>
              <a:spcAft>
                <a:spcPts val="0"/>
              </a:spcAft>
            </a:pPr>
            <a:r>
              <a:rPr sz="2100" b="1" i="0">
                <a:solidFill>
                  <a:srgbClr val="10263F"/>
                </a:solidFill>
                <a:latin typeface="Georgia"/>
              </a:rPr>
              <a:t>Operate</a:t>
            </a:r>
          </a:p>
        </p:txBody>
      </p:sp>
      <p:sp>
        <p:nvSpPr>
          <p:cNvPr id="133" name="Rectangle 132"/>
          <p:cNvSpPr/>
          <p:nvPr/>
        </p:nvSpPr>
        <p:spPr>
          <a:xfrm>
            <a:off x="9253728" y="3291840"/>
            <a:ext cx="2286000" cy="914400"/>
          </a:xfrm>
          <a:prstGeom prst="rect">
            <a:avLst/>
          </a:prstGeom>
          <a:solidFill>
            <a:srgbClr val="2F8F83"/>
          </a:solidFill>
          <a:ln w="22225">
            <a:solidFill>
              <a:srgbClr val="10263F"/>
            </a:solidFill>
          </a:ln>
        </p:spPr>
        <p:txBody>
          <a:bodyPr rtlCol="0" anchor="ctr"/>
          <a:lstStyle/>
          <a:p>
            <a:pPr algn="ctr"/>
          </a:p>
        </p:txBody>
      </p:sp>
      <p:cxnSp>
        <p:nvCxnSpPr>
          <p:cNvPr id="134" name="Connector 133"/>
          <p:cNvCxnSpPr/>
          <p:nvPr/>
        </p:nvCxnSpPr>
        <p:spPr>
          <a:xfrm>
            <a:off x="9396603" y="3364992"/>
            <a:ext cx="0" cy="768095"/>
          </a:xfrm>
          <a:prstGeom prst="line">
            <a:avLst/>
          </a:prstGeom>
          <a:ln w="12700">
            <a:solidFill>
              <a:srgbClr val="257268"/>
            </a:solidFill>
          </a:ln>
        </p:spPr>
      </p:cxnSp>
      <p:cxnSp>
        <p:nvCxnSpPr>
          <p:cNvPr id="135" name="Connector 134"/>
          <p:cNvCxnSpPr/>
          <p:nvPr/>
        </p:nvCxnSpPr>
        <p:spPr>
          <a:xfrm>
            <a:off x="9539478" y="3364992"/>
            <a:ext cx="0" cy="768095"/>
          </a:xfrm>
          <a:prstGeom prst="line">
            <a:avLst/>
          </a:prstGeom>
          <a:ln w="12700">
            <a:solidFill>
              <a:srgbClr val="257268"/>
            </a:solidFill>
          </a:ln>
        </p:spPr>
      </p:cxnSp>
      <p:cxnSp>
        <p:nvCxnSpPr>
          <p:cNvPr id="136" name="Connector 135"/>
          <p:cNvCxnSpPr/>
          <p:nvPr/>
        </p:nvCxnSpPr>
        <p:spPr>
          <a:xfrm>
            <a:off x="9682353" y="3364992"/>
            <a:ext cx="0" cy="768095"/>
          </a:xfrm>
          <a:prstGeom prst="line">
            <a:avLst/>
          </a:prstGeom>
          <a:ln w="12700">
            <a:solidFill>
              <a:srgbClr val="257268"/>
            </a:solidFill>
          </a:ln>
        </p:spPr>
      </p:cxnSp>
      <p:cxnSp>
        <p:nvCxnSpPr>
          <p:cNvPr id="137" name="Connector 136"/>
          <p:cNvCxnSpPr/>
          <p:nvPr/>
        </p:nvCxnSpPr>
        <p:spPr>
          <a:xfrm>
            <a:off x="9825228" y="3364992"/>
            <a:ext cx="0" cy="768095"/>
          </a:xfrm>
          <a:prstGeom prst="line">
            <a:avLst/>
          </a:prstGeom>
          <a:ln w="12700">
            <a:solidFill>
              <a:srgbClr val="257268"/>
            </a:solidFill>
          </a:ln>
        </p:spPr>
      </p:cxnSp>
      <p:cxnSp>
        <p:nvCxnSpPr>
          <p:cNvPr id="138" name="Connector 137"/>
          <p:cNvCxnSpPr/>
          <p:nvPr/>
        </p:nvCxnSpPr>
        <p:spPr>
          <a:xfrm>
            <a:off x="9968103" y="3364992"/>
            <a:ext cx="0" cy="768095"/>
          </a:xfrm>
          <a:prstGeom prst="line">
            <a:avLst/>
          </a:prstGeom>
          <a:ln w="12700">
            <a:solidFill>
              <a:srgbClr val="257268"/>
            </a:solidFill>
          </a:ln>
        </p:spPr>
      </p:cxnSp>
      <p:cxnSp>
        <p:nvCxnSpPr>
          <p:cNvPr id="139" name="Connector 138"/>
          <p:cNvCxnSpPr/>
          <p:nvPr/>
        </p:nvCxnSpPr>
        <p:spPr>
          <a:xfrm>
            <a:off x="10110978" y="3364992"/>
            <a:ext cx="0" cy="768095"/>
          </a:xfrm>
          <a:prstGeom prst="line">
            <a:avLst/>
          </a:prstGeom>
          <a:ln w="12700">
            <a:solidFill>
              <a:srgbClr val="257268"/>
            </a:solidFill>
          </a:ln>
        </p:spPr>
      </p:cxnSp>
      <p:cxnSp>
        <p:nvCxnSpPr>
          <p:cNvPr id="140" name="Connector 139"/>
          <p:cNvCxnSpPr/>
          <p:nvPr/>
        </p:nvCxnSpPr>
        <p:spPr>
          <a:xfrm>
            <a:off x="10253853" y="3364992"/>
            <a:ext cx="0" cy="768095"/>
          </a:xfrm>
          <a:prstGeom prst="line">
            <a:avLst/>
          </a:prstGeom>
          <a:ln w="12700">
            <a:solidFill>
              <a:srgbClr val="257268"/>
            </a:solidFill>
          </a:ln>
        </p:spPr>
      </p:cxnSp>
      <p:cxnSp>
        <p:nvCxnSpPr>
          <p:cNvPr id="141" name="Connector 140"/>
          <p:cNvCxnSpPr/>
          <p:nvPr/>
        </p:nvCxnSpPr>
        <p:spPr>
          <a:xfrm>
            <a:off x="10396728" y="3364992"/>
            <a:ext cx="0" cy="768095"/>
          </a:xfrm>
          <a:prstGeom prst="line">
            <a:avLst/>
          </a:prstGeom>
          <a:ln w="12700">
            <a:solidFill>
              <a:srgbClr val="257268"/>
            </a:solidFill>
          </a:ln>
        </p:spPr>
      </p:cxnSp>
      <p:cxnSp>
        <p:nvCxnSpPr>
          <p:cNvPr id="142" name="Connector 141"/>
          <p:cNvCxnSpPr/>
          <p:nvPr/>
        </p:nvCxnSpPr>
        <p:spPr>
          <a:xfrm>
            <a:off x="10539603" y="3364992"/>
            <a:ext cx="0" cy="768095"/>
          </a:xfrm>
          <a:prstGeom prst="line">
            <a:avLst/>
          </a:prstGeom>
          <a:ln w="12700">
            <a:solidFill>
              <a:srgbClr val="257268"/>
            </a:solidFill>
          </a:ln>
        </p:spPr>
      </p:cxnSp>
      <p:cxnSp>
        <p:nvCxnSpPr>
          <p:cNvPr id="143" name="Connector 142"/>
          <p:cNvCxnSpPr/>
          <p:nvPr/>
        </p:nvCxnSpPr>
        <p:spPr>
          <a:xfrm>
            <a:off x="10682478" y="3364992"/>
            <a:ext cx="0" cy="768095"/>
          </a:xfrm>
          <a:prstGeom prst="line">
            <a:avLst/>
          </a:prstGeom>
          <a:ln w="12700">
            <a:solidFill>
              <a:srgbClr val="257268"/>
            </a:solidFill>
          </a:ln>
        </p:spPr>
      </p:cxnSp>
      <p:cxnSp>
        <p:nvCxnSpPr>
          <p:cNvPr id="144" name="Connector 143"/>
          <p:cNvCxnSpPr/>
          <p:nvPr/>
        </p:nvCxnSpPr>
        <p:spPr>
          <a:xfrm>
            <a:off x="10825353" y="3364992"/>
            <a:ext cx="0" cy="768095"/>
          </a:xfrm>
          <a:prstGeom prst="line">
            <a:avLst/>
          </a:prstGeom>
          <a:ln w="12700">
            <a:solidFill>
              <a:srgbClr val="257268"/>
            </a:solidFill>
          </a:ln>
        </p:spPr>
      </p:cxnSp>
      <p:cxnSp>
        <p:nvCxnSpPr>
          <p:cNvPr id="145" name="Connector 144"/>
          <p:cNvCxnSpPr/>
          <p:nvPr/>
        </p:nvCxnSpPr>
        <p:spPr>
          <a:xfrm>
            <a:off x="10968228" y="3364992"/>
            <a:ext cx="0" cy="768095"/>
          </a:xfrm>
          <a:prstGeom prst="line">
            <a:avLst/>
          </a:prstGeom>
          <a:ln w="12700">
            <a:solidFill>
              <a:srgbClr val="257268"/>
            </a:solidFill>
          </a:ln>
        </p:spPr>
      </p:cxnSp>
      <p:cxnSp>
        <p:nvCxnSpPr>
          <p:cNvPr id="146" name="Connector 145"/>
          <p:cNvCxnSpPr/>
          <p:nvPr/>
        </p:nvCxnSpPr>
        <p:spPr>
          <a:xfrm>
            <a:off x="11111103" y="3364992"/>
            <a:ext cx="0" cy="768095"/>
          </a:xfrm>
          <a:prstGeom prst="line">
            <a:avLst/>
          </a:prstGeom>
          <a:ln w="12700">
            <a:solidFill>
              <a:srgbClr val="257268"/>
            </a:solidFill>
          </a:ln>
        </p:spPr>
      </p:cxnSp>
      <p:cxnSp>
        <p:nvCxnSpPr>
          <p:cNvPr id="147" name="Connector 146"/>
          <p:cNvCxnSpPr/>
          <p:nvPr/>
        </p:nvCxnSpPr>
        <p:spPr>
          <a:xfrm>
            <a:off x="11253978" y="3364992"/>
            <a:ext cx="0" cy="768095"/>
          </a:xfrm>
          <a:prstGeom prst="line">
            <a:avLst/>
          </a:prstGeom>
          <a:ln w="12700">
            <a:solidFill>
              <a:srgbClr val="257268"/>
            </a:solidFill>
          </a:ln>
        </p:spPr>
      </p:cxnSp>
      <p:cxnSp>
        <p:nvCxnSpPr>
          <p:cNvPr id="148" name="Connector 147"/>
          <p:cNvCxnSpPr/>
          <p:nvPr/>
        </p:nvCxnSpPr>
        <p:spPr>
          <a:xfrm>
            <a:off x="11396853" y="3364992"/>
            <a:ext cx="0" cy="768095"/>
          </a:xfrm>
          <a:prstGeom prst="line">
            <a:avLst/>
          </a:prstGeom>
          <a:ln w="12700">
            <a:solidFill>
              <a:srgbClr val="257268"/>
            </a:solidFill>
          </a:ln>
        </p:spPr>
      </p:cxnSp>
      <p:sp>
        <p:nvSpPr>
          <p:cNvPr id="149" name="TextBox 148"/>
          <p:cNvSpPr txBox="1"/>
          <p:nvPr/>
        </p:nvSpPr>
        <p:spPr>
          <a:xfrm>
            <a:off x="9253728" y="3291840"/>
            <a:ext cx="2286000" cy="914400"/>
          </a:xfrm>
          <a:prstGeom prst="rect">
            <a:avLst/>
          </a:prstGeom>
          <a:noFill/>
        </p:spPr>
        <p:txBody>
          <a:bodyPr wrap="square" lIns="0" rIns="0" tIns="0" bIns="0" anchor="ctr">
            <a:noAutofit/>
          </a:bodyPr>
          <a:lstStyle/>
          <a:p>
            <a:pPr algn="ctr">
              <a:spcBef>
                <a:spcPts val="0"/>
              </a:spcBef>
              <a:spcAft>
                <a:spcPts val="0"/>
              </a:spcAft>
            </a:pPr>
            <a:r>
              <a:rPr sz="2100" b="1" i="0">
                <a:solidFill>
                  <a:srgbClr val="FFFFFF"/>
                </a:solidFill>
                <a:latin typeface="Georgia"/>
              </a:rPr>
              <a:t>Monitor</a:t>
            </a:r>
          </a:p>
        </p:txBody>
      </p:sp>
      <p:cxnSp>
        <p:nvCxnSpPr>
          <p:cNvPr id="150" name="Connector 149"/>
          <p:cNvCxnSpPr/>
          <p:nvPr/>
        </p:nvCxnSpPr>
        <p:spPr>
          <a:xfrm>
            <a:off x="2926080" y="2148840"/>
            <a:ext cx="585216" cy="0"/>
          </a:xfrm>
          <a:prstGeom prst="line">
            <a:avLst/>
          </a:prstGeom>
          <a:ln w="22225">
            <a:solidFill>
              <a:srgbClr val="10263F"/>
            </a:solidFill>
            <a:tailEnd type="triangle" w="med" len="med"/>
          </a:ln>
        </p:spPr>
      </p:cxnSp>
      <p:cxnSp>
        <p:nvCxnSpPr>
          <p:cNvPr id="151" name="Connector 150"/>
          <p:cNvCxnSpPr/>
          <p:nvPr/>
        </p:nvCxnSpPr>
        <p:spPr>
          <a:xfrm>
            <a:off x="5797296" y="2148840"/>
            <a:ext cx="585216" cy="0"/>
          </a:xfrm>
          <a:prstGeom prst="line">
            <a:avLst/>
          </a:prstGeom>
          <a:ln w="22225">
            <a:solidFill>
              <a:srgbClr val="10263F"/>
            </a:solidFill>
            <a:tailEnd type="triangle" w="med" len="med"/>
          </a:ln>
        </p:spPr>
      </p:cxnSp>
      <p:cxnSp>
        <p:nvCxnSpPr>
          <p:cNvPr id="152" name="Connector 151"/>
          <p:cNvCxnSpPr/>
          <p:nvPr/>
        </p:nvCxnSpPr>
        <p:spPr>
          <a:xfrm>
            <a:off x="8668512" y="2148840"/>
            <a:ext cx="585216" cy="0"/>
          </a:xfrm>
          <a:prstGeom prst="line">
            <a:avLst/>
          </a:prstGeom>
          <a:ln w="22225">
            <a:solidFill>
              <a:srgbClr val="10263F"/>
            </a:solidFill>
            <a:tailEnd type="triangle" w="med" len="med"/>
          </a:ln>
        </p:spPr>
      </p:cxnSp>
      <p:cxnSp>
        <p:nvCxnSpPr>
          <p:cNvPr id="153" name="Connector 152"/>
          <p:cNvCxnSpPr/>
          <p:nvPr/>
        </p:nvCxnSpPr>
        <p:spPr>
          <a:xfrm>
            <a:off x="10396728" y="2606040"/>
            <a:ext cx="0" cy="338328"/>
          </a:xfrm>
          <a:prstGeom prst="line">
            <a:avLst/>
          </a:prstGeom>
          <a:ln w="22225">
            <a:solidFill>
              <a:srgbClr val="10263F"/>
            </a:solidFill>
          </a:ln>
        </p:spPr>
      </p:cxnSp>
      <p:cxnSp>
        <p:nvCxnSpPr>
          <p:cNvPr id="154" name="Connector 153"/>
          <p:cNvCxnSpPr/>
          <p:nvPr/>
        </p:nvCxnSpPr>
        <p:spPr>
          <a:xfrm flipH="1">
            <a:off x="1783080" y="2944368"/>
            <a:ext cx="8613648" cy="0"/>
          </a:xfrm>
          <a:prstGeom prst="line">
            <a:avLst/>
          </a:prstGeom>
          <a:ln w="22225">
            <a:solidFill>
              <a:srgbClr val="10263F"/>
            </a:solidFill>
          </a:ln>
        </p:spPr>
      </p:cxnSp>
      <p:cxnSp>
        <p:nvCxnSpPr>
          <p:cNvPr id="155" name="Connector 154"/>
          <p:cNvCxnSpPr/>
          <p:nvPr/>
        </p:nvCxnSpPr>
        <p:spPr>
          <a:xfrm>
            <a:off x="1783080" y="2944368"/>
            <a:ext cx="0" cy="347472"/>
          </a:xfrm>
          <a:prstGeom prst="line">
            <a:avLst/>
          </a:prstGeom>
          <a:ln w="22225">
            <a:solidFill>
              <a:srgbClr val="10263F"/>
            </a:solidFill>
            <a:tailEnd type="triangle" w="med" len="med"/>
          </a:ln>
        </p:spPr>
      </p:cxnSp>
      <p:cxnSp>
        <p:nvCxnSpPr>
          <p:cNvPr id="156" name="Connector 155"/>
          <p:cNvCxnSpPr/>
          <p:nvPr/>
        </p:nvCxnSpPr>
        <p:spPr>
          <a:xfrm>
            <a:off x="2926080" y="3749039"/>
            <a:ext cx="585216" cy="0"/>
          </a:xfrm>
          <a:prstGeom prst="line">
            <a:avLst/>
          </a:prstGeom>
          <a:ln w="22225">
            <a:solidFill>
              <a:srgbClr val="10263F"/>
            </a:solidFill>
            <a:tailEnd type="triangle" w="med" len="med"/>
          </a:ln>
        </p:spPr>
      </p:cxnSp>
      <p:cxnSp>
        <p:nvCxnSpPr>
          <p:cNvPr id="157" name="Connector 156"/>
          <p:cNvCxnSpPr/>
          <p:nvPr/>
        </p:nvCxnSpPr>
        <p:spPr>
          <a:xfrm>
            <a:off x="5797296" y="3749039"/>
            <a:ext cx="585216" cy="0"/>
          </a:xfrm>
          <a:prstGeom prst="line">
            <a:avLst/>
          </a:prstGeom>
          <a:ln w="22225">
            <a:solidFill>
              <a:srgbClr val="10263F"/>
            </a:solidFill>
            <a:tailEnd type="triangle" w="med" len="med"/>
          </a:ln>
        </p:spPr>
      </p:cxnSp>
      <p:cxnSp>
        <p:nvCxnSpPr>
          <p:cNvPr id="158" name="Connector 157"/>
          <p:cNvCxnSpPr/>
          <p:nvPr/>
        </p:nvCxnSpPr>
        <p:spPr>
          <a:xfrm>
            <a:off x="8668512" y="3749039"/>
            <a:ext cx="585216" cy="0"/>
          </a:xfrm>
          <a:prstGeom prst="line">
            <a:avLst/>
          </a:prstGeom>
          <a:ln w="22225">
            <a:solidFill>
              <a:srgbClr val="10263F"/>
            </a:solidFill>
            <a:tailEnd type="triangle" w="med" len="med"/>
          </a:ln>
        </p:spPr>
      </p:cxnSp>
      <p:sp>
        <p:nvSpPr>
          <p:cNvPr id="159" name="Rounded Rectangle 158"/>
          <p:cNvSpPr/>
          <p:nvPr/>
        </p:nvSpPr>
        <p:spPr>
          <a:xfrm>
            <a:off x="3575303" y="4818888"/>
            <a:ext cx="5157216" cy="1097280"/>
          </a:xfrm>
          <a:prstGeom prst="roundRect">
            <a:avLst>
              <a:gd name="adj" fmla="val 3333"/>
            </a:avLst>
          </a:prstGeom>
          <a:solidFill>
            <a:srgbClr val="10263F"/>
          </a:solidFill>
          <a:ln>
            <a:noFill/>
          </a:ln>
        </p:spPr>
        <p:txBody>
          <a:bodyPr rtlCol="0" anchor="ctr"/>
          <a:lstStyle/>
          <a:p>
            <a:pPr algn="ctr"/>
          </a:p>
        </p:txBody>
      </p:sp>
      <p:sp>
        <p:nvSpPr>
          <p:cNvPr id="160" name="Rounded Rectangle 159"/>
          <p:cNvSpPr/>
          <p:nvPr/>
        </p:nvSpPr>
        <p:spPr>
          <a:xfrm>
            <a:off x="3511296" y="4754880"/>
            <a:ext cx="5157216" cy="1097280"/>
          </a:xfrm>
          <a:prstGeom prst="roundRect">
            <a:avLst>
              <a:gd name="adj" fmla="val 3333"/>
            </a:avLst>
          </a:prstGeom>
          <a:solidFill>
            <a:srgbClr val="FFFFFF"/>
          </a:solidFill>
          <a:ln w="22225">
            <a:solidFill>
              <a:srgbClr val="10263F"/>
            </a:solidFill>
          </a:ln>
        </p:spPr>
        <p:txBody>
          <a:bodyPr rtlCol="0" anchor="ctr"/>
          <a:lstStyle/>
          <a:p>
            <a:pPr algn="ctr"/>
          </a:p>
        </p:txBody>
      </p:sp>
      <p:sp>
        <p:nvSpPr>
          <p:cNvPr id="161" name="TextBox 160"/>
          <p:cNvSpPr txBox="1"/>
          <p:nvPr/>
        </p:nvSpPr>
        <p:spPr>
          <a:xfrm>
            <a:off x="3511296" y="4754880"/>
            <a:ext cx="5157216" cy="1097280"/>
          </a:xfrm>
          <a:prstGeom prst="rect">
            <a:avLst/>
          </a:prstGeom>
          <a:noFill/>
        </p:spPr>
        <p:txBody>
          <a:bodyPr wrap="square" lIns="0" rIns="0" tIns="0" bIns="0" anchor="ctr">
            <a:noAutofit/>
          </a:bodyPr>
          <a:lstStyle/>
          <a:p>
            <a:pPr algn="ctr">
              <a:spcBef>
                <a:spcPts val="0"/>
              </a:spcBef>
              <a:spcAft>
                <a:spcPts val="300"/>
              </a:spcAft>
            </a:pPr>
            <a:r>
              <a:rPr sz="2200" b="1" i="0">
                <a:solidFill>
                  <a:srgbClr val="10263F"/>
                </a:solidFill>
                <a:latin typeface="Georgia"/>
              </a:rPr>
              <a:t>Traefik</a:t>
            </a:r>
          </a:p>
          <a:p>
            <a:pPr algn="ctr">
              <a:spcBef>
                <a:spcPts val="0"/>
              </a:spcBef>
              <a:spcAft>
                <a:spcPts val="0"/>
              </a:spcAft>
            </a:pPr>
            <a:r>
              <a:rPr sz="1400" b="0" i="0">
                <a:solidFill>
                  <a:srgbClr val="4A5A6B"/>
                </a:solidFill>
                <a:latin typeface="Arial"/>
              </a:rPr>
              <a:t>sends live traffic to the running version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Rectangle 1"/>
          <p:cNvSpPr/>
          <p:nvPr/>
        </p:nvSpPr>
        <p:spPr>
          <a:xfrm>
            <a:off x="640080" y="731520"/>
            <a:ext cx="566928" cy="310896"/>
          </a:xfrm>
          <a:prstGeom prst="rect">
            <a:avLst/>
          </a:prstGeom>
          <a:solidFill>
            <a:srgbClr val="2F8F83"/>
          </a:solidFill>
          <a:ln w="15875">
            <a:solidFill>
              <a:srgbClr val="10263F"/>
            </a:solidFill>
          </a:ln>
        </p:spPr>
        <p:txBody>
          <a:bodyPr rtlCol="0" anchor="ctr"/>
          <a:lstStyle/>
          <a:p>
            <a:pPr algn="ctr"/>
          </a:p>
        </p:txBody>
      </p:sp>
      <p:cxnSp>
        <p:nvCxnSpPr>
          <p:cNvPr id="3" name="Connector 2"/>
          <p:cNvCxnSpPr/>
          <p:nvPr/>
        </p:nvCxnSpPr>
        <p:spPr>
          <a:xfrm>
            <a:off x="753465" y="777240"/>
            <a:ext cx="0" cy="219456"/>
          </a:xfrm>
          <a:prstGeom prst="line">
            <a:avLst/>
          </a:prstGeom>
          <a:ln w="9525">
            <a:solidFill>
              <a:srgbClr val="20645B"/>
            </a:solidFill>
          </a:ln>
        </p:spPr>
      </p:cxnSp>
      <p:cxnSp>
        <p:nvCxnSpPr>
          <p:cNvPr id="4" name="Connector 3"/>
          <p:cNvCxnSpPr/>
          <p:nvPr/>
        </p:nvCxnSpPr>
        <p:spPr>
          <a:xfrm>
            <a:off x="866851" y="777240"/>
            <a:ext cx="0" cy="219456"/>
          </a:xfrm>
          <a:prstGeom prst="line">
            <a:avLst/>
          </a:prstGeom>
          <a:ln w="9525">
            <a:solidFill>
              <a:srgbClr val="20645B"/>
            </a:solidFill>
          </a:ln>
        </p:spPr>
      </p:cxnSp>
      <p:cxnSp>
        <p:nvCxnSpPr>
          <p:cNvPr id="5" name="Connector 4"/>
          <p:cNvCxnSpPr/>
          <p:nvPr/>
        </p:nvCxnSpPr>
        <p:spPr>
          <a:xfrm>
            <a:off x="980236" y="777240"/>
            <a:ext cx="0" cy="219456"/>
          </a:xfrm>
          <a:prstGeom prst="line">
            <a:avLst/>
          </a:prstGeom>
          <a:ln w="9525">
            <a:solidFill>
              <a:srgbClr val="20645B"/>
            </a:solidFill>
          </a:ln>
        </p:spPr>
      </p:cxnSp>
      <p:cxnSp>
        <p:nvCxnSpPr>
          <p:cNvPr id="6" name="Connector 5"/>
          <p:cNvCxnSpPr/>
          <p:nvPr/>
        </p:nvCxnSpPr>
        <p:spPr>
          <a:xfrm>
            <a:off x="1093622" y="777240"/>
            <a:ext cx="0" cy="219456"/>
          </a:xfrm>
          <a:prstGeom prst="line">
            <a:avLst/>
          </a:prstGeom>
          <a:ln w="9525">
            <a:solidFill>
              <a:srgbClr val="20645B"/>
            </a:solidFill>
          </a:ln>
        </p:spPr>
      </p:cxnSp>
      <p:sp>
        <p:nvSpPr>
          <p:cNvPr id="7" name="TextBox 6"/>
          <p:cNvSpPr txBox="1"/>
          <p:nvPr/>
        </p:nvSpPr>
        <p:spPr>
          <a:xfrm>
            <a:off x="1417320" y="548640"/>
            <a:ext cx="10149840" cy="685800"/>
          </a:xfrm>
          <a:prstGeom prst="rect">
            <a:avLst/>
          </a:prstGeom>
          <a:noFill/>
        </p:spPr>
        <p:txBody>
          <a:bodyPr wrap="square" lIns="0" rIns="0" tIns="0" bIns="0" anchor="ctr">
            <a:noAutofit/>
          </a:bodyPr>
          <a:lstStyle/>
          <a:p>
            <a:pPr algn="l">
              <a:spcBef>
                <a:spcPts val="0"/>
              </a:spcBef>
              <a:spcAft>
                <a:spcPts val="0"/>
              </a:spcAft>
            </a:pPr>
            <a:r>
              <a:rPr sz="3000" b="1" i="0">
                <a:solidFill>
                  <a:srgbClr val="10263F"/>
                </a:solidFill>
                <a:latin typeface="Georgia"/>
              </a:rPr>
              <a:t>What Traefik is</a:t>
            </a:r>
          </a:p>
        </p:txBody>
      </p:sp>
      <p:cxnSp>
        <p:nvCxnSpPr>
          <p:cNvPr id="8" name="Connector 7"/>
          <p:cNvCxnSpPr/>
          <p:nvPr/>
        </p:nvCxnSpPr>
        <p:spPr>
          <a:xfrm>
            <a:off x="640080" y="1335024"/>
            <a:ext cx="10908792" cy="0"/>
          </a:xfrm>
          <a:prstGeom prst="line">
            <a:avLst/>
          </a:prstGeom>
          <a:ln w="15875">
            <a:solidFill>
              <a:srgbClr val="9AA5AE"/>
            </a:solidFill>
            <a:prstDash val="dash"/>
          </a:ln>
        </p:spPr>
      </p:cxnSp>
      <p:pic>
        <p:nvPicPr>
          <p:cNvPr id="9" name="Picture 8" descr="wave_band.png"/>
          <p:cNvPicPr>
            <a:picLocks noChangeAspect="1"/>
          </p:cNvPicPr>
          <p:nvPr/>
        </p:nvPicPr>
        <p:blipFill>
          <a:blip r:embed="rId2"/>
          <a:stretch>
            <a:fillRect/>
          </a:stretch>
        </p:blipFill>
        <p:spPr>
          <a:xfrm>
            <a:off x="0" y="6355080"/>
            <a:ext cx="12191695" cy="502845"/>
          </a:xfrm>
          <a:prstGeom prst="rect">
            <a:avLst/>
          </a:prstGeom>
        </p:spPr>
      </p:pic>
      <p:pic>
        <p:nvPicPr>
          <p:cNvPr id="10" name="Picture 9" descr="tug_small.png"/>
          <p:cNvPicPr>
            <a:picLocks noChangeAspect="1"/>
          </p:cNvPicPr>
          <p:nvPr/>
        </p:nvPicPr>
        <p:blipFill>
          <a:blip r:embed="rId3"/>
          <a:stretch>
            <a:fillRect/>
          </a:stretch>
        </p:blipFill>
        <p:spPr>
          <a:xfrm>
            <a:off x="2904978" y="6070981"/>
            <a:ext cx="566928" cy="457835"/>
          </a:xfrm>
          <a:prstGeom prst="rect">
            <a:avLst/>
          </a:prstGeom>
        </p:spPr>
      </p:pic>
      <p:sp>
        <p:nvSpPr>
          <p:cNvPr id="11" name="TextBox 10"/>
          <p:cNvSpPr txBox="1"/>
          <p:nvPr/>
        </p:nvSpPr>
        <p:spPr>
          <a:xfrm>
            <a:off x="640080" y="6126480"/>
            <a:ext cx="2743200" cy="228600"/>
          </a:xfrm>
          <a:prstGeom prst="rect">
            <a:avLst/>
          </a:prstGeom>
          <a:noFill/>
        </p:spPr>
        <p:txBody>
          <a:bodyPr wrap="square" lIns="0" rIns="0" tIns="0" bIns="0" anchor="ctr">
            <a:noAutofit/>
          </a:bodyPr>
          <a:lstStyle/>
          <a:p>
            <a:pPr algn="l">
              <a:spcBef>
                <a:spcPts val="0"/>
              </a:spcBef>
              <a:spcAft>
                <a:spcPts val="0"/>
              </a:spcAft>
            </a:pPr>
            <a:r>
              <a:rPr sz="1000" b="0" i="0">
                <a:solidFill>
                  <a:srgbClr val="7E8A97"/>
                </a:solidFill>
                <a:latin typeface="Arial"/>
              </a:rPr>
              <a:t>Traefik   4 / 15</a:t>
            </a:r>
          </a:p>
        </p:txBody>
      </p:sp>
      <p:pic>
        <p:nvPicPr>
          <p:cNvPr id="12" name="Picture 11" descr="logo_college.png"/>
          <p:cNvPicPr>
            <a:picLocks noChangeAspect="1"/>
          </p:cNvPicPr>
          <p:nvPr/>
        </p:nvPicPr>
        <p:blipFill>
          <a:blip r:embed="rId4"/>
          <a:stretch>
            <a:fillRect/>
          </a:stretch>
        </p:blipFill>
        <p:spPr>
          <a:xfrm>
            <a:off x="640080" y="91440"/>
            <a:ext cx="1625550" cy="475488"/>
          </a:xfrm>
          <a:prstGeom prst="rect">
            <a:avLst/>
          </a:prstGeom>
        </p:spPr>
      </p:pic>
      <p:pic>
        <p:nvPicPr>
          <p:cNvPr id="13" name="Picture 12" descr="logo_trust.png"/>
          <p:cNvPicPr>
            <a:picLocks noChangeAspect="1"/>
          </p:cNvPicPr>
          <p:nvPr/>
        </p:nvPicPr>
        <p:blipFill>
          <a:blip r:embed="rId5"/>
          <a:stretch>
            <a:fillRect/>
          </a:stretch>
        </p:blipFill>
        <p:spPr>
          <a:xfrm>
            <a:off x="10940472" y="91440"/>
            <a:ext cx="608400" cy="457200"/>
          </a:xfrm>
          <a:prstGeom prst="rect">
            <a:avLst/>
          </a:prstGeom>
        </p:spPr>
      </p:pic>
      <p:cxnSp>
        <p:nvCxnSpPr>
          <p:cNvPr id="14" name="Connector 13"/>
          <p:cNvCxnSpPr/>
          <p:nvPr/>
        </p:nvCxnSpPr>
        <p:spPr>
          <a:xfrm>
            <a:off x="640080" y="1600200"/>
            <a:ext cx="5120640" cy="0"/>
          </a:xfrm>
          <a:prstGeom prst="line">
            <a:avLst/>
          </a:prstGeom>
          <a:ln w="12700">
            <a:solidFill>
              <a:srgbClr val="C4CBD0"/>
            </a:solidFill>
          </a:ln>
        </p:spPr>
      </p:cxnSp>
      <p:sp>
        <p:nvSpPr>
          <p:cNvPr id="15" name="TextBox 14"/>
          <p:cNvSpPr txBox="1"/>
          <p:nvPr/>
        </p:nvSpPr>
        <p:spPr>
          <a:xfrm>
            <a:off x="640080" y="1600200"/>
            <a:ext cx="2103120" cy="640080"/>
          </a:xfrm>
          <a:prstGeom prst="rect">
            <a:avLst/>
          </a:prstGeom>
          <a:noFill/>
        </p:spPr>
        <p:txBody>
          <a:bodyPr wrap="square" lIns="0" rIns="0" tIns="0" bIns="0" anchor="ctr">
            <a:noAutofit/>
          </a:bodyPr>
          <a:lstStyle/>
          <a:p>
            <a:pPr algn="l">
              <a:spcBef>
                <a:spcPts val="0"/>
              </a:spcBef>
              <a:spcAft>
                <a:spcPts val="0"/>
              </a:spcAft>
            </a:pPr>
            <a:r>
              <a:rPr sz="1300" b="1" i="0">
                <a:solidFill>
                  <a:srgbClr val="7E8A97"/>
                </a:solidFill>
                <a:latin typeface="Arial"/>
              </a:rPr>
              <a:t>Written in</a:t>
            </a:r>
          </a:p>
        </p:txBody>
      </p:sp>
      <p:sp>
        <p:nvSpPr>
          <p:cNvPr id="16" name="TextBox 15"/>
          <p:cNvSpPr txBox="1"/>
          <p:nvPr/>
        </p:nvSpPr>
        <p:spPr>
          <a:xfrm>
            <a:off x="2743200" y="1600200"/>
            <a:ext cx="3017520" cy="640080"/>
          </a:xfrm>
          <a:prstGeom prst="rect">
            <a:avLst/>
          </a:prstGeom>
          <a:noFill/>
        </p:spPr>
        <p:txBody>
          <a:bodyPr wrap="square" lIns="0" rIns="0" tIns="0" bIns="0" anchor="ctr">
            <a:noAutofit/>
          </a:bodyPr>
          <a:lstStyle/>
          <a:p>
            <a:pPr algn="l">
              <a:lnSpc>
                <a:spcPct val="110000"/>
              </a:lnSpc>
              <a:spcBef>
                <a:spcPts val="0"/>
              </a:spcBef>
              <a:spcAft>
                <a:spcPts val="0"/>
              </a:spcAft>
            </a:pPr>
            <a:r>
              <a:rPr sz="1600" b="1" i="0">
                <a:solidFill>
                  <a:srgbClr val="10263F"/>
                </a:solidFill>
                <a:latin typeface="Georgia"/>
              </a:rPr>
              <a:t>Go</a:t>
            </a:r>
          </a:p>
        </p:txBody>
      </p:sp>
      <p:cxnSp>
        <p:nvCxnSpPr>
          <p:cNvPr id="17" name="Connector 16"/>
          <p:cNvCxnSpPr/>
          <p:nvPr/>
        </p:nvCxnSpPr>
        <p:spPr>
          <a:xfrm>
            <a:off x="640080" y="2240280"/>
            <a:ext cx="5120640" cy="0"/>
          </a:xfrm>
          <a:prstGeom prst="line">
            <a:avLst/>
          </a:prstGeom>
          <a:ln w="12700">
            <a:solidFill>
              <a:srgbClr val="C4CBD0"/>
            </a:solidFill>
          </a:ln>
        </p:spPr>
      </p:cxnSp>
      <p:sp>
        <p:nvSpPr>
          <p:cNvPr id="18" name="TextBox 17"/>
          <p:cNvSpPr txBox="1"/>
          <p:nvPr/>
        </p:nvSpPr>
        <p:spPr>
          <a:xfrm>
            <a:off x="640080" y="2240280"/>
            <a:ext cx="2103120" cy="640080"/>
          </a:xfrm>
          <a:prstGeom prst="rect">
            <a:avLst/>
          </a:prstGeom>
          <a:noFill/>
        </p:spPr>
        <p:txBody>
          <a:bodyPr wrap="square" lIns="0" rIns="0" tIns="0" bIns="0" anchor="ctr">
            <a:noAutofit/>
          </a:bodyPr>
          <a:lstStyle/>
          <a:p>
            <a:pPr algn="l">
              <a:spcBef>
                <a:spcPts val="0"/>
              </a:spcBef>
              <a:spcAft>
                <a:spcPts val="0"/>
              </a:spcAft>
            </a:pPr>
            <a:r>
              <a:rPr sz="1300" b="1" i="0">
                <a:solidFill>
                  <a:srgbClr val="7E8A97"/>
                </a:solidFill>
                <a:latin typeface="Arial"/>
              </a:rPr>
              <a:t>License</a:t>
            </a:r>
          </a:p>
        </p:txBody>
      </p:sp>
      <p:sp>
        <p:nvSpPr>
          <p:cNvPr id="19" name="TextBox 18"/>
          <p:cNvSpPr txBox="1"/>
          <p:nvPr/>
        </p:nvSpPr>
        <p:spPr>
          <a:xfrm>
            <a:off x="2743200" y="2240280"/>
            <a:ext cx="3017520" cy="640080"/>
          </a:xfrm>
          <a:prstGeom prst="rect">
            <a:avLst/>
          </a:prstGeom>
          <a:noFill/>
        </p:spPr>
        <p:txBody>
          <a:bodyPr wrap="square" lIns="0" rIns="0" tIns="0" bIns="0" anchor="ctr">
            <a:noAutofit/>
          </a:bodyPr>
          <a:lstStyle/>
          <a:p>
            <a:pPr algn="l">
              <a:lnSpc>
                <a:spcPct val="110000"/>
              </a:lnSpc>
              <a:spcBef>
                <a:spcPts val="0"/>
              </a:spcBef>
              <a:spcAft>
                <a:spcPts val="0"/>
              </a:spcAft>
            </a:pPr>
            <a:r>
              <a:rPr sz="1600" b="1" i="0">
                <a:solidFill>
                  <a:srgbClr val="10263F"/>
                </a:solidFill>
                <a:latin typeface="Georgia"/>
              </a:rPr>
              <a:t>MIT</a:t>
            </a:r>
          </a:p>
        </p:txBody>
      </p:sp>
      <p:cxnSp>
        <p:nvCxnSpPr>
          <p:cNvPr id="20" name="Connector 19"/>
          <p:cNvCxnSpPr/>
          <p:nvPr/>
        </p:nvCxnSpPr>
        <p:spPr>
          <a:xfrm>
            <a:off x="640080" y="2880360"/>
            <a:ext cx="5120640" cy="0"/>
          </a:xfrm>
          <a:prstGeom prst="line">
            <a:avLst/>
          </a:prstGeom>
          <a:ln w="12700">
            <a:solidFill>
              <a:srgbClr val="C4CBD0"/>
            </a:solidFill>
          </a:ln>
        </p:spPr>
      </p:cxnSp>
      <p:sp>
        <p:nvSpPr>
          <p:cNvPr id="21" name="TextBox 20"/>
          <p:cNvSpPr txBox="1"/>
          <p:nvPr/>
        </p:nvSpPr>
        <p:spPr>
          <a:xfrm>
            <a:off x="640080" y="2880360"/>
            <a:ext cx="2103120" cy="640080"/>
          </a:xfrm>
          <a:prstGeom prst="rect">
            <a:avLst/>
          </a:prstGeom>
          <a:noFill/>
        </p:spPr>
        <p:txBody>
          <a:bodyPr wrap="square" lIns="0" rIns="0" tIns="0" bIns="0" anchor="ctr">
            <a:noAutofit/>
          </a:bodyPr>
          <a:lstStyle/>
          <a:p>
            <a:pPr algn="l">
              <a:spcBef>
                <a:spcPts val="0"/>
              </a:spcBef>
              <a:spcAft>
                <a:spcPts val="0"/>
              </a:spcAft>
            </a:pPr>
            <a:r>
              <a:rPr sz="1300" b="1" i="0">
                <a:solidFill>
                  <a:srgbClr val="7E8A97"/>
                </a:solidFill>
                <a:latin typeface="Arial"/>
              </a:rPr>
              <a:t>Maintained by</a:t>
            </a:r>
          </a:p>
        </p:txBody>
      </p:sp>
      <p:sp>
        <p:nvSpPr>
          <p:cNvPr id="22" name="TextBox 21"/>
          <p:cNvSpPr txBox="1"/>
          <p:nvPr/>
        </p:nvSpPr>
        <p:spPr>
          <a:xfrm>
            <a:off x="2743200" y="2880360"/>
            <a:ext cx="3017520" cy="640080"/>
          </a:xfrm>
          <a:prstGeom prst="rect">
            <a:avLst/>
          </a:prstGeom>
          <a:noFill/>
        </p:spPr>
        <p:txBody>
          <a:bodyPr wrap="square" lIns="0" rIns="0" tIns="0" bIns="0" anchor="ctr">
            <a:noAutofit/>
          </a:bodyPr>
          <a:lstStyle/>
          <a:p>
            <a:pPr algn="l">
              <a:lnSpc>
                <a:spcPct val="110000"/>
              </a:lnSpc>
              <a:spcBef>
                <a:spcPts val="0"/>
              </a:spcBef>
              <a:spcAft>
                <a:spcPts val="0"/>
              </a:spcAft>
            </a:pPr>
            <a:r>
              <a:rPr sz="1600" b="1" i="0">
                <a:solidFill>
                  <a:srgbClr val="10263F"/>
                </a:solidFill>
                <a:latin typeface="Georgia"/>
              </a:rPr>
              <a:t>Traefik Labs</a:t>
            </a:r>
          </a:p>
        </p:txBody>
      </p:sp>
      <p:cxnSp>
        <p:nvCxnSpPr>
          <p:cNvPr id="23" name="Connector 22"/>
          <p:cNvCxnSpPr/>
          <p:nvPr/>
        </p:nvCxnSpPr>
        <p:spPr>
          <a:xfrm>
            <a:off x="640080" y="3520439"/>
            <a:ext cx="5120640" cy="0"/>
          </a:xfrm>
          <a:prstGeom prst="line">
            <a:avLst/>
          </a:prstGeom>
          <a:ln w="12700">
            <a:solidFill>
              <a:srgbClr val="C4CBD0"/>
            </a:solidFill>
          </a:ln>
        </p:spPr>
      </p:cxnSp>
      <p:sp>
        <p:nvSpPr>
          <p:cNvPr id="24" name="TextBox 23"/>
          <p:cNvSpPr txBox="1"/>
          <p:nvPr/>
        </p:nvSpPr>
        <p:spPr>
          <a:xfrm>
            <a:off x="640080" y="3520439"/>
            <a:ext cx="2103120" cy="640080"/>
          </a:xfrm>
          <a:prstGeom prst="rect">
            <a:avLst/>
          </a:prstGeom>
          <a:noFill/>
        </p:spPr>
        <p:txBody>
          <a:bodyPr wrap="square" lIns="0" rIns="0" tIns="0" bIns="0" anchor="ctr">
            <a:noAutofit/>
          </a:bodyPr>
          <a:lstStyle/>
          <a:p>
            <a:pPr algn="l">
              <a:spcBef>
                <a:spcPts val="0"/>
              </a:spcBef>
              <a:spcAft>
                <a:spcPts val="0"/>
              </a:spcAft>
            </a:pPr>
            <a:r>
              <a:rPr sz="1300" b="1" i="0">
                <a:solidFill>
                  <a:srgbClr val="7E8A97"/>
                </a:solidFill>
                <a:latin typeface="Arial"/>
              </a:rPr>
              <a:t>First release</a:t>
            </a:r>
          </a:p>
        </p:txBody>
      </p:sp>
      <p:sp>
        <p:nvSpPr>
          <p:cNvPr id="25" name="TextBox 24"/>
          <p:cNvSpPr txBox="1"/>
          <p:nvPr/>
        </p:nvSpPr>
        <p:spPr>
          <a:xfrm>
            <a:off x="2743200" y="3520439"/>
            <a:ext cx="3017520" cy="640080"/>
          </a:xfrm>
          <a:prstGeom prst="rect">
            <a:avLst/>
          </a:prstGeom>
          <a:noFill/>
        </p:spPr>
        <p:txBody>
          <a:bodyPr wrap="square" lIns="0" rIns="0" tIns="0" bIns="0" anchor="ctr">
            <a:noAutofit/>
          </a:bodyPr>
          <a:lstStyle/>
          <a:p>
            <a:pPr algn="l">
              <a:lnSpc>
                <a:spcPct val="110000"/>
              </a:lnSpc>
              <a:spcBef>
                <a:spcPts val="0"/>
              </a:spcBef>
              <a:spcAft>
                <a:spcPts val="0"/>
              </a:spcAft>
            </a:pPr>
            <a:r>
              <a:rPr sz="1600" b="1" i="0">
                <a:solidFill>
                  <a:srgbClr val="10263F"/>
                </a:solidFill>
                <a:latin typeface="Georgia"/>
              </a:rPr>
              <a:t>1.0 in 2016</a:t>
            </a:r>
          </a:p>
        </p:txBody>
      </p:sp>
      <p:cxnSp>
        <p:nvCxnSpPr>
          <p:cNvPr id="26" name="Connector 25"/>
          <p:cNvCxnSpPr/>
          <p:nvPr/>
        </p:nvCxnSpPr>
        <p:spPr>
          <a:xfrm>
            <a:off x="640080" y="4160520"/>
            <a:ext cx="5120640" cy="0"/>
          </a:xfrm>
          <a:prstGeom prst="line">
            <a:avLst/>
          </a:prstGeom>
          <a:ln w="12700">
            <a:solidFill>
              <a:srgbClr val="C4CBD0"/>
            </a:solidFill>
          </a:ln>
        </p:spPr>
      </p:cxnSp>
      <p:sp>
        <p:nvSpPr>
          <p:cNvPr id="27" name="TextBox 26"/>
          <p:cNvSpPr txBox="1"/>
          <p:nvPr/>
        </p:nvSpPr>
        <p:spPr>
          <a:xfrm>
            <a:off x="640080" y="4160520"/>
            <a:ext cx="2103120" cy="640080"/>
          </a:xfrm>
          <a:prstGeom prst="rect">
            <a:avLst/>
          </a:prstGeom>
          <a:noFill/>
        </p:spPr>
        <p:txBody>
          <a:bodyPr wrap="square" lIns="0" rIns="0" tIns="0" bIns="0" anchor="ctr">
            <a:noAutofit/>
          </a:bodyPr>
          <a:lstStyle/>
          <a:p>
            <a:pPr algn="l">
              <a:spcBef>
                <a:spcPts val="0"/>
              </a:spcBef>
              <a:spcAft>
                <a:spcPts val="0"/>
              </a:spcAft>
            </a:pPr>
            <a:r>
              <a:rPr sz="1300" b="1" i="0">
                <a:solidFill>
                  <a:srgbClr val="7E8A97"/>
                </a:solidFill>
                <a:latin typeface="Arial"/>
              </a:rPr>
              <a:t>Version I used</a:t>
            </a:r>
          </a:p>
        </p:txBody>
      </p:sp>
      <p:sp>
        <p:nvSpPr>
          <p:cNvPr id="28" name="TextBox 27"/>
          <p:cNvSpPr txBox="1"/>
          <p:nvPr/>
        </p:nvSpPr>
        <p:spPr>
          <a:xfrm>
            <a:off x="2743200" y="4160520"/>
            <a:ext cx="3017520" cy="640080"/>
          </a:xfrm>
          <a:prstGeom prst="rect">
            <a:avLst/>
          </a:prstGeom>
          <a:noFill/>
        </p:spPr>
        <p:txBody>
          <a:bodyPr wrap="square" lIns="0" rIns="0" tIns="0" bIns="0" anchor="ctr">
            <a:noAutofit/>
          </a:bodyPr>
          <a:lstStyle/>
          <a:p>
            <a:pPr algn="l">
              <a:lnSpc>
                <a:spcPct val="110000"/>
              </a:lnSpc>
              <a:spcBef>
                <a:spcPts val="0"/>
              </a:spcBef>
              <a:spcAft>
                <a:spcPts val="0"/>
              </a:spcAft>
            </a:pPr>
            <a:r>
              <a:rPr sz="1600" b="1" i="0">
                <a:solidFill>
                  <a:srgbClr val="10263F"/>
                </a:solidFill>
                <a:latin typeface="Georgia"/>
              </a:rPr>
              <a:t>3.7.14</a:t>
            </a:r>
          </a:p>
        </p:txBody>
      </p:sp>
      <p:cxnSp>
        <p:nvCxnSpPr>
          <p:cNvPr id="29" name="Connector 28"/>
          <p:cNvCxnSpPr/>
          <p:nvPr/>
        </p:nvCxnSpPr>
        <p:spPr>
          <a:xfrm>
            <a:off x="640080" y="4800600"/>
            <a:ext cx="5120640" cy="0"/>
          </a:xfrm>
          <a:prstGeom prst="line">
            <a:avLst/>
          </a:prstGeom>
          <a:ln w="12700">
            <a:solidFill>
              <a:srgbClr val="C4CBD0"/>
            </a:solidFill>
          </a:ln>
        </p:spPr>
      </p:cxnSp>
      <p:sp>
        <p:nvSpPr>
          <p:cNvPr id="30" name="TextBox 29"/>
          <p:cNvSpPr txBox="1"/>
          <p:nvPr/>
        </p:nvSpPr>
        <p:spPr>
          <a:xfrm>
            <a:off x="640080" y="4800600"/>
            <a:ext cx="2103120" cy="640080"/>
          </a:xfrm>
          <a:prstGeom prst="rect">
            <a:avLst/>
          </a:prstGeom>
          <a:noFill/>
        </p:spPr>
        <p:txBody>
          <a:bodyPr wrap="square" lIns="0" rIns="0" tIns="0" bIns="0" anchor="ctr">
            <a:noAutofit/>
          </a:bodyPr>
          <a:lstStyle/>
          <a:p>
            <a:pPr algn="l">
              <a:spcBef>
                <a:spcPts val="0"/>
              </a:spcBef>
              <a:spcAft>
                <a:spcPts val="0"/>
              </a:spcAft>
            </a:pPr>
            <a:r>
              <a:rPr sz="1300" b="1" i="0">
                <a:solidFill>
                  <a:srgbClr val="7E8A97"/>
                </a:solidFill>
                <a:latin typeface="Arial"/>
              </a:rPr>
              <a:t>Ships as</a:t>
            </a:r>
          </a:p>
        </p:txBody>
      </p:sp>
      <p:sp>
        <p:nvSpPr>
          <p:cNvPr id="31" name="TextBox 30"/>
          <p:cNvSpPr txBox="1"/>
          <p:nvPr/>
        </p:nvSpPr>
        <p:spPr>
          <a:xfrm>
            <a:off x="2743200" y="4800600"/>
            <a:ext cx="3017520" cy="640080"/>
          </a:xfrm>
          <a:prstGeom prst="rect">
            <a:avLst/>
          </a:prstGeom>
          <a:noFill/>
        </p:spPr>
        <p:txBody>
          <a:bodyPr wrap="square" lIns="0" rIns="0" tIns="0" bIns="0" anchor="ctr">
            <a:noAutofit/>
          </a:bodyPr>
          <a:lstStyle/>
          <a:p>
            <a:pPr algn="l">
              <a:lnSpc>
                <a:spcPct val="110000"/>
              </a:lnSpc>
              <a:spcBef>
                <a:spcPts val="0"/>
              </a:spcBef>
              <a:spcAft>
                <a:spcPts val="0"/>
              </a:spcAft>
            </a:pPr>
            <a:r>
              <a:rPr sz="1600" b="1" i="0">
                <a:solidFill>
                  <a:srgbClr val="10263F"/>
                </a:solidFill>
                <a:latin typeface="Georgia"/>
              </a:rPr>
              <a:t>one binary or a container image</a:t>
            </a:r>
          </a:p>
        </p:txBody>
      </p:sp>
      <p:cxnSp>
        <p:nvCxnSpPr>
          <p:cNvPr id="32" name="Connector 31"/>
          <p:cNvCxnSpPr/>
          <p:nvPr/>
        </p:nvCxnSpPr>
        <p:spPr>
          <a:xfrm>
            <a:off x="640080" y="5440679"/>
            <a:ext cx="5120640" cy="0"/>
          </a:xfrm>
          <a:prstGeom prst="line">
            <a:avLst/>
          </a:prstGeom>
          <a:ln w="12700">
            <a:solidFill>
              <a:srgbClr val="C4CBD0"/>
            </a:solidFill>
          </a:ln>
        </p:spPr>
      </p:cxnSp>
      <p:sp>
        <p:nvSpPr>
          <p:cNvPr id="33" name="TextBox 32"/>
          <p:cNvSpPr txBox="1"/>
          <p:nvPr/>
        </p:nvSpPr>
        <p:spPr>
          <a:xfrm>
            <a:off x="6492240" y="1554480"/>
            <a:ext cx="5029200" cy="365760"/>
          </a:xfrm>
          <a:prstGeom prst="rect">
            <a:avLst/>
          </a:prstGeom>
          <a:noFill/>
        </p:spPr>
        <p:txBody>
          <a:bodyPr wrap="square" lIns="0" rIns="0" tIns="0" bIns="0" anchor="t">
            <a:noAutofit/>
          </a:bodyPr>
          <a:lstStyle/>
          <a:p>
            <a:pPr algn="l">
              <a:spcBef>
                <a:spcPts val="0"/>
              </a:spcBef>
              <a:spcAft>
                <a:spcPts val="0"/>
              </a:spcAft>
            </a:pPr>
            <a:r>
              <a:rPr sz="2200" b="1" i="0">
                <a:solidFill>
                  <a:srgbClr val="10263F"/>
                </a:solidFill>
                <a:latin typeface="Georgia"/>
              </a:rPr>
              <a:t>Why I chose it</a:t>
            </a:r>
          </a:p>
        </p:txBody>
      </p:sp>
      <p:sp>
        <p:nvSpPr>
          <p:cNvPr id="34" name="Rectangle 33"/>
          <p:cNvSpPr/>
          <p:nvPr/>
        </p:nvSpPr>
        <p:spPr>
          <a:xfrm>
            <a:off x="6492240" y="2258568"/>
            <a:ext cx="502920" cy="292608"/>
          </a:xfrm>
          <a:prstGeom prst="rect">
            <a:avLst/>
          </a:prstGeom>
          <a:solidFill>
            <a:srgbClr val="C8472D"/>
          </a:solidFill>
          <a:ln w="15875">
            <a:solidFill>
              <a:srgbClr val="10263F"/>
            </a:solidFill>
          </a:ln>
        </p:spPr>
        <p:txBody>
          <a:bodyPr rtlCol="0" anchor="ctr"/>
          <a:lstStyle/>
          <a:p>
            <a:pPr algn="ctr"/>
          </a:p>
        </p:txBody>
      </p:sp>
      <p:cxnSp>
        <p:nvCxnSpPr>
          <p:cNvPr id="35" name="Connector 34"/>
          <p:cNvCxnSpPr/>
          <p:nvPr/>
        </p:nvCxnSpPr>
        <p:spPr>
          <a:xfrm>
            <a:off x="6592824" y="2304288"/>
            <a:ext cx="0" cy="201168"/>
          </a:xfrm>
          <a:prstGeom prst="line">
            <a:avLst/>
          </a:prstGeom>
          <a:ln w="9525">
            <a:solidFill>
              <a:srgbClr val="8C311F"/>
            </a:solidFill>
          </a:ln>
        </p:spPr>
      </p:cxnSp>
      <p:cxnSp>
        <p:nvCxnSpPr>
          <p:cNvPr id="36" name="Connector 35"/>
          <p:cNvCxnSpPr/>
          <p:nvPr/>
        </p:nvCxnSpPr>
        <p:spPr>
          <a:xfrm>
            <a:off x="6693407" y="2304288"/>
            <a:ext cx="0" cy="201168"/>
          </a:xfrm>
          <a:prstGeom prst="line">
            <a:avLst/>
          </a:prstGeom>
          <a:ln w="9525">
            <a:solidFill>
              <a:srgbClr val="8C311F"/>
            </a:solidFill>
          </a:ln>
        </p:spPr>
      </p:cxnSp>
      <p:cxnSp>
        <p:nvCxnSpPr>
          <p:cNvPr id="37" name="Connector 36"/>
          <p:cNvCxnSpPr/>
          <p:nvPr/>
        </p:nvCxnSpPr>
        <p:spPr>
          <a:xfrm>
            <a:off x="6793992" y="2304288"/>
            <a:ext cx="0" cy="201168"/>
          </a:xfrm>
          <a:prstGeom prst="line">
            <a:avLst/>
          </a:prstGeom>
          <a:ln w="9525">
            <a:solidFill>
              <a:srgbClr val="8C311F"/>
            </a:solidFill>
          </a:ln>
        </p:spPr>
      </p:cxnSp>
      <p:cxnSp>
        <p:nvCxnSpPr>
          <p:cNvPr id="38" name="Connector 37"/>
          <p:cNvCxnSpPr/>
          <p:nvPr/>
        </p:nvCxnSpPr>
        <p:spPr>
          <a:xfrm>
            <a:off x="6894576" y="2304288"/>
            <a:ext cx="0" cy="201168"/>
          </a:xfrm>
          <a:prstGeom prst="line">
            <a:avLst/>
          </a:prstGeom>
          <a:ln w="9525">
            <a:solidFill>
              <a:srgbClr val="8C311F"/>
            </a:solidFill>
          </a:ln>
        </p:spPr>
      </p:cxnSp>
      <p:sp>
        <p:nvSpPr>
          <p:cNvPr id="39" name="TextBox 38"/>
          <p:cNvSpPr txBox="1"/>
          <p:nvPr/>
        </p:nvSpPr>
        <p:spPr>
          <a:xfrm>
            <a:off x="7269480" y="2148840"/>
            <a:ext cx="4251960" cy="822960"/>
          </a:xfrm>
          <a:prstGeom prst="rect">
            <a:avLst/>
          </a:prstGeom>
          <a:noFill/>
        </p:spPr>
        <p:txBody>
          <a:bodyPr wrap="square" lIns="0" rIns="0" tIns="0" bIns="0" anchor="t">
            <a:noAutofit/>
          </a:bodyPr>
          <a:lstStyle/>
          <a:p>
            <a:pPr algn="l">
              <a:lnSpc>
                <a:spcPct val="120000"/>
              </a:lnSpc>
              <a:spcBef>
                <a:spcPts val="0"/>
              </a:spcBef>
              <a:spcAft>
                <a:spcPts val="0"/>
              </a:spcAft>
            </a:pPr>
            <a:r>
              <a:rPr sz="1500" b="0" i="0">
                <a:solidFill>
                  <a:srgbClr val="10263F"/>
                </a:solidFill>
                <a:latin typeface="Arial"/>
              </a:rPr>
              <a:t>It was built for containers, so discovery from Docker is a core feature.</a:t>
            </a:r>
          </a:p>
        </p:txBody>
      </p:sp>
      <p:sp>
        <p:nvSpPr>
          <p:cNvPr id="40" name="Rectangle 39"/>
          <p:cNvSpPr/>
          <p:nvPr/>
        </p:nvSpPr>
        <p:spPr>
          <a:xfrm>
            <a:off x="6492240" y="3172968"/>
            <a:ext cx="502920" cy="292608"/>
          </a:xfrm>
          <a:prstGeom prst="rect">
            <a:avLst/>
          </a:prstGeom>
          <a:solidFill>
            <a:srgbClr val="E9B93A"/>
          </a:solidFill>
          <a:ln w="15875">
            <a:solidFill>
              <a:srgbClr val="10263F"/>
            </a:solidFill>
          </a:ln>
        </p:spPr>
        <p:txBody>
          <a:bodyPr rtlCol="0" anchor="ctr"/>
          <a:lstStyle/>
          <a:p>
            <a:pPr algn="ctr"/>
          </a:p>
        </p:txBody>
      </p:sp>
      <p:cxnSp>
        <p:nvCxnSpPr>
          <p:cNvPr id="41" name="Connector 40"/>
          <p:cNvCxnSpPr/>
          <p:nvPr/>
        </p:nvCxnSpPr>
        <p:spPr>
          <a:xfrm>
            <a:off x="6592824" y="3218688"/>
            <a:ext cx="0" cy="201168"/>
          </a:xfrm>
          <a:prstGeom prst="line">
            <a:avLst/>
          </a:prstGeom>
          <a:ln w="9525">
            <a:solidFill>
              <a:srgbClr val="A38128"/>
            </a:solidFill>
          </a:ln>
        </p:spPr>
      </p:cxnSp>
      <p:cxnSp>
        <p:nvCxnSpPr>
          <p:cNvPr id="42" name="Connector 41"/>
          <p:cNvCxnSpPr/>
          <p:nvPr/>
        </p:nvCxnSpPr>
        <p:spPr>
          <a:xfrm>
            <a:off x="6693407" y="3218688"/>
            <a:ext cx="0" cy="201168"/>
          </a:xfrm>
          <a:prstGeom prst="line">
            <a:avLst/>
          </a:prstGeom>
          <a:ln w="9525">
            <a:solidFill>
              <a:srgbClr val="A38128"/>
            </a:solidFill>
          </a:ln>
        </p:spPr>
      </p:cxnSp>
      <p:cxnSp>
        <p:nvCxnSpPr>
          <p:cNvPr id="43" name="Connector 42"/>
          <p:cNvCxnSpPr/>
          <p:nvPr/>
        </p:nvCxnSpPr>
        <p:spPr>
          <a:xfrm>
            <a:off x="6793992" y="3218688"/>
            <a:ext cx="0" cy="201168"/>
          </a:xfrm>
          <a:prstGeom prst="line">
            <a:avLst/>
          </a:prstGeom>
          <a:ln w="9525">
            <a:solidFill>
              <a:srgbClr val="A38128"/>
            </a:solidFill>
          </a:ln>
        </p:spPr>
      </p:cxnSp>
      <p:cxnSp>
        <p:nvCxnSpPr>
          <p:cNvPr id="44" name="Connector 43"/>
          <p:cNvCxnSpPr/>
          <p:nvPr/>
        </p:nvCxnSpPr>
        <p:spPr>
          <a:xfrm>
            <a:off x="6894576" y="3218688"/>
            <a:ext cx="0" cy="201168"/>
          </a:xfrm>
          <a:prstGeom prst="line">
            <a:avLst/>
          </a:prstGeom>
          <a:ln w="9525">
            <a:solidFill>
              <a:srgbClr val="A38128"/>
            </a:solidFill>
          </a:ln>
        </p:spPr>
      </p:cxnSp>
      <p:sp>
        <p:nvSpPr>
          <p:cNvPr id="45" name="TextBox 44"/>
          <p:cNvSpPr txBox="1"/>
          <p:nvPr/>
        </p:nvSpPr>
        <p:spPr>
          <a:xfrm>
            <a:off x="7269480" y="3063240"/>
            <a:ext cx="4251960" cy="822960"/>
          </a:xfrm>
          <a:prstGeom prst="rect">
            <a:avLst/>
          </a:prstGeom>
          <a:noFill/>
        </p:spPr>
        <p:txBody>
          <a:bodyPr wrap="square" lIns="0" rIns="0" tIns="0" bIns="0" anchor="t">
            <a:noAutofit/>
          </a:bodyPr>
          <a:lstStyle/>
          <a:p>
            <a:pPr algn="l">
              <a:lnSpc>
                <a:spcPct val="120000"/>
              </a:lnSpc>
              <a:spcBef>
                <a:spcPts val="0"/>
              </a:spcBef>
              <a:spcAft>
                <a:spcPts val="0"/>
              </a:spcAft>
            </a:pPr>
            <a:r>
              <a:rPr sz="1500" b="0" i="0">
                <a:solidFill>
                  <a:srgbClr val="10263F"/>
                </a:solidFill>
                <a:latin typeface="Arial"/>
              </a:rPr>
              <a:t>It handles certificates itself, so both halves of my title are in one tool.</a:t>
            </a:r>
          </a:p>
        </p:txBody>
      </p:sp>
      <p:sp>
        <p:nvSpPr>
          <p:cNvPr id="46" name="Rectangle 45"/>
          <p:cNvSpPr/>
          <p:nvPr/>
        </p:nvSpPr>
        <p:spPr>
          <a:xfrm>
            <a:off x="6492240" y="4087368"/>
            <a:ext cx="502920" cy="292608"/>
          </a:xfrm>
          <a:prstGeom prst="rect">
            <a:avLst/>
          </a:prstGeom>
          <a:solidFill>
            <a:srgbClr val="2F8F83"/>
          </a:solidFill>
          <a:ln w="15875">
            <a:solidFill>
              <a:srgbClr val="10263F"/>
            </a:solidFill>
          </a:ln>
        </p:spPr>
        <p:txBody>
          <a:bodyPr rtlCol="0" anchor="ctr"/>
          <a:lstStyle/>
          <a:p>
            <a:pPr algn="ctr"/>
          </a:p>
        </p:txBody>
      </p:sp>
      <p:cxnSp>
        <p:nvCxnSpPr>
          <p:cNvPr id="47" name="Connector 46"/>
          <p:cNvCxnSpPr/>
          <p:nvPr/>
        </p:nvCxnSpPr>
        <p:spPr>
          <a:xfrm>
            <a:off x="6592824" y="4133087"/>
            <a:ext cx="0" cy="201169"/>
          </a:xfrm>
          <a:prstGeom prst="line">
            <a:avLst/>
          </a:prstGeom>
          <a:ln w="9525">
            <a:solidFill>
              <a:srgbClr val="20645B"/>
            </a:solidFill>
          </a:ln>
        </p:spPr>
      </p:cxnSp>
      <p:cxnSp>
        <p:nvCxnSpPr>
          <p:cNvPr id="48" name="Connector 47"/>
          <p:cNvCxnSpPr/>
          <p:nvPr/>
        </p:nvCxnSpPr>
        <p:spPr>
          <a:xfrm>
            <a:off x="6693407" y="4133087"/>
            <a:ext cx="0" cy="201169"/>
          </a:xfrm>
          <a:prstGeom prst="line">
            <a:avLst/>
          </a:prstGeom>
          <a:ln w="9525">
            <a:solidFill>
              <a:srgbClr val="20645B"/>
            </a:solidFill>
          </a:ln>
        </p:spPr>
      </p:cxnSp>
      <p:cxnSp>
        <p:nvCxnSpPr>
          <p:cNvPr id="49" name="Connector 48"/>
          <p:cNvCxnSpPr/>
          <p:nvPr/>
        </p:nvCxnSpPr>
        <p:spPr>
          <a:xfrm>
            <a:off x="6793992" y="4133087"/>
            <a:ext cx="0" cy="201169"/>
          </a:xfrm>
          <a:prstGeom prst="line">
            <a:avLst/>
          </a:prstGeom>
          <a:ln w="9525">
            <a:solidFill>
              <a:srgbClr val="20645B"/>
            </a:solidFill>
          </a:ln>
        </p:spPr>
      </p:cxnSp>
      <p:cxnSp>
        <p:nvCxnSpPr>
          <p:cNvPr id="50" name="Connector 49"/>
          <p:cNvCxnSpPr/>
          <p:nvPr/>
        </p:nvCxnSpPr>
        <p:spPr>
          <a:xfrm>
            <a:off x="6894576" y="4133087"/>
            <a:ext cx="0" cy="201169"/>
          </a:xfrm>
          <a:prstGeom prst="line">
            <a:avLst/>
          </a:prstGeom>
          <a:ln w="9525">
            <a:solidFill>
              <a:srgbClr val="20645B"/>
            </a:solidFill>
          </a:ln>
        </p:spPr>
      </p:cxnSp>
      <p:sp>
        <p:nvSpPr>
          <p:cNvPr id="51" name="TextBox 50"/>
          <p:cNvSpPr txBox="1"/>
          <p:nvPr/>
        </p:nvSpPr>
        <p:spPr>
          <a:xfrm>
            <a:off x="7269480" y="3977639"/>
            <a:ext cx="4251960" cy="822960"/>
          </a:xfrm>
          <a:prstGeom prst="rect">
            <a:avLst/>
          </a:prstGeom>
          <a:noFill/>
        </p:spPr>
        <p:txBody>
          <a:bodyPr wrap="square" lIns="0" rIns="0" tIns="0" bIns="0" anchor="t">
            <a:noAutofit/>
          </a:bodyPr>
          <a:lstStyle/>
          <a:p>
            <a:pPr algn="l">
              <a:lnSpc>
                <a:spcPct val="120000"/>
              </a:lnSpc>
              <a:spcBef>
                <a:spcPts val="0"/>
              </a:spcBef>
              <a:spcAft>
                <a:spcPts val="0"/>
              </a:spcAft>
            </a:pPr>
            <a:r>
              <a:rPr sz="1500" b="0" i="0">
                <a:solidFill>
                  <a:srgbClr val="10263F"/>
                </a:solidFill>
                <a:latin typeface="Arial"/>
              </a:rPr>
              <a:t>I already use it in Tugboat, so I know where it works well.</a:t>
            </a:r>
          </a:p>
        </p:txBody>
      </p:sp>
      <p:sp>
        <p:nvSpPr>
          <p:cNvPr id="52" name="Rectangle 51"/>
          <p:cNvSpPr/>
          <p:nvPr/>
        </p:nvSpPr>
        <p:spPr>
          <a:xfrm>
            <a:off x="6492240" y="5001768"/>
            <a:ext cx="502920" cy="292608"/>
          </a:xfrm>
          <a:prstGeom prst="rect">
            <a:avLst/>
          </a:prstGeom>
          <a:solidFill>
            <a:srgbClr val="E58A2B"/>
          </a:solidFill>
          <a:ln w="15875">
            <a:solidFill>
              <a:srgbClr val="10263F"/>
            </a:solidFill>
          </a:ln>
        </p:spPr>
        <p:txBody>
          <a:bodyPr rtlCol="0" anchor="ctr"/>
          <a:lstStyle/>
          <a:p>
            <a:pPr algn="ctr"/>
          </a:p>
        </p:txBody>
      </p:sp>
      <p:cxnSp>
        <p:nvCxnSpPr>
          <p:cNvPr id="53" name="Connector 52"/>
          <p:cNvCxnSpPr/>
          <p:nvPr/>
        </p:nvCxnSpPr>
        <p:spPr>
          <a:xfrm>
            <a:off x="6592824" y="5047488"/>
            <a:ext cx="0" cy="201168"/>
          </a:xfrm>
          <a:prstGeom prst="line">
            <a:avLst/>
          </a:prstGeom>
          <a:ln w="9525">
            <a:solidFill>
              <a:srgbClr val="A0601E"/>
            </a:solidFill>
          </a:ln>
        </p:spPr>
      </p:cxnSp>
      <p:cxnSp>
        <p:nvCxnSpPr>
          <p:cNvPr id="54" name="Connector 53"/>
          <p:cNvCxnSpPr/>
          <p:nvPr/>
        </p:nvCxnSpPr>
        <p:spPr>
          <a:xfrm>
            <a:off x="6693407" y="5047488"/>
            <a:ext cx="0" cy="201168"/>
          </a:xfrm>
          <a:prstGeom prst="line">
            <a:avLst/>
          </a:prstGeom>
          <a:ln w="9525">
            <a:solidFill>
              <a:srgbClr val="A0601E"/>
            </a:solidFill>
          </a:ln>
        </p:spPr>
      </p:cxnSp>
      <p:cxnSp>
        <p:nvCxnSpPr>
          <p:cNvPr id="55" name="Connector 54"/>
          <p:cNvCxnSpPr/>
          <p:nvPr/>
        </p:nvCxnSpPr>
        <p:spPr>
          <a:xfrm>
            <a:off x="6793992" y="5047488"/>
            <a:ext cx="0" cy="201168"/>
          </a:xfrm>
          <a:prstGeom prst="line">
            <a:avLst/>
          </a:prstGeom>
          <a:ln w="9525">
            <a:solidFill>
              <a:srgbClr val="A0601E"/>
            </a:solidFill>
          </a:ln>
        </p:spPr>
      </p:cxnSp>
      <p:cxnSp>
        <p:nvCxnSpPr>
          <p:cNvPr id="56" name="Connector 55"/>
          <p:cNvCxnSpPr/>
          <p:nvPr/>
        </p:nvCxnSpPr>
        <p:spPr>
          <a:xfrm>
            <a:off x="6894576" y="5047488"/>
            <a:ext cx="0" cy="201168"/>
          </a:xfrm>
          <a:prstGeom prst="line">
            <a:avLst/>
          </a:prstGeom>
          <a:ln w="9525">
            <a:solidFill>
              <a:srgbClr val="A0601E"/>
            </a:solidFill>
          </a:ln>
        </p:spPr>
      </p:cxnSp>
      <p:sp>
        <p:nvSpPr>
          <p:cNvPr id="57" name="TextBox 56"/>
          <p:cNvSpPr txBox="1"/>
          <p:nvPr/>
        </p:nvSpPr>
        <p:spPr>
          <a:xfrm>
            <a:off x="7269480" y="4892040"/>
            <a:ext cx="4251960" cy="822960"/>
          </a:xfrm>
          <a:prstGeom prst="rect">
            <a:avLst/>
          </a:prstGeom>
          <a:noFill/>
        </p:spPr>
        <p:txBody>
          <a:bodyPr wrap="square" lIns="0" rIns="0" tIns="0" bIns="0" anchor="t">
            <a:noAutofit/>
          </a:bodyPr>
          <a:lstStyle/>
          <a:p>
            <a:pPr algn="l">
              <a:lnSpc>
                <a:spcPct val="120000"/>
              </a:lnSpc>
              <a:spcBef>
                <a:spcPts val="0"/>
              </a:spcBef>
              <a:spcAft>
                <a:spcPts val="0"/>
              </a:spcAft>
            </a:pPr>
            <a:r>
              <a:rPr sz="1500" b="0" i="0">
                <a:solidFill>
                  <a:srgbClr val="10263F"/>
                </a:solidFill>
                <a:latin typeface="Arial"/>
              </a:rPr>
              <a:t>Both features can be tested on a laptop.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Rectangle 1"/>
          <p:cNvSpPr/>
          <p:nvPr/>
        </p:nvSpPr>
        <p:spPr>
          <a:xfrm>
            <a:off x="640080" y="731520"/>
            <a:ext cx="566928" cy="310896"/>
          </a:xfrm>
          <a:prstGeom prst="rect">
            <a:avLst/>
          </a:prstGeom>
          <a:solidFill>
            <a:srgbClr val="E58A2B"/>
          </a:solidFill>
          <a:ln w="15875">
            <a:solidFill>
              <a:srgbClr val="10263F"/>
            </a:solidFill>
          </a:ln>
        </p:spPr>
        <p:txBody>
          <a:bodyPr rtlCol="0" anchor="ctr"/>
          <a:lstStyle/>
          <a:p>
            <a:pPr algn="ctr"/>
          </a:p>
        </p:txBody>
      </p:sp>
      <p:cxnSp>
        <p:nvCxnSpPr>
          <p:cNvPr id="3" name="Connector 2"/>
          <p:cNvCxnSpPr/>
          <p:nvPr/>
        </p:nvCxnSpPr>
        <p:spPr>
          <a:xfrm>
            <a:off x="753465" y="777240"/>
            <a:ext cx="0" cy="219456"/>
          </a:xfrm>
          <a:prstGeom prst="line">
            <a:avLst/>
          </a:prstGeom>
          <a:ln w="9525">
            <a:solidFill>
              <a:srgbClr val="A0601E"/>
            </a:solidFill>
          </a:ln>
        </p:spPr>
      </p:cxnSp>
      <p:cxnSp>
        <p:nvCxnSpPr>
          <p:cNvPr id="4" name="Connector 3"/>
          <p:cNvCxnSpPr/>
          <p:nvPr/>
        </p:nvCxnSpPr>
        <p:spPr>
          <a:xfrm>
            <a:off x="866851" y="777240"/>
            <a:ext cx="0" cy="219456"/>
          </a:xfrm>
          <a:prstGeom prst="line">
            <a:avLst/>
          </a:prstGeom>
          <a:ln w="9525">
            <a:solidFill>
              <a:srgbClr val="A0601E"/>
            </a:solidFill>
          </a:ln>
        </p:spPr>
      </p:cxnSp>
      <p:cxnSp>
        <p:nvCxnSpPr>
          <p:cNvPr id="5" name="Connector 4"/>
          <p:cNvCxnSpPr/>
          <p:nvPr/>
        </p:nvCxnSpPr>
        <p:spPr>
          <a:xfrm>
            <a:off x="980236" y="777240"/>
            <a:ext cx="0" cy="219456"/>
          </a:xfrm>
          <a:prstGeom prst="line">
            <a:avLst/>
          </a:prstGeom>
          <a:ln w="9525">
            <a:solidFill>
              <a:srgbClr val="A0601E"/>
            </a:solidFill>
          </a:ln>
        </p:spPr>
      </p:cxnSp>
      <p:cxnSp>
        <p:nvCxnSpPr>
          <p:cNvPr id="6" name="Connector 5"/>
          <p:cNvCxnSpPr/>
          <p:nvPr/>
        </p:nvCxnSpPr>
        <p:spPr>
          <a:xfrm>
            <a:off x="1093622" y="777240"/>
            <a:ext cx="0" cy="219456"/>
          </a:xfrm>
          <a:prstGeom prst="line">
            <a:avLst/>
          </a:prstGeom>
          <a:ln w="9525">
            <a:solidFill>
              <a:srgbClr val="A0601E"/>
            </a:solidFill>
          </a:ln>
        </p:spPr>
      </p:cxnSp>
      <p:sp>
        <p:nvSpPr>
          <p:cNvPr id="7" name="TextBox 6"/>
          <p:cNvSpPr txBox="1"/>
          <p:nvPr/>
        </p:nvSpPr>
        <p:spPr>
          <a:xfrm>
            <a:off x="1417320" y="548640"/>
            <a:ext cx="10149840" cy="685800"/>
          </a:xfrm>
          <a:prstGeom prst="rect">
            <a:avLst/>
          </a:prstGeom>
          <a:noFill/>
        </p:spPr>
        <p:txBody>
          <a:bodyPr wrap="square" lIns="0" rIns="0" tIns="0" bIns="0" anchor="ctr">
            <a:noAutofit/>
          </a:bodyPr>
          <a:lstStyle/>
          <a:p>
            <a:pPr algn="l">
              <a:spcBef>
                <a:spcPts val="0"/>
              </a:spcBef>
              <a:spcAft>
                <a:spcPts val="0"/>
              </a:spcAft>
            </a:pPr>
            <a:r>
              <a:rPr sz="3000" b="1" i="0">
                <a:solidFill>
                  <a:srgbClr val="10263F"/>
                </a:solidFill>
                <a:latin typeface="Georgia"/>
              </a:rPr>
              <a:t>How Traefik works</a:t>
            </a:r>
          </a:p>
        </p:txBody>
      </p:sp>
      <p:cxnSp>
        <p:nvCxnSpPr>
          <p:cNvPr id="8" name="Connector 7"/>
          <p:cNvCxnSpPr/>
          <p:nvPr/>
        </p:nvCxnSpPr>
        <p:spPr>
          <a:xfrm>
            <a:off x="640080" y="1335024"/>
            <a:ext cx="10908792" cy="0"/>
          </a:xfrm>
          <a:prstGeom prst="line">
            <a:avLst/>
          </a:prstGeom>
          <a:ln w="15875">
            <a:solidFill>
              <a:srgbClr val="9AA5AE"/>
            </a:solidFill>
            <a:prstDash val="dash"/>
          </a:ln>
        </p:spPr>
      </p:cxnSp>
      <p:pic>
        <p:nvPicPr>
          <p:cNvPr id="9" name="Picture 8" descr="wave_band.png"/>
          <p:cNvPicPr>
            <a:picLocks noChangeAspect="1"/>
          </p:cNvPicPr>
          <p:nvPr/>
        </p:nvPicPr>
        <p:blipFill>
          <a:blip r:embed="rId2"/>
          <a:stretch>
            <a:fillRect/>
          </a:stretch>
        </p:blipFill>
        <p:spPr>
          <a:xfrm>
            <a:off x="0" y="6355080"/>
            <a:ext cx="12191695" cy="502845"/>
          </a:xfrm>
          <a:prstGeom prst="rect">
            <a:avLst/>
          </a:prstGeom>
        </p:spPr>
      </p:pic>
      <p:pic>
        <p:nvPicPr>
          <p:cNvPr id="10" name="Picture 9" descr="tug_small.png"/>
          <p:cNvPicPr>
            <a:picLocks noChangeAspect="1"/>
          </p:cNvPicPr>
          <p:nvPr/>
        </p:nvPicPr>
        <p:blipFill>
          <a:blip r:embed="rId3"/>
          <a:stretch>
            <a:fillRect/>
          </a:stretch>
        </p:blipFill>
        <p:spPr>
          <a:xfrm>
            <a:off x="3671667" y="6070981"/>
            <a:ext cx="566928" cy="457835"/>
          </a:xfrm>
          <a:prstGeom prst="rect">
            <a:avLst/>
          </a:prstGeom>
        </p:spPr>
      </p:pic>
      <p:sp>
        <p:nvSpPr>
          <p:cNvPr id="11" name="TextBox 10"/>
          <p:cNvSpPr txBox="1"/>
          <p:nvPr/>
        </p:nvSpPr>
        <p:spPr>
          <a:xfrm>
            <a:off x="640080" y="6126480"/>
            <a:ext cx="2743200" cy="228600"/>
          </a:xfrm>
          <a:prstGeom prst="rect">
            <a:avLst/>
          </a:prstGeom>
          <a:noFill/>
        </p:spPr>
        <p:txBody>
          <a:bodyPr wrap="square" lIns="0" rIns="0" tIns="0" bIns="0" anchor="ctr">
            <a:noAutofit/>
          </a:bodyPr>
          <a:lstStyle/>
          <a:p>
            <a:pPr algn="l">
              <a:spcBef>
                <a:spcPts val="0"/>
              </a:spcBef>
              <a:spcAft>
                <a:spcPts val="0"/>
              </a:spcAft>
            </a:pPr>
            <a:r>
              <a:rPr sz="1000" b="0" i="0">
                <a:solidFill>
                  <a:srgbClr val="7E8A97"/>
                </a:solidFill>
                <a:latin typeface="Arial"/>
              </a:rPr>
              <a:t>Traefik   5 / 15</a:t>
            </a:r>
          </a:p>
        </p:txBody>
      </p:sp>
      <p:pic>
        <p:nvPicPr>
          <p:cNvPr id="12" name="Picture 11" descr="logo_college.png"/>
          <p:cNvPicPr>
            <a:picLocks noChangeAspect="1"/>
          </p:cNvPicPr>
          <p:nvPr/>
        </p:nvPicPr>
        <p:blipFill>
          <a:blip r:embed="rId4"/>
          <a:stretch>
            <a:fillRect/>
          </a:stretch>
        </p:blipFill>
        <p:spPr>
          <a:xfrm>
            <a:off x="640080" y="91440"/>
            <a:ext cx="1625550" cy="475488"/>
          </a:xfrm>
          <a:prstGeom prst="rect">
            <a:avLst/>
          </a:prstGeom>
        </p:spPr>
      </p:pic>
      <p:pic>
        <p:nvPicPr>
          <p:cNvPr id="13" name="Picture 12" descr="logo_trust.png"/>
          <p:cNvPicPr>
            <a:picLocks noChangeAspect="1"/>
          </p:cNvPicPr>
          <p:nvPr/>
        </p:nvPicPr>
        <p:blipFill>
          <a:blip r:embed="rId5"/>
          <a:stretch>
            <a:fillRect/>
          </a:stretch>
        </p:blipFill>
        <p:spPr>
          <a:xfrm>
            <a:off x="10940472" y="91440"/>
            <a:ext cx="608400" cy="457200"/>
          </a:xfrm>
          <a:prstGeom prst="rect">
            <a:avLst/>
          </a:prstGeom>
        </p:spPr>
      </p:pic>
      <p:sp>
        <p:nvSpPr>
          <p:cNvPr id="14" name="Rounded Rectangle 13"/>
          <p:cNvSpPr/>
          <p:nvPr/>
        </p:nvSpPr>
        <p:spPr>
          <a:xfrm>
            <a:off x="640080" y="1691640"/>
            <a:ext cx="1234440" cy="1051560"/>
          </a:xfrm>
          <a:prstGeom prst="roundRect">
            <a:avLst>
              <a:gd name="adj" fmla="val 4347"/>
            </a:avLst>
          </a:prstGeom>
          <a:solidFill>
            <a:srgbClr val="10263F"/>
          </a:solidFill>
          <a:ln w="19050">
            <a:solidFill>
              <a:srgbClr val="10263F"/>
            </a:solidFill>
          </a:ln>
        </p:spPr>
        <p:txBody>
          <a:bodyPr rtlCol="0" anchor="ctr"/>
          <a:lstStyle/>
          <a:p>
            <a:pPr algn="ctr"/>
          </a:p>
        </p:txBody>
      </p:sp>
      <p:sp>
        <p:nvSpPr>
          <p:cNvPr id="15" name="TextBox 14"/>
          <p:cNvSpPr txBox="1"/>
          <p:nvPr/>
        </p:nvSpPr>
        <p:spPr>
          <a:xfrm>
            <a:off x="731519" y="1691640"/>
            <a:ext cx="1051560" cy="1051560"/>
          </a:xfrm>
          <a:prstGeom prst="rect">
            <a:avLst/>
          </a:prstGeom>
          <a:noFill/>
        </p:spPr>
        <p:txBody>
          <a:bodyPr wrap="square" lIns="0" rIns="0" tIns="0" bIns="0" anchor="ctr">
            <a:noAutofit/>
          </a:bodyPr>
          <a:lstStyle/>
          <a:p>
            <a:pPr algn="ctr">
              <a:spcBef>
                <a:spcPts val="0"/>
              </a:spcBef>
              <a:spcAft>
                <a:spcPts val="200"/>
              </a:spcAft>
            </a:pPr>
            <a:r>
              <a:rPr sz="1400" b="1" i="0">
                <a:solidFill>
                  <a:srgbClr val="FFFFFF"/>
                </a:solidFill>
                <a:latin typeface="Arial"/>
              </a:rPr>
              <a:t>Client</a:t>
            </a:r>
          </a:p>
          <a:p>
            <a:pPr algn="ctr">
              <a:lnSpc>
                <a:spcPct val="105000"/>
              </a:lnSpc>
              <a:spcBef>
                <a:spcPts val="0"/>
              </a:spcBef>
              <a:spcAft>
                <a:spcPts val="0"/>
              </a:spcAft>
            </a:pPr>
            <a:r>
              <a:rPr sz="1150" b="0" i="0">
                <a:solidFill>
                  <a:srgbClr val="FFFFFF"/>
                </a:solidFill>
                <a:latin typeface="Arial"/>
              </a:rPr>
              <a:t>browser or curl</a:t>
            </a:r>
          </a:p>
        </p:txBody>
      </p:sp>
      <p:sp>
        <p:nvSpPr>
          <p:cNvPr id="16" name="Rounded Rectangle 15"/>
          <p:cNvSpPr/>
          <p:nvPr/>
        </p:nvSpPr>
        <p:spPr>
          <a:xfrm>
            <a:off x="2331720" y="1691640"/>
            <a:ext cx="1783080" cy="1051560"/>
          </a:xfrm>
          <a:prstGeom prst="roundRect">
            <a:avLst>
              <a:gd name="adj" fmla="val 4347"/>
            </a:avLst>
          </a:prstGeom>
          <a:solidFill>
            <a:srgbClr val="2B6CA3"/>
          </a:solidFill>
          <a:ln w="19050">
            <a:solidFill>
              <a:srgbClr val="10263F"/>
            </a:solidFill>
          </a:ln>
        </p:spPr>
        <p:txBody>
          <a:bodyPr rtlCol="0" anchor="ctr"/>
          <a:lstStyle/>
          <a:p>
            <a:pPr algn="ctr"/>
          </a:p>
        </p:txBody>
      </p:sp>
      <p:sp>
        <p:nvSpPr>
          <p:cNvPr id="17" name="TextBox 16"/>
          <p:cNvSpPr txBox="1"/>
          <p:nvPr/>
        </p:nvSpPr>
        <p:spPr>
          <a:xfrm>
            <a:off x="2423160" y="1691640"/>
            <a:ext cx="1600200" cy="1051560"/>
          </a:xfrm>
          <a:prstGeom prst="rect">
            <a:avLst/>
          </a:prstGeom>
          <a:noFill/>
        </p:spPr>
        <p:txBody>
          <a:bodyPr wrap="square" lIns="0" rIns="0" tIns="0" bIns="0" anchor="ctr">
            <a:noAutofit/>
          </a:bodyPr>
          <a:lstStyle/>
          <a:p>
            <a:pPr algn="ctr">
              <a:spcBef>
                <a:spcPts val="0"/>
              </a:spcBef>
              <a:spcAft>
                <a:spcPts val="200"/>
              </a:spcAft>
            </a:pPr>
            <a:r>
              <a:rPr sz="1500" b="1" i="0">
                <a:solidFill>
                  <a:srgbClr val="FFFFFF"/>
                </a:solidFill>
                <a:latin typeface="Arial"/>
              </a:rPr>
              <a:t>Entrypoint</a:t>
            </a:r>
          </a:p>
          <a:p>
            <a:pPr algn="ctr">
              <a:lnSpc>
                <a:spcPct val="105000"/>
              </a:lnSpc>
              <a:spcBef>
                <a:spcPts val="0"/>
              </a:spcBef>
              <a:spcAft>
                <a:spcPts val="0"/>
              </a:spcAft>
            </a:pPr>
            <a:r>
              <a:rPr sz="1150" b="0" i="0">
                <a:solidFill>
                  <a:srgbClr val="FFFFFF"/>
                </a:solidFill>
                <a:latin typeface="Arial"/>
              </a:rPr>
              <a:t>:80 web, :443 websecure</a:t>
            </a:r>
          </a:p>
        </p:txBody>
      </p:sp>
      <p:sp>
        <p:nvSpPr>
          <p:cNvPr id="18" name="Rounded Rectangle 17"/>
          <p:cNvSpPr/>
          <p:nvPr/>
        </p:nvSpPr>
        <p:spPr>
          <a:xfrm>
            <a:off x="4572000" y="1691640"/>
            <a:ext cx="1783080" cy="1051560"/>
          </a:xfrm>
          <a:prstGeom prst="roundRect">
            <a:avLst>
              <a:gd name="adj" fmla="val 4347"/>
            </a:avLst>
          </a:prstGeom>
          <a:solidFill>
            <a:srgbClr val="2F8F83"/>
          </a:solidFill>
          <a:ln w="19050">
            <a:solidFill>
              <a:srgbClr val="10263F"/>
            </a:solidFill>
          </a:ln>
        </p:spPr>
        <p:txBody>
          <a:bodyPr rtlCol="0" anchor="ctr"/>
          <a:lstStyle/>
          <a:p>
            <a:pPr algn="ctr"/>
          </a:p>
        </p:txBody>
      </p:sp>
      <p:sp>
        <p:nvSpPr>
          <p:cNvPr id="19" name="TextBox 18"/>
          <p:cNvSpPr txBox="1"/>
          <p:nvPr/>
        </p:nvSpPr>
        <p:spPr>
          <a:xfrm>
            <a:off x="4663440" y="1691640"/>
            <a:ext cx="1600200" cy="1051560"/>
          </a:xfrm>
          <a:prstGeom prst="rect">
            <a:avLst/>
          </a:prstGeom>
          <a:noFill/>
        </p:spPr>
        <p:txBody>
          <a:bodyPr wrap="square" lIns="0" rIns="0" tIns="0" bIns="0" anchor="ctr">
            <a:noAutofit/>
          </a:bodyPr>
          <a:lstStyle/>
          <a:p>
            <a:pPr algn="ctr">
              <a:spcBef>
                <a:spcPts val="0"/>
              </a:spcBef>
              <a:spcAft>
                <a:spcPts val="200"/>
              </a:spcAft>
            </a:pPr>
            <a:r>
              <a:rPr sz="1500" b="1" i="0">
                <a:solidFill>
                  <a:srgbClr val="FFFFFF"/>
                </a:solidFill>
                <a:latin typeface="Arial"/>
              </a:rPr>
              <a:t>Router</a:t>
            </a:r>
          </a:p>
          <a:p>
            <a:pPr algn="ctr">
              <a:lnSpc>
                <a:spcPct val="105000"/>
              </a:lnSpc>
              <a:spcBef>
                <a:spcPts val="0"/>
              </a:spcBef>
              <a:spcAft>
                <a:spcPts val="0"/>
              </a:spcAft>
            </a:pPr>
            <a:r>
              <a:rPr sz="1150" b="0" i="0">
                <a:solidFill>
                  <a:srgbClr val="FFFFFF"/>
                </a:solidFill>
                <a:latin typeface="Arial"/>
              </a:rPr>
              <a:t>a rule, such as Host(...)</a:t>
            </a:r>
          </a:p>
        </p:txBody>
      </p:sp>
      <p:sp>
        <p:nvSpPr>
          <p:cNvPr id="20" name="Rounded Rectangle 19"/>
          <p:cNvSpPr/>
          <p:nvPr/>
        </p:nvSpPr>
        <p:spPr>
          <a:xfrm>
            <a:off x="6812280" y="1691640"/>
            <a:ext cx="1783080" cy="1051560"/>
          </a:xfrm>
          <a:prstGeom prst="roundRect">
            <a:avLst>
              <a:gd name="adj" fmla="val 4347"/>
            </a:avLst>
          </a:prstGeom>
          <a:solidFill>
            <a:srgbClr val="E58A2B"/>
          </a:solidFill>
          <a:ln w="19050">
            <a:solidFill>
              <a:srgbClr val="10263F"/>
            </a:solidFill>
          </a:ln>
        </p:spPr>
        <p:txBody>
          <a:bodyPr rtlCol="0" anchor="ctr"/>
          <a:lstStyle/>
          <a:p>
            <a:pPr algn="ctr"/>
          </a:p>
        </p:txBody>
      </p:sp>
      <p:sp>
        <p:nvSpPr>
          <p:cNvPr id="21" name="TextBox 20"/>
          <p:cNvSpPr txBox="1"/>
          <p:nvPr/>
        </p:nvSpPr>
        <p:spPr>
          <a:xfrm>
            <a:off x="6903720" y="1691640"/>
            <a:ext cx="1600200" cy="1051560"/>
          </a:xfrm>
          <a:prstGeom prst="rect">
            <a:avLst/>
          </a:prstGeom>
          <a:noFill/>
        </p:spPr>
        <p:txBody>
          <a:bodyPr wrap="square" lIns="0" rIns="0" tIns="0" bIns="0" anchor="ctr">
            <a:noAutofit/>
          </a:bodyPr>
          <a:lstStyle/>
          <a:p>
            <a:pPr algn="ctr">
              <a:spcBef>
                <a:spcPts val="0"/>
              </a:spcBef>
              <a:spcAft>
                <a:spcPts val="200"/>
              </a:spcAft>
            </a:pPr>
            <a:r>
              <a:rPr sz="1500" b="1" i="0">
                <a:solidFill>
                  <a:srgbClr val="10263F"/>
                </a:solidFill>
                <a:latin typeface="Arial"/>
              </a:rPr>
              <a:t>Middlewares</a:t>
            </a:r>
          </a:p>
          <a:p>
            <a:pPr algn="ctr">
              <a:lnSpc>
                <a:spcPct val="105000"/>
              </a:lnSpc>
              <a:spcBef>
                <a:spcPts val="0"/>
              </a:spcBef>
              <a:spcAft>
                <a:spcPts val="0"/>
              </a:spcAft>
            </a:pPr>
            <a:r>
              <a:rPr sz="1150" b="0" i="0">
                <a:solidFill>
                  <a:srgbClr val="10263F"/>
                </a:solidFill>
                <a:latin typeface="Arial"/>
              </a:rPr>
              <a:t>redirect, headers, limits</a:t>
            </a:r>
          </a:p>
        </p:txBody>
      </p:sp>
      <p:sp>
        <p:nvSpPr>
          <p:cNvPr id="22" name="Rounded Rectangle 21"/>
          <p:cNvSpPr/>
          <p:nvPr/>
        </p:nvSpPr>
        <p:spPr>
          <a:xfrm>
            <a:off x="9052560" y="1691640"/>
            <a:ext cx="1783080" cy="1051560"/>
          </a:xfrm>
          <a:prstGeom prst="roundRect">
            <a:avLst>
              <a:gd name="adj" fmla="val 4347"/>
            </a:avLst>
          </a:prstGeom>
          <a:solidFill>
            <a:srgbClr val="E9B93A"/>
          </a:solidFill>
          <a:ln w="19050">
            <a:solidFill>
              <a:srgbClr val="10263F"/>
            </a:solidFill>
          </a:ln>
        </p:spPr>
        <p:txBody>
          <a:bodyPr rtlCol="0" anchor="ctr"/>
          <a:lstStyle/>
          <a:p>
            <a:pPr algn="ctr"/>
          </a:p>
        </p:txBody>
      </p:sp>
      <p:sp>
        <p:nvSpPr>
          <p:cNvPr id="23" name="TextBox 22"/>
          <p:cNvSpPr txBox="1"/>
          <p:nvPr/>
        </p:nvSpPr>
        <p:spPr>
          <a:xfrm>
            <a:off x="9144000" y="1691640"/>
            <a:ext cx="1600200" cy="1051560"/>
          </a:xfrm>
          <a:prstGeom prst="rect">
            <a:avLst/>
          </a:prstGeom>
          <a:noFill/>
        </p:spPr>
        <p:txBody>
          <a:bodyPr wrap="square" lIns="0" rIns="0" tIns="0" bIns="0" anchor="ctr">
            <a:noAutofit/>
          </a:bodyPr>
          <a:lstStyle/>
          <a:p>
            <a:pPr algn="ctr">
              <a:spcBef>
                <a:spcPts val="0"/>
              </a:spcBef>
              <a:spcAft>
                <a:spcPts val="200"/>
              </a:spcAft>
            </a:pPr>
            <a:r>
              <a:rPr sz="1500" b="1" i="0">
                <a:solidFill>
                  <a:srgbClr val="10263F"/>
                </a:solidFill>
                <a:latin typeface="Arial"/>
              </a:rPr>
              <a:t>Service</a:t>
            </a:r>
          </a:p>
          <a:p>
            <a:pPr algn="ctr">
              <a:lnSpc>
                <a:spcPct val="105000"/>
              </a:lnSpc>
              <a:spcBef>
                <a:spcPts val="0"/>
              </a:spcBef>
              <a:spcAft>
                <a:spcPts val="0"/>
              </a:spcAft>
            </a:pPr>
            <a:r>
              <a:rPr sz="1150" b="0" i="0">
                <a:solidFill>
                  <a:srgbClr val="10263F"/>
                </a:solidFill>
                <a:latin typeface="Arial"/>
              </a:rPr>
              <a:t>a load balancer</a:t>
            </a:r>
          </a:p>
        </p:txBody>
      </p:sp>
      <p:cxnSp>
        <p:nvCxnSpPr>
          <p:cNvPr id="24" name="Connector 23"/>
          <p:cNvCxnSpPr/>
          <p:nvPr/>
        </p:nvCxnSpPr>
        <p:spPr>
          <a:xfrm>
            <a:off x="1874519" y="2217420"/>
            <a:ext cx="457201" cy="0"/>
          </a:xfrm>
          <a:prstGeom prst="line">
            <a:avLst/>
          </a:prstGeom>
          <a:ln w="22225">
            <a:solidFill>
              <a:srgbClr val="10263F"/>
            </a:solidFill>
            <a:tailEnd type="triangle" w="med" len="med"/>
          </a:ln>
        </p:spPr>
      </p:cxnSp>
      <p:cxnSp>
        <p:nvCxnSpPr>
          <p:cNvPr id="25" name="Connector 24"/>
          <p:cNvCxnSpPr/>
          <p:nvPr/>
        </p:nvCxnSpPr>
        <p:spPr>
          <a:xfrm>
            <a:off x="4114800" y="2217420"/>
            <a:ext cx="457200" cy="0"/>
          </a:xfrm>
          <a:prstGeom prst="line">
            <a:avLst/>
          </a:prstGeom>
          <a:ln w="22225">
            <a:solidFill>
              <a:srgbClr val="10263F"/>
            </a:solidFill>
            <a:tailEnd type="triangle" w="med" len="med"/>
          </a:ln>
        </p:spPr>
      </p:cxnSp>
      <p:cxnSp>
        <p:nvCxnSpPr>
          <p:cNvPr id="26" name="Connector 25"/>
          <p:cNvCxnSpPr/>
          <p:nvPr/>
        </p:nvCxnSpPr>
        <p:spPr>
          <a:xfrm>
            <a:off x="6355080" y="2217420"/>
            <a:ext cx="457200" cy="0"/>
          </a:xfrm>
          <a:prstGeom prst="line">
            <a:avLst/>
          </a:prstGeom>
          <a:ln w="22225">
            <a:solidFill>
              <a:srgbClr val="10263F"/>
            </a:solidFill>
            <a:tailEnd type="triangle" w="med" len="med"/>
          </a:ln>
        </p:spPr>
      </p:cxnSp>
      <p:cxnSp>
        <p:nvCxnSpPr>
          <p:cNvPr id="27" name="Connector 26"/>
          <p:cNvCxnSpPr/>
          <p:nvPr/>
        </p:nvCxnSpPr>
        <p:spPr>
          <a:xfrm>
            <a:off x="8595360" y="2217420"/>
            <a:ext cx="457200" cy="0"/>
          </a:xfrm>
          <a:prstGeom prst="line">
            <a:avLst/>
          </a:prstGeom>
          <a:ln w="22225">
            <a:solidFill>
              <a:srgbClr val="10263F"/>
            </a:solidFill>
            <a:tailEnd type="triangle" w="med" len="med"/>
          </a:ln>
        </p:spPr>
      </p:cxnSp>
      <p:sp>
        <p:nvSpPr>
          <p:cNvPr id="28" name="Rectangle 27"/>
          <p:cNvSpPr/>
          <p:nvPr/>
        </p:nvSpPr>
        <p:spPr>
          <a:xfrm>
            <a:off x="9144000" y="3657600"/>
            <a:ext cx="475488" cy="274320"/>
          </a:xfrm>
          <a:prstGeom prst="rect">
            <a:avLst/>
          </a:prstGeom>
          <a:solidFill>
            <a:srgbClr val="C8472D"/>
          </a:solidFill>
          <a:ln w="15875">
            <a:solidFill>
              <a:srgbClr val="10263F"/>
            </a:solidFill>
          </a:ln>
        </p:spPr>
        <p:txBody>
          <a:bodyPr rtlCol="0" anchor="ctr"/>
          <a:lstStyle/>
          <a:p>
            <a:pPr algn="ctr"/>
          </a:p>
        </p:txBody>
      </p:sp>
      <p:cxnSp>
        <p:nvCxnSpPr>
          <p:cNvPr id="29" name="Connector 28"/>
          <p:cNvCxnSpPr/>
          <p:nvPr/>
        </p:nvCxnSpPr>
        <p:spPr>
          <a:xfrm>
            <a:off x="9239097" y="3703320"/>
            <a:ext cx="0" cy="182880"/>
          </a:xfrm>
          <a:prstGeom prst="line">
            <a:avLst/>
          </a:prstGeom>
          <a:ln w="9525">
            <a:solidFill>
              <a:srgbClr val="8C311F"/>
            </a:solidFill>
          </a:ln>
        </p:spPr>
      </p:cxnSp>
      <p:cxnSp>
        <p:nvCxnSpPr>
          <p:cNvPr id="30" name="Connector 29"/>
          <p:cNvCxnSpPr/>
          <p:nvPr/>
        </p:nvCxnSpPr>
        <p:spPr>
          <a:xfrm>
            <a:off x="9334195" y="3703320"/>
            <a:ext cx="0" cy="182880"/>
          </a:xfrm>
          <a:prstGeom prst="line">
            <a:avLst/>
          </a:prstGeom>
          <a:ln w="9525">
            <a:solidFill>
              <a:srgbClr val="8C311F"/>
            </a:solidFill>
          </a:ln>
        </p:spPr>
      </p:cxnSp>
      <p:cxnSp>
        <p:nvCxnSpPr>
          <p:cNvPr id="31" name="Connector 30"/>
          <p:cNvCxnSpPr/>
          <p:nvPr/>
        </p:nvCxnSpPr>
        <p:spPr>
          <a:xfrm>
            <a:off x="9429292" y="3703320"/>
            <a:ext cx="0" cy="182880"/>
          </a:xfrm>
          <a:prstGeom prst="line">
            <a:avLst/>
          </a:prstGeom>
          <a:ln w="9525">
            <a:solidFill>
              <a:srgbClr val="8C311F"/>
            </a:solidFill>
          </a:ln>
        </p:spPr>
      </p:cxnSp>
      <p:cxnSp>
        <p:nvCxnSpPr>
          <p:cNvPr id="32" name="Connector 31"/>
          <p:cNvCxnSpPr/>
          <p:nvPr/>
        </p:nvCxnSpPr>
        <p:spPr>
          <a:xfrm>
            <a:off x="9524390" y="3703320"/>
            <a:ext cx="0" cy="182880"/>
          </a:xfrm>
          <a:prstGeom prst="line">
            <a:avLst/>
          </a:prstGeom>
          <a:ln w="9525">
            <a:solidFill>
              <a:srgbClr val="8C311F"/>
            </a:solidFill>
          </a:ln>
        </p:spPr>
      </p:cxnSp>
      <p:sp>
        <p:nvSpPr>
          <p:cNvPr id="33" name="Rectangle 32"/>
          <p:cNvSpPr/>
          <p:nvPr/>
        </p:nvSpPr>
        <p:spPr>
          <a:xfrm>
            <a:off x="9710928" y="3657600"/>
            <a:ext cx="475488" cy="274320"/>
          </a:xfrm>
          <a:prstGeom prst="rect">
            <a:avLst/>
          </a:prstGeom>
          <a:solidFill>
            <a:srgbClr val="2F8F83"/>
          </a:solidFill>
          <a:ln w="15875">
            <a:solidFill>
              <a:srgbClr val="10263F"/>
            </a:solidFill>
          </a:ln>
        </p:spPr>
        <p:txBody>
          <a:bodyPr rtlCol="0" anchor="ctr"/>
          <a:lstStyle/>
          <a:p>
            <a:pPr algn="ctr"/>
          </a:p>
        </p:txBody>
      </p:sp>
      <p:cxnSp>
        <p:nvCxnSpPr>
          <p:cNvPr id="34" name="Connector 33"/>
          <p:cNvCxnSpPr/>
          <p:nvPr/>
        </p:nvCxnSpPr>
        <p:spPr>
          <a:xfrm>
            <a:off x="9806025" y="3703320"/>
            <a:ext cx="0" cy="182880"/>
          </a:xfrm>
          <a:prstGeom prst="line">
            <a:avLst/>
          </a:prstGeom>
          <a:ln w="9525">
            <a:solidFill>
              <a:srgbClr val="20645B"/>
            </a:solidFill>
          </a:ln>
        </p:spPr>
      </p:cxnSp>
      <p:cxnSp>
        <p:nvCxnSpPr>
          <p:cNvPr id="35" name="Connector 34"/>
          <p:cNvCxnSpPr/>
          <p:nvPr/>
        </p:nvCxnSpPr>
        <p:spPr>
          <a:xfrm>
            <a:off x="9901123" y="3703320"/>
            <a:ext cx="0" cy="182880"/>
          </a:xfrm>
          <a:prstGeom prst="line">
            <a:avLst/>
          </a:prstGeom>
          <a:ln w="9525">
            <a:solidFill>
              <a:srgbClr val="20645B"/>
            </a:solidFill>
          </a:ln>
        </p:spPr>
      </p:cxnSp>
      <p:cxnSp>
        <p:nvCxnSpPr>
          <p:cNvPr id="36" name="Connector 35"/>
          <p:cNvCxnSpPr/>
          <p:nvPr/>
        </p:nvCxnSpPr>
        <p:spPr>
          <a:xfrm>
            <a:off x="9996220" y="3703320"/>
            <a:ext cx="0" cy="182880"/>
          </a:xfrm>
          <a:prstGeom prst="line">
            <a:avLst/>
          </a:prstGeom>
          <a:ln w="9525">
            <a:solidFill>
              <a:srgbClr val="20645B"/>
            </a:solidFill>
          </a:ln>
        </p:spPr>
      </p:cxnSp>
      <p:cxnSp>
        <p:nvCxnSpPr>
          <p:cNvPr id="37" name="Connector 36"/>
          <p:cNvCxnSpPr/>
          <p:nvPr/>
        </p:nvCxnSpPr>
        <p:spPr>
          <a:xfrm>
            <a:off x="10091318" y="3703320"/>
            <a:ext cx="0" cy="182880"/>
          </a:xfrm>
          <a:prstGeom prst="line">
            <a:avLst/>
          </a:prstGeom>
          <a:ln w="9525">
            <a:solidFill>
              <a:srgbClr val="20645B"/>
            </a:solidFill>
          </a:ln>
        </p:spPr>
      </p:cxnSp>
      <p:sp>
        <p:nvSpPr>
          <p:cNvPr id="38" name="Rectangle 37"/>
          <p:cNvSpPr/>
          <p:nvPr/>
        </p:nvSpPr>
        <p:spPr>
          <a:xfrm>
            <a:off x="10277856" y="3657600"/>
            <a:ext cx="475488" cy="274320"/>
          </a:xfrm>
          <a:prstGeom prst="rect">
            <a:avLst/>
          </a:prstGeom>
          <a:solidFill>
            <a:srgbClr val="2B6CA3"/>
          </a:solidFill>
          <a:ln w="15875">
            <a:solidFill>
              <a:srgbClr val="10263F"/>
            </a:solidFill>
          </a:ln>
        </p:spPr>
        <p:txBody>
          <a:bodyPr rtlCol="0" anchor="ctr"/>
          <a:lstStyle/>
          <a:p>
            <a:pPr algn="ctr"/>
          </a:p>
        </p:txBody>
      </p:sp>
      <p:cxnSp>
        <p:nvCxnSpPr>
          <p:cNvPr id="39" name="Connector 38"/>
          <p:cNvCxnSpPr/>
          <p:nvPr/>
        </p:nvCxnSpPr>
        <p:spPr>
          <a:xfrm>
            <a:off x="10372953" y="3703320"/>
            <a:ext cx="0" cy="182880"/>
          </a:xfrm>
          <a:prstGeom prst="line">
            <a:avLst/>
          </a:prstGeom>
          <a:ln w="9525">
            <a:solidFill>
              <a:srgbClr val="1E4B72"/>
            </a:solidFill>
          </a:ln>
        </p:spPr>
      </p:cxnSp>
      <p:cxnSp>
        <p:nvCxnSpPr>
          <p:cNvPr id="40" name="Connector 39"/>
          <p:cNvCxnSpPr/>
          <p:nvPr/>
        </p:nvCxnSpPr>
        <p:spPr>
          <a:xfrm>
            <a:off x="10468051" y="3703320"/>
            <a:ext cx="0" cy="182880"/>
          </a:xfrm>
          <a:prstGeom prst="line">
            <a:avLst/>
          </a:prstGeom>
          <a:ln w="9525">
            <a:solidFill>
              <a:srgbClr val="1E4B72"/>
            </a:solidFill>
          </a:ln>
        </p:spPr>
      </p:cxnSp>
      <p:cxnSp>
        <p:nvCxnSpPr>
          <p:cNvPr id="41" name="Connector 40"/>
          <p:cNvCxnSpPr/>
          <p:nvPr/>
        </p:nvCxnSpPr>
        <p:spPr>
          <a:xfrm>
            <a:off x="10563148" y="3703320"/>
            <a:ext cx="0" cy="182880"/>
          </a:xfrm>
          <a:prstGeom prst="line">
            <a:avLst/>
          </a:prstGeom>
          <a:ln w="9525">
            <a:solidFill>
              <a:srgbClr val="1E4B72"/>
            </a:solidFill>
          </a:ln>
        </p:spPr>
      </p:cxnSp>
      <p:cxnSp>
        <p:nvCxnSpPr>
          <p:cNvPr id="42" name="Connector 41"/>
          <p:cNvCxnSpPr/>
          <p:nvPr/>
        </p:nvCxnSpPr>
        <p:spPr>
          <a:xfrm>
            <a:off x="10658246" y="3703320"/>
            <a:ext cx="0" cy="182880"/>
          </a:xfrm>
          <a:prstGeom prst="line">
            <a:avLst/>
          </a:prstGeom>
          <a:ln w="9525">
            <a:solidFill>
              <a:srgbClr val="1E4B72"/>
            </a:solidFill>
          </a:ln>
        </p:spPr>
      </p:cxnSp>
      <p:cxnSp>
        <p:nvCxnSpPr>
          <p:cNvPr id="43" name="Connector 42"/>
          <p:cNvCxnSpPr/>
          <p:nvPr/>
        </p:nvCxnSpPr>
        <p:spPr>
          <a:xfrm>
            <a:off x="9944100" y="2743200"/>
            <a:ext cx="0" cy="868680"/>
          </a:xfrm>
          <a:prstGeom prst="line">
            <a:avLst/>
          </a:prstGeom>
          <a:ln w="22225">
            <a:solidFill>
              <a:srgbClr val="10263F"/>
            </a:solidFill>
            <a:tailEnd type="triangle" w="med" len="med"/>
          </a:ln>
        </p:spPr>
      </p:cxnSp>
      <p:sp>
        <p:nvSpPr>
          <p:cNvPr id="44" name="TextBox 43"/>
          <p:cNvSpPr txBox="1"/>
          <p:nvPr/>
        </p:nvSpPr>
        <p:spPr>
          <a:xfrm>
            <a:off x="10058400" y="2926080"/>
            <a:ext cx="1463040" cy="365760"/>
          </a:xfrm>
          <a:prstGeom prst="rect">
            <a:avLst/>
          </a:prstGeom>
          <a:noFill/>
        </p:spPr>
        <p:txBody>
          <a:bodyPr wrap="square" lIns="0" rIns="0" tIns="0" bIns="0" anchor="ctr">
            <a:noAutofit/>
          </a:bodyPr>
          <a:lstStyle/>
          <a:p>
            <a:pPr algn="l">
              <a:spcBef>
                <a:spcPts val="0"/>
              </a:spcBef>
              <a:spcAft>
                <a:spcPts val="0"/>
              </a:spcAft>
            </a:pPr>
            <a:r>
              <a:rPr sz="1100" b="0" i="0">
                <a:solidFill>
                  <a:srgbClr val="4A5A6B"/>
                </a:solidFill>
                <a:latin typeface="Arial"/>
              </a:rPr>
              <a:t>containers</a:t>
            </a:r>
          </a:p>
        </p:txBody>
      </p:sp>
      <p:sp>
        <p:nvSpPr>
          <p:cNvPr id="45" name="Rounded Rectangle 44"/>
          <p:cNvSpPr/>
          <p:nvPr/>
        </p:nvSpPr>
        <p:spPr>
          <a:xfrm>
            <a:off x="2395727" y="3858768"/>
            <a:ext cx="4480560" cy="1463040"/>
          </a:xfrm>
          <a:prstGeom prst="roundRect">
            <a:avLst>
              <a:gd name="adj" fmla="val 2500"/>
            </a:avLst>
          </a:prstGeom>
          <a:solidFill>
            <a:srgbClr val="10263F"/>
          </a:solidFill>
          <a:ln>
            <a:noFill/>
          </a:ln>
        </p:spPr>
        <p:txBody>
          <a:bodyPr rtlCol="0" anchor="ctr"/>
          <a:lstStyle/>
          <a:p>
            <a:pPr algn="ctr"/>
          </a:p>
        </p:txBody>
      </p:sp>
      <p:sp>
        <p:nvSpPr>
          <p:cNvPr id="46" name="Rounded Rectangle 45"/>
          <p:cNvSpPr/>
          <p:nvPr/>
        </p:nvSpPr>
        <p:spPr>
          <a:xfrm>
            <a:off x="2331720" y="3794760"/>
            <a:ext cx="4480560" cy="1463040"/>
          </a:xfrm>
          <a:prstGeom prst="roundRect">
            <a:avLst>
              <a:gd name="adj" fmla="val 2500"/>
            </a:avLst>
          </a:prstGeom>
          <a:solidFill>
            <a:srgbClr val="FFFFFF"/>
          </a:solidFill>
          <a:ln w="22225">
            <a:solidFill>
              <a:srgbClr val="10263F"/>
            </a:solidFill>
          </a:ln>
        </p:spPr>
        <p:txBody>
          <a:bodyPr rtlCol="0" anchor="ctr"/>
          <a:lstStyle/>
          <a:p>
            <a:pPr algn="ctr"/>
          </a:p>
        </p:txBody>
      </p:sp>
      <p:sp>
        <p:nvSpPr>
          <p:cNvPr id="47" name="TextBox 46"/>
          <p:cNvSpPr txBox="1"/>
          <p:nvPr/>
        </p:nvSpPr>
        <p:spPr>
          <a:xfrm>
            <a:off x="2560320" y="3931920"/>
            <a:ext cx="4023360" cy="1188720"/>
          </a:xfrm>
          <a:prstGeom prst="rect">
            <a:avLst/>
          </a:prstGeom>
          <a:noFill/>
        </p:spPr>
        <p:txBody>
          <a:bodyPr wrap="square" lIns="0" rIns="0" tIns="0" bIns="0" anchor="t">
            <a:noAutofit/>
          </a:bodyPr>
          <a:lstStyle/>
          <a:p>
            <a:pPr algn="l">
              <a:spcBef>
                <a:spcPts val="0"/>
              </a:spcBef>
              <a:spcAft>
                <a:spcPts val="300"/>
              </a:spcAft>
            </a:pPr>
            <a:r>
              <a:rPr sz="1800" b="1" i="0">
                <a:solidFill>
                  <a:srgbClr val="10263F"/>
                </a:solidFill>
                <a:latin typeface="Georgia"/>
              </a:rPr>
              <a:t>Providers</a:t>
            </a:r>
          </a:p>
          <a:p>
            <a:pPr algn="l">
              <a:lnSpc>
                <a:spcPct val="120000"/>
              </a:lnSpc>
              <a:spcBef>
                <a:spcPts val="0"/>
              </a:spcBef>
              <a:spcAft>
                <a:spcPts val="0"/>
              </a:spcAft>
            </a:pPr>
            <a:r>
              <a:rPr sz="1250" b="0" i="0">
                <a:solidFill>
                  <a:srgbClr val="4A5A6B"/>
                </a:solidFill>
                <a:latin typeface="Arial"/>
              </a:rPr>
              <a:t>Docker, files, Kubernetes. They watch for changes and send routes to Traefik while it runs.</a:t>
            </a:r>
          </a:p>
        </p:txBody>
      </p:sp>
      <p:cxnSp>
        <p:nvCxnSpPr>
          <p:cNvPr id="48" name="Connector 47"/>
          <p:cNvCxnSpPr/>
          <p:nvPr/>
        </p:nvCxnSpPr>
        <p:spPr>
          <a:xfrm flipV="1">
            <a:off x="5458968" y="3246120"/>
            <a:ext cx="0" cy="548640"/>
          </a:xfrm>
          <a:prstGeom prst="line">
            <a:avLst/>
          </a:prstGeom>
          <a:ln w="22225">
            <a:solidFill>
              <a:srgbClr val="10263F"/>
            </a:solidFill>
          </a:ln>
        </p:spPr>
      </p:cxnSp>
      <p:cxnSp>
        <p:nvCxnSpPr>
          <p:cNvPr id="49" name="Connector 48"/>
          <p:cNvCxnSpPr/>
          <p:nvPr/>
        </p:nvCxnSpPr>
        <p:spPr>
          <a:xfrm flipV="1">
            <a:off x="5458968" y="2761488"/>
            <a:ext cx="0" cy="484632"/>
          </a:xfrm>
          <a:prstGeom prst="line">
            <a:avLst/>
          </a:prstGeom>
          <a:ln w="22225">
            <a:solidFill>
              <a:srgbClr val="10263F"/>
            </a:solidFill>
            <a:tailEnd type="triangle" w="med" len="med"/>
          </a:ln>
        </p:spPr>
      </p:cxnSp>
      <p:sp>
        <p:nvSpPr>
          <p:cNvPr id="50" name="TextBox 49"/>
          <p:cNvSpPr txBox="1"/>
          <p:nvPr/>
        </p:nvSpPr>
        <p:spPr>
          <a:xfrm>
            <a:off x="5577840" y="3017520"/>
            <a:ext cx="2011680" cy="274320"/>
          </a:xfrm>
          <a:prstGeom prst="rect">
            <a:avLst/>
          </a:prstGeom>
          <a:noFill/>
        </p:spPr>
        <p:txBody>
          <a:bodyPr wrap="square" lIns="0" rIns="0" tIns="0" bIns="0" anchor="ctr">
            <a:noAutofit/>
          </a:bodyPr>
          <a:lstStyle/>
          <a:p>
            <a:pPr algn="l">
              <a:spcBef>
                <a:spcPts val="0"/>
              </a:spcBef>
              <a:spcAft>
                <a:spcPts val="0"/>
              </a:spcAft>
            </a:pPr>
            <a:r>
              <a:rPr sz="1100" b="0" i="0">
                <a:solidFill>
                  <a:srgbClr val="10263F"/>
                </a:solidFill>
                <a:latin typeface="Arial"/>
              </a:rPr>
              <a:t>dynamic configuration</a:t>
            </a:r>
          </a:p>
        </p:txBody>
      </p:sp>
      <p:sp>
        <p:nvSpPr>
          <p:cNvPr id="51" name="TextBox 50"/>
          <p:cNvSpPr txBox="1"/>
          <p:nvPr/>
        </p:nvSpPr>
        <p:spPr>
          <a:xfrm>
            <a:off x="7406640" y="4160520"/>
            <a:ext cx="4114800" cy="1463040"/>
          </a:xfrm>
          <a:prstGeom prst="rect">
            <a:avLst/>
          </a:prstGeom>
          <a:noFill/>
        </p:spPr>
        <p:txBody>
          <a:bodyPr wrap="square" lIns="0" rIns="0" tIns="0" bIns="0" anchor="t">
            <a:noAutofit/>
          </a:bodyPr>
          <a:lstStyle/>
          <a:p>
            <a:pPr algn="l">
              <a:spcBef>
                <a:spcPts val="0"/>
              </a:spcBef>
              <a:spcAft>
                <a:spcPts val="100"/>
              </a:spcAft>
            </a:pPr>
            <a:r>
              <a:rPr sz="1300" b="1" i="0">
                <a:solidFill>
                  <a:srgbClr val="10263F"/>
                </a:solidFill>
                <a:latin typeface="Arial"/>
              </a:rPr>
              <a:t>Static configuration</a:t>
            </a:r>
          </a:p>
          <a:p>
            <a:pPr algn="l">
              <a:lnSpc>
                <a:spcPct val="115000"/>
              </a:lnSpc>
              <a:spcBef>
                <a:spcPts val="0"/>
              </a:spcBef>
              <a:spcAft>
                <a:spcPts val="800"/>
              </a:spcAft>
            </a:pPr>
            <a:r>
              <a:rPr sz="1200" b="0" i="0">
                <a:solidFill>
                  <a:srgbClr val="4A5A6B"/>
                </a:solidFill>
                <a:latin typeface="Arial"/>
              </a:rPr>
              <a:t>read once at start: entrypoints, providers, certificate resolvers</a:t>
            </a:r>
          </a:p>
          <a:p>
            <a:pPr algn="l">
              <a:spcBef>
                <a:spcPts val="0"/>
              </a:spcBef>
              <a:spcAft>
                <a:spcPts val="100"/>
              </a:spcAft>
            </a:pPr>
            <a:r>
              <a:rPr sz="1300" b="1" i="0">
                <a:solidFill>
                  <a:srgbClr val="10263F"/>
                </a:solidFill>
                <a:latin typeface="Arial"/>
              </a:rPr>
              <a:t>Dynamic configuration</a:t>
            </a:r>
          </a:p>
          <a:p>
            <a:pPr algn="l">
              <a:lnSpc>
                <a:spcPct val="115000"/>
              </a:lnSpc>
              <a:spcBef>
                <a:spcPts val="0"/>
              </a:spcBef>
              <a:spcAft>
                <a:spcPts val="0"/>
              </a:spcAft>
            </a:pPr>
            <a:r>
              <a:rPr sz="1200" b="0" i="0">
                <a:solidFill>
                  <a:srgbClr val="4A5A6B"/>
                </a:solidFill>
                <a:latin typeface="Arial"/>
              </a:rPr>
              <a:t>routers, services, middlewares: changes while running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Rectangle 1"/>
          <p:cNvSpPr/>
          <p:nvPr/>
        </p:nvSpPr>
        <p:spPr>
          <a:xfrm>
            <a:off x="640080" y="731520"/>
            <a:ext cx="566928" cy="310896"/>
          </a:xfrm>
          <a:prstGeom prst="rect">
            <a:avLst/>
          </a:prstGeom>
          <a:solidFill>
            <a:srgbClr val="2B6CA3"/>
          </a:solidFill>
          <a:ln w="15875">
            <a:solidFill>
              <a:srgbClr val="10263F"/>
            </a:solidFill>
          </a:ln>
        </p:spPr>
        <p:txBody>
          <a:bodyPr rtlCol="0" anchor="ctr"/>
          <a:lstStyle/>
          <a:p>
            <a:pPr algn="ctr"/>
          </a:p>
        </p:txBody>
      </p:sp>
      <p:cxnSp>
        <p:nvCxnSpPr>
          <p:cNvPr id="3" name="Connector 2"/>
          <p:cNvCxnSpPr/>
          <p:nvPr/>
        </p:nvCxnSpPr>
        <p:spPr>
          <a:xfrm>
            <a:off x="753465" y="777240"/>
            <a:ext cx="0" cy="219456"/>
          </a:xfrm>
          <a:prstGeom prst="line">
            <a:avLst/>
          </a:prstGeom>
          <a:ln w="9525">
            <a:solidFill>
              <a:srgbClr val="1E4B72"/>
            </a:solidFill>
          </a:ln>
        </p:spPr>
      </p:cxnSp>
      <p:cxnSp>
        <p:nvCxnSpPr>
          <p:cNvPr id="4" name="Connector 3"/>
          <p:cNvCxnSpPr/>
          <p:nvPr/>
        </p:nvCxnSpPr>
        <p:spPr>
          <a:xfrm>
            <a:off x="866851" y="777240"/>
            <a:ext cx="0" cy="219456"/>
          </a:xfrm>
          <a:prstGeom prst="line">
            <a:avLst/>
          </a:prstGeom>
          <a:ln w="9525">
            <a:solidFill>
              <a:srgbClr val="1E4B72"/>
            </a:solidFill>
          </a:ln>
        </p:spPr>
      </p:cxnSp>
      <p:cxnSp>
        <p:nvCxnSpPr>
          <p:cNvPr id="5" name="Connector 4"/>
          <p:cNvCxnSpPr/>
          <p:nvPr/>
        </p:nvCxnSpPr>
        <p:spPr>
          <a:xfrm>
            <a:off x="980236" y="777240"/>
            <a:ext cx="0" cy="219456"/>
          </a:xfrm>
          <a:prstGeom prst="line">
            <a:avLst/>
          </a:prstGeom>
          <a:ln w="9525">
            <a:solidFill>
              <a:srgbClr val="1E4B72"/>
            </a:solidFill>
          </a:ln>
        </p:spPr>
      </p:cxnSp>
      <p:cxnSp>
        <p:nvCxnSpPr>
          <p:cNvPr id="6" name="Connector 5"/>
          <p:cNvCxnSpPr/>
          <p:nvPr/>
        </p:nvCxnSpPr>
        <p:spPr>
          <a:xfrm>
            <a:off x="1093622" y="777240"/>
            <a:ext cx="0" cy="219456"/>
          </a:xfrm>
          <a:prstGeom prst="line">
            <a:avLst/>
          </a:prstGeom>
          <a:ln w="9525">
            <a:solidFill>
              <a:srgbClr val="1E4B72"/>
            </a:solidFill>
          </a:ln>
        </p:spPr>
      </p:cxnSp>
      <p:sp>
        <p:nvSpPr>
          <p:cNvPr id="7" name="TextBox 6"/>
          <p:cNvSpPr txBox="1"/>
          <p:nvPr/>
        </p:nvSpPr>
        <p:spPr>
          <a:xfrm>
            <a:off x="1417320" y="548640"/>
            <a:ext cx="10149840" cy="685800"/>
          </a:xfrm>
          <a:prstGeom prst="rect">
            <a:avLst/>
          </a:prstGeom>
          <a:noFill/>
        </p:spPr>
        <p:txBody>
          <a:bodyPr wrap="square" lIns="0" rIns="0" tIns="0" bIns="0" anchor="ctr">
            <a:noAutofit/>
          </a:bodyPr>
          <a:lstStyle/>
          <a:p>
            <a:pPr algn="l">
              <a:spcBef>
                <a:spcPts val="0"/>
              </a:spcBef>
              <a:spcAft>
                <a:spcPts val="0"/>
              </a:spcAft>
            </a:pPr>
            <a:r>
              <a:rPr sz="3000" b="1" i="0">
                <a:solidFill>
                  <a:srgbClr val="10263F"/>
                </a:solidFill>
                <a:latin typeface="Georgia"/>
              </a:rPr>
              <a:t>Service discovery with the Docker provider</a:t>
            </a:r>
          </a:p>
        </p:txBody>
      </p:sp>
      <p:cxnSp>
        <p:nvCxnSpPr>
          <p:cNvPr id="8" name="Connector 7"/>
          <p:cNvCxnSpPr/>
          <p:nvPr/>
        </p:nvCxnSpPr>
        <p:spPr>
          <a:xfrm>
            <a:off x="640080" y="1335024"/>
            <a:ext cx="10908792" cy="0"/>
          </a:xfrm>
          <a:prstGeom prst="line">
            <a:avLst/>
          </a:prstGeom>
          <a:ln w="15875">
            <a:solidFill>
              <a:srgbClr val="9AA5AE"/>
            </a:solidFill>
            <a:prstDash val="dash"/>
          </a:ln>
        </p:spPr>
      </p:cxnSp>
      <p:pic>
        <p:nvPicPr>
          <p:cNvPr id="9" name="Picture 8" descr="wave_band.png"/>
          <p:cNvPicPr>
            <a:picLocks noChangeAspect="1"/>
          </p:cNvPicPr>
          <p:nvPr/>
        </p:nvPicPr>
        <p:blipFill>
          <a:blip r:embed="rId2"/>
          <a:stretch>
            <a:fillRect/>
          </a:stretch>
        </p:blipFill>
        <p:spPr>
          <a:xfrm>
            <a:off x="0" y="6355080"/>
            <a:ext cx="12191695" cy="502845"/>
          </a:xfrm>
          <a:prstGeom prst="rect">
            <a:avLst/>
          </a:prstGeom>
        </p:spPr>
      </p:pic>
      <p:pic>
        <p:nvPicPr>
          <p:cNvPr id="10" name="Picture 9" descr="tug_small.png"/>
          <p:cNvPicPr>
            <a:picLocks noChangeAspect="1"/>
          </p:cNvPicPr>
          <p:nvPr/>
        </p:nvPicPr>
        <p:blipFill>
          <a:blip r:embed="rId3"/>
          <a:stretch>
            <a:fillRect/>
          </a:stretch>
        </p:blipFill>
        <p:spPr>
          <a:xfrm>
            <a:off x="4438356" y="6070981"/>
            <a:ext cx="566928" cy="457835"/>
          </a:xfrm>
          <a:prstGeom prst="rect">
            <a:avLst/>
          </a:prstGeom>
        </p:spPr>
      </p:pic>
      <p:sp>
        <p:nvSpPr>
          <p:cNvPr id="11" name="TextBox 10"/>
          <p:cNvSpPr txBox="1"/>
          <p:nvPr/>
        </p:nvSpPr>
        <p:spPr>
          <a:xfrm>
            <a:off x="640080" y="6126480"/>
            <a:ext cx="2743200" cy="228600"/>
          </a:xfrm>
          <a:prstGeom prst="rect">
            <a:avLst/>
          </a:prstGeom>
          <a:noFill/>
        </p:spPr>
        <p:txBody>
          <a:bodyPr wrap="square" lIns="0" rIns="0" tIns="0" bIns="0" anchor="ctr">
            <a:noAutofit/>
          </a:bodyPr>
          <a:lstStyle/>
          <a:p>
            <a:pPr algn="l">
              <a:spcBef>
                <a:spcPts val="0"/>
              </a:spcBef>
              <a:spcAft>
                <a:spcPts val="0"/>
              </a:spcAft>
            </a:pPr>
            <a:r>
              <a:rPr sz="1000" b="0" i="0">
                <a:solidFill>
                  <a:srgbClr val="7E8A97"/>
                </a:solidFill>
                <a:latin typeface="Arial"/>
              </a:rPr>
              <a:t>Traefik   6 / 15</a:t>
            </a:r>
          </a:p>
        </p:txBody>
      </p:sp>
      <p:pic>
        <p:nvPicPr>
          <p:cNvPr id="12" name="Picture 11" descr="logo_college.png"/>
          <p:cNvPicPr>
            <a:picLocks noChangeAspect="1"/>
          </p:cNvPicPr>
          <p:nvPr/>
        </p:nvPicPr>
        <p:blipFill>
          <a:blip r:embed="rId4"/>
          <a:stretch>
            <a:fillRect/>
          </a:stretch>
        </p:blipFill>
        <p:spPr>
          <a:xfrm>
            <a:off x="640080" y="91440"/>
            <a:ext cx="1625550" cy="475488"/>
          </a:xfrm>
          <a:prstGeom prst="rect">
            <a:avLst/>
          </a:prstGeom>
        </p:spPr>
      </p:pic>
      <p:pic>
        <p:nvPicPr>
          <p:cNvPr id="13" name="Picture 12" descr="logo_trust.png"/>
          <p:cNvPicPr>
            <a:picLocks noChangeAspect="1"/>
          </p:cNvPicPr>
          <p:nvPr/>
        </p:nvPicPr>
        <p:blipFill>
          <a:blip r:embed="rId5"/>
          <a:stretch>
            <a:fillRect/>
          </a:stretch>
        </p:blipFill>
        <p:spPr>
          <a:xfrm>
            <a:off x="10940472" y="91440"/>
            <a:ext cx="608400" cy="457200"/>
          </a:xfrm>
          <a:prstGeom prst="rect">
            <a:avLst/>
          </a:prstGeom>
        </p:spPr>
      </p:pic>
      <p:sp>
        <p:nvSpPr>
          <p:cNvPr id="14" name="Rounded Rectangle 13"/>
          <p:cNvSpPr/>
          <p:nvPr/>
        </p:nvSpPr>
        <p:spPr>
          <a:xfrm>
            <a:off x="640080" y="1828800"/>
            <a:ext cx="457200" cy="457200"/>
          </a:xfrm>
          <a:prstGeom prst="roundRect">
            <a:avLst>
              <a:gd name="adj" fmla="val 10000"/>
            </a:avLst>
          </a:prstGeom>
          <a:solidFill>
            <a:srgbClr val="C8472D"/>
          </a:solidFill>
          <a:ln w="19050">
            <a:solidFill>
              <a:srgbClr val="10263F"/>
            </a:solidFill>
          </a:ln>
        </p:spPr>
        <p:txBody>
          <a:bodyPr rtlCol="0" anchor="ctr"/>
          <a:lstStyle/>
          <a:p>
            <a:pPr algn="ctr"/>
          </a:p>
        </p:txBody>
      </p:sp>
      <p:sp>
        <p:nvSpPr>
          <p:cNvPr id="15" name="TextBox 14"/>
          <p:cNvSpPr txBox="1"/>
          <p:nvPr/>
        </p:nvSpPr>
        <p:spPr>
          <a:xfrm>
            <a:off x="640080" y="1828800"/>
            <a:ext cx="457200" cy="457200"/>
          </a:xfrm>
          <a:prstGeom prst="rect">
            <a:avLst/>
          </a:prstGeom>
          <a:noFill/>
        </p:spPr>
        <p:txBody>
          <a:bodyPr wrap="square" lIns="0" rIns="0" tIns="0" bIns="0" anchor="ctr">
            <a:noAutofit/>
          </a:bodyPr>
          <a:lstStyle/>
          <a:p>
            <a:pPr algn="ctr">
              <a:spcBef>
                <a:spcPts val="0"/>
              </a:spcBef>
              <a:spcAft>
                <a:spcPts val="0"/>
              </a:spcAft>
            </a:pPr>
            <a:r>
              <a:rPr sz="1800" b="1" i="0">
                <a:solidFill>
                  <a:srgbClr val="FFFFFF"/>
                </a:solidFill>
                <a:latin typeface="Georgia"/>
              </a:rPr>
              <a:t>1</a:t>
            </a:r>
          </a:p>
        </p:txBody>
      </p:sp>
      <p:sp>
        <p:nvSpPr>
          <p:cNvPr id="16" name="TextBox 15"/>
          <p:cNvSpPr txBox="1"/>
          <p:nvPr/>
        </p:nvSpPr>
        <p:spPr>
          <a:xfrm>
            <a:off x="1325880" y="1554480"/>
            <a:ext cx="4892040" cy="1005840"/>
          </a:xfrm>
          <a:prstGeom prst="rect">
            <a:avLst/>
          </a:prstGeom>
          <a:noFill/>
        </p:spPr>
        <p:txBody>
          <a:bodyPr wrap="square" lIns="0" rIns="0" tIns="0" bIns="0" anchor="ctr">
            <a:noAutofit/>
          </a:bodyPr>
          <a:lstStyle/>
          <a:p>
            <a:pPr algn="l">
              <a:lnSpc>
                <a:spcPct val="112000"/>
              </a:lnSpc>
              <a:spcBef>
                <a:spcPts val="0"/>
              </a:spcBef>
              <a:spcAft>
                <a:spcPts val="0"/>
              </a:spcAft>
            </a:pPr>
            <a:r>
              <a:rPr sz="1600" b="0" i="0">
                <a:solidFill>
                  <a:srgbClr val="10263F"/>
                </a:solidFill>
                <a:latin typeface="Arial"/>
              </a:rPr>
              <a:t>I start a container: docker compose up -d whoami.</a:t>
            </a:r>
          </a:p>
        </p:txBody>
      </p:sp>
      <p:cxnSp>
        <p:nvCxnSpPr>
          <p:cNvPr id="17" name="Connector 16"/>
          <p:cNvCxnSpPr/>
          <p:nvPr/>
        </p:nvCxnSpPr>
        <p:spPr>
          <a:xfrm>
            <a:off x="640080" y="2560320"/>
            <a:ext cx="5577840" cy="0"/>
          </a:xfrm>
          <a:prstGeom prst="line">
            <a:avLst/>
          </a:prstGeom>
          <a:ln w="12700">
            <a:solidFill>
              <a:srgbClr val="C4CBD0"/>
            </a:solidFill>
          </a:ln>
        </p:spPr>
      </p:cxnSp>
      <p:sp>
        <p:nvSpPr>
          <p:cNvPr id="18" name="Rounded Rectangle 17"/>
          <p:cNvSpPr/>
          <p:nvPr/>
        </p:nvSpPr>
        <p:spPr>
          <a:xfrm>
            <a:off x="640080" y="2834639"/>
            <a:ext cx="457200" cy="457200"/>
          </a:xfrm>
          <a:prstGeom prst="roundRect">
            <a:avLst>
              <a:gd name="adj" fmla="val 10000"/>
            </a:avLst>
          </a:prstGeom>
          <a:solidFill>
            <a:srgbClr val="E9B93A"/>
          </a:solidFill>
          <a:ln w="19050">
            <a:solidFill>
              <a:srgbClr val="10263F"/>
            </a:solidFill>
          </a:ln>
        </p:spPr>
        <p:txBody>
          <a:bodyPr rtlCol="0" anchor="ctr"/>
          <a:lstStyle/>
          <a:p>
            <a:pPr algn="ctr"/>
          </a:p>
        </p:txBody>
      </p:sp>
      <p:sp>
        <p:nvSpPr>
          <p:cNvPr id="19" name="TextBox 18"/>
          <p:cNvSpPr txBox="1"/>
          <p:nvPr/>
        </p:nvSpPr>
        <p:spPr>
          <a:xfrm>
            <a:off x="640080" y="2834639"/>
            <a:ext cx="457200" cy="457200"/>
          </a:xfrm>
          <a:prstGeom prst="rect">
            <a:avLst/>
          </a:prstGeom>
          <a:noFill/>
        </p:spPr>
        <p:txBody>
          <a:bodyPr wrap="square" lIns="0" rIns="0" tIns="0" bIns="0" anchor="ctr">
            <a:noAutofit/>
          </a:bodyPr>
          <a:lstStyle/>
          <a:p>
            <a:pPr algn="ctr">
              <a:spcBef>
                <a:spcPts val="0"/>
              </a:spcBef>
              <a:spcAft>
                <a:spcPts val="0"/>
              </a:spcAft>
            </a:pPr>
            <a:r>
              <a:rPr sz="1800" b="1" i="0">
                <a:solidFill>
                  <a:srgbClr val="10263F"/>
                </a:solidFill>
                <a:latin typeface="Georgia"/>
              </a:rPr>
              <a:t>2</a:t>
            </a:r>
          </a:p>
        </p:txBody>
      </p:sp>
      <p:sp>
        <p:nvSpPr>
          <p:cNvPr id="20" name="TextBox 19"/>
          <p:cNvSpPr txBox="1"/>
          <p:nvPr/>
        </p:nvSpPr>
        <p:spPr>
          <a:xfrm>
            <a:off x="1325880" y="2560320"/>
            <a:ext cx="4892040" cy="1005840"/>
          </a:xfrm>
          <a:prstGeom prst="rect">
            <a:avLst/>
          </a:prstGeom>
          <a:noFill/>
        </p:spPr>
        <p:txBody>
          <a:bodyPr wrap="square" lIns="0" rIns="0" tIns="0" bIns="0" anchor="ctr">
            <a:noAutofit/>
          </a:bodyPr>
          <a:lstStyle/>
          <a:p>
            <a:pPr algn="l">
              <a:lnSpc>
                <a:spcPct val="112000"/>
              </a:lnSpc>
              <a:spcBef>
                <a:spcPts val="0"/>
              </a:spcBef>
              <a:spcAft>
                <a:spcPts val="0"/>
              </a:spcAft>
            </a:pPr>
            <a:r>
              <a:rPr sz="1600" b="0" i="0">
                <a:solidFill>
                  <a:srgbClr val="10263F"/>
                </a:solidFill>
                <a:latin typeface="Arial"/>
              </a:rPr>
              <a:t>Docker sends Traefik a start event.</a:t>
            </a:r>
          </a:p>
        </p:txBody>
      </p:sp>
      <p:cxnSp>
        <p:nvCxnSpPr>
          <p:cNvPr id="21" name="Connector 20"/>
          <p:cNvCxnSpPr/>
          <p:nvPr/>
        </p:nvCxnSpPr>
        <p:spPr>
          <a:xfrm>
            <a:off x="640080" y="3566160"/>
            <a:ext cx="5577840" cy="0"/>
          </a:xfrm>
          <a:prstGeom prst="line">
            <a:avLst/>
          </a:prstGeom>
          <a:ln w="12700">
            <a:solidFill>
              <a:srgbClr val="C4CBD0"/>
            </a:solidFill>
          </a:ln>
        </p:spPr>
      </p:cxnSp>
      <p:sp>
        <p:nvSpPr>
          <p:cNvPr id="22" name="Rounded Rectangle 21"/>
          <p:cNvSpPr/>
          <p:nvPr/>
        </p:nvSpPr>
        <p:spPr>
          <a:xfrm>
            <a:off x="640080" y="3840480"/>
            <a:ext cx="457200" cy="457200"/>
          </a:xfrm>
          <a:prstGeom prst="roundRect">
            <a:avLst>
              <a:gd name="adj" fmla="val 10000"/>
            </a:avLst>
          </a:prstGeom>
          <a:solidFill>
            <a:srgbClr val="2F8F83"/>
          </a:solidFill>
          <a:ln w="19050">
            <a:solidFill>
              <a:srgbClr val="10263F"/>
            </a:solidFill>
          </a:ln>
        </p:spPr>
        <p:txBody>
          <a:bodyPr rtlCol="0" anchor="ctr"/>
          <a:lstStyle/>
          <a:p>
            <a:pPr algn="ctr"/>
          </a:p>
        </p:txBody>
      </p:sp>
      <p:sp>
        <p:nvSpPr>
          <p:cNvPr id="23" name="TextBox 22"/>
          <p:cNvSpPr txBox="1"/>
          <p:nvPr/>
        </p:nvSpPr>
        <p:spPr>
          <a:xfrm>
            <a:off x="640080" y="3840480"/>
            <a:ext cx="457200" cy="457200"/>
          </a:xfrm>
          <a:prstGeom prst="rect">
            <a:avLst/>
          </a:prstGeom>
          <a:noFill/>
        </p:spPr>
        <p:txBody>
          <a:bodyPr wrap="square" lIns="0" rIns="0" tIns="0" bIns="0" anchor="ctr">
            <a:noAutofit/>
          </a:bodyPr>
          <a:lstStyle/>
          <a:p>
            <a:pPr algn="ctr">
              <a:spcBef>
                <a:spcPts val="0"/>
              </a:spcBef>
              <a:spcAft>
                <a:spcPts val="0"/>
              </a:spcAft>
            </a:pPr>
            <a:r>
              <a:rPr sz="1800" b="1" i="0">
                <a:solidFill>
                  <a:srgbClr val="FFFFFF"/>
                </a:solidFill>
                <a:latin typeface="Georgia"/>
              </a:rPr>
              <a:t>3</a:t>
            </a:r>
          </a:p>
        </p:txBody>
      </p:sp>
      <p:sp>
        <p:nvSpPr>
          <p:cNvPr id="24" name="TextBox 23"/>
          <p:cNvSpPr txBox="1"/>
          <p:nvPr/>
        </p:nvSpPr>
        <p:spPr>
          <a:xfrm>
            <a:off x="1325880" y="3566160"/>
            <a:ext cx="4892040" cy="1005840"/>
          </a:xfrm>
          <a:prstGeom prst="rect">
            <a:avLst/>
          </a:prstGeom>
          <a:noFill/>
        </p:spPr>
        <p:txBody>
          <a:bodyPr wrap="square" lIns="0" rIns="0" tIns="0" bIns="0" anchor="ctr">
            <a:noAutofit/>
          </a:bodyPr>
          <a:lstStyle/>
          <a:p>
            <a:pPr algn="l">
              <a:lnSpc>
                <a:spcPct val="112000"/>
              </a:lnSpc>
              <a:spcBef>
                <a:spcPts val="0"/>
              </a:spcBef>
              <a:spcAft>
                <a:spcPts val="0"/>
              </a:spcAft>
            </a:pPr>
            <a:r>
              <a:rPr sz="1600" b="0" i="0">
                <a:solidFill>
                  <a:srgbClr val="10263F"/>
                </a:solidFill>
                <a:latin typeface="Arial"/>
              </a:rPr>
              <a:t>Traefik reads the container's labels, IP and port.</a:t>
            </a:r>
          </a:p>
        </p:txBody>
      </p:sp>
      <p:cxnSp>
        <p:nvCxnSpPr>
          <p:cNvPr id="25" name="Connector 24"/>
          <p:cNvCxnSpPr/>
          <p:nvPr/>
        </p:nvCxnSpPr>
        <p:spPr>
          <a:xfrm>
            <a:off x="640080" y="4572000"/>
            <a:ext cx="5577840" cy="0"/>
          </a:xfrm>
          <a:prstGeom prst="line">
            <a:avLst/>
          </a:prstGeom>
          <a:ln w="12700">
            <a:solidFill>
              <a:srgbClr val="C4CBD0"/>
            </a:solidFill>
          </a:ln>
        </p:spPr>
      </p:cxnSp>
      <p:sp>
        <p:nvSpPr>
          <p:cNvPr id="26" name="Rounded Rectangle 25"/>
          <p:cNvSpPr/>
          <p:nvPr/>
        </p:nvSpPr>
        <p:spPr>
          <a:xfrm>
            <a:off x="640080" y="4846320"/>
            <a:ext cx="457200" cy="457200"/>
          </a:xfrm>
          <a:prstGeom prst="roundRect">
            <a:avLst>
              <a:gd name="adj" fmla="val 10000"/>
            </a:avLst>
          </a:prstGeom>
          <a:solidFill>
            <a:srgbClr val="E58A2B"/>
          </a:solidFill>
          <a:ln w="19050">
            <a:solidFill>
              <a:srgbClr val="10263F"/>
            </a:solidFill>
          </a:ln>
        </p:spPr>
        <p:txBody>
          <a:bodyPr rtlCol="0" anchor="ctr"/>
          <a:lstStyle/>
          <a:p>
            <a:pPr algn="ctr"/>
          </a:p>
        </p:txBody>
      </p:sp>
      <p:sp>
        <p:nvSpPr>
          <p:cNvPr id="27" name="TextBox 26"/>
          <p:cNvSpPr txBox="1"/>
          <p:nvPr/>
        </p:nvSpPr>
        <p:spPr>
          <a:xfrm>
            <a:off x="640080" y="4846320"/>
            <a:ext cx="457200" cy="457200"/>
          </a:xfrm>
          <a:prstGeom prst="rect">
            <a:avLst/>
          </a:prstGeom>
          <a:noFill/>
        </p:spPr>
        <p:txBody>
          <a:bodyPr wrap="square" lIns="0" rIns="0" tIns="0" bIns="0" anchor="ctr">
            <a:noAutofit/>
          </a:bodyPr>
          <a:lstStyle/>
          <a:p>
            <a:pPr algn="ctr">
              <a:spcBef>
                <a:spcPts val="0"/>
              </a:spcBef>
              <a:spcAft>
                <a:spcPts val="0"/>
              </a:spcAft>
            </a:pPr>
            <a:r>
              <a:rPr sz="1800" b="1" i="0">
                <a:solidFill>
                  <a:srgbClr val="10263F"/>
                </a:solidFill>
                <a:latin typeface="Georgia"/>
              </a:rPr>
              <a:t>4</a:t>
            </a:r>
          </a:p>
        </p:txBody>
      </p:sp>
      <p:sp>
        <p:nvSpPr>
          <p:cNvPr id="28" name="TextBox 27"/>
          <p:cNvSpPr txBox="1"/>
          <p:nvPr/>
        </p:nvSpPr>
        <p:spPr>
          <a:xfrm>
            <a:off x="1325880" y="4572000"/>
            <a:ext cx="4892040" cy="1005840"/>
          </a:xfrm>
          <a:prstGeom prst="rect">
            <a:avLst/>
          </a:prstGeom>
          <a:noFill/>
        </p:spPr>
        <p:txBody>
          <a:bodyPr wrap="square" lIns="0" rIns="0" tIns="0" bIns="0" anchor="ctr">
            <a:noAutofit/>
          </a:bodyPr>
          <a:lstStyle/>
          <a:p>
            <a:pPr algn="l">
              <a:lnSpc>
                <a:spcPct val="112000"/>
              </a:lnSpc>
              <a:spcBef>
                <a:spcPts val="0"/>
              </a:spcBef>
              <a:spcAft>
                <a:spcPts val="0"/>
              </a:spcAft>
            </a:pPr>
            <a:r>
              <a:rPr sz="1600" b="0" i="0">
                <a:solidFill>
                  <a:srgbClr val="10263F"/>
                </a:solidFill>
                <a:latin typeface="Arial"/>
              </a:rPr>
              <a:t>A router and a service exist. Traefik was not restarted.</a:t>
            </a:r>
          </a:p>
        </p:txBody>
      </p:sp>
      <p:sp>
        <p:nvSpPr>
          <p:cNvPr id="29" name="Rounded Rectangle 28"/>
          <p:cNvSpPr/>
          <p:nvPr/>
        </p:nvSpPr>
        <p:spPr>
          <a:xfrm>
            <a:off x="6739128" y="1755648"/>
            <a:ext cx="4873752" cy="2148840"/>
          </a:xfrm>
          <a:prstGeom prst="roundRect">
            <a:avLst>
              <a:gd name="adj" fmla="val 1702"/>
            </a:avLst>
          </a:prstGeom>
          <a:solidFill>
            <a:srgbClr val="8FA3B5"/>
          </a:solidFill>
          <a:ln>
            <a:noFill/>
          </a:ln>
        </p:spPr>
        <p:txBody>
          <a:bodyPr rtlCol="0" anchor="ctr"/>
          <a:lstStyle/>
          <a:p>
            <a:pPr algn="ctr"/>
          </a:p>
        </p:txBody>
      </p:sp>
      <p:sp>
        <p:nvSpPr>
          <p:cNvPr id="30" name="Rounded Rectangle 29"/>
          <p:cNvSpPr/>
          <p:nvPr/>
        </p:nvSpPr>
        <p:spPr>
          <a:xfrm>
            <a:off x="6675120" y="1691640"/>
            <a:ext cx="4873752" cy="2148840"/>
          </a:xfrm>
          <a:prstGeom prst="roundRect">
            <a:avLst>
              <a:gd name="adj" fmla="val 1702"/>
            </a:avLst>
          </a:prstGeom>
          <a:solidFill>
            <a:srgbClr val="10263F"/>
          </a:solidFill>
          <a:ln w="22225">
            <a:solidFill>
              <a:srgbClr val="10263F"/>
            </a:solidFill>
          </a:ln>
        </p:spPr>
        <p:txBody>
          <a:bodyPr rtlCol="0" anchor="ctr"/>
          <a:lstStyle/>
          <a:p>
            <a:pPr algn="ctr"/>
          </a:p>
        </p:txBody>
      </p:sp>
      <p:sp>
        <p:nvSpPr>
          <p:cNvPr id="31" name="TextBox 30"/>
          <p:cNvSpPr txBox="1"/>
          <p:nvPr/>
        </p:nvSpPr>
        <p:spPr>
          <a:xfrm>
            <a:off x="6876288" y="1872691"/>
            <a:ext cx="4471416" cy="1746504"/>
          </a:xfrm>
          <a:prstGeom prst="rect">
            <a:avLst/>
          </a:prstGeom>
          <a:noFill/>
        </p:spPr>
        <p:txBody>
          <a:bodyPr wrap="square" lIns="0" rIns="0" tIns="0" bIns="0" anchor="t">
            <a:noAutofit/>
          </a:bodyPr>
          <a:lstStyle/>
          <a:p>
            <a:pPr algn="l">
              <a:spcBef>
                <a:spcPts val="0"/>
              </a:spcBef>
              <a:spcAft>
                <a:spcPts val="200"/>
              </a:spcAft>
            </a:pPr>
            <a:r>
              <a:rPr sz="1250" b="0" i="0">
                <a:solidFill>
                  <a:srgbClr val="8FA3B5"/>
                </a:solidFill>
                <a:latin typeface="Courier New"/>
              </a:rPr>
              <a:t>labels:</a:t>
            </a:r>
          </a:p>
          <a:p>
            <a:pPr algn="l">
              <a:spcBef>
                <a:spcPts val="0"/>
              </a:spcBef>
              <a:spcAft>
                <a:spcPts val="200"/>
              </a:spcAft>
            </a:pPr>
            <a:r>
              <a:rPr sz="1250" b="0" i="0">
                <a:solidFill>
                  <a:srgbClr val="FFFFFF"/>
                </a:solidFill>
                <a:latin typeface="Courier New"/>
              </a:rPr>
              <a:t>  - traefik.enable=true</a:t>
            </a:r>
          </a:p>
          <a:p>
            <a:pPr algn="l">
              <a:spcBef>
                <a:spcPts val="0"/>
              </a:spcBef>
              <a:spcAft>
                <a:spcPts val="200"/>
              </a:spcAft>
            </a:pPr>
            <a:r>
              <a:rPr sz="1250" b="0" i="0">
                <a:solidFill>
                  <a:srgbClr val="FFFFFF"/>
                </a:solidFill>
                <a:latin typeface="Courier New"/>
              </a:rPr>
              <a:t>  - traefik.http.routers.whoami</a:t>
            </a:r>
          </a:p>
          <a:p>
            <a:pPr algn="l">
              <a:spcBef>
                <a:spcPts val="0"/>
              </a:spcBef>
              <a:spcAft>
                <a:spcPts val="200"/>
              </a:spcAft>
            </a:pPr>
            <a:r>
              <a:rPr sz="1250" b="0" i="0">
                <a:solidFill>
                  <a:srgbClr val="FFFFFF"/>
                </a:solidFill>
                <a:latin typeface="Courier New"/>
              </a:rPr>
              <a:t>      .rule=Host(`whoami.127.0.0.1.nip.io`)</a:t>
            </a:r>
          </a:p>
          <a:p>
            <a:pPr algn="l">
              <a:spcBef>
                <a:spcPts val="0"/>
              </a:spcBef>
              <a:spcAft>
                <a:spcPts val="200"/>
              </a:spcAft>
            </a:pPr>
            <a:r>
              <a:rPr sz="1250" b="0" i="0">
                <a:solidFill>
                  <a:srgbClr val="FFFFFF"/>
                </a:solidFill>
                <a:latin typeface="Courier New"/>
              </a:rPr>
              <a:t>  - traefik.http.routers.whoami</a:t>
            </a:r>
          </a:p>
          <a:p>
            <a:pPr algn="l">
              <a:spcBef>
                <a:spcPts val="0"/>
              </a:spcBef>
              <a:spcAft>
                <a:spcPts val="200"/>
              </a:spcAft>
            </a:pPr>
            <a:r>
              <a:rPr sz="1250" b="0" i="0">
                <a:solidFill>
                  <a:srgbClr val="FFFFFF"/>
                </a:solidFill>
                <a:latin typeface="Courier New"/>
              </a:rPr>
              <a:t>      .entrypoints=web</a:t>
            </a:r>
          </a:p>
        </p:txBody>
      </p:sp>
      <p:sp>
        <p:nvSpPr>
          <p:cNvPr id="32" name="TextBox 31"/>
          <p:cNvSpPr txBox="1"/>
          <p:nvPr/>
        </p:nvSpPr>
        <p:spPr>
          <a:xfrm>
            <a:off x="6675120" y="4206240"/>
            <a:ext cx="4846320" cy="1554480"/>
          </a:xfrm>
          <a:prstGeom prst="rect">
            <a:avLst/>
          </a:prstGeom>
          <a:noFill/>
        </p:spPr>
        <p:txBody>
          <a:bodyPr wrap="square" lIns="0" rIns="0" tIns="0" bIns="0" anchor="t">
            <a:noAutofit/>
          </a:bodyPr>
          <a:lstStyle/>
          <a:p>
            <a:pPr algn="l">
              <a:lnSpc>
                <a:spcPct val="120000"/>
              </a:lnSpc>
              <a:spcBef>
                <a:spcPts val="0"/>
              </a:spcBef>
              <a:spcAft>
                <a:spcPts val="800"/>
              </a:spcAft>
            </a:pPr>
            <a:r>
              <a:rPr sz="1500" b="1" i="0">
                <a:solidFill>
                  <a:srgbClr val="10263F"/>
                </a:solidFill>
                <a:latin typeface="Georgia"/>
              </a:rPr>
              <a:t>That is the whole configuration for the app.</a:t>
            </a:r>
          </a:p>
          <a:p>
            <a:pPr algn="l">
              <a:lnSpc>
                <a:spcPct val="125000"/>
              </a:lnSpc>
              <a:spcBef>
                <a:spcPts val="0"/>
              </a:spcBef>
              <a:spcAft>
                <a:spcPts val="0"/>
              </a:spcAft>
            </a:pPr>
            <a:r>
              <a:rPr sz="1250" b="0" i="0">
                <a:solidFill>
                  <a:srgbClr val="4A5A6B"/>
                </a:solidFill>
                <a:latin typeface="Arial"/>
              </a:rPr>
              <a:t>The documentation warns that Docker socket access is powerful. On a shared server, put a socket proxy in front of 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Rectangle 1"/>
          <p:cNvSpPr/>
          <p:nvPr/>
        </p:nvSpPr>
        <p:spPr>
          <a:xfrm>
            <a:off x="640080" y="731520"/>
            <a:ext cx="566928" cy="310896"/>
          </a:xfrm>
          <a:prstGeom prst="rect">
            <a:avLst/>
          </a:prstGeom>
          <a:solidFill>
            <a:srgbClr val="C8472D"/>
          </a:solidFill>
          <a:ln w="15875">
            <a:solidFill>
              <a:srgbClr val="10263F"/>
            </a:solidFill>
          </a:ln>
        </p:spPr>
        <p:txBody>
          <a:bodyPr rtlCol="0" anchor="ctr"/>
          <a:lstStyle/>
          <a:p>
            <a:pPr algn="ctr"/>
          </a:p>
        </p:txBody>
      </p:sp>
      <p:cxnSp>
        <p:nvCxnSpPr>
          <p:cNvPr id="3" name="Connector 2"/>
          <p:cNvCxnSpPr/>
          <p:nvPr/>
        </p:nvCxnSpPr>
        <p:spPr>
          <a:xfrm>
            <a:off x="753465" y="777240"/>
            <a:ext cx="0" cy="219456"/>
          </a:xfrm>
          <a:prstGeom prst="line">
            <a:avLst/>
          </a:prstGeom>
          <a:ln w="9525">
            <a:solidFill>
              <a:srgbClr val="8C311F"/>
            </a:solidFill>
          </a:ln>
        </p:spPr>
      </p:cxnSp>
      <p:cxnSp>
        <p:nvCxnSpPr>
          <p:cNvPr id="4" name="Connector 3"/>
          <p:cNvCxnSpPr/>
          <p:nvPr/>
        </p:nvCxnSpPr>
        <p:spPr>
          <a:xfrm>
            <a:off x="866851" y="777240"/>
            <a:ext cx="0" cy="219456"/>
          </a:xfrm>
          <a:prstGeom prst="line">
            <a:avLst/>
          </a:prstGeom>
          <a:ln w="9525">
            <a:solidFill>
              <a:srgbClr val="8C311F"/>
            </a:solidFill>
          </a:ln>
        </p:spPr>
      </p:cxnSp>
      <p:cxnSp>
        <p:nvCxnSpPr>
          <p:cNvPr id="5" name="Connector 4"/>
          <p:cNvCxnSpPr/>
          <p:nvPr/>
        </p:nvCxnSpPr>
        <p:spPr>
          <a:xfrm>
            <a:off x="980236" y="777240"/>
            <a:ext cx="0" cy="219456"/>
          </a:xfrm>
          <a:prstGeom prst="line">
            <a:avLst/>
          </a:prstGeom>
          <a:ln w="9525">
            <a:solidFill>
              <a:srgbClr val="8C311F"/>
            </a:solidFill>
          </a:ln>
        </p:spPr>
      </p:cxnSp>
      <p:cxnSp>
        <p:nvCxnSpPr>
          <p:cNvPr id="6" name="Connector 5"/>
          <p:cNvCxnSpPr/>
          <p:nvPr/>
        </p:nvCxnSpPr>
        <p:spPr>
          <a:xfrm>
            <a:off x="1093622" y="777240"/>
            <a:ext cx="0" cy="219456"/>
          </a:xfrm>
          <a:prstGeom prst="line">
            <a:avLst/>
          </a:prstGeom>
          <a:ln w="9525">
            <a:solidFill>
              <a:srgbClr val="8C311F"/>
            </a:solidFill>
          </a:ln>
        </p:spPr>
      </p:cxnSp>
      <p:sp>
        <p:nvSpPr>
          <p:cNvPr id="7" name="TextBox 6"/>
          <p:cNvSpPr txBox="1"/>
          <p:nvPr/>
        </p:nvSpPr>
        <p:spPr>
          <a:xfrm>
            <a:off x="1417320" y="548640"/>
            <a:ext cx="10149840" cy="685800"/>
          </a:xfrm>
          <a:prstGeom prst="rect">
            <a:avLst/>
          </a:prstGeom>
          <a:noFill/>
        </p:spPr>
        <p:txBody>
          <a:bodyPr wrap="square" lIns="0" rIns="0" tIns="0" bIns="0" anchor="ctr">
            <a:noAutofit/>
          </a:bodyPr>
          <a:lstStyle/>
          <a:p>
            <a:pPr algn="l">
              <a:spcBef>
                <a:spcPts val="0"/>
              </a:spcBef>
              <a:spcAft>
                <a:spcPts val="0"/>
              </a:spcAft>
            </a:pPr>
            <a:r>
              <a:rPr sz="3000" b="1" i="0">
                <a:solidFill>
                  <a:srgbClr val="10263F"/>
                </a:solidFill>
                <a:latin typeface="Georgia"/>
              </a:rPr>
              <a:t>Demo 1: service discovery</a:t>
            </a:r>
          </a:p>
        </p:txBody>
      </p:sp>
      <p:cxnSp>
        <p:nvCxnSpPr>
          <p:cNvPr id="8" name="Connector 7"/>
          <p:cNvCxnSpPr/>
          <p:nvPr/>
        </p:nvCxnSpPr>
        <p:spPr>
          <a:xfrm>
            <a:off x="640080" y="1335024"/>
            <a:ext cx="10908792" cy="0"/>
          </a:xfrm>
          <a:prstGeom prst="line">
            <a:avLst/>
          </a:prstGeom>
          <a:ln w="15875">
            <a:solidFill>
              <a:srgbClr val="9AA5AE"/>
            </a:solidFill>
            <a:prstDash val="dash"/>
          </a:ln>
        </p:spPr>
      </p:cxnSp>
      <p:pic>
        <p:nvPicPr>
          <p:cNvPr id="9" name="Picture 8" descr="wave_band.png"/>
          <p:cNvPicPr>
            <a:picLocks noChangeAspect="1"/>
          </p:cNvPicPr>
          <p:nvPr/>
        </p:nvPicPr>
        <p:blipFill>
          <a:blip r:embed="rId2"/>
          <a:stretch>
            <a:fillRect/>
          </a:stretch>
        </p:blipFill>
        <p:spPr>
          <a:xfrm>
            <a:off x="0" y="6355080"/>
            <a:ext cx="12191695" cy="502845"/>
          </a:xfrm>
          <a:prstGeom prst="rect">
            <a:avLst/>
          </a:prstGeom>
        </p:spPr>
      </p:pic>
      <p:pic>
        <p:nvPicPr>
          <p:cNvPr id="10" name="Picture 9" descr="tug_small.png"/>
          <p:cNvPicPr>
            <a:picLocks noChangeAspect="1"/>
          </p:cNvPicPr>
          <p:nvPr/>
        </p:nvPicPr>
        <p:blipFill>
          <a:blip r:embed="rId3"/>
          <a:stretch>
            <a:fillRect/>
          </a:stretch>
        </p:blipFill>
        <p:spPr>
          <a:xfrm>
            <a:off x="5205046" y="6070981"/>
            <a:ext cx="566928" cy="457835"/>
          </a:xfrm>
          <a:prstGeom prst="rect">
            <a:avLst/>
          </a:prstGeom>
        </p:spPr>
      </p:pic>
      <p:sp>
        <p:nvSpPr>
          <p:cNvPr id="11" name="TextBox 10"/>
          <p:cNvSpPr txBox="1"/>
          <p:nvPr/>
        </p:nvSpPr>
        <p:spPr>
          <a:xfrm>
            <a:off x="640080" y="6126480"/>
            <a:ext cx="2743200" cy="228600"/>
          </a:xfrm>
          <a:prstGeom prst="rect">
            <a:avLst/>
          </a:prstGeom>
          <a:noFill/>
        </p:spPr>
        <p:txBody>
          <a:bodyPr wrap="square" lIns="0" rIns="0" tIns="0" bIns="0" anchor="ctr">
            <a:noAutofit/>
          </a:bodyPr>
          <a:lstStyle/>
          <a:p>
            <a:pPr algn="l">
              <a:spcBef>
                <a:spcPts val="0"/>
              </a:spcBef>
              <a:spcAft>
                <a:spcPts val="0"/>
              </a:spcAft>
            </a:pPr>
            <a:r>
              <a:rPr sz="1000" b="0" i="0">
                <a:solidFill>
                  <a:srgbClr val="7E8A97"/>
                </a:solidFill>
                <a:latin typeface="Arial"/>
              </a:rPr>
              <a:t>Traefik   7 / 15</a:t>
            </a:r>
          </a:p>
        </p:txBody>
      </p:sp>
      <p:pic>
        <p:nvPicPr>
          <p:cNvPr id="12" name="Picture 11" descr="logo_college.png"/>
          <p:cNvPicPr>
            <a:picLocks noChangeAspect="1"/>
          </p:cNvPicPr>
          <p:nvPr/>
        </p:nvPicPr>
        <p:blipFill>
          <a:blip r:embed="rId4"/>
          <a:stretch>
            <a:fillRect/>
          </a:stretch>
        </p:blipFill>
        <p:spPr>
          <a:xfrm>
            <a:off x="640080" y="91440"/>
            <a:ext cx="1625550" cy="475488"/>
          </a:xfrm>
          <a:prstGeom prst="rect">
            <a:avLst/>
          </a:prstGeom>
        </p:spPr>
      </p:pic>
      <p:pic>
        <p:nvPicPr>
          <p:cNvPr id="13" name="Picture 12" descr="logo_trust.png"/>
          <p:cNvPicPr>
            <a:picLocks noChangeAspect="1"/>
          </p:cNvPicPr>
          <p:nvPr/>
        </p:nvPicPr>
        <p:blipFill>
          <a:blip r:embed="rId5"/>
          <a:stretch>
            <a:fillRect/>
          </a:stretch>
        </p:blipFill>
        <p:spPr>
          <a:xfrm>
            <a:off x="10940472" y="91440"/>
            <a:ext cx="608400" cy="457200"/>
          </a:xfrm>
          <a:prstGeom prst="rect">
            <a:avLst/>
          </a:prstGeom>
        </p:spPr>
      </p:pic>
      <p:sp>
        <p:nvSpPr>
          <p:cNvPr id="14" name="Rounded Rectangle 13"/>
          <p:cNvSpPr/>
          <p:nvPr/>
        </p:nvSpPr>
        <p:spPr>
          <a:xfrm>
            <a:off x="640080" y="1760219"/>
            <a:ext cx="457200" cy="457200"/>
          </a:xfrm>
          <a:prstGeom prst="roundRect">
            <a:avLst>
              <a:gd name="adj" fmla="val 10000"/>
            </a:avLst>
          </a:prstGeom>
          <a:solidFill>
            <a:srgbClr val="C8472D"/>
          </a:solidFill>
          <a:ln w="19050">
            <a:solidFill>
              <a:srgbClr val="10263F"/>
            </a:solidFill>
          </a:ln>
        </p:spPr>
        <p:txBody>
          <a:bodyPr rtlCol="0" anchor="ctr"/>
          <a:lstStyle/>
          <a:p>
            <a:pPr algn="ctr"/>
          </a:p>
        </p:txBody>
      </p:sp>
      <p:sp>
        <p:nvSpPr>
          <p:cNvPr id="15" name="TextBox 14"/>
          <p:cNvSpPr txBox="1"/>
          <p:nvPr/>
        </p:nvSpPr>
        <p:spPr>
          <a:xfrm>
            <a:off x="640080" y="1760219"/>
            <a:ext cx="457200" cy="457200"/>
          </a:xfrm>
          <a:prstGeom prst="rect">
            <a:avLst/>
          </a:prstGeom>
          <a:noFill/>
        </p:spPr>
        <p:txBody>
          <a:bodyPr wrap="square" lIns="0" rIns="0" tIns="0" bIns="0" anchor="ctr">
            <a:noAutofit/>
          </a:bodyPr>
          <a:lstStyle/>
          <a:p>
            <a:pPr algn="ctr">
              <a:spcBef>
                <a:spcPts val="0"/>
              </a:spcBef>
              <a:spcAft>
                <a:spcPts val="0"/>
              </a:spcAft>
            </a:pPr>
            <a:r>
              <a:rPr sz="1800" b="1" i="0">
                <a:solidFill>
                  <a:srgbClr val="FFFFFF"/>
                </a:solidFill>
                <a:latin typeface="Georgia"/>
              </a:rPr>
              <a:t>1</a:t>
            </a:r>
          </a:p>
        </p:txBody>
      </p:sp>
      <p:sp>
        <p:nvSpPr>
          <p:cNvPr id="16" name="TextBox 15"/>
          <p:cNvSpPr txBox="1"/>
          <p:nvPr/>
        </p:nvSpPr>
        <p:spPr>
          <a:xfrm>
            <a:off x="1325880" y="1554480"/>
            <a:ext cx="4983480" cy="868680"/>
          </a:xfrm>
          <a:prstGeom prst="rect">
            <a:avLst/>
          </a:prstGeom>
          <a:noFill/>
        </p:spPr>
        <p:txBody>
          <a:bodyPr wrap="square" lIns="0" rIns="0" tIns="0" bIns="0" anchor="ctr">
            <a:noAutofit/>
          </a:bodyPr>
          <a:lstStyle/>
          <a:p>
            <a:pPr algn="l">
              <a:lnSpc>
                <a:spcPct val="112000"/>
              </a:lnSpc>
              <a:spcBef>
                <a:spcPts val="0"/>
              </a:spcBef>
              <a:spcAft>
                <a:spcPts val="0"/>
              </a:spcAft>
            </a:pPr>
            <a:r>
              <a:rPr sz="1550" b="0" i="0">
                <a:solidFill>
                  <a:srgbClr val="10263F"/>
                </a:solidFill>
                <a:latin typeface="Arial"/>
              </a:rPr>
              <a:t>Start Traefik alone. Unknown hosts return 404.</a:t>
            </a:r>
          </a:p>
        </p:txBody>
      </p:sp>
      <p:cxnSp>
        <p:nvCxnSpPr>
          <p:cNvPr id="17" name="Connector 16"/>
          <p:cNvCxnSpPr/>
          <p:nvPr/>
        </p:nvCxnSpPr>
        <p:spPr>
          <a:xfrm>
            <a:off x="640080" y="2423160"/>
            <a:ext cx="5669280" cy="0"/>
          </a:xfrm>
          <a:prstGeom prst="line">
            <a:avLst/>
          </a:prstGeom>
          <a:ln w="12700">
            <a:solidFill>
              <a:srgbClr val="C4CBD0"/>
            </a:solidFill>
          </a:ln>
        </p:spPr>
      </p:cxnSp>
      <p:sp>
        <p:nvSpPr>
          <p:cNvPr id="18" name="Rounded Rectangle 17"/>
          <p:cNvSpPr/>
          <p:nvPr/>
        </p:nvSpPr>
        <p:spPr>
          <a:xfrm>
            <a:off x="640080" y="2628900"/>
            <a:ext cx="457200" cy="457200"/>
          </a:xfrm>
          <a:prstGeom prst="roundRect">
            <a:avLst>
              <a:gd name="adj" fmla="val 10000"/>
            </a:avLst>
          </a:prstGeom>
          <a:solidFill>
            <a:srgbClr val="E9B93A"/>
          </a:solidFill>
          <a:ln w="19050">
            <a:solidFill>
              <a:srgbClr val="10263F"/>
            </a:solidFill>
          </a:ln>
        </p:spPr>
        <p:txBody>
          <a:bodyPr rtlCol="0" anchor="ctr"/>
          <a:lstStyle/>
          <a:p>
            <a:pPr algn="ctr"/>
          </a:p>
        </p:txBody>
      </p:sp>
      <p:sp>
        <p:nvSpPr>
          <p:cNvPr id="19" name="TextBox 18"/>
          <p:cNvSpPr txBox="1"/>
          <p:nvPr/>
        </p:nvSpPr>
        <p:spPr>
          <a:xfrm>
            <a:off x="640080" y="2628900"/>
            <a:ext cx="457200" cy="457200"/>
          </a:xfrm>
          <a:prstGeom prst="rect">
            <a:avLst/>
          </a:prstGeom>
          <a:noFill/>
        </p:spPr>
        <p:txBody>
          <a:bodyPr wrap="square" lIns="0" rIns="0" tIns="0" bIns="0" anchor="ctr">
            <a:noAutofit/>
          </a:bodyPr>
          <a:lstStyle/>
          <a:p>
            <a:pPr algn="ctr">
              <a:spcBef>
                <a:spcPts val="0"/>
              </a:spcBef>
              <a:spcAft>
                <a:spcPts val="0"/>
              </a:spcAft>
            </a:pPr>
            <a:r>
              <a:rPr sz="1800" b="1" i="0">
                <a:solidFill>
                  <a:srgbClr val="10263F"/>
                </a:solidFill>
                <a:latin typeface="Georgia"/>
              </a:rPr>
              <a:t>2</a:t>
            </a:r>
          </a:p>
        </p:txBody>
      </p:sp>
      <p:sp>
        <p:nvSpPr>
          <p:cNvPr id="20" name="TextBox 19"/>
          <p:cNvSpPr txBox="1"/>
          <p:nvPr/>
        </p:nvSpPr>
        <p:spPr>
          <a:xfrm>
            <a:off x="1325880" y="2423160"/>
            <a:ext cx="4983480" cy="868680"/>
          </a:xfrm>
          <a:prstGeom prst="rect">
            <a:avLst/>
          </a:prstGeom>
          <a:noFill/>
        </p:spPr>
        <p:txBody>
          <a:bodyPr wrap="square" lIns="0" rIns="0" tIns="0" bIns="0" anchor="ctr">
            <a:noAutofit/>
          </a:bodyPr>
          <a:lstStyle/>
          <a:p>
            <a:pPr algn="l">
              <a:lnSpc>
                <a:spcPct val="112000"/>
              </a:lnSpc>
              <a:spcBef>
                <a:spcPts val="0"/>
              </a:spcBef>
              <a:spcAft>
                <a:spcPts val="0"/>
              </a:spcAft>
            </a:pPr>
            <a:r>
              <a:rPr sz="1550" b="0" i="0">
                <a:solidFill>
                  <a:srgbClr val="10263F"/>
                </a:solidFill>
                <a:latin typeface="Arial"/>
              </a:rPr>
              <a:t>Start an app. The same request returns 200.</a:t>
            </a:r>
          </a:p>
        </p:txBody>
      </p:sp>
      <p:cxnSp>
        <p:nvCxnSpPr>
          <p:cNvPr id="21" name="Connector 20"/>
          <p:cNvCxnSpPr/>
          <p:nvPr/>
        </p:nvCxnSpPr>
        <p:spPr>
          <a:xfrm>
            <a:off x="640080" y="3291839"/>
            <a:ext cx="5669280" cy="0"/>
          </a:xfrm>
          <a:prstGeom prst="line">
            <a:avLst/>
          </a:prstGeom>
          <a:ln w="12700">
            <a:solidFill>
              <a:srgbClr val="C4CBD0"/>
            </a:solidFill>
          </a:ln>
        </p:spPr>
      </p:cxnSp>
      <p:sp>
        <p:nvSpPr>
          <p:cNvPr id="22" name="Rounded Rectangle 21"/>
          <p:cNvSpPr/>
          <p:nvPr/>
        </p:nvSpPr>
        <p:spPr>
          <a:xfrm>
            <a:off x="640080" y="3497579"/>
            <a:ext cx="457200" cy="457200"/>
          </a:xfrm>
          <a:prstGeom prst="roundRect">
            <a:avLst>
              <a:gd name="adj" fmla="val 10000"/>
            </a:avLst>
          </a:prstGeom>
          <a:solidFill>
            <a:srgbClr val="2F8F83"/>
          </a:solidFill>
          <a:ln w="19050">
            <a:solidFill>
              <a:srgbClr val="10263F"/>
            </a:solidFill>
          </a:ln>
        </p:spPr>
        <p:txBody>
          <a:bodyPr rtlCol="0" anchor="ctr"/>
          <a:lstStyle/>
          <a:p>
            <a:pPr algn="ctr"/>
          </a:p>
        </p:txBody>
      </p:sp>
      <p:sp>
        <p:nvSpPr>
          <p:cNvPr id="23" name="TextBox 22"/>
          <p:cNvSpPr txBox="1"/>
          <p:nvPr/>
        </p:nvSpPr>
        <p:spPr>
          <a:xfrm>
            <a:off x="640080" y="3497579"/>
            <a:ext cx="457200" cy="457200"/>
          </a:xfrm>
          <a:prstGeom prst="rect">
            <a:avLst/>
          </a:prstGeom>
          <a:noFill/>
        </p:spPr>
        <p:txBody>
          <a:bodyPr wrap="square" lIns="0" rIns="0" tIns="0" bIns="0" anchor="ctr">
            <a:noAutofit/>
          </a:bodyPr>
          <a:lstStyle/>
          <a:p>
            <a:pPr algn="ctr">
              <a:spcBef>
                <a:spcPts val="0"/>
              </a:spcBef>
              <a:spcAft>
                <a:spcPts val="0"/>
              </a:spcAft>
            </a:pPr>
            <a:r>
              <a:rPr sz="1800" b="1" i="0">
                <a:solidFill>
                  <a:srgbClr val="FFFFFF"/>
                </a:solidFill>
                <a:latin typeface="Georgia"/>
              </a:rPr>
              <a:t>3</a:t>
            </a:r>
          </a:p>
        </p:txBody>
      </p:sp>
      <p:sp>
        <p:nvSpPr>
          <p:cNvPr id="24" name="TextBox 23"/>
          <p:cNvSpPr txBox="1"/>
          <p:nvPr/>
        </p:nvSpPr>
        <p:spPr>
          <a:xfrm>
            <a:off x="1325880" y="3291839"/>
            <a:ext cx="4983480" cy="868680"/>
          </a:xfrm>
          <a:prstGeom prst="rect">
            <a:avLst/>
          </a:prstGeom>
          <a:noFill/>
        </p:spPr>
        <p:txBody>
          <a:bodyPr wrap="square" lIns="0" rIns="0" tIns="0" bIns="0" anchor="ctr">
            <a:noAutofit/>
          </a:bodyPr>
          <a:lstStyle/>
          <a:p>
            <a:pPr algn="l">
              <a:lnSpc>
                <a:spcPct val="112000"/>
              </a:lnSpc>
              <a:spcBef>
                <a:spcPts val="0"/>
              </a:spcBef>
              <a:spcAft>
                <a:spcPts val="0"/>
              </a:spcAft>
            </a:pPr>
            <a:r>
              <a:rPr sz="1550" b="0" i="0">
                <a:solidFill>
                  <a:srgbClr val="10263F"/>
                </a:solidFill>
                <a:latin typeface="Arial"/>
              </a:rPr>
              <a:t>Add a second app. No restart.</a:t>
            </a:r>
          </a:p>
        </p:txBody>
      </p:sp>
      <p:cxnSp>
        <p:nvCxnSpPr>
          <p:cNvPr id="25" name="Connector 24"/>
          <p:cNvCxnSpPr/>
          <p:nvPr/>
        </p:nvCxnSpPr>
        <p:spPr>
          <a:xfrm>
            <a:off x="640080" y="4160520"/>
            <a:ext cx="5669280" cy="0"/>
          </a:xfrm>
          <a:prstGeom prst="line">
            <a:avLst/>
          </a:prstGeom>
          <a:ln w="12700">
            <a:solidFill>
              <a:srgbClr val="C4CBD0"/>
            </a:solidFill>
          </a:ln>
        </p:spPr>
      </p:cxnSp>
      <p:sp>
        <p:nvSpPr>
          <p:cNvPr id="26" name="Rounded Rectangle 25"/>
          <p:cNvSpPr/>
          <p:nvPr/>
        </p:nvSpPr>
        <p:spPr>
          <a:xfrm>
            <a:off x="640080" y="4366259"/>
            <a:ext cx="457200" cy="457200"/>
          </a:xfrm>
          <a:prstGeom prst="roundRect">
            <a:avLst>
              <a:gd name="adj" fmla="val 10000"/>
            </a:avLst>
          </a:prstGeom>
          <a:solidFill>
            <a:srgbClr val="E58A2B"/>
          </a:solidFill>
          <a:ln w="19050">
            <a:solidFill>
              <a:srgbClr val="10263F"/>
            </a:solidFill>
          </a:ln>
        </p:spPr>
        <p:txBody>
          <a:bodyPr rtlCol="0" anchor="ctr"/>
          <a:lstStyle/>
          <a:p>
            <a:pPr algn="ctr"/>
          </a:p>
        </p:txBody>
      </p:sp>
      <p:sp>
        <p:nvSpPr>
          <p:cNvPr id="27" name="TextBox 26"/>
          <p:cNvSpPr txBox="1"/>
          <p:nvPr/>
        </p:nvSpPr>
        <p:spPr>
          <a:xfrm>
            <a:off x="640080" y="4366259"/>
            <a:ext cx="457200" cy="457200"/>
          </a:xfrm>
          <a:prstGeom prst="rect">
            <a:avLst/>
          </a:prstGeom>
          <a:noFill/>
        </p:spPr>
        <p:txBody>
          <a:bodyPr wrap="square" lIns="0" rIns="0" tIns="0" bIns="0" anchor="ctr">
            <a:noAutofit/>
          </a:bodyPr>
          <a:lstStyle/>
          <a:p>
            <a:pPr algn="ctr">
              <a:spcBef>
                <a:spcPts val="0"/>
              </a:spcBef>
              <a:spcAft>
                <a:spcPts val="0"/>
              </a:spcAft>
            </a:pPr>
            <a:r>
              <a:rPr sz="1800" b="1" i="0">
                <a:solidFill>
                  <a:srgbClr val="10263F"/>
                </a:solidFill>
                <a:latin typeface="Georgia"/>
              </a:rPr>
              <a:t>4</a:t>
            </a:r>
          </a:p>
        </p:txBody>
      </p:sp>
      <p:sp>
        <p:nvSpPr>
          <p:cNvPr id="28" name="TextBox 27"/>
          <p:cNvSpPr txBox="1"/>
          <p:nvPr/>
        </p:nvSpPr>
        <p:spPr>
          <a:xfrm>
            <a:off x="1325880" y="4160520"/>
            <a:ext cx="4983480" cy="868680"/>
          </a:xfrm>
          <a:prstGeom prst="rect">
            <a:avLst/>
          </a:prstGeom>
          <a:noFill/>
        </p:spPr>
        <p:txBody>
          <a:bodyPr wrap="square" lIns="0" rIns="0" tIns="0" bIns="0" anchor="ctr">
            <a:noAutofit/>
          </a:bodyPr>
          <a:lstStyle/>
          <a:p>
            <a:pPr algn="l">
              <a:lnSpc>
                <a:spcPct val="112000"/>
              </a:lnSpc>
              <a:spcBef>
                <a:spcPts val="0"/>
              </a:spcBef>
              <a:spcAft>
                <a:spcPts val="0"/>
              </a:spcAft>
            </a:pPr>
            <a:r>
              <a:rPr sz="1550" b="0" i="0">
                <a:solidFill>
                  <a:srgbClr val="10263F"/>
                </a:solidFill>
                <a:latin typeface="Arial"/>
              </a:rPr>
              <a:t>Scale one app to three copies. Requests rotate.</a:t>
            </a:r>
          </a:p>
        </p:txBody>
      </p:sp>
      <p:cxnSp>
        <p:nvCxnSpPr>
          <p:cNvPr id="29" name="Connector 28"/>
          <p:cNvCxnSpPr/>
          <p:nvPr/>
        </p:nvCxnSpPr>
        <p:spPr>
          <a:xfrm>
            <a:off x="640080" y="5029200"/>
            <a:ext cx="5669280" cy="0"/>
          </a:xfrm>
          <a:prstGeom prst="line">
            <a:avLst/>
          </a:prstGeom>
          <a:ln w="12700">
            <a:solidFill>
              <a:srgbClr val="C4CBD0"/>
            </a:solidFill>
          </a:ln>
        </p:spPr>
      </p:cxnSp>
      <p:sp>
        <p:nvSpPr>
          <p:cNvPr id="30" name="Rounded Rectangle 29"/>
          <p:cNvSpPr/>
          <p:nvPr/>
        </p:nvSpPr>
        <p:spPr>
          <a:xfrm>
            <a:off x="640080" y="5234940"/>
            <a:ext cx="457200" cy="457200"/>
          </a:xfrm>
          <a:prstGeom prst="roundRect">
            <a:avLst>
              <a:gd name="adj" fmla="val 10000"/>
            </a:avLst>
          </a:prstGeom>
          <a:solidFill>
            <a:srgbClr val="2B6CA3"/>
          </a:solidFill>
          <a:ln w="19050">
            <a:solidFill>
              <a:srgbClr val="10263F"/>
            </a:solidFill>
          </a:ln>
        </p:spPr>
        <p:txBody>
          <a:bodyPr rtlCol="0" anchor="ctr"/>
          <a:lstStyle/>
          <a:p>
            <a:pPr algn="ctr"/>
          </a:p>
        </p:txBody>
      </p:sp>
      <p:sp>
        <p:nvSpPr>
          <p:cNvPr id="31" name="TextBox 30"/>
          <p:cNvSpPr txBox="1"/>
          <p:nvPr/>
        </p:nvSpPr>
        <p:spPr>
          <a:xfrm>
            <a:off x="640080" y="5234940"/>
            <a:ext cx="457200" cy="457200"/>
          </a:xfrm>
          <a:prstGeom prst="rect">
            <a:avLst/>
          </a:prstGeom>
          <a:noFill/>
        </p:spPr>
        <p:txBody>
          <a:bodyPr wrap="square" lIns="0" rIns="0" tIns="0" bIns="0" anchor="ctr">
            <a:noAutofit/>
          </a:bodyPr>
          <a:lstStyle/>
          <a:p>
            <a:pPr algn="ctr">
              <a:spcBef>
                <a:spcPts val="0"/>
              </a:spcBef>
              <a:spcAft>
                <a:spcPts val="0"/>
              </a:spcAft>
            </a:pPr>
            <a:r>
              <a:rPr sz="1800" b="1" i="0">
                <a:solidFill>
                  <a:srgbClr val="FFFFFF"/>
                </a:solidFill>
                <a:latin typeface="Georgia"/>
              </a:rPr>
              <a:t>5</a:t>
            </a:r>
          </a:p>
        </p:txBody>
      </p:sp>
      <p:sp>
        <p:nvSpPr>
          <p:cNvPr id="32" name="TextBox 31"/>
          <p:cNvSpPr txBox="1"/>
          <p:nvPr/>
        </p:nvSpPr>
        <p:spPr>
          <a:xfrm>
            <a:off x="1325880" y="5029200"/>
            <a:ext cx="4983480" cy="868680"/>
          </a:xfrm>
          <a:prstGeom prst="rect">
            <a:avLst/>
          </a:prstGeom>
          <a:noFill/>
        </p:spPr>
        <p:txBody>
          <a:bodyPr wrap="square" lIns="0" rIns="0" tIns="0" bIns="0" anchor="ctr">
            <a:noAutofit/>
          </a:bodyPr>
          <a:lstStyle/>
          <a:p>
            <a:pPr algn="l">
              <a:lnSpc>
                <a:spcPct val="112000"/>
              </a:lnSpc>
              <a:spcBef>
                <a:spcPts val="0"/>
              </a:spcBef>
              <a:spcAft>
                <a:spcPts val="0"/>
              </a:spcAft>
            </a:pPr>
            <a:r>
              <a:rPr sz="1550" b="0" i="0">
                <a:solidFill>
                  <a:srgbClr val="10263F"/>
                </a:solidFill>
                <a:latin typeface="Arial"/>
              </a:rPr>
              <a:t>Stop an app. Its route disappears.</a:t>
            </a:r>
          </a:p>
        </p:txBody>
      </p:sp>
      <p:pic>
        <p:nvPicPr>
          <p:cNvPr id="33" name="Picture 32" descr="shot_routers.png"/>
          <p:cNvPicPr>
            <a:picLocks noChangeAspect="1"/>
          </p:cNvPicPr>
          <p:nvPr/>
        </p:nvPicPr>
        <p:blipFill>
          <a:blip r:embed="rId7"/>
          <a:stretch>
            <a:fillRect/>
          </a:stretch>
        </p:blipFill>
        <p:spPr>
          <a:xfrm>
            <a:off x="6583680" y="1600200"/>
            <a:ext cx="4965192" cy="1280615"/>
          </a:xfrm>
          <a:prstGeom prst="rect">
            <a:avLst/>
          </a:prstGeom>
        </p:spPr>
      </p:pic>
      <p:sp>
        <p:nvSpPr>
          <p:cNvPr id="34" name="TextBox 33"/>
          <p:cNvSpPr txBox="1"/>
          <p:nvPr/>
        </p:nvSpPr>
        <p:spPr>
          <a:xfrm>
            <a:off x="6583680" y="2880360"/>
            <a:ext cx="4937760" cy="274320"/>
          </a:xfrm>
          <a:prstGeom prst="rect">
            <a:avLst/>
          </a:prstGeom>
          <a:noFill/>
        </p:spPr>
        <p:txBody>
          <a:bodyPr wrap="square" lIns="0" rIns="0" tIns="0" bIns="0" anchor="t">
            <a:noAutofit/>
          </a:bodyPr>
          <a:lstStyle/>
          <a:p>
            <a:pPr algn="l">
              <a:spcBef>
                <a:spcPts val="0"/>
              </a:spcBef>
              <a:spcAft>
                <a:spcPts val="0"/>
              </a:spcAft>
            </a:pPr>
            <a:r>
              <a:rPr sz="1050" b="0" i="0">
                <a:solidFill>
                  <a:srgbClr val="7E8A97"/>
                </a:solidFill>
                <a:latin typeface="Arial"/>
              </a:rPr>
              <a:t>Dashboard: a router for each app, provider Docker.</a:t>
            </a:r>
          </a:p>
        </p:txBody>
      </p:sp>
      <p:pic>
        <p:nvPicPr>
          <p:cNvPr id="35" name="Picture 34" descr="shot_services.png"/>
          <p:cNvPicPr>
            <a:picLocks noChangeAspect="1"/>
          </p:cNvPicPr>
          <p:nvPr/>
        </p:nvPicPr>
        <p:blipFill>
          <a:blip r:embed="rId8"/>
          <a:stretch>
            <a:fillRect/>
          </a:stretch>
        </p:blipFill>
        <p:spPr>
          <a:xfrm>
            <a:off x="6583680" y="3246120"/>
            <a:ext cx="4965192" cy="1303082"/>
          </a:xfrm>
          <a:prstGeom prst="rect">
            <a:avLst/>
          </a:prstGeom>
        </p:spPr>
      </p:pic>
      <p:sp>
        <p:nvSpPr>
          <p:cNvPr id="36" name="TextBox 35"/>
          <p:cNvSpPr txBox="1"/>
          <p:nvPr/>
        </p:nvSpPr>
        <p:spPr>
          <a:xfrm>
            <a:off x="6583680" y="4572000"/>
            <a:ext cx="4937760" cy="274320"/>
          </a:xfrm>
          <a:prstGeom prst="rect">
            <a:avLst/>
          </a:prstGeom>
          <a:noFill/>
        </p:spPr>
        <p:txBody>
          <a:bodyPr wrap="square" lIns="0" rIns="0" tIns="0" bIns="0" anchor="t">
            <a:noAutofit/>
          </a:bodyPr>
          <a:lstStyle/>
          <a:p>
            <a:pPr algn="l">
              <a:spcBef>
                <a:spcPts val="0"/>
              </a:spcBef>
              <a:spcAft>
                <a:spcPts val="0"/>
              </a:spcAft>
            </a:pPr>
            <a:r>
              <a:rPr sz="1050" b="0" i="0">
                <a:solidFill>
                  <a:srgbClr val="7E8A97"/>
                </a:solidFill>
                <a:latin typeface="Arial"/>
              </a:rPr>
              <a:t>Dashboard: three servers behind whoami, all UP.</a:t>
            </a:r>
          </a:p>
        </p:txBody>
      </p:sp>
      <p:sp>
        <p:nvSpPr>
          <p:cNvPr id="37" name="Rounded Rectangle 36"/>
          <p:cNvSpPr/>
          <p:nvPr/>
        </p:nvSpPr>
        <p:spPr>
          <a:xfrm>
            <a:off x="6647688" y="5047488"/>
            <a:ext cx="4965192" cy="868680"/>
          </a:xfrm>
          <a:prstGeom prst="roundRect">
            <a:avLst>
              <a:gd name="adj" fmla="val 4210"/>
            </a:avLst>
          </a:prstGeom>
          <a:solidFill>
            <a:srgbClr val="10263F"/>
          </a:solidFill>
          <a:ln>
            <a:noFill/>
          </a:ln>
        </p:spPr>
        <p:txBody>
          <a:bodyPr rtlCol="0" anchor="ctr"/>
          <a:lstStyle/>
          <a:p>
            <a:pPr algn="ctr"/>
          </a:p>
        </p:txBody>
      </p:sp>
      <p:sp>
        <p:nvSpPr>
          <p:cNvPr id="38" name="Rounded Rectangle 37"/>
          <p:cNvSpPr/>
          <p:nvPr/>
        </p:nvSpPr>
        <p:spPr>
          <a:xfrm>
            <a:off x="6583680" y="4983480"/>
            <a:ext cx="4965192" cy="868680"/>
          </a:xfrm>
          <a:prstGeom prst="roundRect">
            <a:avLst>
              <a:gd name="adj" fmla="val 4210"/>
            </a:avLst>
          </a:prstGeom>
          <a:solidFill>
            <a:srgbClr val="FFFFFF"/>
          </a:solidFill>
          <a:ln w="22225">
            <a:solidFill>
              <a:srgbClr val="10263F"/>
            </a:solidFill>
          </a:ln>
        </p:spPr>
        <p:txBody>
          <a:bodyPr rtlCol="0" anchor="ctr"/>
          <a:lstStyle/>
          <a:p>
            <a:pPr algn="ctr"/>
          </a:p>
        </p:txBody>
      </p:sp>
      <p:sp>
        <p:nvSpPr>
          <p:cNvPr id="39" name="TextBox 38"/>
          <p:cNvSpPr txBox="1"/>
          <p:nvPr/>
        </p:nvSpPr>
        <p:spPr>
          <a:xfrm>
            <a:off x="6583680" y="4983480"/>
            <a:ext cx="1371600" cy="868680"/>
          </a:xfrm>
          <a:prstGeom prst="rect">
            <a:avLst/>
          </a:prstGeom>
          <a:noFill/>
        </p:spPr>
        <p:txBody>
          <a:bodyPr wrap="square" lIns="0" rIns="0" tIns="0" bIns="0" anchor="ctr">
            <a:noAutofit/>
          </a:bodyPr>
          <a:lstStyle/>
          <a:p>
            <a:pPr algn="ctr">
              <a:spcBef>
                <a:spcPts val="0"/>
              </a:spcBef>
              <a:spcAft>
                <a:spcPts val="0"/>
              </a:spcAft>
            </a:pPr>
            <a:r>
              <a:rPr sz="4400" b="1" i="0">
                <a:solidFill>
                  <a:srgbClr val="2F8F83"/>
                </a:solidFill>
                <a:latin typeface="Georgia"/>
              </a:rPr>
              <a:t>0</a:t>
            </a:r>
          </a:p>
        </p:txBody>
      </p:sp>
      <p:sp>
        <p:nvSpPr>
          <p:cNvPr id="40" name="TextBox 39"/>
          <p:cNvSpPr txBox="1"/>
          <p:nvPr/>
        </p:nvSpPr>
        <p:spPr>
          <a:xfrm>
            <a:off x="7955279" y="4983480"/>
            <a:ext cx="3520440" cy="868680"/>
          </a:xfrm>
          <a:prstGeom prst="rect">
            <a:avLst/>
          </a:prstGeom>
          <a:noFill/>
        </p:spPr>
        <p:txBody>
          <a:bodyPr wrap="square" lIns="0" rIns="0" tIns="0" bIns="0" anchor="ctr">
            <a:noAutofit/>
          </a:bodyPr>
          <a:lstStyle/>
          <a:p>
            <a:pPr algn="l">
              <a:lnSpc>
                <a:spcPct val="115000"/>
              </a:lnSpc>
              <a:spcBef>
                <a:spcPts val="0"/>
              </a:spcBef>
              <a:spcAft>
                <a:spcPts val="0"/>
              </a:spcAft>
            </a:pPr>
            <a:r>
              <a:rPr sz="1350" b="1" i="0">
                <a:solidFill>
                  <a:srgbClr val="10263F"/>
                </a:solidFill>
                <a:latin typeface="Georgia"/>
              </a:rPr>
              <a:t>restarts of Traefik while apps came and went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Rectangle 1"/>
          <p:cNvSpPr/>
          <p:nvPr/>
        </p:nvSpPr>
        <p:spPr>
          <a:xfrm>
            <a:off x="640080" y="731520"/>
            <a:ext cx="566928" cy="310896"/>
          </a:xfrm>
          <a:prstGeom prst="rect">
            <a:avLst/>
          </a:prstGeom>
          <a:solidFill>
            <a:srgbClr val="E9B93A"/>
          </a:solidFill>
          <a:ln w="15875">
            <a:solidFill>
              <a:srgbClr val="10263F"/>
            </a:solidFill>
          </a:ln>
        </p:spPr>
        <p:txBody>
          <a:bodyPr rtlCol="0" anchor="ctr"/>
          <a:lstStyle/>
          <a:p>
            <a:pPr algn="ctr"/>
          </a:p>
        </p:txBody>
      </p:sp>
      <p:cxnSp>
        <p:nvCxnSpPr>
          <p:cNvPr id="3" name="Connector 2"/>
          <p:cNvCxnSpPr/>
          <p:nvPr/>
        </p:nvCxnSpPr>
        <p:spPr>
          <a:xfrm>
            <a:off x="753465" y="777240"/>
            <a:ext cx="0" cy="219456"/>
          </a:xfrm>
          <a:prstGeom prst="line">
            <a:avLst/>
          </a:prstGeom>
          <a:ln w="9525">
            <a:solidFill>
              <a:srgbClr val="A38128"/>
            </a:solidFill>
          </a:ln>
        </p:spPr>
      </p:cxnSp>
      <p:cxnSp>
        <p:nvCxnSpPr>
          <p:cNvPr id="4" name="Connector 3"/>
          <p:cNvCxnSpPr/>
          <p:nvPr/>
        </p:nvCxnSpPr>
        <p:spPr>
          <a:xfrm>
            <a:off x="866851" y="777240"/>
            <a:ext cx="0" cy="219456"/>
          </a:xfrm>
          <a:prstGeom prst="line">
            <a:avLst/>
          </a:prstGeom>
          <a:ln w="9525">
            <a:solidFill>
              <a:srgbClr val="A38128"/>
            </a:solidFill>
          </a:ln>
        </p:spPr>
      </p:cxnSp>
      <p:cxnSp>
        <p:nvCxnSpPr>
          <p:cNvPr id="5" name="Connector 4"/>
          <p:cNvCxnSpPr/>
          <p:nvPr/>
        </p:nvCxnSpPr>
        <p:spPr>
          <a:xfrm>
            <a:off x="980236" y="777240"/>
            <a:ext cx="0" cy="219456"/>
          </a:xfrm>
          <a:prstGeom prst="line">
            <a:avLst/>
          </a:prstGeom>
          <a:ln w="9525">
            <a:solidFill>
              <a:srgbClr val="A38128"/>
            </a:solidFill>
          </a:ln>
        </p:spPr>
      </p:cxnSp>
      <p:cxnSp>
        <p:nvCxnSpPr>
          <p:cNvPr id="6" name="Connector 5"/>
          <p:cNvCxnSpPr/>
          <p:nvPr/>
        </p:nvCxnSpPr>
        <p:spPr>
          <a:xfrm>
            <a:off x="1093622" y="777240"/>
            <a:ext cx="0" cy="219456"/>
          </a:xfrm>
          <a:prstGeom prst="line">
            <a:avLst/>
          </a:prstGeom>
          <a:ln w="9525">
            <a:solidFill>
              <a:srgbClr val="A38128"/>
            </a:solidFill>
          </a:ln>
        </p:spPr>
      </p:cxnSp>
      <p:sp>
        <p:nvSpPr>
          <p:cNvPr id="7" name="TextBox 6"/>
          <p:cNvSpPr txBox="1"/>
          <p:nvPr/>
        </p:nvSpPr>
        <p:spPr>
          <a:xfrm>
            <a:off x="1417320" y="548640"/>
            <a:ext cx="10149840" cy="685800"/>
          </a:xfrm>
          <a:prstGeom prst="rect">
            <a:avLst/>
          </a:prstGeom>
          <a:noFill/>
        </p:spPr>
        <p:txBody>
          <a:bodyPr wrap="square" lIns="0" rIns="0" tIns="0" bIns="0" anchor="ctr">
            <a:noAutofit/>
          </a:bodyPr>
          <a:lstStyle/>
          <a:p>
            <a:pPr algn="l">
              <a:spcBef>
                <a:spcPts val="0"/>
              </a:spcBef>
              <a:spcAft>
                <a:spcPts val="0"/>
              </a:spcAft>
            </a:pPr>
            <a:r>
              <a:rPr sz="3000" b="1" i="0">
                <a:solidFill>
                  <a:srgbClr val="10263F"/>
                </a:solidFill>
                <a:latin typeface="Georgia"/>
              </a:rPr>
              <a:t>Automatic HTTPS with ACME</a:t>
            </a:r>
          </a:p>
        </p:txBody>
      </p:sp>
      <p:cxnSp>
        <p:nvCxnSpPr>
          <p:cNvPr id="8" name="Connector 7"/>
          <p:cNvCxnSpPr/>
          <p:nvPr/>
        </p:nvCxnSpPr>
        <p:spPr>
          <a:xfrm>
            <a:off x="640080" y="1335024"/>
            <a:ext cx="10908792" cy="0"/>
          </a:xfrm>
          <a:prstGeom prst="line">
            <a:avLst/>
          </a:prstGeom>
          <a:ln w="15875">
            <a:solidFill>
              <a:srgbClr val="9AA5AE"/>
            </a:solidFill>
            <a:prstDash val="dash"/>
          </a:ln>
        </p:spPr>
      </p:cxnSp>
      <p:pic>
        <p:nvPicPr>
          <p:cNvPr id="9" name="Picture 8" descr="wave_band.png"/>
          <p:cNvPicPr>
            <a:picLocks noChangeAspect="1"/>
          </p:cNvPicPr>
          <p:nvPr/>
        </p:nvPicPr>
        <p:blipFill>
          <a:blip r:embed="rId2"/>
          <a:stretch>
            <a:fillRect/>
          </a:stretch>
        </p:blipFill>
        <p:spPr>
          <a:xfrm>
            <a:off x="0" y="6355080"/>
            <a:ext cx="12191695" cy="502845"/>
          </a:xfrm>
          <a:prstGeom prst="rect">
            <a:avLst/>
          </a:prstGeom>
        </p:spPr>
      </p:pic>
      <p:pic>
        <p:nvPicPr>
          <p:cNvPr id="10" name="Picture 9" descr="tug_small.png"/>
          <p:cNvPicPr>
            <a:picLocks noChangeAspect="1"/>
          </p:cNvPicPr>
          <p:nvPr/>
        </p:nvPicPr>
        <p:blipFill>
          <a:blip r:embed="rId3"/>
          <a:stretch>
            <a:fillRect/>
          </a:stretch>
        </p:blipFill>
        <p:spPr>
          <a:xfrm>
            <a:off x="5971735" y="6070981"/>
            <a:ext cx="566928" cy="457835"/>
          </a:xfrm>
          <a:prstGeom prst="rect">
            <a:avLst/>
          </a:prstGeom>
        </p:spPr>
      </p:pic>
      <p:sp>
        <p:nvSpPr>
          <p:cNvPr id="11" name="TextBox 10"/>
          <p:cNvSpPr txBox="1"/>
          <p:nvPr/>
        </p:nvSpPr>
        <p:spPr>
          <a:xfrm>
            <a:off x="640080" y="6126480"/>
            <a:ext cx="2743200" cy="228600"/>
          </a:xfrm>
          <a:prstGeom prst="rect">
            <a:avLst/>
          </a:prstGeom>
          <a:noFill/>
        </p:spPr>
        <p:txBody>
          <a:bodyPr wrap="square" lIns="0" rIns="0" tIns="0" bIns="0" anchor="ctr">
            <a:noAutofit/>
          </a:bodyPr>
          <a:lstStyle/>
          <a:p>
            <a:pPr algn="l">
              <a:spcBef>
                <a:spcPts val="0"/>
              </a:spcBef>
              <a:spcAft>
                <a:spcPts val="0"/>
              </a:spcAft>
            </a:pPr>
            <a:r>
              <a:rPr sz="1000" b="0" i="0">
                <a:solidFill>
                  <a:srgbClr val="7E8A97"/>
                </a:solidFill>
                <a:latin typeface="Arial"/>
              </a:rPr>
              <a:t>Traefik   8 / 15</a:t>
            </a:r>
          </a:p>
        </p:txBody>
      </p:sp>
      <p:pic>
        <p:nvPicPr>
          <p:cNvPr id="12" name="Picture 11" descr="logo_college.png"/>
          <p:cNvPicPr>
            <a:picLocks noChangeAspect="1"/>
          </p:cNvPicPr>
          <p:nvPr/>
        </p:nvPicPr>
        <p:blipFill>
          <a:blip r:embed="rId4"/>
          <a:stretch>
            <a:fillRect/>
          </a:stretch>
        </p:blipFill>
        <p:spPr>
          <a:xfrm>
            <a:off x="640080" y="91440"/>
            <a:ext cx="1625550" cy="475488"/>
          </a:xfrm>
          <a:prstGeom prst="rect">
            <a:avLst/>
          </a:prstGeom>
        </p:spPr>
      </p:pic>
      <p:pic>
        <p:nvPicPr>
          <p:cNvPr id="13" name="Picture 12" descr="logo_trust.png"/>
          <p:cNvPicPr>
            <a:picLocks noChangeAspect="1"/>
          </p:cNvPicPr>
          <p:nvPr/>
        </p:nvPicPr>
        <p:blipFill>
          <a:blip r:embed="rId5"/>
          <a:stretch>
            <a:fillRect/>
          </a:stretch>
        </p:blipFill>
        <p:spPr>
          <a:xfrm>
            <a:off x="10940472" y="91440"/>
            <a:ext cx="608400" cy="457200"/>
          </a:xfrm>
          <a:prstGeom prst="rect">
            <a:avLst/>
          </a:prstGeom>
        </p:spPr>
      </p:pic>
      <p:sp>
        <p:nvSpPr>
          <p:cNvPr id="14" name="Rectangle 13"/>
          <p:cNvSpPr/>
          <p:nvPr/>
        </p:nvSpPr>
        <p:spPr>
          <a:xfrm>
            <a:off x="640080" y="1737360"/>
            <a:ext cx="1828800" cy="1280160"/>
          </a:xfrm>
          <a:prstGeom prst="rect">
            <a:avLst/>
          </a:prstGeom>
          <a:solidFill>
            <a:srgbClr val="C8472D"/>
          </a:solidFill>
          <a:ln w="19050">
            <a:solidFill>
              <a:srgbClr val="10263F"/>
            </a:solidFill>
          </a:ln>
        </p:spPr>
        <p:txBody>
          <a:bodyPr rtlCol="0" anchor="ctr"/>
          <a:lstStyle/>
          <a:p>
            <a:pPr algn="ctr"/>
          </a:p>
        </p:txBody>
      </p:sp>
      <p:cxnSp>
        <p:nvCxnSpPr>
          <p:cNvPr id="15" name="Connector 14"/>
          <p:cNvCxnSpPr/>
          <p:nvPr/>
        </p:nvCxnSpPr>
        <p:spPr>
          <a:xfrm>
            <a:off x="761999" y="1810512"/>
            <a:ext cx="0" cy="1133856"/>
          </a:xfrm>
          <a:prstGeom prst="line">
            <a:avLst/>
          </a:prstGeom>
          <a:ln w="12700">
            <a:solidFill>
              <a:srgbClr val="A03824"/>
            </a:solidFill>
          </a:ln>
        </p:spPr>
      </p:cxnSp>
      <p:cxnSp>
        <p:nvCxnSpPr>
          <p:cNvPr id="16" name="Connector 15"/>
          <p:cNvCxnSpPr/>
          <p:nvPr/>
        </p:nvCxnSpPr>
        <p:spPr>
          <a:xfrm>
            <a:off x="883919" y="1810512"/>
            <a:ext cx="0" cy="1133856"/>
          </a:xfrm>
          <a:prstGeom prst="line">
            <a:avLst/>
          </a:prstGeom>
          <a:ln w="12700">
            <a:solidFill>
              <a:srgbClr val="A03824"/>
            </a:solidFill>
          </a:ln>
        </p:spPr>
      </p:cxnSp>
      <p:cxnSp>
        <p:nvCxnSpPr>
          <p:cNvPr id="17" name="Connector 16"/>
          <p:cNvCxnSpPr/>
          <p:nvPr/>
        </p:nvCxnSpPr>
        <p:spPr>
          <a:xfrm>
            <a:off x="1005840" y="1810512"/>
            <a:ext cx="0" cy="1133856"/>
          </a:xfrm>
          <a:prstGeom prst="line">
            <a:avLst/>
          </a:prstGeom>
          <a:ln w="12700">
            <a:solidFill>
              <a:srgbClr val="A03824"/>
            </a:solidFill>
          </a:ln>
        </p:spPr>
      </p:cxnSp>
      <p:cxnSp>
        <p:nvCxnSpPr>
          <p:cNvPr id="18" name="Connector 17"/>
          <p:cNvCxnSpPr/>
          <p:nvPr/>
        </p:nvCxnSpPr>
        <p:spPr>
          <a:xfrm>
            <a:off x="1127760" y="1810512"/>
            <a:ext cx="0" cy="1133856"/>
          </a:xfrm>
          <a:prstGeom prst="line">
            <a:avLst/>
          </a:prstGeom>
          <a:ln w="12700">
            <a:solidFill>
              <a:srgbClr val="A03824"/>
            </a:solidFill>
          </a:ln>
        </p:spPr>
      </p:cxnSp>
      <p:cxnSp>
        <p:nvCxnSpPr>
          <p:cNvPr id="19" name="Connector 18"/>
          <p:cNvCxnSpPr/>
          <p:nvPr/>
        </p:nvCxnSpPr>
        <p:spPr>
          <a:xfrm>
            <a:off x="1249680" y="1810512"/>
            <a:ext cx="0" cy="1133856"/>
          </a:xfrm>
          <a:prstGeom prst="line">
            <a:avLst/>
          </a:prstGeom>
          <a:ln w="12700">
            <a:solidFill>
              <a:srgbClr val="A03824"/>
            </a:solidFill>
          </a:ln>
        </p:spPr>
      </p:cxnSp>
      <p:cxnSp>
        <p:nvCxnSpPr>
          <p:cNvPr id="20" name="Connector 19"/>
          <p:cNvCxnSpPr/>
          <p:nvPr/>
        </p:nvCxnSpPr>
        <p:spPr>
          <a:xfrm>
            <a:off x="1371600" y="1810512"/>
            <a:ext cx="0" cy="1133856"/>
          </a:xfrm>
          <a:prstGeom prst="line">
            <a:avLst/>
          </a:prstGeom>
          <a:ln w="12700">
            <a:solidFill>
              <a:srgbClr val="A03824"/>
            </a:solidFill>
          </a:ln>
        </p:spPr>
      </p:cxnSp>
      <p:cxnSp>
        <p:nvCxnSpPr>
          <p:cNvPr id="21" name="Connector 20"/>
          <p:cNvCxnSpPr/>
          <p:nvPr/>
        </p:nvCxnSpPr>
        <p:spPr>
          <a:xfrm>
            <a:off x="1493520" y="1810512"/>
            <a:ext cx="0" cy="1133856"/>
          </a:xfrm>
          <a:prstGeom prst="line">
            <a:avLst/>
          </a:prstGeom>
          <a:ln w="12700">
            <a:solidFill>
              <a:srgbClr val="A03824"/>
            </a:solidFill>
          </a:ln>
        </p:spPr>
      </p:cxnSp>
      <p:cxnSp>
        <p:nvCxnSpPr>
          <p:cNvPr id="22" name="Connector 21"/>
          <p:cNvCxnSpPr/>
          <p:nvPr/>
        </p:nvCxnSpPr>
        <p:spPr>
          <a:xfrm>
            <a:off x="1615440" y="1810512"/>
            <a:ext cx="0" cy="1133856"/>
          </a:xfrm>
          <a:prstGeom prst="line">
            <a:avLst/>
          </a:prstGeom>
          <a:ln w="12700">
            <a:solidFill>
              <a:srgbClr val="A03824"/>
            </a:solidFill>
          </a:ln>
        </p:spPr>
      </p:cxnSp>
      <p:cxnSp>
        <p:nvCxnSpPr>
          <p:cNvPr id="23" name="Connector 22"/>
          <p:cNvCxnSpPr/>
          <p:nvPr/>
        </p:nvCxnSpPr>
        <p:spPr>
          <a:xfrm>
            <a:off x="1737360" y="1810512"/>
            <a:ext cx="0" cy="1133856"/>
          </a:xfrm>
          <a:prstGeom prst="line">
            <a:avLst/>
          </a:prstGeom>
          <a:ln w="12700">
            <a:solidFill>
              <a:srgbClr val="A03824"/>
            </a:solidFill>
          </a:ln>
        </p:spPr>
      </p:cxnSp>
      <p:cxnSp>
        <p:nvCxnSpPr>
          <p:cNvPr id="24" name="Connector 23"/>
          <p:cNvCxnSpPr/>
          <p:nvPr/>
        </p:nvCxnSpPr>
        <p:spPr>
          <a:xfrm>
            <a:off x="1859280" y="1810512"/>
            <a:ext cx="0" cy="1133856"/>
          </a:xfrm>
          <a:prstGeom prst="line">
            <a:avLst/>
          </a:prstGeom>
          <a:ln w="12700">
            <a:solidFill>
              <a:srgbClr val="A03824"/>
            </a:solidFill>
          </a:ln>
        </p:spPr>
      </p:cxnSp>
      <p:cxnSp>
        <p:nvCxnSpPr>
          <p:cNvPr id="25" name="Connector 24"/>
          <p:cNvCxnSpPr/>
          <p:nvPr/>
        </p:nvCxnSpPr>
        <p:spPr>
          <a:xfrm>
            <a:off x="1981199" y="1810512"/>
            <a:ext cx="0" cy="1133856"/>
          </a:xfrm>
          <a:prstGeom prst="line">
            <a:avLst/>
          </a:prstGeom>
          <a:ln w="12700">
            <a:solidFill>
              <a:srgbClr val="A03824"/>
            </a:solidFill>
          </a:ln>
        </p:spPr>
      </p:cxnSp>
      <p:cxnSp>
        <p:nvCxnSpPr>
          <p:cNvPr id="26" name="Connector 25"/>
          <p:cNvCxnSpPr/>
          <p:nvPr/>
        </p:nvCxnSpPr>
        <p:spPr>
          <a:xfrm>
            <a:off x="2103120" y="1810512"/>
            <a:ext cx="0" cy="1133856"/>
          </a:xfrm>
          <a:prstGeom prst="line">
            <a:avLst/>
          </a:prstGeom>
          <a:ln w="12700">
            <a:solidFill>
              <a:srgbClr val="A03824"/>
            </a:solidFill>
          </a:ln>
        </p:spPr>
      </p:cxnSp>
      <p:cxnSp>
        <p:nvCxnSpPr>
          <p:cNvPr id="27" name="Connector 26"/>
          <p:cNvCxnSpPr/>
          <p:nvPr/>
        </p:nvCxnSpPr>
        <p:spPr>
          <a:xfrm>
            <a:off x="2225040" y="1810512"/>
            <a:ext cx="0" cy="1133856"/>
          </a:xfrm>
          <a:prstGeom prst="line">
            <a:avLst/>
          </a:prstGeom>
          <a:ln w="12700">
            <a:solidFill>
              <a:srgbClr val="A03824"/>
            </a:solidFill>
          </a:ln>
        </p:spPr>
      </p:cxnSp>
      <p:cxnSp>
        <p:nvCxnSpPr>
          <p:cNvPr id="28" name="Connector 27"/>
          <p:cNvCxnSpPr/>
          <p:nvPr/>
        </p:nvCxnSpPr>
        <p:spPr>
          <a:xfrm>
            <a:off x="2346960" y="1810512"/>
            <a:ext cx="0" cy="1133856"/>
          </a:xfrm>
          <a:prstGeom prst="line">
            <a:avLst/>
          </a:prstGeom>
          <a:ln w="12700">
            <a:solidFill>
              <a:srgbClr val="A03824"/>
            </a:solidFill>
          </a:ln>
        </p:spPr>
      </p:cxnSp>
      <p:sp>
        <p:nvSpPr>
          <p:cNvPr id="29" name="TextBox 28"/>
          <p:cNvSpPr txBox="1"/>
          <p:nvPr/>
        </p:nvSpPr>
        <p:spPr>
          <a:xfrm>
            <a:off x="731519" y="1737360"/>
            <a:ext cx="1645920" cy="1280160"/>
          </a:xfrm>
          <a:prstGeom prst="rect">
            <a:avLst/>
          </a:prstGeom>
          <a:noFill/>
        </p:spPr>
        <p:txBody>
          <a:bodyPr wrap="square" lIns="0" rIns="0" tIns="0" bIns="0" anchor="ctr">
            <a:noAutofit/>
          </a:bodyPr>
          <a:lstStyle/>
          <a:p>
            <a:pPr algn="ctr">
              <a:spcBef>
                <a:spcPts val="0"/>
              </a:spcBef>
              <a:spcAft>
                <a:spcPts val="200"/>
              </a:spcAft>
            </a:pPr>
            <a:r>
              <a:rPr sz="1700" b="1" i="0">
                <a:solidFill>
                  <a:srgbClr val="FFFFFF"/>
                </a:solidFill>
                <a:latin typeface="Arial"/>
              </a:rPr>
              <a:t>Register</a:t>
            </a:r>
          </a:p>
          <a:p>
            <a:pPr algn="ctr">
              <a:lnSpc>
                <a:spcPct val="105000"/>
              </a:lnSpc>
              <a:spcBef>
                <a:spcPts val="0"/>
              </a:spcBef>
              <a:spcAft>
                <a:spcPts val="0"/>
              </a:spcAft>
            </a:pPr>
            <a:r>
              <a:rPr sz="1150" b="0" i="0">
                <a:solidFill>
                  <a:srgbClr val="FFFFFF"/>
                </a:solidFill>
                <a:latin typeface="Arial"/>
              </a:rPr>
              <a:t>an account</a:t>
            </a:r>
          </a:p>
        </p:txBody>
      </p:sp>
      <p:cxnSp>
        <p:nvCxnSpPr>
          <p:cNvPr id="30" name="Connector 29"/>
          <p:cNvCxnSpPr/>
          <p:nvPr/>
        </p:nvCxnSpPr>
        <p:spPr>
          <a:xfrm>
            <a:off x="2468880" y="2377440"/>
            <a:ext cx="365759" cy="0"/>
          </a:xfrm>
          <a:prstGeom prst="line">
            <a:avLst/>
          </a:prstGeom>
          <a:ln w="22225">
            <a:solidFill>
              <a:srgbClr val="10263F"/>
            </a:solidFill>
            <a:tailEnd type="triangle" w="med" len="med"/>
          </a:ln>
        </p:spPr>
      </p:cxnSp>
      <p:sp>
        <p:nvSpPr>
          <p:cNvPr id="31" name="Rectangle 30"/>
          <p:cNvSpPr/>
          <p:nvPr/>
        </p:nvSpPr>
        <p:spPr>
          <a:xfrm>
            <a:off x="2834639" y="1737360"/>
            <a:ext cx="1828800" cy="1280160"/>
          </a:xfrm>
          <a:prstGeom prst="rect">
            <a:avLst/>
          </a:prstGeom>
          <a:solidFill>
            <a:srgbClr val="E9B93A"/>
          </a:solidFill>
          <a:ln w="19050">
            <a:solidFill>
              <a:srgbClr val="10263F"/>
            </a:solidFill>
          </a:ln>
        </p:spPr>
        <p:txBody>
          <a:bodyPr rtlCol="0" anchor="ctr"/>
          <a:lstStyle/>
          <a:p>
            <a:pPr algn="ctr"/>
          </a:p>
        </p:txBody>
      </p:sp>
      <p:cxnSp>
        <p:nvCxnSpPr>
          <p:cNvPr id="32" name="Connector 31"/>
          <p:cNvCxnSpPr/>
          <p:nvPr/>
        </p:nvCxnSpPr>
        <p:spPr>
          <a:xfrm>
            <a:off x="2956559" y="1810512"/>
            <a:ext cx="0" cy="1133856"/>
          </a:xfrm>
          <a:prstGeom prst="line">
            <a:avLst/>
          </a:prstGeom>
          <a:ln w="12700">
            <a:solidFill>
              <a:srgbClr val="BA942E"/>
            </a:solidFill>
          </a:ln>
        </p:spPr>
      </p:cxnSp>
      <p:cxnSp>
        <p:nvCxnSpPr>
          <p:cNvPr id="33" name="Connector 32"/>
          <p:cNvCxnSpPr/>
          <p:nvPr/>
        </p:nvCxnSpPr>
        <p:spPr>
          <a:xfrm>
            <a:off x="3078479" y="1810512"/>
            <a:ext cx="0" cy="1133856"/>
          </a:xfrm>
          <a:prstGeom prst="line">
            <a:avLst/>
          </a:prstGeom>
          <a:ln w="12700">
            <a:solidFill>
              <a:srgbClr val="BA942E"/>
            </a:solidFill>
          </a:ln>
        </p:spPr>
      </p:cxnSp>
      <p:cxnSp>
        <p:nvCxnSpPr>
          <p:cNvPr id="34" name="Connector 33"/>
          <p:cNvCxnSpPr/>
          <p:nvPr/>
        </p:nvCxnSpPr>
        <p:spPr>
          <a:xfrm>
            <a:off x="3200399" y="1810512"/>
            <a:ext cx="0" cy="1133856"/>
          </a:xfrm>
          <a:prstGeom prst="line">
            <a:avLst/>
          </a:prstGeom>
          <a:ln w="12700">
            <a:solidFill>
              <a:srgbClr val="BA942E"/>
            </a:solidFill>
          </a:ln>
        </p:spPr>
      </p:cxnSp>
      <p:cxnSp>
        <p:nvCxnSpPr>
          <p:cNvPr id="35" name="Connector 34"/>
          <p:cNvCxnSpPr/>
          <p:nvPr/>
        </p:nvCxnSpPr>
        <p:spPr>
          <a:xfrm>
            <a:off x="3322319" y="1810512"/>
            <a:ext cx="0" cy="1133856"/>
          </a:xfrm>
          <a:prstGeom prst="line">
            <a:avLst/>
          </a:prstGeom>
          <a:ln w="12700">
            <a:solidFill>
              <a:srgbClr val="BA942E"/>
            </a:solidFill>
          </a:ln>
        </p:spPr>
      </p:cxnSp>
      <p:cxnSp>
        <p:nvCxnSpPr>
          <p:cNvPr id="36" name="Connector 35"/>
          <p:cNvCxnSpPr/>
          <p:nvPr/>
        </p:nvCxnSpPr>
        <p:spPr>
          <a:xfrm>
            <a:off x="3444239" y="1810512"/>
            <a:ext cx="0" cy="1133856"/>
          </a:xfrm>
          <a:prstGeom prst="line">
            <a:avLst/>
          </a:prstGeom>
          <a:ln w="12700">
            <a:solidFill>
              <a:srgbClr val="BA942E"/>
            </a:solidFill>
          </a:ln>
        </p:spPr>
      </p:cxnSp>
      <p:cxnSp>
        <p:nvCxnSpPr>
          <p:cNvPr id="37" name="Connector 36"/>
          <p:cNvCxnSpPr/>
          <p:nvPr/>
        </p:nvCxnSpPr>
        <p:spPr>
          <a:xfrm>
            <a:off x="3566159" y="1810512"/>
            <a:ext cx="0" cy="1133856"/>
          </a:xfrm>
          <a:prstGeom prst="line">
            <a:avLst/>
          </a:prstGeom>
          <a:ln w="12700">
            <a:solidFill>
              <a:srgbClr val="BA942E"/>
            </a:solidFill>
          </a:ln>
        </p:spPr>
      </p:cxnSp>
      <p:cxnSp>
        <p:nvCxnSpPr>
          <p:cNvPr id="38" name="Connector 37"/>
          <p:cNvCxnSpPr/>
          <p:nvPr/>
        </p:nvCxnSpPr>
        <p:spPr>
          <a:xfrm>
            <a:off x="3688080" y="1810512"/>
            <a:ext cx="0" cy="1133856"/>
          </a:xfrm>
          <a:prstGeom prst="line">
            <a:avLst/>
          </a:prstGeom>
          <a:ln w="12700">
            <a:solidFill>
              <a:srgbClr val="BA942E"/>
            </a:solidFill>
          </a:ln>
        </p:spPr>
      </p:cxnSp>
      <p:cxnSp>
        <p:nvCxnSpPr>
          <p:cNvPr id="39" name="Connector 38"/>
          <p:cNvCxnSpPr/>
          <p:nvPr/>
        </p:nvCxnSpPr>
        <p:spPr>
          <a:xfrm>
            <a:off x="3809999" y="1810512"/>
            <a:ext cx="0" cy="1133856"/>
          </a:xfrm>
          <a:prstGeom prst="line">
            <a:avLst/>
          </a:prstGeom>
          <a:ln w="12700">
            <a:solidFill>
              <a:srgbClr val="BA942E"/>
            </a:solidFill>
          </a:ln>
        </p:spPr>
      </p:cxnSp>
      <p:cxnSp>
        <p:nvCxnSpPr>
          <p:cNvPr id="40" name="Connector 39"/>
          <p:cNvCxnSpPr/>
          <p:nvPr/>
        </p:nvCxnSpPr>
        <p:spPr>
          <a:xfrm>
            <a:off x="3931920" y="1810512"/>
            <a:ext cx="0" cy="1133856"/>
          </a:xfrm>
          <a:prstGeom prst="line">
            <a:avLst/>
          </a:prstGeom>
          <a:ln w="12700">
            <a:solidFill>
              <a:srgbClr val="BA942E"/>
            </a:solidFill>
          </a:ln>
        </p:spPr>
      </p:cxnSp>
      <p:cxnSp>
        <p:nvCxnSpPr>
          <p:cNvPr id="41" name="Connector 40"/>
          <p:cNvCxnSpPr/>
          <p:nvPr/>
        </p:nvCxnSpPr>
        <p:spPr>
          <a:xfrm>
            <a:off x="4053839" y="1810512"/>
            <a:ext cx="0" cy="1133856"/>
          </a:xfrm>
          <a:prstGeom prst="line">
            <a:avLst/>
          </a:prstGeom>
          <a:ln w="12700">
            <a:solidFill>
              <a:srgbClr val="BA942E"/>
            </a:solidFill>
          </a:ln>
        </p:spPr>
      </p:cxnSp>
      <p:cxnSp>
        <p:nvCxnSpPr>
          <p:cNvPr id="42" name="Connector 41"/>
          <p:cNvCxnSpPr/>
          <p:nvPr/>
        </p:nvCxnSpPr>
        <p:spPr>
          <a:xfrm>
            <a:off x="4175760" y="1810512"/>
            <a:ext cx="0" cy="1133856"/>
          </a:xfrm>
          <a:prstGeom prst="line">
            <a:avLst/>
          </a:prstGeom>
          <a:ln w="12700">
            <a:solidFill>
              <a:srgbClr val="BA942E"/>
            </a:solidFill>
          </a:ln>
        </p:spPr>
      </p:cxnSp>
      <p:cxnSp>
        <p:nvCxnSpPr>
          <p:cNvPr id="43" name="Connector 42"/>
          <p:cNvCxnSpPr/>
          <p:nvPr/>
        </p:nvCxnSpPr>
        <p:spPr>
          <a:xfrm>
            <a:off x="4297679" y="1810512"/>
            <a:ext cx="0" cy="1133856"/>
          </a:xfrm>
          <a:prstGeom prst="line">
            <a:avLst/>
          </a:prstGeom>
          <a:ln w="12700">
            <a:solidFill>
              <a:srgbClr val="BA942E"/>
            </a:solidFill>
          </a:ln>
        </p:spPr>
      </p:cxnSp>
      <p:cxnSp>
        <p:nvCxnSpPr>
          <p:cNvPr id="44" name="Connector 43"/>
          <p:cNvCxnSpPr/>
          <p:nvPr/>
        </p:nvCxnSpPr>
        <p:spPr>
          <a:xfrm>
            <a:off x="4419600" y="1810512"/>
            <a:ext cx="0" cy="1133856"/>
          </a:xfrm>
          <a:prstGeom prst="line">
            <a:avLst/>
          </a:prstGeom>
          <a:ln w="12700">
            <a:solidFill>
              <a:srgbClr val="BA942E"/>
            </a:solidFill>
          </a:ln>
        </p:spPr>
      </p:cxnSp>
      <p:cxnSp>
        <p:nvCxnSpPr>
          <p:cNvPr id="45" name="Connector 44"/>
          <p:cNvCxnSpPr/>
          <p:nvPr/>
        </p:nvCxnSpPr>
        <p:spPr>
          <a:xfrm>
            <a:off x="4541520" y="1810512"/>
            <a:ext cx="0" cy="1133856"/>
          </a:xfrm>
          <a:prstGeom prst="line">
            <a:avLst/>
          </a:prstGeom>
          <a:ln w="12700">
            <a:solidFill>
              <a:srgbClr val="BA942E"/>
            </a:solidFill>
          </a:ln>
        </p:spPr>
      </p:cxnSp>
      <p:sp>
        <p:nvSpPr>
          <p:cNvPr id="46" name="TextBox 45"/>
          <p:cNvSpPr txBox="1"/>
          <p:nvPr/>
        </p:nvSpPr>
        <p:spPr>
          <a:xfrm>
            <a:off x="2926079" y="1737360"/>
            <a:ext cx="1645920" cy="1280160"/>
          </a:xfrm>
          <a:prstGeom prst="rect">
            <a:avLst/>
          </a:prstGeom>
          <a:noFill/>
        </p:spPr>
        <p:txBody>
          <a:bodyPr wrap="square" lIns="0" rIns="0" tIns="0" bIns="0" anchor="ctr">
            <a:noAutofit/>
          </a:bodyPr>
          <a:lstStyle/>
          <a:p>
            <a:pPr algn="ctr">
              <a:spcBef>
                <a:spcPts val="0"/>
              </a:spcBef>
              <a:spcAft>
                <a:spcPts val="200"/>
              </a:spcAft>
            </a:pPr>
            <a:r>
              <a:rPr sz="1700" b="1" i="0">
                <a:solidFill>
                  <a:srgbClr val="10263F"/>
                </a:solidFill>
                <a:latin typeface="Arial"/>
              </a:rPr>
              <a:t>Order</a:t>
            </a:r>
          </a:p>
          <a:p>
            <a:pPr algn="ctr">
              <a:lnSpc>
                <a:spcPct val="105000"/>
              </a:lnSpc>
              <a:spcBef>
                <a:spcPts val="0"/>
              </a:spcBef>
              <a:spcAft>
                <a:spcPts val="0"/>
              </a:spcAft>
            </a:pPr>
            <a:r>
              <a:rPr sz="1150" b="0" i="0">
                <a:solidFill>
                  <a:srgbClr val="10263F"/>
                </a:solidFill>
                <a:latin typeface="Arial"/>
              </a:rPr>
              <a:t>a certificate for the name</a:t>
            </a:r>
          </a:p>
        </p:txBody>
      </p:sp>
      <p:cxnSp>
        <p:nvCxnSpPr>
          <p:cNvPr id="47" name="Connector 46"/>
          <p:cNvCxnSpPr/>
          <p:nvPr/>
        </p:nvCxnSpPr>
        <p:spPr>
          <a:xfrm>
            <a:off x="4663440" y="2377440"/>
            <a:ext cx="365760" cy="0"/>
          </a:xfrm>
          <a:prstGeom prst="line">
            <a:avLst/>
          </a:prstGeom>
          <a:ln w="22225">
            <a:solidFill>
              <a:srgbClr val="10263F"/>
            </a:solidFill>
            <a:tailEnd type="triangle" w="med" len="med"/>
          </a:ln>
        </p:spPr>
      </p:cxnSp>
      <p:sp>
        <p:nvSpPr>
          <p:cNvPr id="48" name="Rectangle 47"/>
          <p:cNvSpPr/>
          <p:nvPr/>
        </p:nvSpPr>
        <p:spPr>
          <a:xfrm>
            <a:off x="5029200" y="1737360"/>
            <a:ext cx="1828800" cy="1280160"/>
          </a:xfrm>
          <a:prstGeom prst="rect">
            <a:avLst/>
          </a:prstGeom>
          <a:solidFill>
            <a:srgbClr val="2F8F83"/>
          </a:solidFill>
          <a:ln w="19050">
            <a:solidFill>
              <a:srgbClr val="10263F"/>
            </a:solidFill>
          </a:ln>
        </p:spPr>
        <p:txBody>
          <a:bodyPr rtlCol="0" anchor="ctr"/>
          <a:lstStyle/>
          <a:p>
            <a:pPr algn="ctr"/>
          </a:p>
        </p:txBody>
      </p:sp>
      <p:cxnSp>
        <p:nvCxnSpPr>
          <p:cNvPr id="49" name="Connector 48"/>
          <p:cNvCxnSpPr/>
          <p:nvPr/>
        </p:nvCxnSpPr>
        <p:spPr>
          <a:xfrm>
            <a:off x="5151120" y="1810512"/>
            <a:ext cx="0" cy="1133856"/>
          </a:xfrm>
          <a:prstGeom prst="line">
            <a:avLst/>
          </a:prstGeom>
          <a:ln w="12700">
            <a:solidFill>
              <a:srgbClr val="257268"/>
            </a:solidFill>
          </a:ln>
        </p:spPr>
      </p:cxnSp>
      <p:cxnSp>
        <p:nvCxnSpPr>
          <p:cNvPr id="50" name="Connector 49"/>
          <p:cNvCxnSpPr/>
          <p:nvPr/>
        </p:nvCxnSpPr>
        <p:spPr>
          <a:xfrm>
            <a:off x="5273040" y="1810512"/>
            <a:ext cx="0" cy="1133856"/>
          </a:xfrm>
          <a:prstGeom prst="line">
            <a:avLst/>
          </a:prstGeom>
          <a:ln w="12700">
            <a:solidFill>
              <a:srgbClr val="257268"/>
            </a:solidFill>
          </a:ln>
        </p:spPr>
      </p:cxnSp>
      <p:cxnSp>
        <p:nvCxnSpPr>
          <p:cNvPr id="51" name="Connector 50"/>
          <p:cNvCxnSpPr/>
          <p:nvPr/>
        </p:nvCxnSpPr>
        <p:spPr>
          <a:xfrm>
            <a:off x="5394960" y="1810512"/>
            <a:ext cx="0" cy="1133856"/>
          </a:xfrm>
          <a:prstGeom prst="line">
            <a:avLst/>
          </a:prstGeom>
          <a:ln w="12700">
            <a:solidFill>
              <a:srgbClr val="257268"/>
            </a:solidFill>
          </a:ln>
        </p:spPr>
      </p:cxnSp>
      <p:cxnSp>
        <p:nvCxnSpPr>
          <p:cNvPr id="52" name="Connector 51"/>
          <p:cNvCxnSpPr/>
          <p:nvPr/>
        </p:nvCxnSpPr>
        <p:spPr>
          <a:xfrm>
            <a:off x="5516880" y="1810512"/>
            <a:ext cx="0" cy="1133856"/>
          </a:xfrm>
          <a:prstGeom prst="line">
            <a:avLst/>
          </a:prstGeom>
          <a:ln w="12700">
            <a:solidFill>
              <a:srgbClr val="257268"/>
            </a:solidFill>
          </a:ln>
        </p:spPr>
      </p:cxnSp>
      <p:cxnSp>
        <p:nvCxnSpPr>
          <p:cNvPr id="53" name="Connector 52"/>
          <p:cNvCxnSpPr/>
          <p:nvPr/>
        </p:nvCxnSpPr>
        <p:spPr>
          <a:xfrm>
            <a:off x="5638800" y="1810512"/>
            <a:ext cx="0" cy="1133856"/>
          </a:xfrm>
          <a:prstGeom prst="line">
            <a:avLst/>
          </a:prstGeom>
          <a:ln w="12700">
            <a:solidFill>
              <a:srgbClr val="257268"/>
            </a:solidFill>
          </a:ln>
        </p:spPr>
      </p:cxnSp>
      <p:cxnSp>
        <p:nvCxnSpPr>
          <p:cNvPr id="54" name="Connector 53"/>
          <p:cNvCxnSpPr/>
          <p:nvPr/>
        </p:nvCxnSpPr>
        <p:spPr>
          <a:xfrm>
            <a:off x="5760720" y="1810512"/>
            <a:ext cx="0" cy="1133856"/>
          </a:xfrm>
          <a:prstGeom prst="line">
            <a:avLst/>
          </a:prstGeom>
          <a:ln w="12700">
            <a:solidFill>
              <a:srgbClr val="257268"/>
            </a:solidFill>
          </a:ln>
        </p:spPr>
      </p:cxnSp>
      <p:cxnSp>
        <p:nvCxnSpPr>
          <p:cNvPr id="55" name="Connector 54"/>
          <p:cNvCxnSpPr/>
          <p:nvPr/>
        </p:nvCxnSpPr>
        <p:spPr>
          <a:xfrm>
            <a:off x="5882640" y="1810512"/>
            <a:ext cx="0" cy="1133856"/>
          </a:xfrm>
          <a:prstGeom prst="line">
            <a:avLst/>
          </a:prstGeom>
          <a:ln w="12700">
            <a:solidFill>
              <a:srgbClr val="257268"/>
            </a:solidFill>
          </a:ln>
        </p:spPr>
      </p:cxnSp>
      <p:cxnSp>
        <p:nvCxnSpPr>
          <p:cNvPr id="56" name="Connector 55"/>
          <p:cNvCxnSpPr/>
          <p:nvPr/>
        </p:nvCxnSpPr>
        <p:spPr>
          <a:xfrm>
            <a:off x="6004560" y="1810512"/>
            <a:ext cx="0" cy="1133856"/>
          </a:xfrm>
          <a:prstGeom prst="line">
            <a:avLst/>
          </a:prstGeom>
          <a:ln w="12700">
            <a:solidFill>
              <a:srgbClr val="257268"/>
            </a:solidFill>
          </a:ln>
        </p:spPr>
      </p:cxnSp>
      <p:cxnSp>
        <p:nvCxnSpPr>
          <p:cNvPr id="57" name="Connector 56"/>
          <p:cNvCxnSpPr/>
          <p:nvPr/>
        </p:nvCxnSpPr>
        <p:spPr>
          <a:xfrm>
            <a:off x="6126480" y="1810512"/>
            <a:ext cx="0" cy="1133856"/>
          </a:xfrm>
          <a:prstGeom prst="line">
            <a:avLst/>
          </a:prstGeom>
          <a:ln w="12700">
            <a:solidFill>
              <a:srgbClr val="257268"/>
            </a:solidFill>
          </a:ln>
        </p:spPr>
      </p:cxnSp>
      <p:cxnSp>
        <p:nvCxnSpPr>
          <p:cNvPr id="58" name="Connector 57"/>
          <p:cNvCxnSpPr/>
          <p:nvPr/>
        </p:nvCxnSpPr>
        <p:spPr>
          <a:xfrm>
            <a:off x="6248400" y="1810512"/>
            <a:ext cx="0" cy="1133856"/>
          </a:xfrm>
          <a:prstGeom prst="line">
            <a:avLst/>
          </a:prstGeom>
          <a:ln w="12700">
            <a:solidFill>
              <a:srgbClr val="257268"/>
            </a:solidFill>
          </a:ln>
        </p:spPr>
      </p:cxnSp>
      <p:cxnSp>
        <p:nvCxnSpPr>
          <p:cNvPr id="59" name="Connector 58"/>
          <p:cNvCxnSpPr/>
          <p:nvPr/>
        </p:nvCxnSpPr>
        <p:spPr>
          <a:xfrm>
            <a:off x="6370320" y="1810512"/>
            <a:ext cx="0" cy="1133856"/>
          </a:xfrm>
          <a:prstGeom prst="line">
            <a:avLst/>
          </a:prstGeom>
          <a:ln w="12700">
            <a:solidFill>
              <a:srgbClr val="257268"/>
            </a:solidFill>
          </a:ln>
        </p:spPr>
      </p:cxnSp>
      <p:cxnSp>
        <p:nvCxnSpPr>
          <p:cNvPr id="60" name="Connector 59"/>
          <p:cNvCxnSpPr/>
          <p:nvPr/>
        </p:nvCxnSpPr>
        <p:spPr>
          <a:xfrm>
            <a:off x="6492240" y="1810512"/>
            <a:ext cx="0" cy="1133856"/>
          </a:xfrm>
          <a:prstGeom prst="line">
            <a:avLst/>
          </a:prstGeom>
          <a:ln w="12700">
            <a:solidFill>
              <a:srgbClr val="257268"/>
            </a:solidFill>
          </a:ln>
        </p:spPr>
      </p:cxnSp>
      <p:cxnSp>
        <p:nvCxnSpPr>
          <p:cNvPr id="61" name="Connector 60"/>
          <p:cNvCxnSpPr/>
          <p:nvPr/>
        </p:nvCxnSpPr>
        <p:spPr>
          <a:xfrm>
            <a:off x="6614160" y="1810512"/>
            <a:ext cx="0" cy="1133856"/>
          </a:xfrm>
          <a:prstGeom prst="line">
            <a:avLst/>
          </a:prstGeom>
          <a:ln w="12700">
            <a:solidFill>
              <a:srgbClr val="257268"/>
            </a:solidFill>
          </a:ln>
        </p:spPr>
      </p:cxnSp>
      <p:cxnSp>
        <p:nvCxnSpPr>
          <p:cNvPr id="62" name="Connector 61"/>
          <p:cNvCxnSpPr/>
          <p:nvPr/>
        </p:nvCxnSpPr>
        <p:spPr>
          <a:xfrm>
            <a:off x="6736080" y="1810512"/>
            <a:ext cx="0" cy="1133856"/>
          </a:xfrm>
          <a:prstGeom prst="line">
            <a:avLst/>
          </a:prstGeom>
          <a:ln w="12700">
            <a:solidFill>
              <a:srgbClr val="257268"/>
            </a:solidFill>
          </a:ln>
        </p:spPr>
      </p:cxnSp>
      <p:sp>
        <p:nvSpPr>
          <p:cNvPr id="63" name="TextBox 62"/>
          <p:cNvSpPr txBox="1"/>
          <p:nvPr/>
        </p:nvSpPr>
        <p:spPr>
          <a:xfrm>
            <a:off x="5120640" y="1737360"/>
            <a:ext cx="1645920" cy="1280160"/>
          </a:xfrm>
          <a:prstGeom prst="rect">
            <a:avLst/>
          </a:prstGeom>
          <a:noFill/>
        </p:spPr>
        <p:txBody>
          <a:bodyPr wrap="square" lIns="0" rIns="0" tIns="0" bIns="0" anchor="ctr">
            <a:noAutofit/>
          </a:bodyPr>
          <a:lstStyle/>
          <a:p>
            <a:pPr algn="ctr">
              <a:spcBef>
                <a:spcPts val="0"/>
              </a:spcBef>
              <a:spcAft>
                <a:spcPts val="200"/>
              </a:spcAft>
            </a:pPr>
            <a:r>
              <a:rPr sz="1700" b="1" i="0">
                <a:solidFill>
                  <a:srgbClr val="FFFFFF"/>
                </a:solidFill>
                <a:latin typeface="Arial"/>
              </a:rPr>
              <a:t>Prove</a:t>
            </a:r>
          </a:p>
          <a:p>
            <a:pPr algn="ctr">
              <a:lnSpc>
                <a:spcPct val="105000"/>
              </a:lnSpc>
              <a:spcBef>
                <a:spcPts val="0"/>
              </a:spcBef>
              <a:spcAft>
                <a:spcPts val="0"/>
              </a:spcAft>
            </a:pPr>
            <a:r>
              <a:rPr sz="1150" b="0" i="0">
                <a:solidFill>
                  <a:srgbClr val="FFFFFF"/>
                </a:solidFill>
                <a:latin typeface="Arial"/>
              </a:rPr>
              <a:t>control with a challenge</a:t>
            </a:r>
          </a:p>
        </p:txBody>
      </p:sp>
      <p:cxnSp>
        <p:nvCxnSpPr>
          <p:cNvPr id="64" name="Connector 63"/>
          <p:cNvCxnSpPr/>
          <p:nvPr/>
        </p:nvCxnSpPr>
        <p:spPr>
          <a:xfrm>
            <a:off x="6858000" y="2377440"/>
            <a:ext cx="365760" cy="0"/>
          </a:xfrm>
          <a:prstGeom prst="line">
            <a:avLst/>
          </a:prstGeom>
          <a:ln w="22225">
            <a:solidFill>
              <a:srgbClr val="10263F"/>
            </a:solidFill>
            <a:tailEnd type="triangle" w="med" len="med"/>
          </a:ln>
        </p:spPr>
      </p:cxnSp>
      <p:sp>
        <p:nvSpPr>
          <p:cNvPr id="65" name="Rectangle 64"/>
          <p:cNvSpPr/>
          <p:nvPr/>
        </p:nvSpPr>
        <p:spPr>
          <a:xfrm>
            <a:off x="7223759" y="1737360"/>
            <a:ext cx="1828800" cy="1280160"/>
          </a:xfrm>
          <a:prstGeom prst="rect">
            <a:avLst/>
          </a:prstGeom>
          <a:solidFill>
            <a:srgbClr val="E58A2B"/>
          </a:solidFill>
          <a:ln w="19050">
            <a:solidFill>
              <a:srgbClr val="10263F"/>
            </a:solidFill>
          </a:ln>
        </p:spPr>
        <p:txBody>
          <a:bodyPr rtlCol="0" anchor="ctr"/>
          <a:lstStyle/>
          <a:p>
            <a:pPr algn="ctr"/>
          </a:p>
        </p:txBody>
      </p:sp>
      <p:cxnSp>
        <p:nvCxnSpPr>
          <p:cNvPr id="66" name="Connector 65"/>
          <p:cNvCxnSpPr/>
          <p:nvPr/>
        </p:nvCxnSpPr>
        <p:spPr>
          <a:xfrm>
            <a:off x="7345680" y="1810512"/>
            <a:ext cx="0" cy="1133856"/>
          </a:xfrm>
          <a:prstGeom prst="line">
            <a:avLst/>
          </a:prstGeom>
          <a:ln w="12700">
            <a:solidFill>
              <a:srgbClr val="B76E22"/>
            </a:solidFill>
          </a:ln>
        </p:spPr>
      </p:cxnSp>
      <p:cxnSp>
        <p:nvCxnSpPr>
          <p:cNvPr id="67" name="Connector 66"/>
          <p:cNvCxnSpPr/>
          <p:nvPr/>
        </p:nvCxnSpPr>
        <p:spPr>
          <a:xfrm>
            <a:off x="7467599" y="1810512"/>
            <a:ext cx="0" cy="1133856"/>
          </a:xfrm>
          <a:prstGeom prst="line">
            <a:avLst/>
          </a:prstGeom>
          <a:ln w="12700">
            <a:solidFill>
              <a:srgbClr val="B76E22"/>
            </a:solidFill>
          </a:ln>
        </p:spPr>
      </p:cxnSp>
      <p:cxnSp>
        <p:nvCxnSpPr>
          <p:cNvPr id="68" name="Connector 67"/>
          <p:cNvCxnSpPr/>
          <p:nvPr/>
        </p:nvCxnSpPr>
        <p:spPr>
          <a:xfrm>
            <a:off x="7589519" y="1810512"/>
            <a:ext cx="0" cy="1133856"/>
          </a:xfrm>
          <a:prstGeom prst="line">
            <a:avLst/>
          </a:prstGeom>
          <a:ln w="12700">
            <a:solidFill>
              <a:srgbClr val="B76E22"/>
            </a:solidFill>
          </a:ln>
        </p:spPr>
      </p:cxnSp>
      <p:cxnSp>
        <p:nvCxnSpPr>
          <p:cNvPr id="69" name="Connector 68"/>
          <p:cNvCxnSpPr/>
          <p:nvPr/>
        </p:nvCxnSpPr>
        <p:spPr>
          <a:xfrm>
            <a:off x="7711440" y="1810512"/>
            <a:ext cx="0" cy="1133856"/>
          </a:xfrm>
          <a:prstGeom prst="line">
            <a:avLst/>
          </a:prstGeom>
          <a:ln w="12700">
            <a:solidFill>
              <a:srgbClr val="B76E22"/>
            </a:solidFill>
          </a:ln>
        </p:spPr>
      </p:cxnSp>
      <p:cxnSp>
        <p:nvCxnSpPr>
          <p:cNvPr id="70" name="Connector 69"/>
          <p:cNvCxnSpPr/>
          <p:nvPr/>
        </p:nvCxnSpPr>
        <p:spPr>
          <a:xfrm>
            <a:off x="7833360" y="1810512"/>
            <a:ext cx="0" cy="1133856"/>
          </a:xfrm>
          <a:prstGeom prst="line">
            <a:avLst/>
          </a:prstGeom>
          <a:ln w="12700">
            <a:solidFill>
              <a:srgbClr val="B76E22"/>
            </a:solidFill>
          </a:ln>
        </p:spPr>
      </p:cxnSp>
      <p:cxnSp>
        <p:nvCxnSpPr>
          <p:cNvPr id="71" name="Connector 70"/>
          <p:cNvCxnSpPr/>
          <p:nvPr/>
        </p:nvCxnSpPr>
        <p:spPr>
          <a:xfrm>
            <a:off x="7955279" y="1810512"/>
            <a:ext cx="0" cy="1133856"/>
          </a:xfrm>
          <a:prstGeom prst="line">
            <a:avLst/>
          </a:prstGeom>
          <a:ln w="12700">
            <a:solidFill>
              <a:srgbClr val="B76E22"/>
            </a:solidFill>
          </a:ln>
        </p:spPr>
      </p:cxnSp>
      <p:cxnSp>
        <p:nvCxnSpPr>
          <p:cNvPr id="72" name="Connector 71"/>
          <p:cNvCxnSpPr/>
          <p:nvPr/>
        </p:nvCxnSpPr>
        <p:spPr>
          <a:xfrm>
            <a:off x="8077199" y="1810512"/>
            <a:ext cx="0" cy="1133856"/>
          </a:xfrm>
          <a:prstGeom prst="line">
            <a:avLst/>
          </a:prstGeom>
          <a:ln w="12700">
            <a:solidFill>
              <a:srgbClr val="B76E22"/>
            </a:solidFill>
          </a:ln>
        </p:spPr>
      </p:cxnSp>
      <p:cxnSp>
        <p:nvCxnSpPr>
          <p:cNvPr id="73" name="Connector 72"/>
          <p:cNvCxnSpPr/>
          <p:nvPr/>
        </p:nvCxnSpPr>
        <p:spPr>
          <a:xfrm>
            <a:off x="8199120" y="1810512"/>
            <a:ext cx="0" cy="1133856"/>
          </a:xfrm>
          <a:prstGeom prst="line">
            <a:avLst/>
          </a:prstGeom>
          <a:ln w="12700">
            <a:solidFill>
              <a:srgbClr val="B76E22"/>
            </a:solidFill>
          </a:ln>
        </p:spPr>
      </p:cxnSp>
      <p:cxnSp>
        <p:nvCxnSpPr>
          <p:cNvPr id="74" name="Connector 73"/>
          <p:cNvCxnSpPr/>
          <p:nvPr/>
        </p:nvCxnSpPr>
        <p:spPr>
          <a:xfrm>
            <a:off x="8321040" y="1810512"/>
            <a:ext cx="0" cy="1133856"/>
          </a:xfrm>
          <a:prstGeom prst="line">
            <a:avLst/>
          </a:prstGeom>
          <a:ln w="12700">
            <a:solidFill>
              <a:srgbClr val="B76E22"/>
            </a:solidFill>
          </a:ln>
        </p:spPr>
      </p:cxnSp>
      <p:cxnSp>
        <p:nvCxnSpPr>
          <p:cNvPr id="75" name="Connector 74"/>
          <p:cNvCxnSpPr/>
          <p:nvPr/>
        </p:nvCxnSpPr>
        <p:spPr>
          <a:xfrm>
            <a:off x="8442960" y="1810512"/>
            <a:ext cx="0" cy="1133856"/>
          </a:xfrm>
          <a:prstGeom prst="line">
            <a:avLst/>
          </a:prstGeom>
          <a:ln w="12700">
            <a:solidFill>
              <a:srgbClr val="B76E22"/>
            </a:solidFill>
          </a:ln>
        </p:spPr>
      </p:cxnSp>
      <p:cxnSp>
        <p:nvCxnSpPr>
          <p:cNvPr id="76" name="Connector 75"/>
          <p:cNvCxnSpPr/>
          <p:nvPr/>
        </p:nvCxnSpPr>
        <p:spPr>
          <a:xfrm>
            <a:off x="8564879" y="1810512"/>
            <a:ext cx="0" cy="1133856"/>
          </a:xfrm>
          <a:prstGeom prst="line">
            <a:avLst/>
          </a:prstGeom>
          <a:ln w="12700">
            <a:solidFill>
              <a:srgbClr val="B76E22"/>
            </a:solidFill>
          </a:ln>
        </p:spPr>
      </p:cxnSp>
      <p:cxnSp>
        <p:nvCxnSpPr>
          <p:cNvPr id="77" name="Connector 76"/>
          <p:cNvCxnSpPr/>
          <p:nvPr/>
        </p:nvCxnSpPr>
        <p:spPr>
          <a:xfrm>
            <a:off x="8686800" y="1810512"/>
            <a:ext cx="0" cy="1133856"/>
          </a:xfrm>
          <a:prstGeom prst="line">
            <a:avLst/>
          </a:prstGeom>
          <a:ln w="12700">
            <a:solidFill>
              <a:srgbClr val="B76E22"/>
            </a:solidFill>
          </a:ln>
        </p:spPr>
      </p:cxnSp>
      <p:cxnSp>
        <p:nvCxnSpPr>
          <p:cNvPr id="78" name="Connector 77"/>
          <p:cNvCxnSpPr/>
          <p:nvPr/>
        </p:nvCxnSpPr>
        <p:spPr>
          <a:xfrm>
            <a:off x="8808720" y="1810512"/>
            <a:ext cx="0" cy="1133856"/>
          </a:xfrm>
          <a:prstGeom prst="line">
            <a:avLst/>
          </a:prstGeom>
          <a:ln w="12700">
            <a:solidFill>
              <a:srgbClr val="B76E22"/>
            </a:solidFill>
          </a:ln>
        </p:spPr>
      </p:cxnSp>
      <p:cxnSp>
        <p:nvCxnSpPr>
          <p:cNvPr id="79" name="Connector 78"/>
          <p:cNvCxnSpPr/>
          <p:nvPr/>
        </p:nvCxnSpPr>
        <p:spPr>
          <a:xfrm>
            <a:off x="8930640" y="1810512"/>
            <a:ext cx="0" cy="1133856"/>
          </a:xfrm>
          <a:prstGeom prst="line">
            <a:avLst/>
          </a:prstGeom>
          <a:ln w="12700">
            <a:solidFill>
              <a:srgbClr val="B76E22"/>
            </a:solidFill>
          </a:ln>
        </p:spPr>
      </p:cxnSp>
      <p:sp>
        <p:nvSpPr>
          <p:cNvPr id="80" name="TextBox 79"/>
          <p:cNvSpPr txBox="1"/>
          <p:nvPr/>
        </p:nvSpPr>
        <p:spPr>
          <a:xfrm>
            <a:off x="7315199" y="1737360"/>
            <a:ext cx="1645920" cy="1280160"/>
          </a:xfrm>
          <a:prstGeom prst="rect">
            <a:avLst/>
          </a:prstGeom>
          <a:noFill/>
        </p:spPr>
        <p:txBody>
          <a:bodyPr wrap="square" lIns="0" rIns="0" tIns="0" bIns="0" anchor="ctr">
            <a:noAutofit/>
          </a:bodyPr>
          <a:lstStyle/>
          <a:p>
            <a:pPr algn="ctr">
              <a:spcBef>
                <a:spcPts val="0"/>
              </a:spcBef>
              <a:spcAft>
                <a:spcPts val="200"/>
              </a:spcAft>
            </a:pPr>
            <a:r>
              <a:rPr sz="1700" b="1" i="0">
                <a:solidFill>
                  <a:srgbClr val="10263F"/>
                </a:solidFill>
                <a:latin typeface="Arial"/>
              </a:rPr>
              <a:t>Sign</a:t>
            </a:r>
          </a:p>
          <a:p>
            <a:pPr algn="ctr">
              <a:lnSpc>
                <a:spcPct val="105000"/>
              </a:lnSpc>
              <a:spcBef>
                <a:spcPts val="0"/>
              </a:spcBef>
              <a:spcAft>
                <a:spcPts val="0"/>
              </a:spcAft>
            </a:pPr>
            <a:r>
              <a:rPr sz="1150" b="0" i="0">
                <a:solidFill>
                  <a:srgbClr val="10263F"/>
                </a:solidFill>
                <a:latin typeface="Arial"/>
              </a:rPr>
              <a:t>send a signing request</a:t>
            </a:r>
          </a:p>
        </p:txBody>
      </p:sp>
      <p:cxnSp>
        <p:nvCxnSpPr>
          <p:cNvPr id="81" name="Connector 80"/>
          <p:cNvCxnSpPr/>
          <p:nvPr/>
        </p:nvCxnSpPr>
        <p:spPr>
          <a:xfrm>
            <a:off x="9052559" y="2377440"/>
            <a:ext cx="365760" cy="0"/>
          </a:xfrm>
          <a:prstGeom prst="line">
            <a:avLst/>
          </a:prstGeom>
          <a:ln w="22225">
            <a:solidFill>
              <a:srgbClr val="10263F"/>
            </a:solidFill>
            <a:tailEnd type="triangle" w="med" len="med"/>
          </a:ln>
        </p:spPr>
      </p:cxnSp>
      <p:sp>
        <p:nvSpPr>
          <p:cNvPr id="82" name="Rectangle 81"/>
          <p:cNvSpPr/>
          <p:nvPr/>
        </p:nvSpPr>
        <p:spPr>
          <a:xfrm>
            <a:off x="9418319" y="1737360"/>
            <a:ext cx="1828800" cy="1280160"/>
          </a:xfrm>
          <a:prstGeom prst="rect">
            <a:avLst/>
          </a:prstGeom>
          <a:solidFill>
            <a:srgbClr val="2B6CA3"/>
          </a:solidFill>
          <a:ln w="19050">
            <a:solidFill>
              <a:srgbClr val="10263F"/>
            </a:solidFill>
          </a:ln>
        </p:spPr>
        <p:txBody>
          <a:bodyPr rtlCol="0" anchor="ctr"/>
          <a:lstStyle/>
          <a:p>
            <a:pPr algn="ctr"/>
          </a:p>
        </p:txBody>
      </p:sp>
      <p:cxnSp>
        <p:nvCxnSpPr>
          <p:cNvPr id="83" name="Connector 82"/>
          <p:cNvCxnSpPr/>
          <p:nvPr/>
        </p:nvCxnSpPr>
        <p:spPr>
          <a:xfrm>
            <a:off x="9540239" y="1810512"/>
            <a:ext cx="0" cy="1133856"/>
          </a:xfrm>
          <a:prstGeom prst="line">
            <a:avLst/>
          </a:prstGeom>
          <a:ln w="12700">
            <a:solidFill>
              <a:srgbClr val="225682"/>
            </a:solidFill>
          </a:ln>
        </p:spPr>
      </p:cxnSp>
      <p:cxnSp>
        <p:nvCxnSpPr>
          <p:cNvPr id="84" name="Connector 83"/>
          <p:cNvCxnSpPr/>
          <p:nvPr/>
        </p:nvCxnSpPr>
        <p:spPr>
          <a:xfrm>
            <a:off x="9662160" y="1810512"/>
            <a:ext cx="0" cy="1133856"/>
          </a:xfrm>
          <a:prstGeom prst="line">
            <a:avLst/>
          </a:prstGeom>
          <a:ln w="12700">
            <a:solidFill>
              <a:srgbClr val="225682"/>
            </a:solidFill>
          </a:ln>
        </p:spPr>
      </p:cxnSp>
      <p:cxnSp>
        <p:nvCxnSpPr>
          <p:cNvPr id="85" name="Connector 84"/>
          <p:cNvCxnSpPr/>
          <p:nvPr/>
        </p:nvCxnSpPr>
        <p:spPr>
          <a:xfrm>
            <a:off x="9784080" y="1810512"/>
            <a:ext cx="0" cy="1133856"/>
          </a:xfrm>
          <a:prstGeom prst="line">
            <a:avLst/>
          </a:prstGeom>
          <a:ln w="12700">
            <a:solidFill>
              <a:srgbClr val="225682"/>
            </a:solidFill>
          </a:ln>
        </p:spPr>
      </p:cxnSp>
      <p:cxnSp>
        <p:nvCxnSpPr>
          <p:cNvPr id="86" name="Connector 85"/>
          <p:cNvCxnSpPr/>
          <p:nvPr/>
        </p:nvCxnSpPr>
        <p:spPr>
          <a:xfrm>
            <a:off x="9905999" y="1810512"/>
            <a:ext cx="0" cy="1133856"/>
          </a:xfrm>
          <a:prstGeom prst="line">
            <a:avLst/>
          </a:prstGeom>
          <a:ln w="12700">
            <a:solidFill>
              <a:srgbClr val="225682"/>
            </a:solidFill>
          </a:ln>
        </p:spPr>
      </p:cxnSp>
      <p:cxnSp>
        <p:nvCxnSpPr>
          <p:cNvPr id="87" name="Connector 86"/>
          <p:cNvCxnSpPr/>
          <p:nvPr/>
        </p:nvCxnSpPr>
        <p:spPr>
          <a:xfrm>
            <a:off x="10027919" y="1810512"/>
            <a:ext cx="0" cy="1133856"/>
          </a:xfrm>
          <a:prstGeom prst="line">
            <a:avLst/>
          </a:prstGeom>
          <a:ln w="12700">
            <a:solidFill>
              <a:srgbClr val="225682"/>
            </a:solidFill>
          </a:ln>
        </p:spPr>
      </p:cxnSp>
      <p:cxnSp>
        <p:nvCxnSpPr>
          <p:cNvPr id="88" name="Connector 87"/>
          <p:cNvCxnSpPr/>
          <p:nvPr/>
        </p:nvCxnSpPr>
        <p:spPr>
          <a:xfrm>
            <a:off x="10149840" y="1810512"/>
            <a:ext cx="0" cy="1133856"/>
          </a:xfrm>
          <a:prstGeom prst="line">
            <a:avLst/>
          </a:prstGeom>
          <a:ln w="12700">
            <a:solidFill>
              <a:srgbClr val="225682"/>
            </a:solidFill>
          </a:ln>
        </p:spPr>
      </p:cxnSp>
      <p:cxnSp>
        <p:nvCxnSpPr>
          <p:cNvPr id="89" name="Connector 88"/>
          <p:cNvCxnSpPr/>
          <p:nvPr/>
        </p:nvCxnSpPr>
        <p:spPr>
          <a:xfrm>
            <a:off x="10271760" y="1810512"/>
            <a:ext cx="0" cy="1133856"/>
          </a:xfrm>
          <a:prstGeom prst="line">
            <a:avLst/>
          </a:prstGeom>
          <a:ln w="12700">
            <a:solidFill>
              <a:srgbClr val="225682"/>
            </a:solidFill>
          </a:ln>
        </p:spPr>
      </p:cxnSp>
      <p:cxnSp>
        <p:nvCxnSpPr>
          <p:cNvPr id="90" name="Connector 89"/>
          <p:cNvCxnSpPr/>
          <p:nvPr/>
        </p:nvCxnSpPr>
        <p:spPr>
          <a:xfrm>
            <a:off x="10393679" y="1810512"/>
            <a:ext cx="0" cy="1133856"/>
          </a:xfrm>
          <a:prstGeom prst="line">
            <a:avLst/>
          </a:prstGeom>
          <a:ln w="12700">
            <a:solidFill>
              <a:srgbClr val="225682"/>
            </a:solidFill>
          </a:ln>
        </p:spPr>
      </p:cxnSp>
      <p:cxnSp>
        <p:nvCxnSpPr>
          <p:cNvPr id="91" name="Connector 90"/>
          <p:cNvCxnSpPr/>
          <p:nvPr/>
        </p:nvCxnSpPr>
        <p:spPr>
          <a:xfrm>
            <a:off x="10515599" y="1810512"/>
            <a:ext cx="0" cy="1133856"/>
          </a:xfrm>
          <a:prstGeom prst="line">
            <a:avLst/>
          </a:prstGeom>
          <a:ln w="12700">
            <a:solidFill>
              <a:srgbClr val="225682"/>
            </a:solidFill>
          </a:ln>
        </p:spPr>
      </p:cxnSp>
      <p:cxnSp>
        <p:nvCxnSpPr>
          <p:cNvPr id="92" name="Connector 91"/>
          <p:cNvCxnSpPr/>
          <p:nvPr/>
        </p:nvCxnSpPr>
        <p:spPr>
          <a:xfrm>
            <a:off x="10637520" y="1810512"/>
            <a:ext cx="0" cy="1133856"/>
          </a:xfrm>
          <a:prstGeom prst="line">
            <a:avLst/>
          </a:prstGeom>
          <a:ln w="12700">
            <a:solidFill>
              <a:srgbClr val="225682"/>
            </a:solidFill>
          </a:ln>
        </p:spPr>
      </p:cxnSp>
      <p:cxnSp>
        <p:nvCxnSpPr>
          <p:cNvPr id="93" name="Connector 92"/>
          <p:cNvCxnSpPr/>
          <p:nvPr/>
        </p:nvCxnSpPr>
        <p:spPr>
          <a:xfrm>
            <a:off x="10759440" y="1810512"/>
            <a:ext cx="0" cy="1133856"/>
          </a:xfrm>
          <a:prstGeom prst="line">
            <a:avLst/>
          </a:prstGeom>
          <a:ln w="12700">
            <a:solidFill>
              <a:srgbClr val="225682"/>
            </a:solidFill>
          </a:ln>
        </p:spPr>
      </p:cxnSp>
      <p:cxnSp>
        <p:nvCxnSpPr>
          <p:cNvPr id="94" name="Connector 93"/>
          <p:cNvCxnSpPr/>
          <p:nvPr/>
        </p:nvCxnSpPr>
        <p:spPr>
          <a:xfrm>
            <a:off x="10881359" y="1810512"/>
            <a:ext cx="0" cy="1133856"/>
          </a:xfrm>
          <a:prstGeom prst="line">
            <a:avLst/>
          </a:prstGeom>
          <a:ln w="12700">
            <a:solidFill>
              <a:srgbClr val="225682"/>
            </a:solidFill>
          </a:ln>
        </p:spPr>
      </p:cxnSp>
      <p:cxnSp>
        <p:nvCxnSpPr>
          <p:cNvPr id="95" name="Connector 94"/>
          <p:cNvCxnSpPr/>
          <p:nvPr/>
        </p:nvCxnSpPr>
        <p:spPr>
          <a:xfrm>
            <a:off x="11003279" y="1810512"/>
            <a:ext cx="0" cy="1133856"/>
          </a:xfrm>
          <a:prstGeom prst="line">
            <a:avLst/>
          </a:prstGeom>
          <a:ln w="12700">
            <a:solidFill>
              <a:srgbClr val="225682"/>
            </a:solidFill>
          </a:ln>
        </p:spPr>
      </p:cxnSp>
      <p:cxnSp>
        <p:nvCxnSpPr>
          <p:cNvPr id="96" name="Connector 95"/>
          <p:cNvCxnSpPr/>
          <p:nvPr/>
        </p:nvCxnSpPr>
        <p:spPr>
          <a:xfrm>
            <a:off x="11125200" y="1810512"/>
            <a:ext cx="0" cy="1133856"/>
          </a:xfrm>
          <a:prstGeom prst="line">
            <a:avLst/>
          </a:prstGeom>
          <a:ln w="12700">
            <a:solidFill>
              <a:srgbClr val="225682"/>
            </a:solidFill>
          </a:ln>
        </p:spPr>
      </p:cxnSp>
      <p:sp>
        <p:nvSpPr>
          <p:cNvPr id="97" name="TextBox 96"/>
          <p:cNvSpPr txBox="1"/>
          <p:nvPr/>
        </p:nvSpPr>
        <p:spPr>
          <a:xfrm>
            <a:off x="9509759" y="1737360"/>
            <a:ext cx="1645920" cy="1280160"/>
          </a:xfrm>
          <a:prstGeom prst="rect">
            <a:avLst/>
          </a:prstGeom>
          <a:noFill/>
        </p:spPr>
        <p:txBody>
          <a:bodyPr wrap="square" lIns="0" rIns="0" tIns="0" bIns="0" anchor="ctr">
            <a:noAutofit/>
          </a:bodyPr>
          <a:lstStyle/>
          <a:p>
            <a:pPr algn="ctr">
              <a:spcBef>
                <a:spcPts val="0"/>
              </a:spcBef>
              <a:spcAft>
                <a:spcPts val="200"/>
              </a:spcAft>
            </a:pPr>
            <a:r>
              <a:rPr sz="1700" b="1" i="0">
                <a:solidFill>
                  <a:srgbClr val="FFFFFF"/>
                </a:solidFill>
                <a:latin typeface="Arial"/>
              </a:rPr>
              <a:t>Receive</a:t>
            </a:r>
          </a:p>
          <a:p>
            <a:pPr algn="ctr">
              <a:lnSpc>
                <a:spcPct val="105000"/>
              </a:lnSpc>
              <a:spcBef>
                <a:spcPts val="0"/>
              </a:spcBef>
              <a:spcAft>
                <a:spcPts val="0"/>
              </a:spcAft>
            </a:pPr>
            <a:r>
              <a:rPr sz="1150" b="0" i="0">
                <a:solidFill>
                  <a:srgbClr val="FFFFFF"/>
                </a:solidFill>
                <a:latin typeface="Arial"/>
              </a:rPr>
              <a:t>the certificate</a:t>
            </a:r>
          </a:p>
        </p:txBody>
      </p:sp>
      <p:sp>
        <p:nvSpPr>
          <p:cNvPr id="98" name="Rounded Rectangle 97"/>
          <p:cNvSpPr/>
          <p:nvPr/>
        </p:nvSpPr>
        <p:spPr>
          <a:xfrm>
            <a:off x="704088" y="3584448"/>
            <a:ext cx="5120640" cy="1737360"/>
          </a:xfrm>
          <a:prstGeom prst="roundRect">
            <a:avLst>
              <a:gd name="adj" fmla="val 2105"/>
            </a:avLst>
          </a:prstGeom>
          <a:solidFill>
            <a:srgbClr val="8FA3B5"/>
          </a:solidFill>
          <a:ln>
            <a:noFill/>
          </a:ln>
        </p:spPr>
        <p:txBody>
          <a:bodyPr rtlCol="0" anchor="ctr"/>
          <a:lstStyle/>
          <a:p>
            <a:pPr algn="ctr"/>
          </a:p>
        </p:txBody>
      </p:sp>
      <p:sp>
        <p:nvSpPr>
          <p:cNvPr id="99" name="Rounded Rectangle 98"/>
          <p:cNvSpPr/>
          <p:nvPr/>
        </p:nvSpPr>
        <p:spPr>
          <a:xfrm>
            <a:off x="640080" y="3520440"/>
            <a:ext cx="5120640" cy="1737360"/>
          </a:xfrm>
          <a:prstGeom prst="roundRect">
            <a:avLst>
              <a:gd name="adj" fmla="val 2105"/>
            </a:avLst>
          </a:prstGeom>
          <a:solidFill>
            <a:srgbClr val="10263F"/>
          </a:solidFill>
          <a:ln w="22225">
            <a:solidFill>
              <a:srgbClr val="10263F"/>
            </a:solidFill>
          </a:ln>
        </p:spPr>
        <p:txBody>
          <a:bodyPr rtlCol="0" anchor="ctr"/>
          <a:lstStyle/>
          <a:p>
            <a:pPr algn="ctr"/>
          </a:p>
        </p:txBody>
      </p:sp>
      <p:sp>
        <p:nvSpPr>
          <p:cNvPr id="100" name="TextBox 99"/>
          <p:cNvSpPr txBox="1"/>
          <p:nvPr/>
        </p:nvSpPr>
        <p:spPr>
          <a:xfrm>
            <a:off x="822959" y="3685032"/>
            <a:ext cx="4754879" cy="1371600"/>
          </a:xfrm>
          <a:prstGeom prst="rect">
            <a:avLst/>
          </a:prstGeom>
          <a:noFill/>
        </p:spPr>
        <p:txBody>
          <a:bodyPr wrap="square" lIns="0" rIns="0" tIns="0" bIns="0" anchor="t">
            <a:noAutofit/>
          </a:bodyPr>
          <a:lstStyle/>
          <a:p>
            <a:pPr algn="l">
              <a:spcBef>
                <a:spcPts val="0"/>
              </a:spcBef>
              <a:spcAft>
                <a:spcPts val="200"/>
              </a:spcAft>
            </a:pPr>
            <a:r>
              <a:rPr sz="1200" b="0" i="0">
                <a:solidFill>
                  <a:srgbClr val="8FA3B5"/>
                </a:solidFill>
                <a:latin typeface="Courier New"/>
              </a:rPr>
              <a:t># static: declare a resolver once</a:t>
            </a:r>
          </a:p>
          <a:p>
            <a:pPr algn="l">
              <a:spcBef>
                <a:spcPts val="0"/>
              </a:spcBef>
              <a:spcAft>
                <a:spcPts val="200"/>
              </a:spcAft>
            </a:pPr>
            <a:r>
              <a:rPr sz="1200" b="0" i="0">
                <a:solidFill>
                  <a:srgbClr val="FFFFFF"/>
                </a:solidFill>
                <a:latin typeface="Courier New"/>
              </a:rPr>
              <a:t>certificatesresolvers.pebble.acme</a:t>
            </a:r>
          </a:p>
          <a:p>
            <a:pPr algn="l">
              <a:spcBef>
                <a:spcPts val="0"/>
              </a:spcBef>
              <a:spcAft>
                <a:spcPts val="200"/>
              </a:spcAft>
            </a:pPr>
            <a:r>
              <a:rPr sz="1200" b="0" i="0">
                <a:solidFill>
                  <a:srgbClr val="FFFFFF"/>
                </a:solidFill>
                <a:latin typeface="Courier New"/>
              </a:rPr>
              <a:t>    .caserver=https://pebble:14000/dir</a:t>
            </a:r>
          </a:p>
          <a:p>
            <a:pPr algn="l">
              <a:spcBef>
                <a:spcPts val="0"/>
              </a:spcBef>
              <a:spcAft>
                <a:spcPts val="200"/>
              </a:spcAft>
            </a:pPr>
            <a:r>
              <a:rPr sz="1200" b="0" i="0">
                <a:solidFill>
                  <a:srgbClr val="8FA3B5"/>
                </a:solidFill>
                <a:latin typeface="Courier New"/>
              </a:rPr>
              <a:t># per router: opt in with one label</a:t>
            </a:r>
          </a:p>
          <a:p>
            <a:pPr algn="l">
              <a:spcBef>
                <a:spcPts val="0"/>
              </a:spcBef>
              <a:spcAft>
                <a:spcPts val="200"/>
              </a:spcAft>
            </a:pPr>
            <a:r>
              <a:rPr sz="1200" b="0" i="0">
                <a:solidFill>
                  <a:srgbClr val="FFFFFF"/>
                </a:solidFill>
                <a:latin typeface="Courier New"/>
              </a:rPr>
              <a:t>tls.certresolver=pebble</a:t>
            </a:r>
          </a:p>
        </p:txBody>
      </p:sp>
      <p:sp>
        <p:nvSpPr>
          <p:cNvPr id="101" name="TextBox 100"/>
          <p:cNvSpPr txBox="1"/>
          <p:nvPr/>
        </p:nvSpPr>
        <p:spPr>
          <a:xfrm>
            <a:off x="6309360" y="3520440"/>
            <a:ext cx="5212080" cy="2194560"/>
          </a:xfrm>
          <a:prstGeom prst="rect">
            <a:avLst/>
          </a:prstGeom>
          <a:noFill/>
        </p:spPr>
        <p:txBody>
          <a:bodyPr wrap="square" lIns="0" rIns="0" tIns="0" bIns="0" anchor="t">
            <a:noAutofit/>
          </a:bodyPr>
          <a:lstStyle/>
          <a:p>
            <a:pPr algn="l">
              <a:lnSpc>
                <a:spcPct val="120000"/>
              </a:lnSpc>
              <a:spcBef>
                <a:spcPts val="0"/>
              </a:spcBef>
              <a:spcAft>
                <a:spcPts val="1000"/>
              </a:spcAft>
            </a:pPr>
            <a:r>
              <a:rPr sz="1600" b="1" i="0">
                <a:solidFill>
                  <a:srgbClr val="10263F"/>
                </a:solidFill>
                <a:latin typeface="Georgia"/>
              </a:rPr>
              <a:t>Traefik runs the whole exchange when a router appears for a name with no certificate.</a:t>
            </a:r>
          </a:p>
          <a:p>
            <a:pPr algn="l">
              <a:lnSpc>
                <a:spcPct val="125000"/>
              </a:lnSpc>
              <a:spcBef>
                <a:spcPts val="0"/>
              </a:spcBef>
              <a:spcAft>
                <a:spcPts val="0"/>
              </a:spcAft>
            </a:pPr>
            <a:r>
              <a:rPr sz="1400" b="0" i="0">
                <a:solidFill>
                  <a:srgbClr val="4A5A6B"/>
                </a:solidFill>
                <a:latin typeface="Arial"/>
              </a:rPr>
              <a:t>Results are saved in acme.json. Traefik starts renewing 30 days before expiry.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Rectangle 1"/>
          <p:cNvSpPr/>
          <p:nvPr/>
        </p:nvSpPr>
        <p:spPr>
          <a:xfrm>
            <a:off x="640080" y="731520"/>
            <a:ext cx="566928" cy="310896"/>
          </a:xfrm>
          <a:prstGeom prst="rect">
            <a:avLst/>
          </a:prstGeom>
          <a:solidFill>
            <a:srgbClr val="2F8F83"/>
          </a:solidFill>
          <a:ln w="15875">
            <a:solidFill>
              <a:srgbClr val="10263F"/>
            </a:solidFill>
          </a:ln>
        </p:spPr>
        <p:txBody>
          <a:bodyPr rtlCol="0" anchor="ctr"/>
          <a:lstStyle/>
          <a:p>
            <a:pPr algn="ctr"/>
          </a:p>
        </p:txBody>
      </p:sp>
      <p:cxnSp>
        <p:nvCxnSpPr>
          <p:cNvPr id="3" name="Connector 2"/>
          <p:cNvCxnSpPr/>
          <p:nvPr/>
        </p:nvCxnSpPr>
        <p:spPr>
          <a:xfrm>
            <a:off x="753465" y="777240"/>
            <a:ext cx="0" cy="219456"/>
          </a:xfrm>
          <a:prstGeom prst="line">
            <a:avLst/>
          </a:prstGeom>
          <a:ln w="9525">
            <a:solidFill>
              <a:srgbClr val="20645B"/>
            </a:solidFill>
          </a:ln>
        </p:spPr>
      </p:cxnSp>
      <p:cxnSp>
        <p:nvCxnSpPr>
          <p:cNvPr id="4" name="Connector 3"/>
          <p:cNvCxnSpPr/>
          <p:nvPr/>
        </p:nvCxnSpPr>
        <p:spPr>
          <a:xfrm>
            <a:off x="866851" y="777240"/>
            <a:ext cx="0" cy="219456"/>
          </a:xfrm>
          <a:prstGeom prst="line">
            <a:avLst/>
          </a:prstGeom>
          <a:ln w="9525">
            <a:solidFill>
              <a:srgbClr val="20645B"/>
            </a:solidFill>
          </a:ln>
        </p:spPr>
      </p:cxnSp>
      <p:cxnSp>
        <p:nvCxnSpPr>
          <p:cNvPr id="5" name="Connector 4"/>
          <p:cNvCxnSpPr/>
          <p:nvPr/>
        </p:nvCxnSpPr>
        <p:spPr>
          <a:xfrm>
            <a:off x="980236" y="777240"/>
            <a:ext cx="0" cy="219456"/>
          </a:xfrm>
          <a:prstGeom prst="line">
            <a:avLst/>
          </a:prstGeom>
          <a:ln w="9525">
            <a:solidFill>
              <a:srgbClr val="20645B"/>
            </a:solidFill>
          </a:ln>
        </p:spPr>
      </p:cxnSp>
      <p:cxnSp>
        <p:nvCxnSpPr>
          <p:cNvPr id="6" name="Connector 5"/>
          <p:cNvCxnSpPr/>
          <p:nvPr/>
        </p:nvCxnSpPr>
        <p:spPr>
          <a:xfrm>
            <a:off x="1093622" y="777240"/>
            <a:ext cx="0" cy="219456"/>
          </a:xfrm>
          <a:prstGeom prst="line">
            <a:avLst/>
          </a:prstGeom>
          <a:ln w="9525">
            <a:solidFill>
              <a:srgbClr val="20645B"/>
            </a:solidFill>
          </a:ln>
        </p:spPr>
      </p:cxnSp>
      <p:sp>
        <p:nvSpPr>
          <p:cNvPr id="7" name="TextBox 6"/>
          <p:cNvSpPr txBox="1"/>
          <p:nvPr/>
        </p:nvSpPr>
        <p:spPr>
          <a:xfrm>
            <a:off x="1417320" y="548640"/>
            <a:ext cx="10149840" cy="685800"/>
          </a:xfrm>
          <a:prstGeom prst="rect">
            <a:avLst/>
          </a:prstGeom>
          <a:noFill/>
        </p:spPr>
        <p:txBody>
          <a:bodyPr wrap="square" lIns="0" rIns="0" tIns="0" bIns="0" anchor="ctr">
            <a:noAutofit/>
          </a:bodyPr>
          <a:lstStyle/>
          <a:p>
            <a:pPr algn="l">
              <a:spcBef>
                <a:spcPts val="0"/>
              </a:spcBef>
              <a:spcAft>
                <a:spcPts val="0"/>
              </a:spcAft>
            </a:pPr>
            <a:r>
              <a:rPr sz="3000" b="1" i="0">
                <a:solidFill>
                  <a:srgbClr val="10263F"/>
                </a:solidFill>
                <a:latin typeface="Georgia"/>
              </a:rPr>
              <a:t>Challenge types and limits</a:t>
            </a:r>
          </a:p>
        </p:txBody>
      </p:sp>
      <p:cxnSp>
        <p:nvCxnSpPr>
          <p:cNvPr id="8" name="Connector 7"/>
          <p:cNvCxnSpPr/>
          <p:nvPr/>
        </p:nvCxnSpPr>
        <p:spPr>
          <a:xfrm>
            <a:off x="640080" y="1335024"/>
            <a:ext cx="10908792" cy="0"/>
          </a:xfrm>
          <a:prstGeom prst="line">
            <a:avLst/>
          </a:prstGeom>
          <a:ln w="15875">
            <a:solidFill>
              <a:srgbClr val="9AA5AE"/>
            </a:solidFill>
            <a:prstDash val="dash"/>
          </a:ln>
        </p:spPr>
      </p:cxnSp>
      <p:pic>
        <p:nvPicPr>
          <p:cNvPr id="9" name="Picture 8" descr="wave_band.png"/>
          <p:cNvPicPr>
            <a:picLocks noChangeAspect="1"/>
          </p:cNvPicPr>
          <p:nvPr/>
        </p:nvPicPr>
        <p:blipFill>
          <a:blip r:embed="rId2"/>
          <a:stretch>
            <a:fillRect/>
          </a:stretch>
        </p:blipFill>
        <p:spPr>
          <a:xfrm>
            <a:off x="0" y="6355080"/>
            <a:ext cx="12191695" cy="502845"/>
          </a:xfrm>
          <a:prstGeom prst="rect">
            <a:avLst/>
          </a:prstGeom>
        </p:spPr>
      </p:pic>
      <p:pic>
        <p:nvPicPr>
          <p:cNvPr id="10" name="Picture 9" descr="tug_small.png"/>
          <p:cNvPicPr>
            <a:picLocks noChangeAspect="1"/>
          </p:cNvPicPr>
          <p:nvPr/>
        </p:nvPicPr>
        <p:blipFill>
          <a:blip r:embed="rId3"/>
          <a:stretch>
            <a:fillRect/>
          </a:stretch>
        </p:blipFill>
        <p:spPr>
          <a:xfrm>
            <a:off x="6738424" y="6070981"/>
            <a:ext cx="566928" cy="457835"/>
          </a:xfrm>
          <a:prstGeom prst="rect">
            <a:avLst/>
          </a:prstGeom>
        </p:spPr>
      </p:pic>
      <p:sp>
        <p:nvSpPr>
          <p:cNvPr id="11" name="TextBox 10"/>
          <p:cNvSpPr txBox="1"/>
          <p:nvPr/>
        </p:nvSpPr>
        <p:spPr>
          <a:xfrm>
            <a:off x="640080" y="6126480"/>
            <a:ext cx="2743200" cy="228600"/>
          </a:xfrm>
          <a:prstGeom prst="rect">
            <a:avLst/>
          </a:prstGeom>
          <a:noFill/>
        </p:spPr>
        <p:txBody>
          <a:bodyPr wrap="square" lIns="0" rIns="0" tIns="0" bIns="0" anchor="ctr">
            <a:noAutofit/>
          </a:bodyPr>
          <a:lstStyle/>
          <a:p>
            <a:pPr algn="l">
              <a:spcBef>
                <a:spcPts val="0"/>
              </a:spcBef>
              <a:spcAft>
                <a:spcPts val="0"/>
              </a:spcAft>
            </a:pPr>
            <a:r>
              <a:rPr sz="1000" b="0" i="0">
                <a:solidFill>
                  <a:srgbClr val="7E8A97"/>
                </a:solidFill>
                <a:latin typeface="Arial"/>
              </a:rPr>
              <a:t>Traefik   9 / 15</a:t>
            </a:r>
          </a:p>
        </p:txBody>
      </p:sp>
      <p:pic>
        <p:nvPicPr>
          <p:cNvPr id="12" name="Picture 11" descr="logo_college.png"/>
          <p:cNvPicPr>
            <a:picLocks noChangeAspect="1"/>
          </p:cNvPicPr>
          <p:nvPr/>
        </p:nvPicPr>
        <p:blipFill>
          <a:blip r:embed="rId4"/>
          <a:stretch>
            <a:fillRect/>
          </a:stretch>
        </p:blipFill>
        <p:spPr>
          <a:xfrm>
            <a:off x="640080" y="91440"/>
            <a:ext cx="1625550" cy="475488"/>
          </a:xfrm>
          <a:prstGeom prst="rect">
            <a:avLst/>
          </a:prstGeom>
        </p:spPr>
      </p:pic>
      <p:pic>
        <p:nvPicPr>
          <p:cNvPr id="13" name="Picture 12" descr="logo_trust.png"/>
          <p:cNvPicPr>
            <a:picLocks noChangeAspect="1"/>
          </p:cNvPicPr>
          <p:nvPr/>
        </p:nvPicPr>
        <p:blipFill>
          <a:blip r:embed="rId5"/>
          <a:stretch>
            <a:fillRect/>
          </a:stretch>
        </p:blipFill>
        <p:spPr>
          <a:xfrm>
            <a:off x="10940472" y="91440"/>
            <a:ext cx="608400" cy="457200"/>
          </a:xfrm>
          <a:prstGeom prst="rect">
            <a:avLst/>
          </a:prstGeom>
        </p:spPr>
      </p:pic>
      <p:sp>
        <p:nvSpPr>
          <p:cNvPr id="14" name="TextBox 13"/>
          <p:cNvSpPr txBox="1"/>
          <p:nvPr/>
        </p:nvSpPr>
        <p:spPr>
          <a:xfrm>
            <a:off x="1325880" y="1554480"/>
            <a:ext cx="1737360" cy="274320"/>
          </a:xfrm>
          <a:prstGeom prst="rect">
            <a:avLst/>
          </a:prstGeom>
          <a:noFill/>
        </p:spPr>
        <p:txBody>
          <a:bodyPr wrap="square" lIns="0" rIns="0" tIns="0" bIns="0" anchor="t">
            <a:noAutofit/>
          </a:bodyPr>
          <a:lstStyle/>
          <a:p>
            <a:pPr algn="l">
              <a:spcBef>
                <a:spcPts val="0"/>
              </a:spcBef>
              <a:spcAft>
                <a:spcPts val="0"/>
              </a:spcAft>
            </a:pPr>
            <a:r>
              <a:rPr sz="1050" b="1" i="0">
                <a:solidFill>
                  <a:srgbClr val="7E8A97"/>
                </a:solidFill>
                <a:latin typeface="Arial"/>
              </a:rPr>
              <a:t>Challenge</a:t>
            </a:r>
          </a:p>
        </p:txBody>
      </p:sp>
      <p:sp>
        <p:nvSpPr>
          <p:cNvPr id="15" name="TextBox 14"/>
          <p:cNvSpPr txBox="1"/>
          <p:nvPr/>
        </p:nvSpPr>
        <p:spPr>
          <a:xfrm>
            <a:off x="3200400" y="1554480"/>
            <a:ext cx="3840480" cy="274320"/>
          </a:xfrm>
          <a:prstGeom prst="rect">
            <a:avLst/>
          </a:prstGeom>
          <a:noFill/>
        </p:spPr>
        <p:txBody>
          <a:bodyPr wrap="square" lIns="0" rIns="0" tIns="0" bIns="0" anchor="t">
            <a:noAutofit/>
          </a:bodyPr>
          <a:lstStyle/>
          <a:p>
            <a:pPr algn="l">
              <a:spcBef>
                <a:spcPts val="0"/>
              </a:spcBef>
              <a:spcAft>
                <a:spcPts val="0"/>
              </a:spcAft>
            </a:pPr>
            <a:r>
              <a:rPr sz="1050" b="1" i="0">
                <a:solidFill>
                  <a:srgbClr val="7E8A97"/>
                </a:solidFill>
                <a:latin typeface="Arial"/>
              </a:rPr>
              <a:t>What the authority checks</a:t>
            </a:r>
          </a:p>
        </p:txBody>
      </p:sp>
      <p:sp>
        <p:nvSpPr>
          <p:cNvPr id="16" name="TextBox 15"/>
          <p:cNvSpPr txBox="1"/>
          <p:nvPr/>
        </p:nvSpPr>
        <p:spPr>
          <a:xfrm>
            <a:off x="7223760" y="1554480"/>
            <a:ext cx="3108960" cy="274320"/>
          </a:xfrm>
          <a:prstGeom prst="rect">
            <a:avLst/>
          </a:prstGeom>
          <a:noFill/>
        </p:spPr>
        <p:txBody>
          <a:bodyPr wrap="square" lIns="0" rIns="0" tIns="0" bIns="0" anchor="t">
            <a:noAutofit/>
          </a:bodyPr>
          <a:lstStyle/>
          <a:p>
            <a:pPr algn="l">
              <a:spcBef>
                <a:spcPts val="0"/>
              </a:spcBef>
              <a:spcAft>
                <a:spcPts val="0"/>
              </a:spcAft>
            </a:pPr>
            <a:r>
              <a:rPr sz="1050" b="1" i="0">
                <a:solidFill>
                  <a:srgbClr val="7E8A97"/>
                </a:solidFill>
                <a:latin typeface="Arial"/>
              </a:rPr>
              <a:t>Needs</a:t>
            </a:r>
          </a:p>
        </p:txBody>
      </p:sp>
      <p:sp>
        <p:nvSpPr>
          <p:cNvPr id="17" name="TextBox 16"/>
          <p:cNvSpPr txBox="1"/>
          <p:nvPr/>
        </p:nvSpPr>
        <p:spPr>
          <a:xfrm>
            <a:off x="10424159" y="1554480"/>
            <a:ext cx="1097280" cy="274320"/>
          </a:xfrm>
          <a:prstGeom prst="rect">
            <a:avLst/>
          </a:prstGeom>
          <a:noFill/>
        </p:spPr>
        <p:txBody>
          <a:bodyPr wrap="square" lIns="0" rIns="0" tIns="0" bIns="0" anchor="t">
            <a:noAutofit/>
          </a:bodyPr>
          <a:lstStyle/>
          <a:p>
            <a:pPr algn="l">
              <a:spcBef>
                <a:spcPts val="0"/>
              </a:spcBef>
              <a:spcAft>
                <a:spcPts val="0"/>
              </a:spcAft>
            </a:pPr>
            <a:r>
              <a:rPr sz="1050" b="1" i="0">
                <a:solidFill>
                  <a:srgbClr val="7E8A97"/>
                </a:solidFill>
                <a:latin typeface="Arial"/>
              </a:rPr>
              <a:t>Wildcard</a:t>
            </a:r>
          </a:p>
        </p:txBody>
      </p:sp>
      <p:cxnSp>
        <p:nvCxnSpPr>
          <p:cNvPr id="18" name="Connector 17"/>
          <p:cNvCxnSpPr/>
          <p:nvPr/>
        </p:nvCxnSpPr>
        <p:spPr>
          <a:xfrm>
            <a:off x="640080" y="1901952"/>
            <a:ext cx="10908792" cy="0"/>
          </a:xfrm>
          <a:prstGeom prst="line">
            <a:avLst/>
          </a:prstGeom>
          <a:ln w="12700">
            <a:solidFill>
              <a:srgbClr val="C4CBD0"/>
            </a:solidFill>
          </a:ln>
        </p:spPr>
      </p:cxnSp>
      <p:sp>
        <p:nvSpPr>
          <p:cNvPr id="19" name="Rectangle 18"/>
          <p:cNvSpPr/>
          <p:nvPr/>
        </p:nvSpPr>
        <p:spPr>
          <a:xfrm>
            <a:off x="640080" y="2185416"/>
            <a:ext cx="457200" cy="256032"/>
          </a:xfrm>
          <a:prstGeom prst="rect">
            <a:avLst/>
          </a:prstGeom>
          <a:solidFill>
            <a:srgbClr val="C8472D"/>
          </a:solidFill>
          <a:ln w="15875">
            <a:solidFill>
              <a:srgbClr val="10263F"/>
            </a:solidFill>
          </a:ln>
        </p:spPr>
        <p:txBody>
          <a:bodyPr rtlCol="0" anchor="ctr"/>
          <a:lstStyle/>
          <a:p>
            <a:pPr algn="ctr"/>
          </a:p>
        </p:txBody>
      </p:sp>
      <p:cxnSp>
        <p:nvCxnSpPr>
          <p:cNvPr id="20" name="Connector 19"/>
          <p:cNvCxnSpPr/>
          <p:nvPr/>
        </p:nvCxnSpPr>
        <p:spPr>
          <a:xfrm>
            <a:off x="731519" y="2231136"/>
            <a:ext cx="0" cy="164592"/>
          </a:xfrm>
          <a:prstGeom prst="line">
            <a:avLst/>
          </a:prstGeom>
          <a:ln w="9525">
            <a:solidFill>
              <a:srgbClr val="8C311F"/>
            </a:solidFill>
          </a:ln>
        </p:spPr>
      </p:cxnSp>
      <p:cxnSp>
        <p:nvCxnSpPr>
          <p:cNvPr id="21" name="Connector 20"/>
          <p:cNvCxnSpPr/>
          <p:nvPr/>
        </p:nvCxnSpPr>
        <p:spPr>
          <a:xfrm>
            <a:off x="822959" y="2231136"/>
            <a:ext cx="0" cy="164592"/>
          </a:xfrm>
          <a:prstGeom prst="line">
            <a:avLst/>
          </a:prstGeom>
          <a:ln w="9525">
            <a:solidFill>
              <a:srgbClr val="8C311F"/>
            </a:solidFill>
          </a:ln>
        </p:spPr>
      </p:cxnSp>
      <p:cxnSp>
        <p:nvCxnSpPr>
          <p:cNvPr id="22" name="Connector 21"/>
          <p:cNvCxnSpPr/>
          <p:nvPr/>
        </p:nvCxnSpPr>
        <p:spPr>
          <a:xfrm>
            <a:off x="914400" y="2231136"/>
            <a:ext cx="0" cy="164592"/>
          </a:xfrm>
          <a:prstGeom prst="line">
            <a:avLst/>
          </a:prstGeom>
          <a:ln w="9525">
            <a:solidFill>
              <a:srgbClr val="8C311F"/>
            </a:solidFill>
          </a:ln>
        </p:spPr>
      </p:cxnSp>
      <p:cxnSp>
        <p:nvCxnSpPr>
          <p:cNvPr id="23" name="Connector 22"/>
          <p:cNvCxnSpPr/>
          <p:nvPr/>
        </p:nvCxnSpPr>
        <p:spPr>
          <a:xfrm>
            <a:off x="1005840" y="2231136"/>
            <a:ext cx="0" cy="164592"/>
          </a:xfrm>
          <a:prstGeom prst="line">
            <a:avLst/>
          </a:prstGeom>
          <a:ln w="9525">
            <a:solidFill>
              <a:srgbClr val="8C311F"/>
            </a:solidFill>
          </a:ln>
        </p:spPr>
      </p:cxnSp>
      <p:sp>
        <p:nvSpPr>
          <p:cNvPr id="24" name="TextBox 23"/>
          <p:cNvSpPr txBox="1"/>
          <p:nvPr/>
        </p:nvSpPr>
        <p:spPr>
          <a:xfrm>
            <a:off x="1325880" y="1901952"/>
            <a:ext cx="1737360" cy="822960"/>
          </a:xfrm>
          <a:prstGeom prst="rect">
            <a:avLst/>
          </a:prstGeom>
          <a:noFill/>
        </p:spPr>
        <p:txBody>
          <a:bodyPr wrap="square" lIns="0" rIns="0" tIns="0" bIns="0" anchor="ctr">
            <a:noAutofit/>
          </a:bodyPr>
          <a:lstStyle/>
          <a:p>
            <a:pPr algn="l">
              <a:lnSpc>
                <a:spcPct val="105000"/>
              </a:lnSpc>
              <a:spcBef>
                <a:spcPts val="0"/>
              </a:spcBef>
              <a:spcAft>
                <a:spcPts val="0"/>
              </a:spcAft>
            </a:pPr>
            <a:r>
              <a:rPr sz="1400" b="1" i="0">
                <a:solidFill>
                  <a:srgbClr val="10263F"/>
                </a:solidFill>
                <a:latin typeface="Georgia"/>
              </a:rPr>
              <a:t>HTTP-01</a:t>
            </a:r>
          </a:p>
        </p:txBody>
      </p:sp>
      <p:sp>
        <p:nvSpPr>
          <p:cNvPr id="25" name="TextBox 24"/>
          <p:cNvSpPr txBox="1"/>
          <p:nvPr/>
        </p:nvSpPr>
        <p:spPr>
          <a:xfrm>
            <a:off x="3200400" y="1901952"/>
            <a:ext cx="3840480" cy="822960"/>
          </a:xfrm>
          <a:prstGeom prst="rect">
            <a:avLst/>
          </a:prstGeom>
          <a:noFill/>
        </p:spPr>
        <p:txBody>
          <a:bodyPr wrap="square" lIns="0" rIns="0" tIns="0" bIns="0" anchor="ctr">
            <a:noAutofit/>
          </a:bodyPr>
          <a:lstStyle/>
          <a:p>
            <a:pPr algn="l">
              <a:lnSpc>
                <a:spcPct val="110000"/>
              </a:lnSpc>
              <a:spcBef>
                <a:spcPts val="0"/>
              </a:spcBef>
              <a:spcAft>
                <a:spcPts val="0"/>
              </a:spcAft>
            </a:pPr>
            <a:r>
              <a:rPr sz="1250" b="0" i="0">
                <a:solidFill>
                  <a:srgbClr val="4A5A6B"/>
                </a:solidFill>
                <a:latin typeface="Arial"/>
              </a:rPr>
              <a:t>The authority fetches a token over plain HTTP.</a:t>
            </a:r>
          </a:p>
        </p:txBody>
      </p:sp>
      <p:sp>
        <p:nvSpPr>
          <p:cNvPr id="26" name="TextBox 25"/>
          <p:cNvSpPr txBox="1"/>
          <p:nvPr/>
        </p:nvSpPr>
        <p:spPr>
          <a:xfrm>
            <a:off x="7223760" y="1901952"/>
            <a:ext cx="3108960" cy="822960"/>
          </a:xfrm>
          <a:prstGeom prst="rect">
            <a:avLst/>
          </a:prstGeom>
          <a:noFill/>
        </p:spPr>
        <p:txBody>
          <a:bodyPr wrap="square" lIns="0" rIns="0" tIns="0" bIns="0" anchor="ctr">
            <a:noAutofit/>
          </a:bodyPr>
          <a:lstStyle/>
          <a:p>
            <a:pPr algn="l">
              <a:lnSpc>
                <a:spcPct val="110000"/>
              </a:lnSpc>
              <a:spcBef>
                <a:spcPts val="0"/>
              </a:spcBef>
              <a:spcAft>
                <a:spcPts val="0"/>
              </a:spcAft>
            </a:pPr>
            <a:r>
              <a:rPr sz="1250" b="0" i="0">
                <a:solidFill>
                  <a:srgbClr val="4A5A6B"/>
                </a:solidFill>
                <a:latin typeface="Arial"/>
              </a:rPr>
              <a:t>Traefik reachable on port 80</a:t>
            </a:r>
          </a:p>
        </p:txBody>
      </p:sp>
      <p:sp>
        <p:nvSpPr>
          <p:cNvPr id="27" name="TextBox 26"/>
          <p:cNvSpPr txBox="1"/>
          <p:nvPr/>
        </p:nvSpPr>
        <p:spPr>
          <a:xfrm>
            <a:off x="10424159" y="1901952"/>
            <a:ext cx="1097280" cy="822960"/>
          </a:xfrm>
          <a:prstGeom prst="rect">
            <a:avLst/>
          </a:prstGeom>
          <a:noFill/>
        </p:spPr>
        <p:txBody>
          <a:bodyPr wrap="square" lIns="0" rIns="0" tIns="0" bIns="0" anchor="ctr">
            <a:noAutofit/>
          </a:bodyPr>
          <a:lstStyle/>
          <a:p>
            <a:pPr algn="l">
              <a:lnSpc>
                <a:spcPct val="110000"/>
              </a:lnSpc>
              <a:spcBef>
                <a:spcPts val="0"/>
              </a:spcBef>
              <a:spcAft>
                <a:spcPts val="0"/>
              </a:spcAft>
            </a:pPr>
            <a:r>
              <a:rPr sz="1250" b="0" i="0">
                <a:solidFill>
                  <a:srgbClr val="4A5A6B"/>
                </a:solidFill>
                <a:latin typeface="Arial"/>
              </a:rPr>
              <a:t>No</a:t>
            </a:r>
          </a:p>
        </p:txBody>
      </p:sp>
      <p:cxnSp>
        <p:nvCxnSpPr>
          <p:cNvPr id="28" name="Connector 27"/>
          <p:cNvCxnSpPr/>
          <p:nvPr/>
        </p:nvCxnSpPr>
        <p:spPr>
          <a:xfrm>
            <a:off x="640080" y="2724912"/>
            <a:ext cx="10908792" cy="0"/>
          </a:xfrm>
          <a:prstGeom prst="line">
            <a:avLst/>
          </a:prstGeom>
          <a:ln w="12700">
            <a:solidFill>
              <a:srgbClr val="C4CBD0"/>
            </a:solidFill>
          </a:ln>
        </p:spPr>
      </p:cxnSp>
      <p:sp>
        <p:nvSpPr>
          <p:cNvPr id="29" name="Rectangle 28"/>
          <p:cNvSpPr/>
          <p:nvPr/>
        </p:nvSpPr>
        <p:spPr>
          <a:xfrm>
            <a:off x="640080" y="3008376"/>
            <a:ext cx="457200" cy="256032"/>
          </a:xfrm>
          <a:prstGeom prst="rect">
            <a:avLst/>
          </a:prstGeom>
          <a:solidFill>
            <a:srgbClr val="E9B93A"/>
          </a:solidFill>
          <a:ln w="15875">
            <a:solidFill>
              <a:srgbClr val="10263F"/>
            </a:solidFill>
          </a:ln>
        </p:spPr>
        <p:txBody>
          <a:bodyPr rtlCol="0" anchor="ctr"/>
          <a:lstStyle/>
          <a:p>
            <a:pPr algn="ctr"/>
          </a:p>
        </p:txBody>
      </p:sp>
      <p:cxnSp>
        <p:nvCxnSpPr>
          <p:cNvPr id="30" name="Connector 29"/>
          <p:cNvCxnSpPr/>
          <p:nvPr/>
        </p:nvCxnSpPr>
        <p:spPr>
          <a:xfrm>
            <a:off x="731519" y="3054096"/>
            <a:ext cx="0" cy="164592"/>
          </a:xfrm>
          <a:prstGeom prst="line">
            <a:avLst/>
          </a:prstGeom>
          <a:ln w="9525">
            <a:solidFill>
              <a:srgbClr val="A38128"/>
            </a:solidFill>
          </a:ln>
        </p:spPr>
      </p:cxnSp>
      <p:cxnSp>
        <p:nvCxnSpPr>
          <p:cNvPr id="31" name="Connector 30"/>
          <p:cNvCxnSpPr/>
          <p:nvPr/>
        </p:nvCxnSpPr>
        <p:spPr>
          <a:xfrm>
            <a:off x="822959" y="3054096"/>
            <a:ext cx="0" cy="164592"/>
          </a:xfrm>
          <a:prstGeom prst="line">
            <a:avLst/>
          </a:prstGeom>
          <a:ln w="9525">
            <a:solidFill>
              <a:srgbClr val="A38128"/>
            </a:solidFill>
          </a:ln>
        </p:spPr>
      </p:cxnSp>
      <p:cxnSp>
        <p:nvCxnSpPr>
          <p:cNvPr id="32" name="Connector 31"/>
          <p:cNvCxnSpPr/>
          <p:nvPr/>
        </p:nvCxnSpPr>
        <p:spPr>
          <a:xfrm>
            <a:off x="914400" y="3054096"/>
            <a:ext cx="0" cy="164592"/>
          </a:xfrm>
          <a:prstGeom prst="line">
            <a:avLst/>
          </a:prstGeom>
          <a:ln w="9525">
            <a:solidFill>
              <a:srgbClr val="A38128"/>
            </a:solidFill>
          </a:ln>
        </p:spPr>
      </p:cxnSp>
      <p:cxnSp>
        <p:nvCxnSpPr>
          <p:cNvPr id="33" name="Connector 32"/>
          <p:cNvCxnSpPr/>
          <p:nvPr/>
        </p:nvCxnSpPr>
        <p:spPr>
          <a:xfrm>
            <a:off x="1005840" y="3054096"/>
            <a:ext cx="0" cy="164592"/>
          </a:xfrm>
          <a:prstGeom prst="line">
            <a:avLst/>
          </a:prstGeom>
          <a:ln w="9525">
            <a:solidFill>
              <a:srgbClr val="A38128"/>
            </a:solidFill>
          </a:ln>
        </p:spPr>
      </p:cxnSp>
      <p:sp>
        <p:nvSpPr>
          <p:cNvPr id="34" name="TextBox 33"/>
          <p:cNvSpPr txBox="1"/>
          <p:nvPr/>
        </p:nvSpPr>
        <p:spPr>
          <a:xfrm>
            <a:off x="1325880" y="2724912"/>
            <a:ext cx="1737360" cy="822960"/>
          </a:xfrm>
          <a:prstGeom prst="rect">
            <a:avLst/>
          </a:prstGeom>
          <a:noFill/>
        </p:spPr>
        <p:txBody>
          <a:bodyPr wrap="square" lIns="0" rIns="0" tIns="0" bIns="0" anchor="ctr">
            <a:noAutofit/>
          </a:bodyPr>
          <a:lstStyle/>
          <a:p>
            <a:pPr algn="l">
              <a:lnSpc>
                <a:spcPct val="105000"/>
              </a:lnSpc>
              <a:spcBef>
                <a:spcPts val="0"/>
              </a:spcBef>
              <a:spcAft>
                <a:spcPts val="0"/>
              </a:spcAft>
            </a:pPr>
            <a:r>
              <a:rPr sz="1400" b="1" i="0">
                <a:solidFill>
                  <a:srgbClr val="10263F"/>
                </a:solidFill>
                <a:latin typeface="Georgia"/>
              </a:rPr>
              <a:t>TLS-ALPN-01</a:t>
            </a:r>
          </a:p>
        </p:txBody>
      </p:sp>
      <p:sp>
        <p:nvSpPr>
          <p:cNvPr id="35" name="TextBox 34"/>
          <p:cNvSpPr txBox="1"/>
          <p:nvPr/>
        </p:nvSpPr>
        <p:spPr>
          <a:xfrm>
            <a:off x="3200400" y="2724912"/>
            <a:ext cx="3840480" cy="822960"/>
          </a:xfrm>
          <a:prstGeom prst="rect">
            <a:avLst/>
          </a:prstGeom>
          <a:noFill/>
        </p:spPr>
        <p:txBody>
          <a:bodyPr wrap="square" lIns="0" rIns="0" tIns="0" bIns="0" anchor="ctr">
            <a:noAutofit/>
          </a:bodyPr>
          <a:lstStyle/>
          <a:p>
            <a:pPr algn="l">
              <a:lnSpc>
                <a:spcPct val="110000"/>
              </a:lnSpc>
              <a:spcBef>
                <a:spcPts val="0"/>
              </a:spcBef>
              <a:spcAft>
                <a:spcPts val="0"/>
              </a:spcAft>
            </a:pPr>
            <a:r>
              <a:rPr sz="1250" b="0" i="0">
                <a:solidFill>
                  <a:srgbClr val="4A5A6B"/>
                </a:solidFill>
                <a:latin typeface="Arial"/>
              </a:rPr>
              <a:t>The authority makes a TLS connection and expects a special certificate.</a:t>
            </a:r>
          </a:p>
        </p:txBody>
      </p:sp>
      <p:sp>
        <p:nvSpPr>
          <p:cNvPr id="36" name="TextBox 35"/>
          <p:cNvSpPr txBox="1"/>
          <p:nvPr/>
        </p:nvSpPr>
        <p:spPr>
          <a:xfrm>
            <a:off x="7223760" y="2724912"/>
            <a:ext cx="3108960" cy="822960"/>
          </a:xfrm>
          <a:prstGeom prst="rect">
            <a:avLst/>
          </a:prstGeom>
          <a:noFill/>
        </p:spPr>
        <p:txBody>
          <a:bodyPr wrap="square" lIns="0" rIns="0" tIns="0" bIns="0" anchor="ctr">
            <a:noAutofit/>
          </a:bodyPr>
          <a:lstStyle/>
          <a:p>
            <a:pPr algn="l">
              <a:lnSpc>
                <a:spcPct val="110000"/>
              </a:lnSpc>
              <a:spcBef>
                <a:spcPts val="0"/>
              </a:spcBef>
              <a:spcAft>
                <a:spcPts val="0"/>
              </a:spcAft>
            </a:pPr>
            <a:r>
              <a:rPr sz="1250" b="0" i="0">
                <a:solidFill>
                  <a:srgbClr val="4A5A6B"/>
                </a:solidFill>
                <a:latin typeface="Arial"/>
              </a:rPr>
              <a:t>Traefik reachable on port 443</a:t>
            </a:r>
          </a:p>
        </p:txBody>
      </p:sp>
      <p:sp>
        <p:nvSpPr>
          <p:cNvPr id="37" name="TextBox 36"/>
          <p:cNvSpPr txBox="1"/>
          <p:nvPr/>
        </p:nvSpPr>
        <p:spPr>
          <a:xfrm>
            <a:off x="10424159" y="2724912"/>
            <a:ext cx="1097280" cy="822960"/>
          </a:xfrm>
          <a:prstGeom prst="rect">
            <a:avLst/>
          </a:prstGeom>
          <a:noFill/>
        </p:spPr>
        <p:txBody>
          <a:bodyPr wrap="square" lIns="0" rIns="0" tIns="0" bIns="0" anchor="ctr">
            <a:noAutofit/>
          </a:bodyPr>
          <a:lstStyle/>
          <a:p>
            <a:pPr algn="l">
              <a:lnSpc>
                <a:spcPct val="110000"/>
              </a:lnSpc>
              <a:spcBef>
                <a:spcPts val="0"/>
              </a:spcBef>
              <a:spcAft>
                <a:spcPts val="0"/>
              </a:spcAft>
            </a:pPr>
            <a:r>
              <a:rPr sz="1250" b="0" i="0">
                <a:solidFill>
                  <a:srgbClr val="4A5A6B"/>
                </a:solidFill>
                <a:latin typeface="Arial"/>
              </a:rPr>
              <a:t>No</a:t>
            </a:r>
          </a:p>
        </p:txBody>
      </p:sp>
      <p:cxnSp>
        <p:nvCxnSpPr>
          <p:cNvPr id="38" name="Connector 37"/>
          <p:cNvCxnSpPr/>
          <p:nvPr/>
        </p:nvCxnSpPr>
        <p:spPr>
          <a:xfrm>
            <a:off x="640080" y="3547872"/>
            <a:ext cx="10908792" cy="0"/>
          </a:xfrm>
          <a:prstGeom prst="line">
            <a:avLst/>
          </a:prstGeom>
          <a:ln w="12700">
            <a:solidFill>
              <a:srgbClr val="C4CBD0"/>
            </a:solidFill>
          </a:ln>
        </p:spPr>
      </p:cxnSp>
      <p:sp>
        <p:nvSpPr>
          <p:cNvPr id="39" name="Rectangle 38"/>
          <p:cNvSpPr/>
          <p:nvPr/>
        </p:nvSpPr>
        <p:spPr>
          <a:xfrm>
            <a:off x="640080" y="3831336"/>
            <a:ext cx="457200" cy="256032"/>
          </a:xfrm>
          <a:prstGeom prst="rect">
            <a:avLst/>
          </a:prstGeom>
          <a:solidFill>
            <a:srgbClr val="2F8F83"/>
          </a:solidFill>
          <a:ln w="15875">
            <a:solidFill>
              <a:srgbClr val="10263F"/>
            </a:solidFill>
          </a:ln>
        </p:spPr>
        <p:txBody>
          <a:bodyPr rtlCol="0" anchor="ctr"/>
          <a:lstStyle/>
          <a:p>
            <a:pPr algn="ctr"/>
          </a:p>
        </p:txBody>
      </p:sp>
      <p:cxnSp>
        <p:nvCxnSpPr>
          <p:cNvPr id="40" name="Connector 39"/>
          <p:cNvCxnSpPr/>
          <p:nvPr/>
        </p:nvCxnSpPr>
        <p:spPr>
          <a:xfrm>
            <a:off x="731519" y="3877056"/>
            <a:ext cx="0" cy="164592"/>
          </a:xfrm>
          <a:prstGeom prst="line">
            <a:avLst/>
          </a:prstGeom>
          <a:ln w="9525">
            <a:solidFill>
              <a:srgbClr val="20645B"/>
            </a:solidFill>
          </a:ln>
        </p:spPr>
      </p:cxnSp>
      <p:cxnSp>
        <p:nvCxnSpPr>
          <p:cNvPr id="41" name="Connector 40"/>
          <p:cNvCxnSpPr/>
          <p:nvPr/>
        </p:nvCxnSpPr>
        <p:spPr>
          <a:xfrm>
            <a:off x="822959" y="3877056"/>
            <a:ext cx="0" cy="164592"/>
          </a:xfrm>
          <a:prstGeom prst="line">
            <a:avLst/>
          </a:prstGeom>
          <a:ln w="9525">
            <a:solidFill>
              <a:srgbClr val="20645B"/>
            </a:solidFill>
          </a:ln>
        </p:spPr>
      </p:cxnSp>
      <p:cxnSp>
        <p:nvCxnSpPr>
          <p:cNvPr id="42" name="Connector 41"/>
          <p:cNvCxnSpPr/>
          <p:nvPr/>
        </p:nvCxnSpPr>
        <p:spPr>
          <a:xfrm>
            <a:off x="914400" y="3877056"/>
            <a:ext cx="0" cy="164592"/>
          </a:xfrm>
          <a:prstGeom prst="line">
            <a:avLst/>
          </a:prstGeom>
          <a:ln w="9525">
            <a:solidFill>
              <a:srgbClr val="20645B"/>
            </a:solidFill>
          </a:ln>
        </p:spPr>
      </p:cxnSp>
      <p:cxnSp>
        <p:nvCxnSpPr>
          <p:cNvPr id="43" name="Connector 42"/>
          <p:cNvCxnSpPr/>
          <p:nvPr/>
        </p:nvCxnSpPr>
        <p:spPr>
          <a:xfrm>
            <a:off x="1005840" y="3877056"/>
            <a:ext cx="0" cy="164592"/>
          </a:xfrm>
          <a:prstGeom prst="line">
            <a:avLst/>
          </a:prstGeom>
          <a:ln w="9525">
            <a:solidFill>
              <a:srgbClr val="20645B"/>
            </a:solidFill>
          </a:ln>
        </p:spPr>
      </p:cxnSp>
      <p:sp>
        <p:nvSpPr>
          <p:cNvPr id="44" name="TextBox 43"/>
          <p:cNvSpPr txBox="1"/>
          <p:nvPr/>
        </p:nvSpPr>
        <p:spPr>
          <a:xfrm>
            <a:off x="1325880" y="3547872"/>
            <a:ext cx="1737360" cy="822960"/>
          </a:xfrm>
          <a:prstGeom prst="rect">
            <a:avLst/>
          </a:prstGeom>
          <a:noFill/>
        </p:spPr>
        <p:txBody>
          <a:bodyPr wrap="square" lIns="0" rIns="0" tIns="0" bIns="0" anchor="ctr">
            <a:noAutofit/>
          </a:bodyPr>
          <a:lstStyle/>
          <a:p>
            <a:pPr algn="l">
              <a:lnSpc>
                <a:spcPct val="105000"/>
              </a:lnSpc>
              <a:spcBef>
                <a:spcPts val="0"/>
              </a:spcBef>
              <a:spcAft>
                <a:spcPts val="0"/>
              </a:spcAft>
            </a:pPr>
            <a:r>
              <a:rPr sz="1400" b="1" i="0">
                <a:solidFill>
                  <a:srgbClr val="10263F"/>
                </a:solidFill>
                <a:latin typeface="Georgia"/>
              </a:rPr>
              <a:t>DNS-01</a:t>
            </a:r>
          </a:p>
        </p:txBody>
      </p:sp>
      <p:sp>
        <p:nvSpPr>
          <p:cNvPr id="45" name="TextBox 44"/>
          <p:cNvSpPr txBox="1"/>
          <p:nvPr/>
        </p:nvSpPr>
        <p:spPr>
          <a:xfrm>
            <a:off x="3200400" y="3547872"/>
            <a:ext cx="3840480" cy="822960"/>
          </a:xfrm>
          <a:prstGeom prst="rect">
            <a:avLst/>
          </a:prstGeom>
          <a:noFill/>
        </p:spPr>
        <p:txBody>
          <a:bodyPr wrap="square" lIns="0" rIns="0" tIns="0" bIns="0" anchor="ctr">
            <a:noAutofit/>
          </a:bodyPr>
          <a:lstStyle/>
          <a:p>
            <a:pPr algn="l">
              <a:lnSpc>
                <a:spcPct val="110000"/>
              </a:lnSpc>
              <a:spcBef>
                <a:spcPts val="0"/>
              </a:spcBef>
              <a:spcAft>
                <a:spcPts val="0"/>
              </a:spcAft>
            </a:pPr>
            <a:r>
              <a:rPr sz="1250" b="0" i="0">
                <a:solidFill>
                  <a:srgbClr val="4A5A6B"/>
                </a:solidFill>
                <a:latin typeface="Arial"/>
              </a:rPr>
              <a:t>The authority looks for a token in a DNS record.</a:t>
            </a:r>
          </a:p>
        </p:txBody>
      </p:sp>
      <p:sp>
        <p:nvSpPr>
          <p:cNvPr id="46" name="TextBox 45"/>
          <p:cNvSpPr txBox="1"/>
          <p:nvPr/>
        </p:nvSpPr>
        <p:spPr>
          <a:xfrm>
            <a:off x="7223760" y="3547872"/>
            <a:ext cx="3108960" cy="822960"/>
          </a:xfrm>
          <a:prstGeom prst="rect">
            <a:avLst/>
          </a:prstGeom>
          <a:noFill/>
        </p:spPr>
        <p:txBody>
          <a:bodyPr wrap="square" lIns="0" rIns="0" tIns="0" bIns="0" anchor="ctr">
            <a:noAutofit/>
          </a:bodyPr>
          <a:lstStyle/>
          <a:p>
            <a:pPr algn="l">
              <a:lnSpc>
                <a:spcPct val="110000"/>
              </a:lnSpc>
              <a:spcBef>
                <a:spcPts val="0"/>
              </a:spcBef>
              <a:spcAft>
                <a:spcPts val="0"/>
              </a:spcAft>
            </a:pPr>
            <a:r>
              <a:rPr sz="1250" b="0" i="0">
                <a:solidFill>
                  <a:srgbClr val="4A5A6B"/>
                </a:solidFill>
                <a:latin typeface="Arial"/>
              </a:rPr>
              <a:t>DNS provider access</a:t>
            </a:r>
          </a:p>
        </p:txBody>
      </p:sp>
      <p:sp>
        <p:nvSpPr>
          <p:cNvPr id="47" name="TextBox 46"/>
          <p:cNvSpPr txBox="1"/>
          <p:nvPr/>
        </p:nvSpPr>
        <p:spPr>
          <a:xfrm>
            <a:off x="10424159" y="3547872"/>
            <a:ext cx="1097280" cy="822960"/>
          </a:xfrm>
          <a:prstGeom prst="rect">
            <a:avLst/>
          </a:prstGeom>
          <a:noFill/>
        </p:spPr>
        <p:txBody>
          <a:bodyPr wrap="square" lIns="0" rIns="0" tIns="0" bIns="0" anchor="ctr">
            <a:noAutofit/>
          </a:bodyPr>
          <a:lstStyle/>
          <a:p>
            <a:pPr algn="l">
              <a:lnSpc>
                <a:spcPct val="110000"/>
              </a:lnSpc>
              <a:spcBef>
                <a:spcPts val="0"/>
              </a:spcBef>
              <a:spcAft>
                <a:spcPts val="0"/>
              </a:spcAft>
            </a:pPr>
            <a:r>
              <a:rPr sz="1250" b="0" i="0">
                <a:solidFill>
                  <a:srgbClr val="4A5A6B"/>
                </a:solidFill>
                <a:latin typeface="Arial"/>
              </a:rPr>
              <a:t>Yes</a:t>
            </a:r>
          </a:p>
        </p:txBody>
      </p:sp>
      <p:cxnSp>
        <p:nvCxnSpPr>
          <p:cNvPr id="48" name="Connector 47"/>
          <p:cNvCxnSpPr/>
          <p:nvPr/>
        </p:nvCxnSpPr>
        <p:spPr>
          <a:xfrm>
            <a:off x="640080" y="4370832"/>
            <a:ext cx="10908792" cy="0"/>
          </a:xfrm>
          <a:prstGeom prst="line">
            <a:avLst/>
          </a:prstGeom>
          <a:ln w="12700">
            <a:solidFill>
              <a:srgbClr val="C4CBD0"/>
            </a:solidFill>
          </a:ln>
        </p:spPr>
      </p:cxnSp>
      <p:sp>
        <p:nvSpPr>
          <p:cNvPr id="49" name="Rounded Rectangle 48"/>
          <p:cNvSpPr/>
          <p:nvPr/>
        </p:nvSpPr>
        <p:spPr>
          <a:xfrm>
            <a:off x="640080" y="4617720"/>
            <a:ext cx="10908792" cy="1234440"/>
          </a:xfrm>
          <a:prstGeom prst="roundRect">
            <a:avLst>
              <a:gd name="adj" fmla="val 2962"/>
            </a:avLst>
          </a:prstGeom>
          <a:solidFill>
            <a:srgbClr val="FFFFFF"/>
          </a:solidFill>
          <a:ln w="19050">
            <a:solidFill>
              <a:srgbClr val="10263F"/>
            </a:solidFill>
          </a:ln>
        </p:spPr>
        <p:txBody>
          <a:bodyPr rtlCol="0" anchor="ctr"/>
          <a:lstStyle/>
          <a:p>
            <a:pPr algn="ctr"/>
          </a:p>
        </p:txBody>
      </p:sp>
      <p:sp>
        <p:nvSpPr>
          <p:cNvPr id="50" name="TextBox 49"/>
          <p:cNvSpPr txBox="1"/>
          <p:nvPr/>
        </p:nvSpPr>
        <p:spPr>
          <a:xfrm>
            <a:off x="914400" y="4617720"/>
            <a:ext cx="10424160" cy="1234440"/>
          </a:xfrm>
          <a:prstGeom prst="rect">
            <a:avLst/>
          </a:prstGeom>
          <a:noFill/>
        </p:spPr>
        <p:txBody>
          <a:bodyPr wrap="square" lIns="0" rIns="0" tIns="0" bIns="0" anchor="ctr">
            <a:noAutofit/>
          </a:bodyPr>
          <a:lstStyle/>
          <a:p>
            <a:pPr algn="l">
              <a:spcBef>
                <a:spcPts val="0"/>
              </a:spcBef>
              <a:spcAft>
                <a:spcPts val="300"/>
              </a:spcAft>
            </a:pPr>
            <a:r>
              <a:rPr sz="1400" b="1" i="0">
                <a:solidFill>
                  <a:srgbClr val="10263F"/>
                </a:solidFill>
                <a:latin typeface="Georgia"/>
              </a:rPr>
              <a:t>Limits</a:t>
            </a:r>
          </a:p>
          <a:p>
            <a:pPr algn="l">
              <a:lnSpc>
                <a:spcPct val="125000"/>
              </a:lnSpc>
              <a:spcBef>
                <a:spcPts val="0"/>
              </a:spcBef>
              <a:spcAft>
                <a:spcPts val="0"/>
              </a:spcAft>
            </a:pPr>
            <a:r>
              <a:rPr sz="1300" b="0" i="0">
                <a:solidFill>
                  <a:srgbClr val="4A5A6B"/>
                </a:solidFill>
                <a:latin typeface="Arial"/>
              </a:rPr>
              <a:t>A public authority must reach you, so you need a real domain.  Public authorities have rate limits, so test on a staging server.  The state lives in one file, so one Traefik instance is the simple case.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Rectangle 1"/>
          <p:cNvSpPr/>
          <p:nvPr/>
        </p:nvSpPr>
        <p:spPr>
          <a:xfrm>
            <a:off x="640080" y="731520"/>
            <a:ext cx="566928" cy="310896"/>
          </a:xfrm>
          <a:prstGeom prst="rect">
            <a:avLst/>
          </a:prstGeom>
          <a:solidFill>
            <a:srgbClr val="E58A2B"/>
          </a:solidFill>
          <a:ln w="15875">
            <a:solidFill>
              <a:srgbClr val="10263F"/>
            </a:solidFill>
          </a:ln>
        </p:spPr>
        <p:txBody>
          <a:bodyPr rtlCol="0" anchor="ctr"/>
          <a:lstStyle/>
          <a:p>
            <a:pPr algn="ctr"/>
          </a:p>
        </p:txBody>
      </p:sp>
      <p:cxnSp>
        <p:nvCxnSpPr>
          <p:cNvPr id="3" name="Connector 2"/>
          <p:cNvCxnSpPr/>
          <p:nvPr/>
        </p:nvCxnSpPr>
        <p:spPr>
          <a:xfrm>
            <a:off x="753465" y="777240"/>
            <a:ext cx="0" cy="219456"/>
          </a:xfrm>
          <a:prstGeom prst="line">
            <a:avLst/>
          </a:prstGeom>
          <a:ln w="9525">
            <a:solidFill>
              <a:srgbClr val="A0601E"/>
            </a:solidFill>
          </a:ln>
        </p:spPr>
      </p:cxnSp>
      <p:cxnSp>
        <p:nvCxnSpPr>
          <p:cNvPr id="4" name="Connector 3"/>
          <p:cNvCxnSpPr/>
          <p:nvPr/>
        </p:nvCxnSpPr>
        <p:spPr>
          <a:xfrm>
            <a:off x="866851" y="777240"/>
            <a:ext cx="0" cy="219456"/>
          </a:xfrm>
          <a:prstGeom prst="line">
            <a:avLst/>
          </a:prstGeom>
          <a:ln w="9525">
            <a:solidFill>
              <a:srgbClr val="A0601E"/>
            </a:solidFill>
          </a:ln>
        </p:spPr>
      </p:cxnSp>
      <p:cxnSp>
        <p:nvCxnSpPr>
          <p:cNvPr id="5" name="Connector 4"/>
          <p:cNvCxnSpPr/>
          <p:nvPr/>
        </p:nvCxnSpPr>
        <p:spPr>
          <a:xfrm>
            <a:off x="980236" y="777240"/>
            <a:ext cx="0" cy="219456"/>
          </a:xfrm>
          <a:prstGeom prst="line">
            <a:avLst/>
          </a:prstGeom>
          <a:ln w="9525">
            <a:solidFill>
              <a:srgbClr val="A0601E"/>
            </a:solidFill>
          </a:ln>
        </p:spPr>
      </p:cxnSp>
      <p:cxnSp>
        <p:nvCxnSpPr>
          <p:cNvPr id="6" name="Connector 5"/>
          <p:cNvCxnSpPr/>
          <p:nvPr/>
        </p:nvCxnSpPr>
        <p:spPr>
          <a:xfrm>
            <a:off x="1093622" y="777240"/>
            <a:ext cx="0" cy="219456"/>
          </a:xfrm>
          <a:prstGeom prst="line">
            <a:avLst/>
          </a:prstGeom>
          <a:ln w="9525">
            <a:solidFill>
              <a:srgbClr val="A0601E"/>
            </a:solidFill>
          </a:ln>
        </p:spPr>
      </p:cxnSp>
      <p:sp>
        <p:nvSpPr>
          <p:cNvPr id="7" name="TextBox 6"/>
          <p:cNvSpPr txBox="1"/>
          <p:nvPr/>
        </p:nvSpPr>
        <p:spPr>
          <a:xfrm>
            <a:off x="1417320" y="548640"/>
            <a:ext cx="10149840" cy="685800"/>
          </a:xfrm>
          <a:prstGeom prst="rect">
            <a:avLst/>
          </a:prstGeom>
          <a:noFill/>
        </p:spPr>
        <p:txBody>
          <a:bodyPr wrap="square" lIns="0" rIns="0" tIns="0" bIns="0" anchor="ctr">
            <a:noAutofit/>
          </a:bodyPr>
          <a:lstStyle/>
          <a:p>
            <a:pPr algn="l">
              <a:spcBef>
                <a:spcPts val="0"/>
              </a:spcBef>
              <a:spcAft>
                <a:spcPts val="0"/>
              </a:spcAft>
            </a:pPr>
            <a:r>
              <a:rPr sz="3000" b="1" i="0">
                <a:solidFill>
                  <a:srgbClr val="10263F"/>
                </a:solidFill>
                <a:latin typeface="Georgia"/>
              </a:rPr>
              <a:t>Demo 2: automatic HTTPS</a:t>
            </a:r>
          </a:p>
        </p:txBody>
      </p:sp>
      <p:cxnSp>
        <p:nvCxnSpPr>
          <p:cNvPr id="8" name="Connector 7"/>
          <p:cNvCxnSpPr/>
          <p:nvPr/>
        </p:nvCxnSpPr>
        <p:spPr>
          <a:xfrm>
            <a:off x="640080" y="1335024"/>
            <a:ext cx="10908792" cy="0"/>
          </a:xfrm>
          <a:prstGeom prst="line">
            <a:avLst/>
          </a:prstGeom>
          <a:ln w="15875">
            <a:solidFill>
              <a:srgbClr val="9AA5AE"/>
            </a:solidFill>
            <a:prstDash val="dash"/>
          </a:ln>
        </p:spPr>
      </p:cxnSp>
      <p:pic>
        <p:nvPicPr>
          <p:cNvPr id="9" name="Picture 8" descr="wave_band.png"/>
          <p:cNvPicPr>
            <a:picLocks noChangeAspect="1"/>
          </p:cNvPicPr>
          <p:nvPr/>
        </p:nvPicPr>
        <p:blipFill>
          <a:blip r:embed="rId2"/>
          <a:stretch>
            <a:fillRect/>
          </a:stretch>
        </p:blipFill>
        <p:spPr>
          <a:xfrm>
            <a:off x="0" y="6355080"/>
            <a:ext cx="12191695" cy="502845"/>
          </a:xfrm>
          <a:prstGeom prst="rect">
            <a:avLst/>
          </a:prstGeom>
        </p:spPr>
      </p:pic>
      <p:pic>
        <p:nvPicPr>
          <p:cNvPr id="10" name="Picture 9" descr="tug_small.png"/>
          <p:cNvPicPr>
            <a:picLocks noChangeAspect="1"/>
          </p:cNvPicPr>
          <p:nvPr/>
        </p:nvPicPr>
        <p:blipFill>
          <a:blip r:embed="rId3"/>
          <a:stretch>
            <a:fillRect/>
          </a:stretch>
        </p:blipFill>
        <p:spPr>
          <a:xfrm>
            <a:off x="7505113" y="6070981"/>
            <a:ext cx="566928" cy="457835"/>
          </a:xfrm>
          <a:prstGeom prst="rect">
            <a:avLst/>
          </a:prstGeom>
        </p:spPr>
      </p:pic>
      <p:sp>
        <p:nvSpPr>
          <p:cNvPr id="11" name="TextBox 10"/>
          <p:cNvSpPr txBox="1"/>
          <p:nvPr/>
        </p:nvSpPr>
        <p:spPr>
          <a:xfrm>
            <a:off x="640080" y="6126480"/>
            <a:ext cx="2743200" cy="228600"/>
          </a:xfrm>
          <a:prstGeom prst="rect">
            <a:avLst/>
          </a:prstGeom>
          <a:noFill/>
        </p:spPr>
        <p:txBody>
          <a:bodyPr wrap="square" lIns="0" rIns="0" tIns="0" bIns="0" anchor="ctr">
            <a:noAutofit/>
          </a:bodyPr>
          <a:lstStyle/>
          <a:p>
            <a:pPr algn="l">
              <a:spcBef>
                <a:spcPts val="0"/>
              </a:spcBef>
              <a:spcAft>
                <a:spcPts val="0"/>
              </a:spcAft>
            </a:pPr>
            <a:r>
              <a:rPr sz="1000" b="0" i="0">
                <a:solidFill>
                  <a:srgbClr val="7E8A97"/>
                </a:solidFill>
                <a:latin typeface="Arial"/>
              </a:rPr>
              <a:t>Traefik   10 / 15</a:t>
            </a:r>
          </a:p>
        </p:txBody>
      </p:sp>
      <p:pic>
        <p:nvPicPr>
          <p:cNvPr id="12" name="Picture 11" descr="logo_college.png"/>
          <p:cNvPicPr>
            <a:picLocks noChangeAspect="1"/>
          </p:cNvPicPr>
          <p:nvPr/>
        </p:nvPicPr>
        <p:blipFill>
          <a:blip r:embed="rId4"/>
          <a:stretch>
            <a:fillRect/>
          </a:stretch>
        </p:blipFill>
        <p:spPr>
          <a:xfrm>
            <a:off x="640080" y="91440"/>
            <a:ext cx="1625550" cy="475488"/>
          </a:xfrm>
          <a:prstGeom prst="rect">
            <a:avLst/>
          </a:prstGeom>
        </p:spPr>
      </p:pic>
      <p:pic>
        <p:nvPicPr>
          <p:cNvPr id="13" name="Picture 12" descr="logo_trust.png"/>
          <p:cNvPicPr>
            <a:picLocks noChangeAspect="1"/>
          </p:cNvPicPr>
          <p:nvPr/>
        </p:nvPicPr>
        <p:blipFill>
          <a:blip r:embed="rId5"/>
          <a:stretch>
            <a:fillRect/>
          </a:stretch>
        </p:blipFill>
        <p:spPr>
          <a:xfrm>
            <a:off x="10940472" y="91440"/>
            <a:ext cx="608400" cy="457200"/>
          </a:xfrm>
          <a:prstGeom prst="rect">
            <a:avLst/>
          </a:prstGeom>
        </p:spPr>
      </p:pic>
      <p:sp>
        <p:nvSpPr>
          <p:cNvPr id="14" name="Rounded Rectangle 13"/>
          <p:cNvSpPr/>
          <p:nvPr/>
        </p:nvSpPr>
        <p:spPr>
          <a:xfrm>
            <a:off x="640080" y="1828800"/>
            <a:ext cx="457200" cy="457200"/>
          </a:xfrm>
          <a:prstGeom prst="roundRect">
            <a:avLst>
              <a:gd name="adj" fmla="val 10000"/>
            </a:avLst>
          </a:prstGeom>
          <a:solidFill>
            <a:srgbClr val="C8472D"/>
          </a:solidFill>
          <a:ln w="19050">
            <a:solidFill>
              <a:srgbClr val="10263F"/>
            </a:solidFill>
          </a:ln>
        </p:spPr>
        <p:txBody>
          <a:bodyPr rtlCol="0" anchor="ctr"/>
          <a:lstStyle/>
          <a:p>
            <a:pPr algn="ctr"/>
          </a:p>
        </p:txBody>
      </p:sp>
      <p:sp>
        <p:nvSpPr>
          <p:cNvPr id="15" name="TextBox 14"/>
          <p:cNvSpPr txBox="1"/>
          <p:nvPr/>
        </p:nvSpPr>
        <p:spPr>
          <a:xfrm>
            <a:off x="640080" y="1828800"/>
            <a:ext cx="457200" cy="457200"/>
          </a:xfrm>
          <a:prstGeom prst="rect">
            <a:avLst/>
          </a:prstGeom>
          <a:noFill/>
        </p:spPr>
        <p:txBody>
          <a:bodyPr wrap="square" lIns="0" rIns="0" tIns="0" bIns="0" anchor="ctr">
            <a:noAutofit/>
          </a:bodyPr>
          <a:lstStyle/>
          <a:p>
            <a:pPr algn="ctr">
              <a:spcBef>
                <a:spcPts val="0"/>
              </a:spcBef>
              <a:spcAft>
                <a:spcPts val="0"/>
              </a:spcAft>
            </a:pPr>
            <a:r>
              <a:rPr sz="1800" b="1" i="0">
                <a:solidFill>
                  <a:srgbClr val="FFFFFF"/>
                </a:solidFill>
                <a:latin typeface="Georgia"/>
              </a:rPr>
              <a:t>1</a:t>
            </a:r>
          </a:p>
        </p:txBody>
      </p:sp>
      <p:sp>
        <p:nvSpPr>
          <p:cNvPr id="16" name="TextBox 15"/>
          <p:cNvSpPr txBox="1"/>
          <p:nvPr/>
        </p:nvSpPr>
        <p:spPr>
          <a:xfrm>
            <a:off x="1325880" y="1554480"/>
            <a:ext cx="4800600" cy="1005840"/>
          </a:xfrm>
          <a:prstGeom prst="rect">
            <a:avLst/>
          </a:prstGeom>
          <a:noFill/>
        </p:spPr>
        <p:txBody>
          <a:bodyPr wrap="square" lIns="0" rIns="0" tIns="0" bIns="0" anchor="ctr">
            <a:noAutofit/>
          </a:bodyPr>
          <a:lstStyle/>
          <a:p>
            <a:pPr algn="l">
              <a:lnSpc>
                <a:spcPct val="112000"/>
              </a:lnSpc>
              <a:spcBef>
                <a:spcPts val="0"/>
              </a:spcBef>
              <a:spcAft>
                <a:spcPts val="0"/>
              </a:spcAft>
            </a:pPr>
            <a:r>
              <a:rPr sz="1550" b="0" i="0">
                <a:solidFill>
                  <a:srgbClr val="10263F"/>
                </a:solidFill>
                <a:latin typeface="Arial"/>
              </a:rPr>
              <a:t>Start Pebble, Let's Encrypt's test server, and Traefik.</a:t>
            </a:r>
          </a:p>
        </p:txBody>
      </p:sp>
      <p:cxnSp>
        <p:nvCxnSpPr>
          <p:cNvPr id="17" name="Connector 16"/>
          <p:cNvCxnSpPr/>
          <p:nvPr/>
        </p:nvCxnSpPr>
        <p:spPr>
          <a:xfrm>
            <a:off x="640080" y="2560320"/>
            <a:ext cx="5486400" cy="0"/>
          </a:xfrm>
          <a:prstGeom prst="line">
            <a:avLst/>
          </a:prstGeom>
          <a:ln w="12700">
            <a:solidFill>
              <a:srgbClr val="C4CBD0"/>
            </a:solidFill>
          </a:ln>
        </p:spPr>
      </p:cxnSp>
      <p:sp>
        <p:nvSpPr>
          <p:cNvPr id="18" name="Rounded Rectangle 17"/>
          <p:cNvSpPr/>
          <p:nvPr/>
        </p:nvSpPr>
        <p:spPr>
          <a:xfrm>
            <a:off x="640080" y="2834639"/>
            <a:ext cx="457200" cy="457200"/>
          </a:xfrm>
          <a:prstGeom prst="roundRect">
            <a:avLst>
              <a:gd name="adj" fmla="val 10000"/>
            </a:avLst>
          </a:prstGeom>
          <a:solidFill>
            <a:srgbClr val="E9B93A"/>
          </a:solidFill>
          <a:ln w="19050">
            <a:solidFill>
              <a:srgbClr val="10263F"/>
            </a:solidFill>
          </a:ln>
        </p:spPr>
        <p:txBody>
          <a:bodyPr rtlCol="0" anchor="ctr"/>
          <a:lstStyle/>
          <a:p>
            <a:pPr algn="ctr"/>
          </a:p>
        </p:txBody>
      </p:sp>
      <p:sp>
        <p:nvSpPr>
          <p:cNvPr id="19" name="TextBox 18"/>
          <p:cNvSpPr txBox="1"/>
          <p:nvPr/>
        </p:nvSpPr>
        <p:spPr>
          <a:xfrm>
            <a:off x="640080" y="2834639"/>
            <a:ext cx="457200" cy="457200"/>
          </a:xfrm>
          <a:prstGeom prst="rect">
            <a:avLst/>
          </a:prstGeom>
          <a:noFill/>
        </p:spPr>
        <p:txBody>
          <a:bodyPr wrap="square" lIns="0" rIns="0" tIns="0" bIns="0" anchor="ctr">
            <a:noAutofit/>
          </a:bodyPr>
          <a:lstStyle/>
          <a:p>
            <a:pPr algn="ctr">
              <a:spcBef>
                <a:spcPts val="0"/>
              </a:spcBef>
              <a:spcAft>
                <a:spcPts val="0"/>
              </a:spcAft>
            </a:pPr>
            <a:r>
              <a:rPr sz="1800" b="1" i="0">
                <a:solidFill>
                  <a:srgbClr val="10263F"/>
                </a:solidFill>
                <a:latin typeface="Georgia"/>
              </a:rPr>
              <a:t>2</a:t>
            </a:r>
          </a:p>
        </p:txBody>
      </p:sp>
      <p:sp>
        <p:nvSpPr>
          <p:cNvPr id="20" name="TextBox 19"/>
          <p:cNvSpPr txBox="1"/>
          <p:nvPr/>
        </p:nvSpPr>
        <p:spPr>
          <a:xfrm>
            <a:off x="1325880" y="2560320"/>
            <a:ext cx="4800600" cy="1005840"/>
          </a:xfrm>
          <a:prstGeom prst="rect">
            <a:avLst/>
          </a:prstGeom>
          <a:noFill/>
        </p:spPr>
        <p:txBody>
          <a:bodyPr wrap="square" lIns="0" rIns="0" tIns="0" bIns="0" anchor="ctr">
            <a:noAutofit/>
          </a:bodyPr>
          <a:lstStyle/>
          <a:p>
            <a:pPr algn="l">
              <a:lnSpc>
                <a:spcPct val="112000"/>
              </a:lnSpc>
              <a:spcBef>
                <a:spcPts val="0"/>
              </a:spcBef>
              <a:spcAft>
                <a:spcPts val="0"/>
              </a:spcAft>
            </a:pPr>
            <a:r>
              <a:rPr sz="1550" b="0" i="0">
                <a:solidFill>
                  <a:srgbClr val="10263F"/>
                </a:solidFill>
                <a:latin typeface="Arial"/>
              </a:rPr>
              <a:t>Start an app whose router asks for the resolver.</a:t>
            </a:r>
          </a:p>
        </p:txBody>
      </p:sp>
      <p:cxnSp>
        <p:nvCxnSpPr>
          <p:cNvPr id="21" name="Connector 20"/>
          <p:cNvCxnSpPr/>
          <p:nvPr/>
        </p:nvCxnSpPr>
        <p:spPr>
          <a:xfrm>
            <a:off x="640080" y="3566160"/>
            <a:ext cx="5486400" cy="0"/>
          </a:xfrm>
          <a:prstGeom prst="line">
            <a:avLst/>
          </a:prstGeom>
          <a:ln w="12700">
            <a:solidFill>
              <a:srgbClr val="C4CBD0"/>
            </a:solidFill>
          </a:ln>
        </p:spPr>
      </p:cxnSp>
      <p:sp>
        <p:nvSpPr>
          <p:cNvPr id="22" name="Rounded Rectangle 21"/>
          <p:cNvSpPr/>
          <p:nvPr/>
        </p:nvSpPr>
        <p:spPr>
          <a:xfrm>
            <a:off x="640080" y="3840480"/>
            <a:ext cx="457200" cy="457200"/>
          </a:xfrm>
          <a:prstGeom prst="roundRect">
            <a:avLst>
              <a:gd name="adj" fmla="val 10000"/>
            </a:avLst>
          </a:prstGeom>
          <a:solidFill>
            <a:srgbClr val="2F8F83"/>
          </a:solidFill>
          <a:ln w="19050">
            <a:solidFill>
              <a:srgbClr val="10263F"/>
            </a:solidFill>
          </a:ln>
        </p:spPr>
        <p:txBody>
          <a:bodyPr rtlCol="0" anchor="ctr"/>
          <a:lstStyle/>
          <a:p>
            <a:pPr algn="ctr"/>
          </a:p>
        </p:txBody>
      </p:sp>
      <p:sp>
        <p:nvSpPr>
          <p:cNvPr id="23" name="TextBox 22"/>
          <p:cNvSpPr txBox="1"/>
          <p:nvPr/>
        </p:nvSpPr>
        <p:spPr>
          <a:xfrm>
            <a:off x="640080" y="3840480"/>
            <a:ext cx="457200" cy="457200"/>
          </a:xfrm>
          <a:prstGeom prst="rect">
            <a:avLst/>
          </a:prstGeom>
          <a:noFill/>
        </p:spPr>
        <p:txBody>
          <a:bodyPr wrap="square" lIns="0" rIns="0" tIns="0" bIns="0" anchor="ctr">
            <a:noAutofit/>
          </a:bodyPr>
          <a:lstStyle/>
          <a:p>
            <a:pPr algn="ctr">
              <a:spcBef>
                <a:spcPts val="0"/>
              </a:spcBef>
              <a:spcAft>
                <a:spcPts val="0"/>
              </a:spcAft>
            </a:pPr>
            <a:r>
              <a:rPr sz="1800" b="1" i="0">
                <a:solidFill>
                  <a:srgbClr val="FFFFFF"/>
                </a:solidFill>
                <a:latin typeface="Georgia"/>
              </a:rPr>
              <a:t>3</a:t>
            </a:r>
          </a:p>
        </p:txBody>
      </p:sp>
      <p:sp>
        <p:nvSpPr>
          <p:cNvPr id="24" name="TextBox 23"/>
          <p:cNvSpPr txBox="1"/>
          <p:nvPr/>
        </p:nvSpPr>
        <p:spPr>
          <a:xfrm>
            <a:off x="1325880" y="3566160"/>
            <a:ext cx="4800600" cy="1005840"/>
          </a:xfrm>
          <a:prstGeom prst="rect">
            <a:avLst/>
          </a:prstGeom>
          <a:noFill/>
        </p:spPr>
        <p:txBody>
          <a:bodyPr wrap="square" lIns="0" rIns="0" tIns="0" bIns="0" anchor="ctr">
            <a:noAutofit/>
          </a:bodyPr>
          <a:lstStyle/>
          <a:p>
            <a:pPr algn="l">
              <a:lnSpc>
                <a:spcPct val="112000"/>
              </a:lnSpc>
              <a:spcBef>
                <a:spcPts val="0"/>
              </a:spcBef>
              <a:spcAft>
                <a:spcPts val="0"/>
              </a:spcAft>
            </a:pPr>
            <a:r>
              <a:rPr sz="1550" b="0" i="0">
                <a:solidFill>
                  <a:srgbClr val="10263F"/>
                </a:solidFill>
                <a:latin typeface="Arial"/>
              </a:rPr>
              <a:t>Watch Traefik's log: it gets the certificate by itself.</a:t>
            </a:r>
          </a:p>
        </p:txBody>
      </p:sp>
      <p:cxnSp>
        <p:nvCxnSpPr>
          <p:cNvPr id="25" name="Connector 24"/>
          <p:cNvCxnSpPr/>
          <p:nvPr/>
        </p:nvCxnSpPr>
        <p:spPr>
          <a:xfrm>
            <a:off x="640080" y="4572000"/>
            <a:ext cx="5486400" cy="0"/>
          </a:xfrm>
          <a:prstGeom prst="line">
            <a:avLst/>
          </a:prstGeom>
          <a:ln w="12700">
            <a:solidFill>
              <a:srgbClr val="C4CBD0"/>
            </a:solidFill>
          </a:ln>
        </p:spPr>
      </p:cxnSp>
      <p:sp>
        <p:nvSpPr>
          <p:cNvPr id="26" name="Rounded Rectangle 25"/>
          <p:cNvSpPr/>
          <p:nvPr/>
        </p:nvSpPr>
        <p:spPr>
          <a:xfrm>
            <a:off x="640080" y="4846320"/>
            <a:ext cx="457200" cy="457200"/>
          </a:xfrm>
          <a:prstGeom prst="roundRect">
            <a:avLst>
              <a:gd name="adj" fmla="val 10000"/>
            </a:avLst>
          </a:prstGeom>
          <a:solidFill>
            <a:srgbClr val="E58A2B"/>
          </a:solidFill>
          <a:ln w="19050">
            <a:solidFill>
              <a:srgbClr val="10263F"/>
            </a:solidFill>
          </a:ln>
        </p:spPr>
        <p:txBody>
          <a:bodyPr rtlCol="0" anchor="ctr"/>
          <a:lstStyle/>
          <a:p>
            <a:pPr algn="ctr"/>
          </a:p>
        </p:txBody>
      </p:sp>
      <p:sp>
        <p:nvSpPr>
          <p:cNvPr id="27" name="TextBox 26"/>
          <p:cNvSpPr txBox="1"/>
          <p:nvPr/>
        </p:nvSpPr>
        <p:spPr>
          <a:xfrm>
            <a:off x="640080" y="4846320"/>
            <a:ext cx="457200" cy="457200"/>
          </a:xfrm>
          <a:prstGeom prst="rect">
            <a:avLst/>
          </a:prstGeom>
          <a:noFill/>
        </p:spPr>
        <p:txBody>
          <a:bodyPr wrap="square" lIns="0" rIns="0" tIns="0" bIns="0" anchor="ctr">
            <a:noAutofit/>
          </a:bodyPr>
          <a:lstStyle/>
          <a:p>
            <a:pPr algn="ctr">
              <a:spcBef>
                <a:spcPts val="0"/>
              </a:spcBef>
              <a:spcAft>
                <a:spcPts val="0"/>
              </a:spcAft>
            </a:pPr>
            <a:r>
              <a:rPr sz="1800" b="1" i="0">
                <a:solidFill>
                  <a:srgbClr val="10263F"/>
                </a:solidFill>
                <a:latin typeface="Georgia"/>
              </a:rPr>
              <a:t>4</a:t>
            </a:r>
          </a:p>
        </p:txBody>
      </p:sp>
      <p:sp>
        <p:nvSpPr>
          <p:cNvPr id="28" name="TextBox 27"/>
          <p:cNvSpPr txBox="1"/>
          <p:nvPr/>
        </p:nvSpPr>
        <p:spPr>
          <a:xfrm>
            <a:off x="1325880" y="4572000"/>
            <a:ext cx="4800600" cy="1005840"/>
          </a:xfrm>
          <a:prstGeom prst="rect">
            <a:avLst/>
          </a:prstGeom>
          <a:noFill/>
        </p:spPr>
        <p:txBody>
          <a:bodyPr wrap="square" lIns="0" rIns="0" tIns="0" bIns="0" anchor="ctr">
            <a:noAutofit/>
          </a:bodyPr>
          <a:lstStyle/>
          <a:p>
            <a:pPr algn="l">
              <a:lnSpc>
                <a:spcPct val="112000"/>
              </a:lnSpc>
              <a:spcBef>
                <a:spcPts val="0"/>
              </a:spcBef>
              <a:spcAft>
                <a:spcPts val="0"/>
              </a:spcAft>
            </a:pPr>
            <a:r>
              <a:rPr sz="1550" b="0" i="0">
                <a:solidFill>
                  <a:srgbClr val="10263F"/>
                </a:solidFill>
                <a:latin typeface="Arial"/>
              </a:rPr>
              <a:t>Check the certificate from the client side.</a:t>
            </a:r>
          </a:p>
        </p:txBody>
      </p:sp>
      <p:sp>
        <p:nvSpPr>
          <p:cNvPr id="29" name="TextBox 28"/>
          <p:cNvSpPr txBox="1"/>
          <p:nvPr/>
        </p:nvSpPr>
        <p:spPr>
          <a:xfrm>
            <a:off x="640080" y="5623560"/>
            <a:ext cx="5486400" cy="365760"/>
          </a:xfrm>
          <a:prstGeom prst="rect">
            <a:avLst/>
          </a:prstGeom>
          <a:noFill/>
        </p:spPr>
        <p:txBody>
          <a:bodyPr wrap="square" lIns="0" rIns="0" tIns="0" bIns="0" anchor="t">
            <a:noAutofit/>
          </a:bodyPr>
          <a:lstStyle/>
          <a:p>
            <a:pPr algn="l">
              <a:spcBef>
                <a:spcPts val="0"/>
              </a:spcBef>
              <a:spcAft>
                <a:spcPts val="0"/>
              </a:spcAft>
            </a:pPr>
            <a:r>
              <a:rPr sz="1150" b="0" i="1">
                <a:solidFill>
                  <a:srgbClr val="7E8A97"/>
                </a:solidFill>
                <a:latin typeface="Arial"/>
              </a:rPr>
              <a:t>A test authority, not Let's Encrypt itself.</a:t>
            </a:r>
          </a:p>
        </p:txBody>
      </p:sp>
      <p:sp>
        <p:nvSpPr>
          <p:cNvPr id="30" name="Rounded Rectangle 29"/>
          <p:cNvSpPr/>
          <p:nvPr/>
        </p:nvSpPr>
        <p:spPr>
          <a:xfrm>
            <a:off x="6647688" y="1664208"/>
            <a:ext cx="4965192" cy="2103120"/>
          </a:xfrm>
          <a:prstGeom prst="roundRect">
            <a:avLst>
              <a:gd name="adj" fmla="val 1739"/>
            </a:avLst>
          </a:prstGeom>
          <a:solidFill>
            <a:srgbClr val="8FA3B5"/>
          </a:solidFill>
          <a:ln>
            <a:noFill/>
          </a:ln>
        </p:spPr>
        <p:txBody>
          <a:bodyPr rtlCol="0" anchor="ctr"/>
          <a:lstStyle/>
          <a:p>
            <a:pPr algn="ctr"/>
          </a:p>
        </p:txBody>
      </p:sp>
      <p:sp>
        <p:nvSpPr>
          <p:cNvPr id="31" name="Rounded Rectangle 30"/>
          <p:cNvSpPr/>
          <p:nvPr/>
        </p:nvSpPr>
        <p:spPr>
          <a:xfrm>
            <a:off x="6583680" y="1600200"/>
            <a:ext cx="4965192" cy="2103120"/>
          </a:xfrm>
          <a:prstGeom prst="roundRect">
            <a:avLst>
              <a:gd name="adj" fmla="val 1739"/>
            </a:avLst>
          </a:prstGeom>
          <a:solidFill>
            <a:srgbClr val="10263F"/>
          </a:solidFill>
          <a:ln w="22225">
            <a:solidFill>
              <a:srgbClr val="10263F"/>
            </a:solidFill>
          </a:ln>
        </p:spPr>
        <p:txBody>
          <a:bodyPr rtlCol="0" anchor="ctr"/>
          <a:lstStyle/>
          <a:p>
            <a:pPr algn="ctr"/>
          </a:p>
        </p:txBody>
      </p:sp>
      <p:sp>
        <p:nvSpPr>
          <p:cNvPr id="32" name="TextBox 31"/>
          <p:cNvSpPr txBox="1"/>
          <p:nvPr/>
        </p:nvSpPr>
        <p:spPr>
          <a:xfrm>
            <a:off x="6766560" y="1764792"/>
            <a:ext cx="4599431" cy="1737360"/>
          </a:xfrm>
          <a:prstGeom prst="rect">
            <a:avLst/>
          </a:prstGeom>
          <a:noFill/>
        </p:spPr>
        <p:txBody>
          <a:bodyPr wrap="square" lIns="0" rIns="0" tIns="0" bIns="0" anchor="t">
            <a:noAutofit/>
          </a:bodyPr>
          <a:lstStyle/>
          <a:p>
            <a:pPr algn="l">
              <a:spcBef>
                <a:spcPts val="0"/>
              </a:spcBef>
              <a:spcAft>
                <a:spcPts val="200"/>
              </a:spcAft>
            </a:pPr>
            <a:r>
              <a:rPr sz="1150" b="0" i="0">
                <a:solidFill>
                  <a:srgbClr val="FFFFFF"/>
                </a:solidFill>
                <a:latin typeface="Courier New"/>
              </a:rPr>
              <a:t>INF Register... providerName=pebble.acme</a:t>
            </a:r>
          </a:p>
          <a:p>
            <a:pPr algn="l">
              <a:spcBef>
                <a:spcPts val="0"/>
              </a:spcBef>
              <a:spcAft>
                <a:spcPts val="200"/>
              </a:spcAft>
            </a:pPr>
            <a:r>
              <a:rPr sz="1150" b="0" i="0">
                <a:solidFill>
                  <a:srgbClr val="FFFFFF"/>
                </a:solidFill>
                <a:latin typeface="Courier New"/>
              </a:rPr>
              <a:t>INF Obtaining bundled SAN certificate.</a:t>
            </a:r>
          </a:p>
          <a:p>
            <a:pPr algn="l">
              <a:spcBef>
                <a:spcPts val="0"/>
              </a:spcBef>
              <a:spcAft>
                <a:spcPts val="200"/>
              </a:spcAft>
            </a:pPr>
            <a:r>
              <a:rPr sz="1150" b="0" i="0">
                <a:solidFill>
                  <a:srgbClr val="8FA3B5"/>
                </a:solidFill>
                <a:latin typeface="Courier New"/>
              </a:rPr>
              <a:t>    domains=secure.demo.test</a:t>
            </a:r>
          </a:p>
          <a:p>
            <a:pPr algn="l">
              <a:spcBef>
                <a:spcPts val="0"/>
              </a:spcBef>
              <a:spcAft>
                <a:spcPts val="200"/>
              </a:spcAft>
            </a:pPr>
            <a:r>
              <a:rPr sz="1150" b="0" i="0">
                <a:solidFill>
                  <a:srgbClr val="FFFFFF"/>
                </a:solidFill>
                <a:latin typeface="Courier New"/>
              </a:rPr>
              <a:t>INF Validations succeeded;</a:t>
            </a:r>
          </a:p>
          <a:p>
            <a:pPr algn="l">
              <a:spcBef>
                <a:spcPts val="0"/>
              </a:spcBef>
              <a:spcAft>
                <a:spcPts val="200"/>
              </a:spcAft>
            </a:pPr>
            <a:r>
              <a:rPr sz="1150" b="0" i="0">
                <a:solidFill>
                  <a:srgbClr val="FFFFFF"/>
                </a:solidFill>
                <a:latin typeface="Courier New"/>
              </a:rPr>
              <a:t>    requesting certificates.</a:t>
            </a:r>
          </a:p>
          <a:p>
            <a:pPr algn="l">
              <a:spcBef>
                <a:spcPts val="0"/>
              </a:spcBef>
              <a:spcAft>
                <a:spcPts val="200"/>
              </a:spcAft>
            </a:pPr>
            <a:r>
              <a:rPr sz="1150" b="0" i="0">
                <a:solidFill>
                  <a:srgbClr val="8AE0B0"/>
                </a:solidFill>
                <a:latin typeface="Courier New"/>
              </a:rPr>
              <a:t>INF Server responded with a certificate.</a:t>
            </a:r>
          </a:p>
        </p:txBody>
      </p:sp>
      <p:sp>
        <p:nvSpPr>
          <p:cNvPr id="33" name="Rounded Rectangle 32"/>
          <p:cNvSpPr/>
          <p:nvPr/>
        </p:nvSpPr>
        <p:spPr>
          <a:xfrm>
            <a:off x="6647688" y="4041648"/>
            <a:ext cx="4965192" cy="1600200"/>
          </a:xfrm>
          <a:prstGeom prst="roundRect">
            <a:avLst>
              <a:gd name="adj" fmla="val 2285"/>
            </a:avLst>
          </a:prstGeom>
          <a:solidFill>
            <a:srgbClr val="8FA3B5"/>
          </a:solidFill>
          <a:ln>
            <a:noFill/>
          </a:ln>
        </p:spPr>
        <p:txBody>
          <a:bodyPr rtlCol="0" anchor="ctr"/>
          <a:lstStyle/>
          <a:p>
            <a:pPr algn="ctr"/>
          </a:p>
        </p:txBody>
      </p:sp>
      <p:sp>
        <p:nvSpPr>
          <p:cNvPr id="34" name="Rounded Rectangle 33"/>
          <p:cNvSpPr/>
          <p:nvPr/>
        </p:nvSpPr>
        <p:spPr>
          <a:xfrm>
            <a:off x="6583680" y="3977639"/>
            <a:ext cx="4965192" cy="1600200"/>
          </a:xfrm>
          <a:prstGeom prst="roundRect">
            <a:avLst>
              <a:gd name="adj" fmla="val 2285"/>
            </a:avLst>
          </a:prstGeom>
          <a:solidFill>
            <a:srgbClr val="10263F"/>
          </a:solidFill>
          <a:ln w="22225">
            <a:solidFill>
              <a:srgbClr val="10263F"/>
            </a:solidFill>
          </a:ln>
        </p:spPr>
        <p:txBody>
          <a:bodyPr rtlCol="0" anchor="ctr"/>
          <a:lstStyle/>
          <a:p>
            <a:pPr algn="ctr"/>
          </a:p>
        </p:txBody>
      </p:sp>
      <p:sp>
        <p:nvSpPr>
          <p:cNvPr id="35" name="TextBox 34"/>
          <p:cNvSpPr txBox="1"/>
          <p:nvPr/>
        </p:nvSpPr>
        <p:spPr>
          <a:xfrm>
            <a:off x="6766560" y="4142231"/>
            <a:ext cx="4599431" cy="1234440"/>
          </a:xfrm>
          <a:prstGeom prst="rect">
            <a:avLst/>
          </a:prstGeom>
          <a:noFill/>
        </p:spPr>
        <p:txBody>
          <a:bodyPr wrap="square" lIns="0" rIns="0" tIns="0" bIns="0" anchor="t">
            <a:noAutofit/>
          </a:bodyPr>
          <a:lstStyle/>
          <a:p>
            <a:pPr algn="l">
              <a:spcBef>
                <a:spcPts val="0"/>
              </a:spcBef>
              <a:spcAft>
                <a:spcPts val="200"/>
              </a:spcAft>
            </a:pPr>
            <a:r>
              <a:rPr sz="1150" b="0" i="0">
                <a:solidFill>
                  <a:srgbClr val="FFFFFF"/>
                </a:solidFill>
                <a:latin typeface="Courier New"/>
              </a:rPr>
              <a:t>issuer=CN=Pebble Intermediate CA 225f7d</a:t>
            </a:r>
          </a:p>
          <a:p>
            <a:pPr algn="l">
              <a:spcBef>
                <a:spcPts val="0"/>
              </a:spcBef>
              <a:spcAft>
                <a:spcPts val="200"/>
              </a:spcAft>
            </a:pPr>
            <a:r>
              <a:rPr sz="1150" b="0" i="0">
                <a:solidFill>
                  <a:srgbClr val="FFFFFF"/>
                </a:solidFill>
                <a:latin typeface="Courier New"/>
              </a:rPr>
              <a:t>TLSv1.3, TLS_AES_128_GCM_SHA256</a:t>
            </a:r>
          </a:p>
          <a:p>
            <a:pPr algn="l">
              <a:spcBef>
                <a:spcPts val="0"/>
              </a:spcBef>
              <a:spcAft>
                <a:spcPts val="200"/>
              </a:spcAft>
            </a:pPr>
            <a:r>
              <a:rPr sz="1150" b="0" i="0">
                <a:solidFill>
                  <a:srgbClr val="8AE0B0"/>
                </a:solidFill>
                <a:latin typeface="Courier New"/>
              </a:rPr>
              <a:t>Verify return code: 0 (ok)</a:t>
            </a:r>
          </a:p>
          <a:p>
            <a:pPr algn="l">
              <a:spcBef>
                <a:spcPts val="0"/>
              </a:spcBef>
              <a:spcAft>
                <a:spcPts val="200"/>
              </a:spcAft>
            </a:pPr>
            <a:r>
              <a:rPr sz="1150" b="0" i="0">
                <a:solidFill>
                  <a:srgbClr val="8FA3B5"/>
                </a:solidFill>
                <a:latin typeface="Courier New"/>
              </a:rPr>
              <a:t>(without the Pebble root: fails)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Rectangle 1"/>
          <p:cNvSpPr/>
          <p:nvPr/>
        </p:nvSpPr>
        <p:spPr>
          <a:xfrm>
            <a:off x="640080" y="731520"/>
            <a:ext cx="566928" cy="310896"/>
          </a:xfrm>
          <a:prstGeom prst="rect">
            <a:avLst/>
          </a:prstGeom>
          <a:solidFill>
            <a:srgbClr val="2B6CA3"/>
          </a:solidFill>
          <a:ln w="15875">
            <a:solidFill>
              <a:srgbClr val="10263F"/>
            </a:solidFill>
          </a:ln>
        </p:spPr>
        <p:txBody>
          <a:bodyPr rtlCol="0" anchor="ctr"/>
          <a:lstStyle/>
          <a:p>
            <a:pPr algn="ctr"/>
          </a:p>
        </p:txBody>
      </p:sp>
      <p:cxnSp>
        <p:nvCxnSpPr>
          <p:cNvPr id="3" name="Connector 2"/>
          <p:cNvCxnSpPr/>
          <p:nvPr/>
        </p:nvCxnSpPr>
        <p:spPr>
          <a:xfrm>
            <a:off x="753465" y="777240"/>
            <a:ext cx="0" cy="219456"/>
          </a:xfrm>
          <a:prstGeom prst="line">
            <a:avLst/>
          </a:prstGeom>
          <a:ln w="9525">
            <a:solidFill>
              <a:srgbClr val="1E4B72"/>
            </a:solidFill>
          </a:ln>
        </p:spPr>
      </p:cxnSp>
      <p:cxnSp>
        <p:nvCxnSpPr>
          <p:cNvPr id="4" name="Connector 3"/>
          <p:cNvCxnSpPr/>
          <p:nvPr/>
        </p:nvCxnSpPr>
        <p:spPr>
          <a:xfrm>
            <a:off x="866851" y="777240"/>
            <a:ext cx="0" cy="219456"/>
          </a:xfrm>
          <a:prstGeom prst="line">
            <a:avLst/>
          </a:prstGeom>
          <a:ln w="9525">
            <a:solidFill>
              <a:srgbClr val="1E4B72"/>
            </a:solidFill>
          </a:ln>
        </p:spPr>
      </p:cxnSp>
      <p:cxnSp>
        <p:nvCxnSpPr>
          <p:cNvPr id="5" name="Connector 4"/>
          <p:cNvCxnSpPr/>
          <p:nvPr/>
        </p:nvCxnSpPr>
        <p:spPr>
          <a:xfrm>
            <a:off x="980236" y="777240"/>
            <a:ext cx="0" cy="219456"/>
          </a:xfrm>
          <a:prstGeom prst="line">
            <a:avLst/>
          </a:prstGeom>
          <a:ln w="9525">
            <a:solidFill>
              <a:srgbClr val="1E4B72"/>
            </a:solidFill>
          </a:ln>
        </p:spPr>
      </p:cxnSp>
      <p:cxnSp>
        <p:nvCxnSpPr>
          <p:cNvPr id="6" name="Connector 5"/>
          <p:cNvCxnSpPr/>
          <p:nvPr/>
        </p:nvCxnSpPr>
        <p:spPr>
          <a:xfrm>
            <a:off x="1093622" y="777240"/>
            <a:ext cx="0" cy="219456"/>
          </a:xfrm>
          <a:prstGeom prst="line">
            <a:avLst/>
          </a:prstGeom>
          <a:ln w="9525">
            <a:solidFill>
              <a:srgbClr val="1E4B72"/>
            </a:solidFill>
          </a:ln>
        </p:spPr>
      </p:cxnSp>
      <p:sp>
        <p:nvSpPr>
          <p:cNvPr id="7" name="TextBox 6"/>
          <p:cNvSpPr txBox="1"/>
          <p:nvPr/>
        </p:nvSpPr>
        <p:spPr>
          <a:xfrm>
            <a:off x="1417320" y="548640"/>
            <a:ext cx="10149840" cy="685800"/>
          </a:xfrm>
          <a:prstGeom prst="rect">
            <a:avLst/>
          </a:prstGeom>
          <a:noFill/>
        </p:spPr>
        <p:txBody>
          <a:bodyPr wrap="square" lIns="0" rIns="0" tIns="0" bIns="0" anchor="ctr">
            <a:noAutofit/>
          </a:bodyPr>
          <a:lstStyle/>
          <a:p>
            <a:pPr algn="l">
              <a:spcBef>
                <a:spcPts val="0"/>
              </a:spcBef>
              <a:spcAft>
                <a:spcPts val="0"/>
              </a:spcAft>
            </a:pPr>
            <a:r>
              <a:rPr sz="3000" b="1" i="0">
                <a:solidFill>
                  <a:srgbClr val="10263F"/>
                </a:solidFill>
                <a:latin typeface="Georgia"/>
              </a:rPr>
              <a:t>Traefik inside Tugboat</a:t>
            </a:r>
          </a:p>
        </p:txBody>
      </p:sp>
      <p:cxnSp>
        <p:nvCxnSpPr>
          <p:cNvPr id="8" name="Connector 7"/>
          <p:cNvCxnSpPr/>
          <p:nvPr/>
        </p:nvCxnSpPr>
        <p:spPr>
          <a:xfrm>
            <a:off x="640080" y="1335024"/>
            <a:ext cx="10908792" cy="0"/>
          </a:xfrm>
          <a:prstGeom prst="line">
            <a:avLst/>
          </a:prstGeom>
          <a:ln w="15875">
            <a:solidFill>
              <a:srgbClr val="9AA5AE"/>
            </a:solidFill>
            <a:prstDash val="dash"/>
          </a:ln>
        </p:spPr>
      </p:cxnSp>
      <p:pic>
        <p:nvPicPr>
          <p:cNvPr id="9" name="Picture 8" descr="wave_band.png"/>
          <p:cNvPicPr>
            <a:picLocks noChangeAspect="1"/>
          </p:cNvPicPr>
          <p:nvPr/>
        </p:nvPicPr>
        <p:blipFill>
          <a:blip r:embed="rId2"/>
          <a:stretch>
            <a:fillRect/>
          </a:stretch>
        </p:blipFill>
        <p:spPr>
          <a:xfrm>
            <a:off x="0" y="6355080"/>
            <a:ext cx="12191695" cy="502845"/>
          </a:xfrm>
          <a:prstGeom prst="rect">
            <a:avLst/>
          </a:prstGeom>
        </p:spPr>
      </p:pic>
      <p:pic>
        <p:nvPicPr>
          <p:cNvPr id="10" name="Picture 9" descr="tug_small.png"/>
          <p:cNvPicPr>
            <a:picLocks noChangeAspect="1"/>
          </p:cNvPicPr>
          <p:nvPr/>
        </p:nvPicPr>
        <p:blipFill>
          <a:blip r:embed="rId3"/>
          <a:stretch>
            <a:fillRect/>
          </a:stretch>
        </p:blipFill>
        <p:spPr>
          <a:xfrm>
            <a:off x="8271803" y="6070981"/>
            <a:ext cx="566928" cy="457835"/>
          </a:xfrm>
          <a:prstGeom prst="rect">
            <a:avLst/>
          </a:prstGeom>
        </p:spPr>
      </p:pic>
      <p:sp>
        <p:nvSpPr>
          <p:cNvPr id="11" name="TextBox 10"/>
          <p:cNvSpPr txBox="1"/>
          <p:nvPr/>
        </p:nvSpPr>
        <p:spPr>
          <a:xfrm>
            <a:off x="640080" y="6126480"/>
            <a:ext cx="2743200" cy="228600"/>
          </a:xfrm>
          <a:prstGeom prst="rect">
            <a:avLst/>
          </a:prstGeom>
          <a:noFill/>
        </p:spPr>
        <p:txBody>
          <a:bodyPr wrap="square" lIns="0" rIns="0" tIns="0" bIns="0" anchor="ctr">
            <a:noAutofit/>
          </a:bodyPr>
          <a:lstStyle/>
          <a:p>
            <a:pPr algn="l">
              <a:spcBef>
                <a:spcPts val="0"/>
              </a:spcBef>
              <a:spcAft>
                <a:spcPts val="0"/>
              </a:spcAft>
            </a:pPr>
            <a:r>
              <a:rPr sz="1000" b="0" i="0">
                <a:solidFill>
                  <a:srgbClr val="7E8A97"/>
                </a:solidFill>
                <a:latin typeface="Arial"/>
              </a:rPr>
              <a:t>Traefik   11 / 15</a:t>
            </a:r>
          </a:p>
        </p:txBody>
      </p:sp>
      <p:pic>
        <p:nvPicPr>
          <p:cNvPr id="12" name="Picture 11" descr="logo_college.png"/>
          <p:cNvPicPr>
            <a:picLocks noChangeAspect="1"/>
          </p:cNvPicPr>
          <p:nvPr/>
        </p:nvPicPr>
        <p:blipFill>
          <a:blip r:embed="rId4"/>
          <a:stretch>
            <a:fillRect/>
          </a:stretch>
        </p:blipFill>
        <p:spPr>
          <a:xfrm>
            <a:off x="640080" y="91440"/>
            <a:ext cx="1625550" cy="475488"/>
          </a:xfrm>
          <a:prstGeom prst="rect">
            <a:avLst/>
          </a:prstGeom>
        </p:spPr>
      </p:pic>
      <p:pic>
        <p:nvPicPr>
          <p:cNvPr id="13" name="Picture 12" descr="logo_trust.png"/>
          <p:cNvPicPr>
            <a:picLocks noChangeAspect="1"/>
          </p:cNvPicPr>
          <p:nvPr/>
        </p:nvPicPr>
        <p:blipFill>
          <a:blip r:embed="rId5"/>
          <a:stretch>
            <a:fillRect/>
          </a:stretch>
        </p:blipFill>
        <p:spPr>
          <a:xfrm>
            <a:off x="10940472" y="91440"/>
            <a:ext cx="608400" cy="457200"/>
          </a:xfrm>
          <a:prstGeom prst="rect">
            <a:avLst/>
          </a:prstGeom>
        </p:spPr>
      </p:pic>
      <p:pic>
        <p:nvPicPr>
          <p:cNvPr id="14" name="Picture 13" descr="fig_tugboat.png"/>
          <p:cNvPicPr>
            <a:picLocks noChangeAspect="1"/>
          </p:cNvPicPr>
          <p:nvPr/>
        </p:nvPicPr>
        <p:blipFill>
          <a:blip r:embed="rId7"/>
          <a:stretch>
            <a:fillRect/>
          </a:stretch>
        </p:blipFill>
        <p:spPr>
          <a:xfrm>
            <a:off x="502920" y="1600200"/>
            <a:ext cx="6949440" cy="3790604"/>
          </a:xfrm>
          <a:prstGeom prst="rect">
            <a:avLst/>
          </a:prstGeom>
        </p:spPr>
      </p:pic>
      <p:sp>
        <p:nvSpPr>
          <p:cNvPr id="15" name="Rectangle 14"/>
          <p:cNvSpPr/>
          <p:nvPr/>
        </p:nvSpPr>
        <p:spPr>
          <a:xfrm>
            <a:off x="7863840" y="1719072"/>
            <a:ext cx="457200" cy="274320"/>
          </a:xfrm>
          <a:prstGeom prst="rect">
            <a:avLst/>
          </a:prstGeom>
          <a:solidFill>
            <a:srgbClr val="C8472D"/>
          </a:solidFill>
          <a:ln w="15875">
            <a:solidFill>
              <a:srgbClr val="10263F"/>
            </a:solidFill>
          </a:ln>
        </p:spPr>
        <p:txBody>
          <a:bodyPr rtlCol="0" anchor="ctr"/>
          <a:lstStyle/>
          <a:p>
            <a:pPr algn="ctr"/>
          </a:p>
        </p:txBody>
      </p:sp>
      <p:cxnSp>
        <p:nvCxnSpPr>
          <p:cNvPr id="16" name="Connector 15"/>
          <p:cNvCxnSpPr/>
          <p:nvPr/>
        </p:nvCxnSpPr>
        <p:spPr>
          <a:xfrm>
            <a:off x="7955279" y="1764792"/>
            <a:ext cx="0" cy="182880"/>
          </a:xfrm>
          <a:prstGeom prst="line">
            <a:avLst/>
          </a:prstGeom>
          <a:ln w="9525">
            <a:solidFill>
              <a:srgbClr val="8C311F"/>
            </a:solidFill>
          </a:ln>
        </p:spPr>
      </p:cxnSp>
      <p:cxnSp>
        <p:nvCxnSpPr>
          <p:cNvPr id="17" name="Connector 16"/>
          <p:cNvCxnSpPr/>
          <p:nvPr/>
        </p:nvCxnSpPr>
        <p:spPr>
          <a:xfrm>
            <a:off x="8046719" y="1764792"/>
            <a:ext cx="0" cy="182880"/>
          </a:xfrm>
          <a:prstGeom prst="line">
            <a:avLst/>
          </a:prstGeom>
          <a:ln w="9525">
            <a:solidFill>
              <a:srgbClr val="8C311F"/>
            </a:solidFill>
          </a:ln>
        </p:spPr>
      </p:cxnSp>
      <p:cxnSp>
        <p:nvCxnSpPr>
          <p:cNvPr id="18" name="Connector 17"/>
          <p:cNvCxnSpPr/>
          <p:nvPr/>
        </p:nvCxnSpPr>
        <p:spPr>
          <a:xfrm>
            <a:off x="8138160" y="1764792"/>
            <a:ext cx="0" cy="182880"/>
          </a:xfrm>
          <a:prstGeom prst="line">
            <a:avLst/>
          </a:prstGeom>
          <a:ln w="9525">
            <a:solidFill>
              <a:srgbClr val="8C311F"/>
            </a:solidFill>
          </a:ln>
        </p:spPr>
      </p:cxnSp>
      <p:cxnSp>
        <p:nvCxnSpPr>
          <p:cNvPr id="19" name="Connector 18"/>
          <p:cNvCxnSpPr/>
          <p:nvPr/>
        </p:nvCxnSpPr>
        <p:spPr>
          <a:xfrm>
            <a:off x="8229600" y="1764792"/>
            <a:ext cx="0" cy="182880"/>
          </a:xfrm>
          <a:prstGeom prst="line">
            <a:avLst/>
          </a:prstGeom>
          <a:ln w="9525">
            <a:solidFill>
              <a:srgbClr val="8C311F"/>
            </a:solidFill>
          </a:ln>
        </p:spPr>
      </p:cxnSp>
      <p:sp>
        <p:nvSpPr>
          <p:cNvPr id="20" name="TextBox 19"/>
          <p:cNvSpPr txBox="1"/>
          <p:nvPr/>
        </p:nvSpPr>
        <p:spPr>
          <a:xfrm>
            <a:off x="8503920" y="1645920"/>
            <a:ext cx="3063240" cy="365760"/>
          </a:xfrm>
          <a:prstGeom prst="rect">
            <a:avLst/>
          </a:prstGeom>
          <a:noFill/>
        </p:spPr>
        <p:txBody>
          <a:bodyPr wrap="square" lIns="0" rIns="0" tIns="0" bIns="0" anchor="t">
            <a:noAutofit/>
          </a:bodyPr>
          <a:lstStyle/>
          <a:p>
            <a:pPr algn="l">
              <a:spcBef>
                <a:spcPts val="0"/>
              </a:spcBef>
              <a:spcAft>
                <a:spcPts val="0"/>
              </a:spcAft>
            </a:pPr>
            <a:r>
              <a:rPr sz="1500" b="1" i="0">
                <a:solidFill>
                  <a:srgbClr val="10263F"/>
                </a:solidFill>
                <a:latin typeface="Georgia"/>
              </a:rPr>
              <a:t>Previews use labels.</a:t>
            </a:r>
          </a:p>
        </p:txBody>
      </p:sp>
      <p:sp>
        <p:nvSpPr>
          <p:cNvPr id="21" name="TextBox 20"/>
          <p:cNvSpPr txBox="1"/>
          <p:nvPr/>
        </p:nvSpPr>
        <p:spPr>
          <a:xfrm>
            <a:off x="8503920" y="2029968"/>
            <a:ext cx="3063240" cy="914400"/>
          </a:xfrm>
          <a:prstGeom prst="rect">
            <a:avLst/>
          </a:prstGeom>
          <a:noFill/>
        </p:spPr>
        <p:txBody>
          <a:bodyPr wrap="square" lIns="0" rIns="0" tIns="0" bIns="0" anchor="t">
            <a:noAutofit/>
          </a:bodyPr>
          <a:lstStyle/>
          <a:p>
            <a:pPr algn="l">
              <a:lnSpc>
                <a:spcPct val="120000"/>
              </a:lnSpc>
              <a:spcBef>
                <a:spcPts val="0"/>
              </a:spcBef>
              <a:spcAft>
                <a:spcPts val="0"/>
              </a:spcAft>
            </a:pPr>
            <a:r>
              <a:rPr sz="1200" b="0" i="0">
                <a:solidFill>
                  <a:srgbClr val="4A5A6B"/>
                </a:solidFill>
                <a:latin typeface="Arial"/>
              </a:rPr>
              <a:t>The Docker provider finds each branch container. No file, no restart.</a:t>
            </a:r>
          </a:p>
        </p:txBody>
      </p:sp>
      <p:sp>
        <p:nvSpPr>
          <p:cNvPr id="22" name="Rectangle 21"/>
          <p:cNvSpPr/>
          <p:nvPr/>
        </p:nvSpPr>
        <p:spPr>
          <a:xfrm>
            <a:off x="7863840" y="3090672"/>
            <a:ext cx="457200" cy="274320"/>
          </a:xfrm>
          <a:prstGeom prst="rect">
            <a:avLst/>
          </a:prstGeom>
          <a:solidFill>
            <a:srgbClr val="E9B93A"/>
          </a:solidFill>
          <a:ln w="15875">
            <a:solidFill>
              <a:srgbClr val="10263F"/>
            </a:solidFill>
          </a:ln>
        </p:spPr>
        <p:txBody>
          <a:bodyPr rtlCol="0" anchor="ctr"/>
          <a:lstStyle/>
          <a:p>
            <a:pPr algn="ctr"/>
          </a:p>
        </p:txBody>
      </p:sp>
      <p:cxnSp>
        <p:nvCxnSpPr>
          <p:cNvPr id="23" name="Connector 22"/>
          <p:cNvCxnSpPr/>
          <p:nvPr/>
        </p:nvCxnSpPr>
        <p:spPr>
          <a:xfrm>
            <a:off x="7955279" y="3136391"/>
            <a:ext cx="0" cy="182881"/>
          </a:xfrm>
          <a:prstGeom prst="line">
            <a:avLst/>
          </a:prstGeom>
          <a:ln w="9525">
            <a:solidFill>
              <a:srgbClr val="A38128"/>
            </a:solidFill>
          </a:ln>
        </p:spPr>
      </p:cxnSp>
      <p:cxnSp>
        <p:nvCxnSpPr>
          <p:cNvPr id="24" name="Connector 23"/>
          <p:cNvCxnSpPr/>
          <p:nvPr/>
        </p:nvCxnSpPr>
        <p:spPr>
          <a:xfrm>
            <a:off x="8046719" y="3136391"/>
            <a:ext cx="0" cy="182881"/>
          </a:xfrm>
          <a:prstGeom prst="line">
            <a:avLst/>
          </a:prstGeom>
          <a:ln w="9525">
            <a:solidFill>
              <a:srgbClr val="A38128"/>
            </a:solidFill>
          </a:ln>
        </p:spPr>
      </p:cxnSp>
      <p:cxnSp>
        <p:nvCxnSpPr>
          <p:cNvPr id="25" name="Connector 24"/>
          <p:cNvCxnSpPr/>
          <p:nvPr/>
        </p:nvCxnSpPr>
        <p:spPr>
          <a:xfrm>
            <a:off x="8138160" y="3136391"/>
            <a:ext cx="0" cy="182881"/>
          </a:xfrm>
          <a:prstGeom prst="line">
            <a:avLst/>
          </a:prstGeom>
          <a:ln w="9525">
            <a:solidFill>
              <a:srgbClr val="A38128"/>
            </a:solidFill>
          </a:ln>
        </p:spPr>
      </p:cxnSp>
      <p:cxnSp>
        <p:nvCxnSpPr>
          <p:cNvPr id="26" name="Connector 25"/>
          <p:cNvCxnSpPr/>
          <p:nvPr/>
        </p:nvCxnSpPr>
        <p:spPr>
          <a:xfrm>
            <a:off x="8229600" y="3136391"/>
            <a:ext cx="0" cy="182881"/>
          </a:xfrm>
          <a:prstGeom prst="line">
            <a:avLst/>
          </a:prstGeom>
          <a:ln w="9525">
            <a:solidFill>
              <a:srgbClr val="A38128"/>
            </a:solidFill>
          </a:ln>
        </p:spPr>
      </p:cxnSp>
      <p:sp>
        <p:nvSpPr>
          <p:cNvPr id="27" name="TextBox 26"/>
          <p:cNvSpPr txBox="1"/>
          <p:nvPr/>
        </p:nvSpPr>
        <p:spPr>
          <a:xfrm>
            <a:off x="8503920" y="3017520"/>
            <a:ext cx="3063240" cy="365760"/>
          </a:xfrm>
          <a:prstGeom prst="rect">
            <a:avLst/>
          </a:prstGeom>
          <a:noFill/>
        </p:spPr>
        <p:txBody>
          <a:bodyPr wrap="square" lIns="0" rIns="0" tIns="0" bIns="0" anchor="t">
            <a:noAutofit/>
          </a:bodyPr>
          <a:lstStyle/>
          <a:p>
            <a:pPr algn="l">
              <a:spcBef>
                <a:spcPts val="0"/>
              </a:spcBef>
              <a:spcAft>
                <a:spcPts val="0"/>
              </a:spcAft>
            </a:pPr>
            <a:r>
              <a:rPr sz="1500" b="1" i="0">
                <a:solidFill>
                  <a:srgbClr val="10263F"/>
                </a:solidFill>
                <a:latin typeface="Georgia"/>
              </a:rPr>
              <a:t>Production uses a file.</a:t>
            </a:r>
          </a:p>
        </p:txBody>
      </p:sp>
      <p:sp>
        <p:nvSpPr>
          <p:cNvPr id="28" name="TextBox 27"/>
          <p:cNvSpPr txBox="1"/>
          <p:nvPr/>
        </p:nvSpPr>
        <p:spPr>
          <a:xfrm>
            <a:off x="8503920" y="3401568"/>
            <a:ext cx="3063240" cy="914400"/>
          </a:xfrm>
          <a:prstGeom prst="rect">
            <a:avLst/>
          </a:prstGeom>
          <a:noFill/>
        </p:spPr>
        <p:txBody>
          <a:bodyPr wrap="square" lIns="0" rIns="0" tIns="0" bIns="0" anchor="t">
            <a:noAutofit/>
          </a:bodyPr>
          <a:lstStyle/>
          <a:p>
            <a:pPr algn="l">
              <a:lnSpc>
                <a:spcPct val="120000"/>
              </a:lnSpc>
              <a:spcBef>
                <a:spcPts val="0"/>
              </a:spcBef>
              <a:spcAft>
                <a:spcPts val="0"/>
              </a:spcAft>
            </a:pPr>
            <a:r>
              <a:rPr sz="1200" b="0" i="0">
                <a:solidFill>
                  <a:srgbClr val="4A5A6B"/>
                </a:solidFill>
                <a:latin typeface="Arial"/>
              </a:rPr>
              <a:t>One route file is written after a health check, then Traefik's API confirms it loaded.</a:t>
            </a:r>
          </a:p>
        </p:txBody>
      </p:sp>
      <p:sp>
        <p:nvSpPr>
          <p:cNvPr id="29" name="Rectangle 28"/>
          <p:cNvSpPr/>
          <p:nvPr/>
        </p:nvSpPr>
        <p:spPr>
          <a:xfrm>
            <a:off x="7863840" y="4462272"/>
            <a:ext cx="457200" cy="274320"/>
          </a:xfrm>
          <a:prstGeom prst="rect">
            <a:avLst/>
          </a:prstGeom>
          <a:solidFill>
            <a:srgbClr val="2F8F83"/>
          </a:solidFill>
          <a:ln w="15875">
            <a:solidFill>
              <a:srgbClr val="10263F"/>
            </a:solidFill>
          </a:ln>
        </p:spPr>
        <p:txBody>
          <a:bodyPr rtlCol="0" anchor="ctr"/>
          <a:lstStyle/>
          <a:p>
            <a:pPr algn="ctr"/>
          </a:p>
        </p:txBody>
      </p:sp>
      <p:cxnSp>
        <p:nvCxnSpPr>
          <p:cNvPr id="30" name="Connector 29"/>
          <p:cNvCxnSpPr/>
          <p:nvPr/>
        </p:nvCxnSpPr>
        <p:spPr>
          <a:xfrm>
            <a:off x="7955279" y="4507992"/>
            <a:ext cx="0" cy="182880"/>
          </a:xfrm>
          <a:prstGeom prst="line">
            <a:avLst/>
          </a:prstGeom>
          <a:ln w="9525">
            <a:solidFill>
              <a:srgbClr val="20645B"/>
            </a:solidFill>
          </a:ln>
        </p:spPr>
      </p:cxnSp>
      <p:cxnSp>
        <p:nvCxnSpPr>
          <p:cNvPr id="31" name="Connector 30"/>
          <p:cNvCxnSpPr/>
          <p:nvPr/>
        </p:nvCxnSpPr>
        <p:spPr>
          <a:xfrm>
            <a:off x="8046719" y="4507992"/>
            <a:ext cx="0" cy="182880"/>
          </a:xfrm>
          <a:prstGeom prst="line">
            <a:avLst/>
          </a:prstGeom>
          <a:ln w="9525">
            <a:solidFill>
              <a:srgbClr val="20645B"/>
            </a:solidFill>
          </a:ln>
        </p:spPr>
      </p:cxnSp>
      <p:cxnSp>
        <p:nvCxnSpPr>
          <p:cNvPr id="32" name="Connector 31"/>
          <p:cNvCxnSpPr/>
          <p:nvPr/>
        </p:nvCxnSpPr>
        <p:spPr>
          <a:xfrm>
            <a:off x="8138160" y="4507992"/>
            <a:ext cx="0" cy="182880"/>
          </a:xfrm>
          <a:prstGeom prst="line">
            <a:avLst/>
          </a:prstGeom>
          <a:ln w="9525">
            <a:solidFill>
              <a:srgbClr val="20645B"/>
            </a:solidFill>
          </a:ln>
        </p:spPr>
      </p:cxnSp>
      <p:cxnSp>
        <p:nvCxnSpPr>
          <p:cNvPr id="33" name="Connector 32"/>
          <p:cNvCxnSpPr/>
          <p:nvPr/>
        </p:nvCxnSpPr>
        <p:spPr>
          <a:xfrm>
            <a:off x="8229600" y="4507992"/>
            <a:ext cx="0" cy="182880"/>
          </a:xfrm>
          <a:prstGeom prst="line">
            <a:avLst/>
          </a:prstGeom>
          <a:ln w="9525">
            <a:solidFill>
              <a:srgbClr val="20645B"/>
            </a:solidFill>
          </a:ln>
        </p:spPr>
      </p:cxnSp>
      <p:sp>
        <p:nvSpPr>
          <p:cNvPr id="34" name="TextBox 33"/>
          <p:cNvSpPr txBox="1"/>
          <p:nvPr/>
        </p:nvSpPr>
        <p:spPr>
          <a:xfrm>
            <a:off x="8503920" y="4389120"/>
            <a:ext cx="3063240" cy="365760"/>
          </a:xfrm>
          <a:prstGeom prst="rect">
            <a:avLst/>
          </a:prstGeom>
          <a:noFill/>
        </p:spPr>
        <p:txBody>
          <a:bodyPr wrap="square" lIns="0" rIns="0" tIns="0" bIns="0" anchor="t">
            <a:noAutofit/>
          </a:bodyPr>
          <a:lstStyle/>
          <a:p>
            <a:pPr algn="l">
              <a:spcBef>
                <a:spcPts val="0"/>
              </a:spcBef>
              <a:spcAft>
                <a:spcPts val="0"/>
              </a:spcAft>
            </a:pPr>
            <a:r>
              <a:rPr sz="1500" b="1" i="0">
                <a:solidFill>
                  <a:srgbClr val="10263F"/>
                </a:solidFill>
                <a:latin typeface="Georgia"/>
              </a:rPr>
              <a:t>No Traefik HTTPS here.</a:t>
            </a:r>
          </a:p>
        </p:txBody>
      </p:sp>
      <p:sp>
        <p:nvSpPr>
          <p:cNvPr id="35" name="TextBox 34"/>
          <p:cNvSpPr txBox="1"/>
          <p:nvPr/>
        </p:nvSpPr>
        <p:spPr>
          <a:xfrm>
            <a:off x="8503920" y="4773168"/>
            <a:ext cx="3063240" cy="914400"/>
          </a:xfrm>
          <a:prstGeom prst="rect">
            <a:avLst/>
          </a:prstGeom>
          <a:noFill/>
        </p:spPr>
        <p:txBody>
          <a:bodyPr wrap="square" lIns="0" rIns="0" tIns="0" bIns="0" anchor="t">
            <a:noAutofit/>
          </a:bodyPr>
          <a:lstStyle/>
          <a:p>
            <a:pPr algn="l">
              <a:lnSpc>
                <a:spcPct val="120000"/>
              </a:lnSpc>
              <a:spcBef>
                <a:spcPts val="0"/>
              </a:spcBef>
              <a:spcAft>
                <a:spcPts val="0"/>
              </a:spcAft>
            </a:pPr>
            <a:r>
              <a:rPr sz="1200" b="0" i="0">
                <a:solidFill>
                  <a:srgbClr val="4A5A6B"/>
                </a:solidFill>
                <a:latin typeface="Arial"/>
              </a:rPr>
              <a:t>Public links come from Cloudflare tunnels.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Rectangle 1"/>
          <p:cNvSpPr/>
          <p:nvPr/>
        </p:nvSpPr>
        <p:spPr>
          <a:xfrm>
            <a:off x="640080" y="731520"/>
            <a:ext cx="566928" cy="310896"/>
          </a:xfrm>
          <a:prstGeom prst="rect">
            <a:avLst/>
          </a:prstGeom>
          <a:solidFill>
            <a:srgbClr val="C8472D"/>
          </a:solidFill>
          <a:ln w="15875">
            <a:solidFill>
              <a:srgbClr val="10263F"/>
            </a:solidFill>
          </a:ln>
        </p:spPr>
        <p:txBody>
          <a:bodyPr rtlCol="0" anchor="ctr"/>
          <a:lstStyle/>
          <a:p>
            <a:pPr algn="ctr"/>
          </a:p>
        </p:txBody>
      </p:sp>
      <p:cxnSp>
        <p:nvCxnSpPr>
          <p:cNvPr id="3" name="Connector 2"/>
          <p:cNvCxnSpPr/>
          <p:nvPr/>
        </p:nvCxnSpPr>
        <p:spPr>
          <a:xfrm>
            <a:off x="753465" y="777240"/>
            <a:ext cx="0" cy="219456"/>
          </a:xfrm>
          <a:prstGeom prst="line">
            <a:avLst/>
          </a:prstGeom>
          <a:ln w="9525">
            <a:solidFill>
              <a:srgbClr val="8C311F"/>
            </a:solidFill>
          </a:ln>
        </p:spPr>
      </p:cxnSp>
      <p:cxnSp>
        <p:nvCxnSpPr>
          <p:cNvPr id="4" name="Connector 3"/>
          <p:cNvCxnSpPr/>
          <p:nvPr/>
        </p:nvCxnSpPr>
        <p:spPr>
          <a:xfrm>
            <a:off x="866851" y="777240"/>
            <a:ext cx="0" cy="219456"/>
          </a:xfrm>
          <a:prstGeom prst="line">
            <a:avLst/>
          </a:prstGeom>
          <a:ln w="9525">
            <a:solidFill>
              <a:srgbClr val="8C311F"/>
            </a:solidFill>
          </a:ln>
        </p:spPr>
      </p:cxnSp>
      <p:cxnSp>
        <p:nvCxnSpPr>
          <p:cNvPr id="5" name="Connector 4"/>
          <p:cNvCxnSpPr/>
          <p:nvPr/>
        </p:nvCxnSpPr>
        <p:spPr>
          <a:xfrm>
            <a:off x="980236" y="777240"/>
            <a:ext cx="0" cy="219456"/>
          </a:xfrm>
          <a:prstGeom prst="line">
            <a:avLst/>
          </a:prstGeom>
          <a:ln w="9525">
            <a:solidFill>
              <a:srgbClr val="8C311F"/>
            </a:solidFill>
          </a:ln>
        </p:spPr>
      </p:cxnSp>
      <p:cxnSp>
        <p:nvCxnSpPr>
          <p:cNvPr id="6" name="Connector 5"/>
          <p:cNvCxnSpPr/>
          <p:nvPr/>
        </p:nvCxnSpPr>
        <p:spPr>
          <a:xfrm>
            <a:off x="1093622" y="777240"/>
            <a:ext cx="0" cy="219456"/>
          </a:xfrm>
          <a:prstGeom prst="line">
            <a:avLst/>
          </a:prstGeom>
          <a:ln w="9525">
            <a:solidFill>
              <a:srgbClr val="8C311F"/>
            </a:solidFill>
          </a:ln>
        </p:spPr>
      </p:cxnSp>
      <p:sp>
        <p:nvSpPr>
          <p:cNvPr id="7" name="TextBox 6"/>
          <p:cNvSpPr txBox="1"/>
          <p:nvPr/>
        </p:nvSpPr>
        <p:spPr>
          <a:xfrm>
            <a:off x="1417320" y="548640"/>
            <a:ext cx="10149840" cy="685800"/>
          </a:xfrm>
          <a:prstGeom prst="rect">
            <a:avLst/>
          </a:prstGeom>
          <a:noFill/>
        </p:spPr>
        <p:txBody>
          <a:bodyPr wrap="square" lIns="0" rIns="0" tIns="0" bIns="0" anchor="ctr">
            <a:noAutofit/>
          </a:bodyPr>
          <a:lstStyle/>
          <a:p>
            <a:pPr algn="l">
              <a:spcBef>
                <a:spcPts val="0"/>
              </a:spcBef>
              <a:spcAft>
                <a:spcPts val="0"/>
              </a:spcAft>
            </a:pPr>
            <a:r>
              <a:rPr sz="3000" b="1" i="0">
                <a:solidFill>
                  <a:srgbClr val="10263F"/>
                </a:solidFill>
                <a:latin typeface="Georgia"/>
              </a:rPr>
              <a:t>How Traefik compares</a:t>
            </a:r>
          </a:p>
        </p:txBody>
      </p:sp>
      <p:cxnSp>
        <p:nvCxnSpPr>
          <p:cNvPr id="8" name="Connector 7"/>
          <p:cNvCxnSpPr/>
          <p:nvPr/>
        </p:nvCxnSpPr>
        <p:spPr>
          <a:xfrm>
            <a:off x="640080" y="1335024"/>
            <a:ext cx="10908792" cy="0"/>
          </a:xfrm>
          <a:prstGeom prst="line">
            <a:avLst/>
          </a:prstGeom>
          <a:ln w="15875">
            <a:solidFill>
              <a:srgbClr val="9AA5AE"/>
            </a:solidFill>
            <a:prstDash val="dash"/>
          </a:ln>
        </p:spPr>
      </p:cxnSp>
      <p:pic>
        <p:nvPicPr>
          <p:cNvPr id="9" name="Picture 8" descr="wave_band.png"/>
          <p:cNvPicPr>
            <a:picLocks noChangeAspect="1"/>
          </p:cNvPicPr>
          <p:nvPr/>
        </p:nvPicPr>
        <p:blipFill>
          <a:blip r:embed="rId2"/>
          <a:stretch>
            <a:fillRect/>
          </a:stretch>
        </p:blipFill>
        <p:spPr>
          <a:xfrm>
            <a:off x="0" y="6355080"/>
            <a:ext cx="12191695" cy="502845"/>
          </a:xfrm>
          <a:prstGeom prst="rect">
            <a:avLst/>
          </a:prstGeom>
        </p:spPr>
      </p:pic>
      <p:pic>
        <p:nvPicPr>
          <p:cNvPr id="10" name="Picture 9" descr="tug_small.png"/>
          <p:cNvPicPr>
            <a:picLocks noChangeAspect="1"/>
          </p:cNvPicPr>
          <p:nvPr/>
        </p:nvPicPr>
        <p:blipFill>
          <a:blip r:embed="rId3"/>
          <a:stretch>
            <a:fillRect/>
          </a:stretch>
        </p:blipFill>
        <p:spPr>
          <a:xfrm>
            <a:off x="9038492" y="6070981"/>
            <a:ext cx="566928" cy="457835"/>
          </a:xfrm>
          <a:prstGeom prst="rect">
            <a:avLst/>
          </a:prstGeom>
        </p:spPr>
      </p:pic>
      <p:sp>
        <p:nvSpPr>
          <p:cNvPr id="11" name="TextBox 10"/>
          <p:cNvSpPr txBox="1"/>
          <p:nvPr/>
        </p:nvSpPr>
        <p:spPr>
          <a:xfrm>
            <a:off x="640080" y="6126480"/>
            <a:ext cx="2743200" cy="228600"/>
          </a:xfrm>
          <a:prstGeom prst="rect">
            <a:avLst/>
          </a:prstGeom>
          <a:noFill/>
        </p:spPr>
        <p:txBody>
          <a:bodyPr wrap="square" lIns="0" rIns="0" tIns="0" bIns="0" anchor="ctr">
            <a:noAutofit/>
          </a:bodyPr>
          <a:lstStyle/>
          <a:p>
            <a:pPr algn="l">
              <a:spcBef>
                <a:spcPts val="0"/>
              </a:spcBef>
              <a:spcAft>
                <a:spcPts val="0"/>
              </a:spcAft>
            </a:pPr>
            <a:r>
              <a:rPr sz="1000" b="0" i="0">
                <a:solidFill>
                  <a:srgbClr val="7E8A97"/>
                </a:solidFill>
                <a:latin typeface="Arial"/>
              </a:rPr>
              <a:t>Traefik   12 / 15</a:t>
            </a:r>
          </a:p>
        </p:txBody>
      </p:sp>
      <p:pic>
        <p:nvPicPr>
          <p:cNvPr id="12" name="Picture 11" descr="logo_college.png"/>
          <p:cNvPicPr>
            <a:picLocks noChangeAspect="1"/>
          </p:cNvPicPr>
          <p:nvPr/>
        </p:nvPicPr>
        <p:blipFill>
          <a:blip r:embed="rId4"/>
          <a:stretch>
            <a:fillRect/>
          </a:stretch>
        </p:blipFill>
        <p:spPr>
          <a:xfrm>
            <a:off x="640080" y="91440"/>
            <a:ext cx="1625550" cy="475488"/>
          </a:xfrm>
          <a:prstGeom prst="rect">
            <a:avLst/>
          </a:prstGeom>
        </p:spPr>
      </p:pic>
      <p:pic>
        <p:nvPicPr>
          <p:cNvPr id="13" name="Picture 12" descr="logo_trust.png"/>
          <p:cNvPicPr>
            <a:picLocks noChangeAspect="1"/>
          </p:cNvPicPr>
          <p:nvPr/>
        </p:nvPicPr>
        <p:blipFill>
          <a:blip r:embed="rId5"/>
          <a:stretch>
            <a:fillRect/>
          </a:stretch>
        </p:blipFill>
        <p:spPr>
          <a:xfrm>
            <a:off x="10940472" y="91440"/>
            <a:ext cx="608400" cy="457200"/>
          </a:xfrm>
          <a:prstGeom prst="rect">
            <a:avLst/>
          </a:prstGeom>
        </p:spPr>
      </p:pic>
      <p:sp>
        <p:nvSpPr>
          <p:cNvPr id="14" name="TextBox 13"/>
          <p:cNvSpPr txBox="1"/>
          <p:nvPr/>
        </p:nvSpPr>
        <p:spPr>
          <a:xfrm>
            <a:off x="1325880" y="1508760"/>
            <a:ext cx="1188720" cy="274320"/>
          </a:xfrm>
          <a:prstGeom prst="rect">
            <a:avLst/>
          </a:prstGeom>
          <a:noFill/>
        </p:spPr>
        <p:txBody>
          <a:bodyPr wrap="square" lIns="0" rIns="0" tIns="0" bIns="0" anchor="t">
            <a:noAutofit/>
          </a:bodyPr>
          <a:lstStyle/>
          <a:p>
            <a:pPr algn="l">
              <a:spcBef>
                <a:spcPts val="0"/>
              </a:spcBef>
              <a:spcAft>
                <a:spcPts val="0"/>
              </a:spcAft>
            </a:pPr>
            <a:r>
              <a:rPr sz="1050" b="1" i="0">
                <a:solidFill>
                  <a:srgbClr val="7E8A97"/>
                </a:solidFill>
                <a:latin typeface="Arial"/>
              </a:rPr>
              <a:t>Tool</a:t>
            </a:r>
          </a:p>
        </p:txBody>
      </p:sp>
      <p:sp>
        <p:nvSpPr>
          <p:cNvPr id="15" name="TextBox 14"/>
          <p:cNvSpPr txBox="1"/>
          <p:nvPr/>
        </p:nvSpPr>
        <p:spPr>
          <a:xfrm>
            <a:off x="2606039" y="1508760"/>
            <a:ext cx="2926080" cy="274320"/>
          </a:xfrm>
          <a:prstGeom prst="rect">
            <a:avLst/>
          </a:prstGeom>
          <a:noFill/>
        </p:spPr>
        <p:txBody>
          <a:bodyPr wrap="square" lIns="0" rIns="0" tIns="0" bIns="0" anchor="t">
            <a:noAutofit/>
          </a:bodyPr>
          <a:lstStyle/>
          <a:p>
            <a:pPr algn="l">
              <a:spcBef>
                <a:spcPts val="0"/>
              </a:spcBef>
              <a:spcAft>
                <a:spcPts val="0"/>
              </a:spcAft>
            </a:pPr>
            <a:r>
              <a:rPr sz="1050" b="1" i="0">
                <a:solidFill>
                  <a:srgbClr val="7E8A97"/>
                </a:solidFill>
                <a:latin typeface="Arial"/>
              </a:rPr>
              <a:t>Configuration</a:t>
            </a:r>
          </a:p>
        </p:txBody>
      </p:sp>
      <p:sp>
        <p:nvSpPr>
          <p:cNvPr id="16" name="TextBox 15"/>
          <p:cNvSpPr txBox="1"/>
          <p:nvPr/>
        </p:nvSpPr>
        <p:spPr>
          <a:xfrm>
            <a:off x="5669280" y="1508760"/>
            <a:ext cx="2926080" cy="274320"/>
          </a:xfrm>
          <a:prstGeom prst="rect">
            <a:avLst/>
          </a:prstGeom>
          <a:noFill/>
        </p:spPr>
        <p:txBody>
          <a:bodyPr wrap="square" lIns="0" rIns="0" tIns="0" bIns="0" anchor="t">
            <a:noAutofit/>
          </a:bodyPr>
          <a:lstStyle/>
          <a:p>
            <a:pPr algn="l">
              <a:spcBef>
                <a:spcPts val="0"/>
              </a:spcBef>
              <a:spcAft>
                <a:spcPts val="0"/>
              </a:spcAft>
            </a:pPr>
            <a:r>
              <a:rPr sz="1050" b="1" i="0">
                <a:solidFill>
                  <a:srgbClr val="7E8A97"/>
                </a:solidFill>
                <a:latin typeface="Arial"/>
              </a:rPr>
              <a:t>Container discovery</a:t>
            </a:r>
          </a:p>
        </p:txBody>
      </p:sp>
      <p:sp>
        <p:nvSpPr>
          <p:cNvPr id="17" name="TextBox 16"/>
          <p:cNvSpPr txBox="1"/>
          <p:nvPr/>
        </p:nvSpPr>
        <p:spPr>
          <a:xfrm>
            <a:off x="8732519" y="1508760"/>
            <a:ext cx="2743200" cy="274320"/>
          </a:xfrm>
          <a:prstGeom prst="rect">
            <a:avLst/>
          </a:prstGeom>
          <a:noFill/>
        </p:spPr>
        <p:txBody>
          <a:bodyPr wrap="square" lIns="0" rIns="0" tIns="0" bIns="0" anchor="t">
            <a:noAutofit/>
          </a:bodyPr>
          <a:lstStyle/>
          <a:p>
            <a:pPr algn="l">
              <a:spcBef>
                <a:spcPts val="0"/>
              </a:spcBef>
              <a:spcAft>
                <a:spcPts val="0"/>
              </a:spcAft>
            </a:pPr>
            <a:r>
              <a:rPr sz="1050" b="1" i="0">
                <a:solidFill>
                  <a:srgbClr val="7E8A97"/>
                </a:solidFill>
                <a:latin typeface="Arial"/>
              </a:rPr>
              <a:t>Automatic HTTPS</a:t>
            </a:r>
          </a:p>
        </p:txBody>
      </p:sp>
      <p:cxnSp>
        <p:nvCxnSpPr>
          <p:cNvPr id="18" name="Connector 17"/>
          <p:cNvCxnSpPr/>
          <p:nvPr/>
        </p:nvCxnSpPr>
        <p:spPr>
          <a:xfrm>
            <a:off x="640080" y="1837943"/>
            <a:ext cx="10908792" cy="0"/>
          </a:xfrm>
          <a:prstGeom prst="line">
            <a:avLst/>
          </a:prstGeom>
          <a:ln w="12700">
            <a:solidFill>
              <a:srgbClr val="C4CBD0"/>
            </a:solidFill>
          </a:ln>
        </p:spPr>
      </p:cxnSp>
      <p:sp>
        <p:nvSpPr>
          <p:cNvPr id="19" name="Rectangle 18"/>
          <p:cNvSpPr/>
          <p:nvPr/>
        </p:nvSpPr>
        <p:spPr>
          <a:xfrm>
            <a:off x="640080" y="2075687"/>
            <a:ext cx="457200" cy="256032"/>
          </a:xfrm>
          <a:prstGeom prst="rect">
            <a:avLst/>
          </a:prstGeom>
          <a:solidFill>
            <a:srgbClr val="C8472D"/>
          </a:solidFill>
          <a:ln w="15875">
            <a:solidFill>
              <a:srgbClr val="10263F"/>
            </a:solidFill>
          </a:ln>
        </p:spPr>
        <p:txBody>
          <a:bodyPr rtlCol="0" anchor="ctr"/>
          <a:lstStyle/>
          <a:p>
            <a:pPr algn="ctr"/>
          </a:p>
        </p:txBody>
      </p:sp>
      <p:cxnSp>
        <p:nvCxnSpPr>
          <p:cNvPr id="20" name="Connector 19"/>
          <p:cNvCxnSpPr/>
          <p:nvPr/>
        </p:nvCxnSpPr>
        <p:spPr>
          <a:xfrm>
            <a:off x="731519" y="2121407"/>
            <a:ext cx="0" cy="164593"/>
          </a:xfrm>
          <a:prstGeom prst="line">
            <a:avLst/>
          </a:prstGeom>
          <a:ln w="9525">
            <a:solidFill>
              <a:srgbClr val="8C311F"/>
            </a:solidFill>
          </a:ln>
        </p:spPr>
      </p:cxnSp>
      <p:cxnSp>
        <p:nvCxnSpPr>
          <p:cNvPr id="21" name="Connector 20"/>
          <p:cNvCxnSpPr/>
          <p:nvPr/>
        </p:nvCxnSpPr>
        <p:spPr>
          <a:xfrm>
            <a:off x="822959" y="2121407"/>
            <a:ext cx="0" cy="164593"/>
          </a:xfrm>
          <a:prstGeom prst="line">
            <a:avLst/>
          </a:prstGeom>
          <a:ln w="9525">
            <a:solidFill>
              <a:srgbClr val="8C311F"/>
            </a:solidFill>
          </a:ln>
        </p:spPr>
      </p:cxnSp>
      <p:cxnSp>
        <p:nvCxnSpPr>
          <p:cNvPr id="22" name="Connector 21"/>
          <p:cNvCxnSpPr/>
          <p:nvPr/>
        </p:nvCxnSpPr>
        <p:spPr>
          <a:xfrm>
            <a:off x="914400" y="2121407"/>
            <a:ext cx="0" cy="164593"/>
          </a:xfrm>
          <a:prstGeom prst="line">
            <a:avLst/>
          </a:prstGeom>
          <a:ln w="9525">
            <a:solidFill>
              <a:srgbClr val="8C311F"/>
            </a:solidFill>
          </a:ln>
        </p:spPr>
      </p:cxnSp>
      <p:cxnSp>
        <p:nvCxnSpPr>
          <p:cNvPr id="23" name="Connector 22"/>
          <p:cNvCxnSpPr/>
          <p:nvPr/>
        </p:nvCxnSpPr>
        <p:spPr>
          <a:xfrm>
            <a:off x="1005840" y="2121407"/>
            <a:ext cx="0" cy="164593"/>
          </a:xfrm>
          <a:prstGeom prst="line">
            <a:avLst/>
          </a:prstGeom>
          <a:ln w="9525">
            <a:solidFill>
              <a:srgbClr val="8C311F"/>
            </a:solidFill>
          </a:ln>
        </p:spPr>
      </p:cxnSp>
      <p:sp>
        <p:nvSpPr>
          <p:cNvPr id="24" name="TextBox 23"/>
          <p:cNvSpPr txBox="1"/>
          <p:nvPr/>
        </p:nvSpPr>
        <p:spPr>
          <a:xfrm>
            <a:off x="1325880" y="1837943"/>
            <a:ext cx="1188720" cy="731520"/>
          </a:xfrm>
          <a:prstGeom prst="rect">
            <a:avLst/>
          </a:prstGeom>
          <a:noFill/>
        </p:spPr>
        <p:txBody>
          <a:bodyPr wrap="square" lIns="0" rIns="0" tIns="0" bIns="0" anchor="ctr">
            <a:noAutofit/>
          </a:bodyPr>
          <a:lstStyle/>
          <a:p>
            <a:pPr algn="l">
              <a:lnSpc>
                <a:spcPct val="105000"/>
              </a:lnSpc>
              <a:spcBef>
                <a:spcPts val="0"/>
              </a:spcBef>
              <a:spcAft>
                <a:spcPts val="0"/>
              </a:spcAft>
            </a:pPr>
            <a:r>
              <a:rPr sz="1300" b="1" i="0">
                <a:solidFill>
                  <a:srgbClr val="10263F"/>
                </a:solidFill>
                <a:latin typeface="Georgia"/>
              </a:rPr>
              <a:t>Traefik</a:t>
            </a:r>
          </a:p>
        </p:txBody>
      </p:sp>
      <p:sp>
        <p:nvSpPr>
          <p:cNvPr id="25" name="TextBox 24"/>
          <p:cNvSpPr txBox="1"/>
          <p:nvPr/>
        </p:nvSpPr>
        <p:spPr>
          <a:xfrm>
            <a:off x="2606039" y="1837943"/>
            <a:ext cx="2926080" cy="731520"/>
          </a:xfrm>
          <a:prstGeom prst="rect">
            <a:avLst/>
          </a:prstGeom>
          <a:noFill/>
        </p:spPr>
        <p:txBody>
          <a:bodyPr wrap="square" lIns="0" rIns="0" tIns="0" bIns="0" anchor="ctr">
            <a:noAutofit/>
          </a:bodyPr>
          <a:lstStyle/>
          <a:p>
            <a:pPr algn="l">
              <a:lnSpc>
                <a:spcPct val="110000"/>
              </a:lnSpc>
              <a:spcBef>
                <a:spcPts val="0"/>
              </a:spcBef>
              <a:spcAft>
                <a:spcPts val="0"/>
              </a:spcAft>
            </a:pPr>
            <a:r>
              <a:rPr sz="1150" b="0" i="0">
                <a:solidFill>
                  <a:srgbClr val="4A5A6B"/>
                </a:solidFill>
                <a:latin typeface="Arial"/>
              </a:rPr>
              <a:t>Routes come from providers while it runs</a:t>
            </a:r>
          </a:p>
        </p:txBody>
      </p:sp>
      <p:sp>
        <p:nvSpPr>
          <p:cNvPr id="26" name="TextBox 25"/>
          <p:cNvSpPr txBox="1"/>
          <p:nvPr/>
        </p:nvSpPr>
        <p:spPr>
          <a:xfrm>
            <a:off x="5669280" y="1837943"/>
            <a:ext cx="2926080" cy="731520"/>
          </a:xfrm>
          <a:prstGeom prst="rect">
            <a:avLst/>
          </a:prstGeom>
          <a:noFill/>
        </p:spPr>
        <p:txBody>
          <a:bodyPr wrap="square" lIns="0" rIns="0" tIns="0" bIns="0" anchor="ctr">
            <a:noAutofit/>
          </a:bodyPr>
          <a:lstStyle/>
          <a:p>
            <a:pPr algn="l">
              <a:lnSpc>
                <a:spcPct val="110000"/>
              </a:lnSpc>
              <a:spcBef>
                <a:spcPts val="0"/>
              </a:spcBef>
              <a:spcAft>
                <a:spcPts val="0"/>
              </a:spcAft>
            </a:pPr>
            <a:r>
              <a:rPr sz="1150" b="0" i="0">
                <a:solidFill>
                  <a:srgbClr val="4A5A6B"/>
                </a:solidFill>
                <a:latin typeface="Arial"/>
              </a:rPr>
              <a:t>Built in: Docker, Kubernetes, files</a:t>
            </a:r>
          </a:p>
        </p:txBody>
      </p:sp>
      <p:sp>
        <p:nvSpPr>
          <p:cNvPr id="27" name="TextBox 26"/>
          <p:cNvSpPr txBox="1"/>
          <p:nvPr/>
        </p:nvSpPr>
        <p:spPr>
          <a:xfrm>
            <a:off x="8732519" y="1837943"/>
            <a:ext cx="2743200" cy="731520"/>
          </a:xfrm>
          <a:prstGeom prst="rect">
            <a:avLst/>
          </a:prstGeom>
          <a:noFill/>
        </p:spPr>
        <p:txBody>
          <a:bodyPr wrap="square" lIns="0" rIns="0" tIns="0" bIns="0" anchor="ctr">
            <a:noAutofit/>
          </a:bodyPr>
          <a:lstStyle/>
          <a:p>
            <a:pPr algn="l">
              <a:lnSpc>
                <a:spcPct val="110000"/>
              </a:lnSpc>
              <a:spcBef>
                <a:spcPts val="0"/>
              </a:spcBef>
              <a:spcAft>
                <a:spcPts val="0"/>
              </a:spcAft>
            </a:pPr>
            <a:r>
              <a:rPr sz="1150" b="0" i="0">
                <a:solidFill>
                  <a:srgbClr val="4A5A6B"/>
                </a:solidFill>
                <a:latin typeface="Arial"/>
              </a:rPr>
              <a:t>Built in: HTTP-01, TLS-ALPN-01, DNS-01</a:t>
            </a:r>
          </a:p>
        </p:txBody>
      </p:sp>
      <p:cxnSp>
        <p:nvCxnSpPr>
          <p:cNvPr id="28" name="Connector 27"/>
          <p:cNvCxnSpPr/>
          <p:nvPr/>
        </p:nvCxnSpPr>
        <p:spPr>
          <a:xfrm>
            <a:off x="640080" y="2569463"/>
            <a:ext cx="10908792" cy="0"/>
          </a:xfrm>
          <a:prstGeom prst="line">
            <a:avLst/>
          </a:prstGeom>
          <a:ln w="12700">
            <a:solidFill>
              <a:srgbClr val="C4CBD0"/>
            </a:solidFill>
          </a:ln>
        </p:spPr>
      </p:cxnSp>
      <p:sp>
        <p:nvSpPr>
          <p:cNvPr id="29" name="Rectangle 28"/>
          <p:cNvSpPr/>
          <p:nvPr/>
        </p:nvSpPr>
        <p:spPr>
          <a:xfrm>
            <a:off x="640080" y="2807207"/>
            <a:ext cx="457200" cy="256032"/>
          </a:xfrm>
          <a:prstGeom prst="rect">
            <a:avLst/>
          </a:prstGeom>
          <a:solidFill>
            <a:srgbClr val="E9B93A"/>
          </a:solidFill>
          <a:ln w="15875">
            <a:solidFill>
              <a:srgbClr val="10263F"/>
            </a:solidFill>
          </a:ln>
        </p:spPr>
        <p:txBody>
          <a:bodyPr rtlCol="0" anchor="ctr"/>
          <a:lstStyle/>
          <a:p>
            <a:pPr algn="ctr"/>
          </a:p>
        </p:txBody>
      </p:sp>
      <p:cxnSp>
        <p:nvCxnSpPr>
          <p:cNvPr id="30" name="Connector 29"/>
          <p:cNvCxnSpPr/>
          <p:nvPr/>
        </p:nvCxnSpPr>
        <p:spPr>
          <a:xfrm>
            <a:off x="731519" y="2852927"/>
            <a:ext cx="0" cy="164593"/>
          </a:xfrm>
          <a:prstGeom prst="line">
            <a:avLst/>
          </a:prstGeom>
          <a:ln w="9525">
            <a:solidFill>
              <a:srgbClr val="A38128"/>
            </a:solidFill>
          </a:ln>
        </p:spPr>
      </p:cxnSp>
      <p:cxnSp>
        <p:nvCxnSpPr>
          <p:cNvPr id="31" name="Connector 30"/>
          <p:cNvCxnSpPr/>
          <p:nvPr/>
        </p:nvCxnSpPr>
        <p:spPr>
          <a:xfrm>
            <a:off x="822959" y="2852927"/>
            <a:ext cx="0" cy="164593"/>
          </a:xfrm>
          <a:prstGeom prst="line">
            <a:avLst/>
          </a:prstGeom>
          <a:ln w="9525">
            <a:solidFill>
              <a:srgbClr val="A38128"/>
            </a:solidFill>
          </a:ln>
        </p:spPr>
      </p:cxnSp>
      <p:cxnSp>
        <p:nvCxnSpPr>
          <p:cNvPr id="32" name="Connector 31"/>
          <p:cNvCxnSpPr/>
          <p:nvPr/>
        </p:nvCxnSpPr>
        <p:spPr>
          <a:xfrm>
            <a:off x="914400" y="2852927"/>
            <a:ext cx="0" cy="164593"/>
          </a:xfrm>
          <a:prstGeom prst="line">
            <a:avLst/>
          </a:prstGeom>
          <a:ln w="9525">
            <a:solidFill>
              <a:srgbClr val="A38128"/>
            </a:solidFill>
          </a:ln>
        </p:spPr>
      </p:cxnSp>
      <p:cxnSp>
        <p:nvCxnSpPr>
          <p:cNvPr id="33" name="Connector 32"/>
          <p:cNvCxnSpPr/>
          <p:nvPr/>
        </p:nvCxnSpPr>
        <p:spPr>
          <a:xfrm>
            <a:off x="1005840" y="2852927"/>
            <a:ext cx="0" cy="164593"/>
          </a:xfrm>
          <a:prstGeom prst="line">
            <a:avLst/>
          </a:prstGeom>
          <a:ln w="9525">
            <a:solidFill>
              <a:srgbClr val="A38128"/>
            </a:solidFill>
          </a:ln>
        </p:spPr>
      </p:cxnSp>
      <p:sp>
        <p:nvSpPr>
          <p:cNvPr id="34" name="TextBox 33"/>
          <p:cNvSpPr txBox="1"/>
          <p:nvPr/>
        </p:nvSpPr>
        <p:spPr>
          <a:xfrm>
            <a:off x="1325880" y="2569463"/>
            <a:ext cx="1188720" cy="731520"/>
          </a:xfrm>
          <a:prstGeom prst="rect">
            <a:avLst/>
          </a:prstGeom>
          <a:noFill/>
        </p:spPr>
        <p:txBody>
          <a:bodyPr wrap="square" lIns="0" rIns="0" tIns="0" bIns="0" anchor="ctr">
            <a:noAutofit/>
          </a:bodyPr>
          <a:lstStyle/>
          <a:p>
            <a:pPr algn="l">
              <a:lnSpc>
                <a:spcPct val="105000"/>
              </a:lnSpc>
              <a:spcBef>
                <a:spcPts val="0"/>
              </a:spcBef>
              <a:spcAft>
                <a:spcPts val="0"/>
              </a:spcAft>
            </a:pPr>
            <a:r>
              <a:rPr sz="1300" b="1" i="0">
                <a:solidFill>
                  <a:srgbClr val="10263F"/>
                </a:solidFill>
                <a:latin typeface="Georgia"/>
              </a:rPr>
              <a:t>nginx</a:t>
            </a:r>
          </a:p>
        </p:txBody>
      </p:sp>
      <p:sp>
        <p:nvSpPr>
          <p:cNvPr id="35" name="TextBox 34"/>
          <p:cNvSpPr txBox="1"/>
          <p:nvPr/>
        </p:nvSpPr>
        <p:spPr>
          <a:xfrm>
            <a:off x="2606039" y="2569463"/>
            <a:ext cx="2926080" cy="731520"/>
          </a:xfrm>
          <a:prstGeom prst="rect">
            <a:avLst/>
          </a:prstGeom>
          <a:noFill/>
        </p:spPr>
        <p:txBody>
          <a:bodyPr wrap="square" lIns="0" rIns="0" tIns="0" bIns="0" anchor="ctr">
            <a:noAutofit/>
          </a:bodyPr>
          <a:lstStyle/>
          <a:p>
            <a:pPr algn="l">
              <a:lnSpc>
                <a:spcPct val="110000"/>
              </a:lnSpc>
              <a:spcBef>
                <a:spcPts val="0"/>
              </a:spcBef>
              <a:spcAft>
                <a:spcPts val="0"/>
              </a:spcAft>
            </a:pPr>
            <a:r>
              <a:rPr sz="1150" b="0" i="0">
                <a:solidFill>
                  <a:srgbClr val="4A5A6B"/>
                </a:solidFill>
                <a:latin typeface="Arial"/>
              </a:rPr>
              <a:t>Config files, applied with a reload</a:t>
            </a:r>
          </a:p>
        </p:txBody>
      </p:sp>
      <p:sp>
        <p:nvSpPr>
          <p:cNvPr id="36" name="TextBox 35"/>
          <p:cNvSpPr txBox="1"/>
          <p:nvPr/>
        </p:nvSpPr>
        <p:spPr>
          <a:xfrm>
            <a:off x="5669280" y="2569463"/>
            <a:ext cx="2926080" cy="731520"/>
          </a:xfrm>
          <a:prstGeom prst="rect">
            <a:avLst/>
          </a:prstGeom>
          <a:noFill/>
        </p:spPr>
        <p:txBody>
          <a:bodyPr wrap="square" lIns="0" rIns="0" tIns="0" bIns="0" anchor="ctr">
            <a:noAutofit/>
          </a:bodyPr>
          <a:lstStyle/>
          <a:p>
            <a:pPr algn="l">
              <a:lnSpc>
                <a:spcPct val="110000"/>
              </a:lnSpc>
              <a:spcBef>
                <a:spcPts val="0"/>
              </a:spcBef>
              <a:spcAft>
                <a:spcPts val="0"/>
              </a:spcAft>
            </a:pPr>
            <a:r>
              <a:rPr sz="1150" b="0" i="0">
                <a:solidFill>
                  <a:srgbClr val="4A5A6B"/>
                </a:solidFill>
                <a:latin typeface="Arial"/>
              </a:rPr>
              <a:t>None in the core</a:t>
            </a:r>
          </a:p>
        </p:txBody>
      </p:sp>
      <p:sp>
        <p:nvSpPr>
          <p:cNvPr id="37" name="TextBox 36"/>
          <p:cNvSpPr txBox="1"/>
          <p:nvPr/>
        </p:nvSpPr>
        <p:spPr>
          <a:xfrm>
            <a:off x="8732519" y="2569463"/>
            <a:ext cx="2743200" cy="731520"/>
          </a:xfrm>
          <a:prstGeom prst="rect">
            <a:avLst/>
          </a:prstGeom>
          <a:noFill/>
        </p:spPr>
        <p:txBody>
          <a:bodyPr wrap="square" lIns="0" rIns="0" tIns="0" bIns="0" anchor="ctr">
            <a:noAutofit/>
          </a:bodyPr>
          <a:lstStyle/>
          <a:p>
            <a:pPr algn="l">
              <a:lnSpc>
                <a:spcPct val="110000"/>
              </a:lnSpc>
              <a:spcBef>
                <a:spcPts val="0"/>
              </a:spcBef>
              <a:spcAft>
                <a:spcPts val="0"/>
              </a:spcAft>
            </a:pPr>
            <a:r>
              <a:rPr sz="1150" b="0" i="0">
                <a:solidFill>
                  <a:srgbClr val="4A5A6B"/>
                </a:solidFill>
                <a:latin typeface="Arial"/>
              </a:rPr>
              <a:t>ACME module announced in 2025 as a preview</a:t>
            </a:r>
          </a:p>
        </p:txBody>
      </p:sp>
      <p:cxnSp>
        <p:nvCxnSpPr>
          <p:cNvPr id="38" name="Connector 37"/>
          <p:cNvCxnSpPr/>
          <p:nvPr/>
        </p:nvCxnSpPr>
        <p:spPr>
          <a:xfrm>
            <a:off x="640080" y="3300984"/>
            <a:ext cx="10908792" cy="0"/>
          </a:xfrm>
          <a:prstGeom prst="line">
            <a:avLst/>
          </a:prstGeom>
          <a:ln w="12700">
            <a:solidFill>
              <a:srgbClr val="C4CBD0"/>
            </a:solidFill>
          </a:ln>
        </p:spPr>
      </p:cxnSp>
      <p:sp>
        <p:nvSpPr>
          <p:cNvPr id="39" name="Rectangle 38"/>
          <p:cNvSpPr/>
          <p:nvPr/>
        </p:nvSpPr>
        <p:spPr>
          <a:xfrm>
            <a:off x="640080" y="3538727"/>
            <a:ext cx="457200" cy="256032"/>
          </a:xfrm>
          <a:prstGeom prst="rect">
            <a:avLst/>
          </a:prstGeom>
          <a:solidFill>
            <a:srgbClr val="2F8F83"/>
          </a:solidFill>
          <a:ln w="15875">
            <a:solidFill>
              <a:srgbClr val="10263F"/>
            </a:solidFill>
          </a:ln>
        </p:spPr>
        <p:txBody>
          <a:bodyPr rtlCol="0" anchor="ctr"/>
          <a:lstStyle/>
          <a:p>
            <a:pPr algn="ctr"/>
          </a:p>
        </p:txBody>
      </p:sp>
      <p:cxnSp>
        <p:nvCxnSpPr>
          <p:cNvPr id="40" name="Connector 39"/>
          <p:cNvCxnSpPr/>
          <p:nvPr/>
        </p:nvCxnSpPr>
        <p:spPr>
          <a:xfrm>
            <a:off x="731519" y="3584447"/>
            <a:ext cx="0" cy="164592"/>
          </a:xfrm>
          <a:prstGeom prst="line">
            <a:avLst/>
          </a:prstGeom>
          <a:ln w="9525">
            <a:solidFill>
              <a:srgbClr val="20645B"/>
            </a:solidFill>
          </a:ln>
        </p:spPr>
      </p:cxnSp>
      <p:cxnSp>
        <p:nvCxnSpPr>
          <p:cNvPr id="41" name="Connector 40"/>
          <p:cNvCxnSpPr/>
          <p:nvPr/>
        </p:nvCxnSpPr>
        <p:spPr>
          <a:xfrm>
            <a:off x="822959" y="3584447"/>
            <a:ext cx="0" cy="164592"/>
          </a:xfrm>
          <a:prstGeom prst="line">
            <a:avLst/>
          </a:prstGeom>
          <a:ln w="9525">
            <a:solidFill>
              <a:srgbClr val="20645B"/>
            </a:solidFill>
          </a:ln>
        </p:spPr>
      </p:cxnSp>
      <p:cxnSp>
        <p:nvCxnSpPr>
          <p:cNvPr id="42" name="Connector 41"/>
          <p:cNvCxnSpPr/>
          <p:nvPr/>
        </p:nvCxnSpPr>
        <p:spPr>
          <a:xfrm>
            <a:off x="914400" y="3584447"/>
            <a:ext cx="0" cy="164592"/>
          </a:xfrm>
          <a:prstGeom prst="line">
            <a:avLst/>
          </a:prstGeom>
          <a:ln w="9525">
            <a:solidFill>
              <a:srgbClr val="20645B"/>
            </a:solidFill>
          </a:ln>
        </p:spPr>
      </p:cxnSp>
      <p:cxnSp>
        <p:nvCxnSpPr>
          <p:cNvPr id="43" name="Connector 42"/>
          <p:cNvCxnSpPr/>
          <p:nvPr/>
        </p:nvCxnSpPr>
        <p:spPr>
          <a:xfrm>
            <a:off x="1005840" y="3584447"/>
            <a:ext cx="0" cy="164592"/>
          </a:xfrm>
          <a:prstGeom prst="line">
            <a:avLst/>
          </a:prstGeom>
          <a:ln w="9525">
            <a:solidFill>
              <a:srgbClr val="20645B"/>
            </a:solidFill>
          </a:ln>
        </p:spPr>
      </p:cxnSp>
      <p:sp>
        <p:nvSpPr>
          <p:cNvPr id="44" name="TextBox 43"/>
          <p:cNvSpPr txBox="1"/>
          <p:nvPr/>
        </p:nvSpPr>
        <p:spPr>
          <a:xfrm>
            <a:off x="1325880" y="3300984"/>
            <a:ext cx="1188720" cy="731520"/>
          </a:xfrm>
          <a:prstGeom prst="rect">
            <a:avLst/>
          </a:prstGeom>
          <a:noFill/>
        </p:spPr>
        <p:txBody>
          <a:bodyPr wrap="square" lIns="0" rIns="0" tIns="0" bIns="0" anchor="ctr">
            <a:noAutofit/>
          </a:bodyPr>
          <a:lstStyle/>
          <a:p>
            <a:pPr algn="l">
              <a:lnSpc>
                <a:spcPct val="105000"/>
              </a:lnSpc>
              <a:spcBef>
                <a:spcPts val="0"/>
              </a:spcBef>
              <a:spcAft>
                <a:spcPts val="0"/>
              </a:spcAft>
            </a:pPr>
            <a:r>
              <a:rPr sz="1300" b="1" i="0">
                <a:solidFill>
                  <a:srgbClr val="10263F"/>
                </a:solidFill>
                <a:latin typeface="Georgia"/>
              </a:rPr>
              <a:t>Caddy</a:t>
            </a:r>
          </a:p>
        </p:txBody>
      </p:sp>
      <p:sp>
        <p:nvSpPr>
          <p:cNvPr id="45" name="TextBox 44"/>
          <p:cNvSpPr txBox="1"/>
          <p:nvPr/>
        </p:nvSpPr>
        <p:spPr>
          <a:xfrm>
            <a:off x="2606039" y="3300984"/>
            <a:ext cx="2926080" cy="731520"/>
          </a:xfrm>
          <a:prstGeom prst="rect">
            <a:avLst/>
          </a:prstGeom>
          <a:noFill/>
        </p:spPr>
        <p:txBody>
          <a:bodyPr wrap="square" lIns="0" rIns="0" tIns="0" bIns="0" anchor="ctr">
            <a:noAutofit/>
          </a:bodyPr>
          <a:lstStyle/>
          <a:p>
            <a:pPr algn="l">
              <a:lnSpc>
                <a:spcPct val="110000"/>
              </a:lnSpc>
              <a:spcBef>
                <a:spcPts val="0"/>
              </a:spcBef>
              <a:spcAft>
                <a:spcPts val="0"/>
              </a:spcAft>
            </a:pPr>
            <a:r>
              <a:rPr sz="1150" b="0" i="0">
                <a:solidFill>
                  <a:srgbClr val="4A5A6B"/>
                </a:solidFill>
                <a:latin typeface="Arial"/>
              </a:rPr>
              <a:t>Caddyfile or JSON, with an admin API</a:t>
            </a:r>
          </a:p>
        </p:txBody>
      </p:sp>
      <p:sp>
        <p:nvSpPr>
          <p:cNvPr id="46" name="TextBox 45"/>
          <p:cNvSpPr txBox="1"/>
          <p:nvPr/>
        </p:nvSpPr>
        <p:spPr>
          <a:xfrm>
            <a:off x="5669280" y="3300984"/>
            <a:ext cx="2926080" cy="731520"/>
          </a:xfrm>
          <a:prstGeom prst="rect">
            <a:avLst/>
          </a:prstGeom>
          <a:noFill/>
        </p:spPr>
        <p:txBody>
          <a:bodyPr wrap="square" lIns="0" rIns="0" tIns="0" bIns="0" anchor="ctr">
            <a:noAutofit/>
          </a:bodyPr>
          <a:lstStyle/>
          <a:p>
            <a:pPr algn="l">
              <a:lnSpc>
                <a:spcPct val="110000"/>
              </a:lnSpc>
              <a:spcBef>
                <a:spcPts val="0"/>
              </a:spcBef>
              <a:spcAft>
                <a:spcPts val="0"/>
              </a:spcAft>
            </a:pPr>
            <a:r>
              <a:rPr sz="1150" b="0" i="0">
                <a:solidFill>
                  <a:srgbClr val="4A5A6B"/>
                </a:solidFill>
                <a:latin typeface="Arial"/>
              </a:rPr>
              <a:t>Community plugin reads Docker labels</a:t>
            </a:r>
          </a:p>
        </p:txBody>
      </p:sp>
      <p:sp>
        <p:nvSpPr>
          <p:cNvPr id="47" name="TextBox 46"/>
          <p:cNvSpPr txBox="1"/>
          <p:nvPr/>
        </p:nvSpPr>
        <p:spPr>
          <a:xfrm>
            <a:off x="8732519" y="3300984"/>
            <a:ext cx="2743200" cy="731520"/>
          </a:xfrm>
          <a:prstGeom prst="rect">
            <a:avLst/>
          </a:prstGeom>
          <a:noFill/>
        </p:spPr>
        <p:txBody>
          <a:bodyPr wrap="square" lIns="0" rIns="0" tIns="0" bIns="0" anchor="ctr">
            <a:noAutofit/>
          </a:bodyPr>
          <a:lstStyle/>
          <a:p>
            <a:pPr algn="l">
              <a:lnSpc>
                <a:spcPct val="110000"/>
              </a:lnSpc>
              <a:spcBef>
                <a:spcPts val="0"/>
              </a:spcBef>
              <a:spcAft>
                <a:spcPts val="0"/>
              </a:spcAft>
            </a:pPr>
            <a:r>
              <a:rPr sz="1150" b="0" i="0">
                <a:solidFill>
                  <a:srgbClr val="4A5A6B"/>
                </a:solidFill>
                <a:latin typeface="Arial"/>
              </a:rPr>
              <a:t>On by default for public names</a:t>
            </a:r>
          </a:p>
        </p:txBody>
      </p:sp>
      <p:cxnSp>
        <p:nvCxnSpPr>
          <p:cNvPr id="48" name="Connector 47"/>
          <p:cNvCxnSpPr/>
          <p:nvPr/>
        </p:nvCxnSpPr>
        <p:spPr>
          <a:xfrm>
            <a:off x="640080" y="4032504"/>
            <a:ext cx="10908792" cy="0"/>
          </a:xfrm>
          <a:prstGeom prst="line">
            <a:avLst/>
          </a:prstGeom>
          <a:ln w="12700">
            <a:solidFill>
              <a:srgbClr val="C4CBD0"/>
            </a:solidFill>
          </a:ln>
        </p:spPr>
      </p:cxnSp>
      <p:sp>
        <p:nvSpPr>
          <p:cNvPr id="49" name="Rectangle 48"/>
          <p:cNvSpPr/>
          <p:nvPr/>
        </p:nvSpPr>
        <p:spPr>
          <a:xfrm>
            <a:off x="640080" y="4270248"/>
            <a:ext cx="457200" cy="256032"/>
          </a:xfrm>
          <a:prstGeom prst="rect">
            <a:avLst/>
          </a:prstGeom>
          <a:solidFill>
            <a:srgbClr val="E58A2B"/>
          </a:solidFill>
          <a:ln w="15875">
            <a:solidFill>
              <a:srgbClr val="10263F"/>
            </a:solidFill>
          </a:ln>
        </p:spPr>
        <p:txBody>
          <a:bodyPr rtlCol="0" anchor="ctr"/>
          <a:lstStyle/>
          <a:p>
            <a:pPr algn="ctr"/>
          </a:p>
        </p:txBody>
      </p:sp>
      <p:cxnSp>
        <p:nvCxnSpPr>
          <p:cNvPr id="50" name="Connector 49"/>
          <p:cNvCxnSpPr/>
          <p:nvPr/>
        </p:nvCxnSpPr>
        <p:spPr>
          <a:xfrm>
            <a:off x="731519" y="4315968"/>
            <a:ext cx="0" cy="164592"/>
          </a:xfrm>
          <a:prstGeom prst="line">
            <a:avLst/>
          </a:prstGeom>
          <a:ln w="9525">
            <a:solidFill>
              <a:srgbClr val="A0601E"/>
            </a:solidFill>
          </a:ln>
        </p:spPr>
      </p:cxnSp>
      <p:cxnSp>
        <p:nvCxnSpPr>
          <p:cNvPr id="51" name="Connector 50"/>
          <p:cNvCxnSpPr/>
          <p:nvPr/>
        </p:nvCxnSpPr>
        <p:spPr>
          <a:xfrm>
            <a:off x="822959" y="4315968"/>
            <a:ext cx="0" cy="164592"/>
          </a:xfrm>
          <a:prstGeom prst="line">
            <a:avLst/>
          </a:prstGeom>
          <a:ln w="9525">
            <a:solidFill>
              <a:srgbClr val="A0601E"/>
            </a:solidFill>
          </a:ln>
        </p:spPr>
      </p:cxnSp>
      <p:cxnSp>
        <p:nvCxnSpPr>
          <p:cNvPr id="52" name="Connector 51"/>
          <p:cNvCxnSpPr/>
          <p:nvPr/>
        </p:nvCxnSpPr>
        <p:spPr>
          <a:xfrm>
            <a:off x="914400" y="4315968"/>
            <a:ext cx="0" cy="164592"/>
          </a:xfrm>
          <a:prstGeom prst="line">
            <a:avLst/>
          </a:prstGeom>
          <a:ln w="9525">
            <a:solidFill>
              <a:srgbClr val="A0601E"/>
            </a:solidFill>
          </a:ln>
        </p:spPr>
      </p:cxnSp>
      <p:cxnSp>
        <p:nvCxnSpPr>
          <p:cNvPr id="53" name="Connector 52"/>
          <p:cNvCxnSpPr/>
          <p:nvPr/>
        </p:nvCxnSpPr>
        <p:spPr>
          <a:xfrm>
            <a:off x="1005840" y="4315968"/>
            <a:ext cx="0" cy="164592"/>
          </a:xfrm>
          <a:prstGeom prst="line">
            <a:avLst/>
          </a:prstGeom>
          <a:ln w="9525">
            <a:solidFill>
              <a:srgbClr val="A0601E"/>
            </a:solidFill>
          </a:ln>
        </p:spPr>
      </p:cxnSp>
      <p:sp>
        <p:nvSpPr>
          <p:cNvPr id="54" name="TextBox 53"/>
          <p:cNvSpPr txBox="1"/>
          <p:nvPr/>
        </p:nvSpPr>
        <p:spPr>
          <a:xfrm>
            <a:off x="1325880" y="4032504"/>
            <a:ext cx="1188720" cy="731520"/>
          </a:xfrm>
          <a:prstGeom prst="rect">
            <a:avLst/>
          </a:prstGeom>
          <a:noFill/>
        </p:spPr>
        <p:txBody>
          <a:bodyPr wrap="square" lIns="0" rIns="0" tIns="0" bIns="0" anchor="ctr">
            <a:noAutofit/>
          </a:bodyPr>
          <a:lstStyle/>
          <a:p>
            <a:pPr algn="l">
              <a:lnSpc>
                <a:spcPct val="105000"/>
              </a:lnSpc>
              <a:spcBef>
                <a:spcPts val="0"/>
              </a:spcBef>
              <a:spcAft>
                <a:spcPts val="0"/>
              </a:spcAft>
            </a:pPr>
            <a:r>
              <a:rPr sz="1300" b="1" i="0">
                <a:solidFill>
                  <a:srgbClr val="10263F"/>
                </a:solidFill>
                <a:latin typeface="Georgia"/>
              </a:rPr>
              <a:t>HAProxy</a:t>
            </a:r>
          </a:p>
        </p:txBody>
      </p:sp>
      <p:sp>
        <p:nvSpPr>
          <p:cNvPr id="55" name="TextBox 54"/>
          <p:cNvSpPr txBox="1"/>
          <p:nvPr/>
        </p:nvSpPr>
        <p:spPr>
          <a:xfrm>
            <a:off x="2606039" y="4032504"/>
            <a:ext cx="2926080" cy="731520"/>
          </a:xfrm>
          <a:prstGeom prst="rect">
            <a:avLst/>
          </a:prstGeom>
          <a:noFill/>
        </p:spPr>
        <p:txBody>
          <a:bodyPr wrap="square" lIns="0" rIns="0" tIns="0" bIns="0" anchor="ctr">
            <a:noAutofit/>
          </a:bodyPr>
          <a:lstStyle/>
          <a:p>
            <a:pPr algn="l">
              <a:lnSpc>
                <a:spcPct val="110000"/>
              </a:lnSpc>
              <a:spcBef>
                <a:spcPts val="0"/>
              </a:spcBef>
              <a:spcAft>
                <a:spcPts val="0"/>
              </a:spcAft>
            </a:pPr>
            <a:r>
              <a:rPr sz="1150" b="0" i="0">
                <a:solidFill>
                  <a:srgbClr val="4A5A6B"/>
                </a:solidFill>
                <a:latin typeface="Arial"/>
              </a:rPr>
              <a:t>Config file plus a runtime API</a:t>
            </a:r>
          </a:p>
        </p:txBody>
      </p:sp>
      <p:sp>
        <p:nvSpPr>
          <p:cNvPr id="56" name="TextBox 55"/>
          <p:cNvSpPr txBox="1"/>
          <p:nvPr/>
        </p:nvSpPr>
        <p:spPr>
          <a:xfrm>
            <a:off x="5669280" y="4032504"/>
            <a:ext cx="2926080" cy="731520"/>
          </a:xfrm>
          <a:prstGeom prst="rect">
            <a:avLst/>
          </a:prstGeom>
          <a:noFill/>
        </p:spPr>
        <p:txBody>
          <a:bodyPr wrap="square" lIns="0" rIns="0" tIns="0" bIns="0" anchor="ctr">
            <a:noAutofit/>
          </a:bodyPr>
          <a:lstStyle/>
          <a:p>
            <a:pPr algn="l">
              <a:lnSpc>
                <a:spcPct val="110000"/>
              </a:lnSpc>
              <a:spcBef>
                <a:spcPts val="0"/>
              </a:spcBef>
              <a:spcAft>
                <a:spcPts val="0"/>
              </a:spcAft>
            </a:pPr>
            <a:r>
              <a:rPr sz="1150" b="0" i="0">
                <a:solidFill>
                  <a:srgbClr val="4A5A6B"/>
                </a:solidFill>
                <a:latin typeface="Arial"/>
              </a:rPr>
              <a:t>DNS-based. No Docker labels</a:t>
            </a:r>
          </a:p>
        </p:txBody>
      </p:sp>
      <p:sp>
        <p:nvSpPr>
          <p:cNvPr id="57" name="TextBox 56"/>
          <p:cNvSpPr txBox="1"/>
          <p:nvPr/>
        </p:nvSpPr>
        <p:spPr>
          <a:xfrm>
            <a:off x="8732519" y="4032504"/>
            <a:ext cx="2743200" cy="731520"/>
          </a:xfrm>
          <a:prstGeom prst="rect">
            <a:avLst/>
          </a:prstGeom>
          <a:noFill/>
        </p:spPr>
        <p:txBody>
          <a:bodyPr wrap="square" lIns="0" rIns="0" tIns="0" bIns="0" anchor="ctr">
            <a:noAutofit/>
          </a:bodyPr>
          <a:lstStyle/>
          <a:p>
            <a:pPr algn="l">
              <a:lnSpc>
                <a:spcPct val="110000"/>
              </a:lnSpc>
              <a:spcBef>
                <a:spcPts val="0"/>
              </a:spcBef>
              <a:spcAft>
                <a:spcPts val="0"/>
              </a:spcAft>
            </a:pPr>
            <a:r>
              <a:rPr sz="1150" b="0" i="0">
                <a:solidFill>
                  <a:srgbClr val="4A5A6B"/>
                </a:solidFill>
                <a:latin typeface="Arial"/>
              </a:rPr>
              <a:t>Experimental ACME in 3.2</a:t>
            </a:r>
          </a:p>
        </p:txBody>
      </p:sp>
      <p:cxnSp>
        <p:nvCxnSpPr>
          <p:cNvPr id="58" name="Connector 57"/>
          <p:cNvCxnSpPr/>
          <p:nvPr/>
        </p:nvCxnSpPr>
        <p:spPr>
          <a:xfrm>
            <a:off x="640080" y="4764024"/>
            <a:ext cx="10908792" cy="0"/>
          </a:xfrm>
          <a:prstGeom prst="line">
            <a:avLst/>
          </a:prstGeom>
          <a:ln w="12700">
            <a:solidFill>
              <a:srgbClr val="C4CBD0"/>
            </a:solidFill>
          </a:ln>
        </p:spPr>
      </p:cxnSp>
      <p:sp>
        <p:nvSpPr>
          <p:cNvPr id="59" name="Rectangle 58"/>
          <p:cNvSpPr/>
          <p:nvPr/>
        </p:nvSpPr>
        <p:spPr>
          <a:xfrm>
            <a:off x="640080" y="5001768"/>
            <a:ext cx="457200" cy="256032"/>
          </a:xfrm>
          <a:prstGeom prst="rect">
            <a:avLst/>
          </a:prstGeom>
          <a:solidFill>
            <a:srgbClr val="2B6CA3"/>
          </a:solidFill>
          <a:ln w="15875">
            <a:solidFill>
              <a:srgbClr val="10263F"/>
            </a:solidFill>
          </a:ln>
        </p:spPr>
        <p:txBody>
          <a:bodyPr rtlCol="0" anchor="ctr"/>
          <a:lstStyle/>
          <a:p>
            <a:pPr algn="ctr"/>
          </a:p>
        </p:txBody>
      </p:sp>
      <p:cxnSp>
        <p:nvCxnSpPr>
          <p:cNvPr id="60" name="Connector 59"/>
          <p:cNvCxnSpPr/>
          <p:nvPr/>
        </p:nvCxnSpPr>
        <p:spPr>
          <a:xfrm>
            <a:off x="731519" y="5047488"/>
            <a:ext cx="0" cy="164592"/>
          </a:xfrm>
          <a:prstGeom prst="line">
            <a:avLst/>
          </a:prstGeom>
          <a:ln w="9525">
            <a:solidFill>
              <a:srgbClr val="1E4B72"/>
            </a:solidFill>
          </a:ln>
        </p:spPr>
      </p:cxnSp>
      <p:cxnSp>
        <p:nvCxnSpPr>
          <p:cNvPr id="61" name="Connector 60"/>
          <p:cNvCxnSpPr/>
          <p:nvPr/>
        </p:nvCxnSpPr>
        <p:spPr>
          <a:xfrm>
            <a:off x="822959" y="5047488"/>
            <a:ext cx="0" cy="164592"/>
          </a:xfrm>
          <a:prstGeom prst="line">
            <a:avLst/>
          </a:prstGeom>
          <a:ln w="9525">
            <a:solidFill>
              <a:srgbClr val="1E4B72"/>
            </a:solidFill>
          </a:ln>
        </p:spPr>
      </p:cxnSp>
      <p:cxnSp>
        <p:nvCxnSpPr>
          <p:cNvPr id="62" name="Connector 61"/>
          <p:cNvCxnSpPr/>
          <p:nvPr/>
        </p:nvCxnSpPr>
        <p:spPr>
          <a:xfrm>
            <a:off x="914400" y="5047488"/>
            <a:ext cx="0" cy="164592"/>
          </a:xfrm>
          <a:prstGeom prst="line">
            <a:avLst/>
          </a:prstGeom>
          <a:ln w="9525">
            <a:solidFill>
              <a:srgbClr val="1E4B72"/>
            </a:solidFill>
          </a:ln>
        </p:spPr>
      </p:cxnSp>
      <p:cxnSp>
        <p:nvCxnSpPr>
          <p:cNvPr id="63" name="Connector 62"/>
          <p:cNvCxnSpPr/>
          <p:nvPr/>
        </p:nvCxnSpPr>
        <p:spPr>
          <a:xfrm>
            <a:off x="1005840" y="5047488"/>
            <a:ext cx="0" cy="164592"/>
          </a:xfrm>
          <a:prstGeom prst="line">
            <a:avLst/>
          </a:prstGeom>
          <a:ln w="9525">
            <a:solidFill>
              <a:srgbClr val="1E4B72"/>
            </a:solidFill>
          </a:ln>
        </p:spPr>
      </p:cxnSp>
      <p:sp>
        <p:nvSpPr>
          <p:cNvPr id="64" name="TextBox 63"/>
          <p:cNvSpPr txBox="1"/>
          <p:nvPr/>
        </p:nvSpPr>
        <p:spPr>
          <a:xfrm>
            <a:off x="1325880" y="4764024"/>
            <a:ext cx="1188720" cy="731520"/>
          </a:xfrm>
          <a:prstGeom prst="rect">
            <a:avLst/>
          </a:prstGeom>
          <a:noFill/>
        </p:spPr>
        <p:txBody>
          <a:bodyPr wrap="square" lIns="0" rIns="0" tIns="0" bIns="0" anchor="ctr">
            <a:noAutofit/>
          </a:bodyPr>
          <a:lstStyle/>
          <a:p>
            <a:pPr algn="l">
              <a:lnSpc>
                <a:spcPct val="105000"/>
              </a:lnSpc>
              <a:spcBef>
                <a:spcPts val="0"/>
              </a:spcBef>
              <a:spcAft>
                <a:spcPts val="0"/>
              </a:spcAft>
            </a:pPr>
            <a:r>
              <a:rPr sz="1300" b="1" i="0">
                <a:solidFill>
                  <a:srgbClr val="10263F"/>
                </a:solidFill>
                <a:latin typeface="Georgia"/>
              </a:rPr>
              <a:t>Envoy</a:t>
            </a:r>
          </a:p>
        </p:txBody>
      </p:sp>
      <p:sp>
        <p:nvSpPr>
          <p:cNvPr id="65" name="TextBox 64"/>
          <p:cNvSpPr txBox="1"/>
          <p:nvPr/>
        </p:nvSpPr>
        <p:spPr>
          <a:xfrm>
            <a:off x="2606039" y="4764024"/>
            <a:ext cx="2926080" cy="731520"/>
          </a:xfrm>
          <a:prstGeom prst="rect">
            <a:avLst/>
          </a:prstGeom>
          <a:noFill/>
        </p:spPr>
        <p:txBody>
          <a:bodyPr wrap="square" lIns="0" rIns="0" tIns="0" bIns="0" anchor="ctr">
            <a:noAutofit/>
          </a:bodyPr>
          <a:lstStyle/>
          <a:p>
            <a:pPr algn="l">
              <a:lnSpc>
                <a:spcPct val="110000"/>
              </a:lnSpc>
              <a:spcBef>
                <a:spcPts val="0"/>
              </a:spcBef>
              <a:spcAft>
                <a:spcPts val="0"/>
              </a:spcAft>
            </a:pPr>
            <a:r>
              <a:rPr sz="1150" b="0" i="0">
                <a:solidFill>
                  <a:srgbClr val="4A5A6B"/>
                </a:solidFill>
                <a:latin typeface="Arial"/>
              </a:rPr>
              <a:t>A control plane through the xDS APIs</a:t>
            </a:r>
          </a:p>
        </p:txBody>
      </p:sp>
      <p:sp>
        <p:nvSpPr>
          <p:cNvPr id="66" name="TextBox 65"/>
          <p:cNvSpPr txBox="1"/>
          <p:nvPr/>
        </p:nvSpPr>
        <p:spPr>
          <a:xfrm>
            <a:off x="5669280" y="4764024"/>
            <a:ext cx="2926080" cy="731520"/>
          </a:xfrm>
          <a:prstGeom prst="rect">
            <a:avLst/>
          </a:prstGeom>
          <a:noFill/>
        </p:spPr>
        <p:txBody>
          <a:bodyPr wrap="square" lIns="0" rIns="0" tIns="0" bIns="0" anchor="ctr">
            <a:noAutofit/>
          </a:bodyPr>
          <a:lstStyle/>
          <a:p>
            <a:pPr algn="l">
              <a:lnSpc>
                <a:spcPct val="110000"/>
              </a:lnSpc>
              <a:spcBef>
                <a:spcPts val="0"/>
              </a:spcBef>
              <a:spcAft>
                <a:spcPts val="0"/>
              </a:spcAft>
            </a:pPr>
            <a:r>
              <a:rPr sz="1150" b="0" i="0">
                <a:solidFill>
                  <a:srgbClr val="4A5A6B"/>
                </a:solidFill>
                <a:latin typeface="Arial"/>
              </a:rPr>
              <a:t>Through the control plane</a:t>
            </a:r>
          </a:p>
        </p:txBody>
      </p:sp>
      <p:sp>
        <p:nvSpPr>
          <p:cNvPr id="67" name="TextBox 66"/>
          <p:cNvSpPr txBox="1"/>
          <p:nvPr/>
        </p:nvSpPr>
        <p:spPr>
          <a:xfrm>
            <a:off x="8732519" y="4764024"/>
            <a:ext cx="2743200" cy="731520"/>
          </a:xfrm>
          <a:prstGeom prst="rect">
            <a:avLst/>
          </a:prstGeom>
          <a:noFill/>
        </p:spPr>
        <p:txBody>
          <a:bodyPr wrap="square" lIns="0" rIns="0" tIns="0" bIns="0" anchor="ctr">
            <a:noAutofit/>
          </a:bodyPr>
          <a:lstStyle/>
          <a:p>
            <a:pPr algn="l">
              <a:lnSpc>
                <a:spcPct val="110000"/>
              </a:lnSpc>
              <a:spcBef>
                <a:spcPts val="0"/>
              </a:spcBef>
              <a:spcAft>
                <a:spcPts val="0"/>
              </a:spcAft>
            </a:pPr>
            <a:r>
              <a:rPr sz="1150" b="0" i="0">
                <a:solidFill>
                  <a:srgbClr val="4A5A6B"/>
                </a:solidFill>
                <a:latin typeface="Arial"/>
              </a:rPr>
              <a:t>Not built in</a:t>
            </a:r>
          </a:p>
        </p:txBody>
      </p:sp>
      <p:cxnSp>
        <p:nvCxnSpPr>
          <p:cNvPr id="68" name="Connector 67"/>
          <p:cNvCxnSpPr/>
          <p:nvPr/>
        </p:nvCxnSpPr>
        <p:spPr>
          <a:xfrm>
            <a:off x="640080" y="5495544"/>
            <a:ext cx="10908792" cy="0"/>
          </a:xfrm>
          <a:prstGeom prst="line">
            <a:avLst/>
          </a:prstGeom>
          <a:ln w="12700">
            <a:solidFill>
              <a:srgbClr val="C4CBD0"/>
            </a:solidFill>
          </a:ln>
        </p:spPr>
      </p:cxnSp>
      <p:sp>
        <p:nvSpPr>
          <p:cNvPr id="69" name="TextBox 68"/>
          <p:cNvSpPr txBox="1"/>
          <p:nvPr/>
        </p:nvSpPr>
        <p:spPr>
          <a:xfrm>
            <a:off x="640080" y="5623560"/>
            <a:ext cx="10881360" cy="274320"/>
          </a:xfrm>
          <a:prstGeom prst="rect">
            <a:avLst/>
          </a:prstGeom>
          <a:noFill/>
        </p:spPr>
        <p:txBody>
          <a:bodyPr wrap="square" lIns="0" rIns="0" tIns="0" bIns="0" anchor="t">
            <a:noAutofit/>
          </a:bodyPr>
          <a:lstStyle/>
          <a:p>
            <a:pPr algn="l">
              <a:spcBef>
                <a:spcPts val="0"/>
              </a:spcBef>
              <a:spcAft>
                <a:spcPts val="0"/>
              </a:spcAft>
            </a:pPr>
            <a:r>
              <a:rPr sz="1100" b="0" i="1">
                <a:solidFill>
                  <a:srgbClr val="7E8A97"/>
                </a:solidFill>
                <a:latin typeface="Arial"/>
              </a:rPr>
              <a:t>I ran only Traefik. The other rows come from their documentation and announcements.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Rectangle 1"/>
          <p:cNvSpPr/>
          <p:nvPr/>
        </p:nvSpPr>
        <p:spPr>
          <a:xfrm>
            <a:off x="640080" y="731520"/>
            <a:ext cx="566928" cy="310896"/>
          </a:xfrm>
          <a:prstGeom prst="rect">
            <a:avLst/>
          </a:prstGeom>
          <a:solidFill>
            <a:srgbClr val="E9B93A"/>
          </a:solidFill>
          <a:ln w="15875">
            <a:solidFill>
              <a:srgbClr val="10263F"/>
            </a:solidFill>
          </a:ln>
        </p:spPr>
        <p:txBody>
          <a:bodyPr rtlCol="0" anchor="ctr"/>
          <a:lstStyle/>
          <a:p>
            <a:pPr algn="ctr"/>
          </a:p>
        </p:txBody>
      </p:sp>
      <p:cxnSp>
        <p:nvCxnSpPr>
          <p:cNvPr id="3" name="Connector 2"/>
          <p:cNvCxnSpPr/>
          <p:nvPr/>
        </p:nvCxnSpPr>
        <p:spPr>
          <a:xfrm>
            <a:off x="753465" y="777240"/>
            <a:ext cx="0" cy="219456"/>
          </a:xfrm>
          <a:prstGeom prst="line">
            <a:avLst/>
          </a:prstGeom>
          <a:ln w="9525">
            <a:solidFill>
              <a:srgbClr val="A38128"/>
            </a:solidFill>
          </a:ln>
        </p:spPr>
      </p:cxnSp>
      <p:cxnSp>
        <p:nvCxnSpPr>
          <p:cNvPr id="4" name="Connector 3"/>
          <p:cNvCxnSpPr/>
          <p:nvPr/>
        </p:nvCxnSpPr>
        <p:spPr>
          <a:xfrm>
            <a:off x="866851" y="777240"/>
            <a:ext cx="0" cy="219456"/>
          </a:xfrm>
          <a:prstGeom prst="line">
            <a:avLst/>
          </a:prstGeom>
          <a:ln w="9525">
            <a:solidFill>
              <a:srgbClr val="A38128"/>
            </a:solidFill>
          </a:ln>
        </p:spPr>
      </p:cxnSp>
      <p:cxnSp>
        <p:nvCxnSpPr>
          <p:cNvPr id="5" name="Connector 4"/>
          <p:cNvCxnSpPr/>
          <p:nvPr/>
        </p:nvCxnSpPr>
        <p:spPr>
          <a:xfrm>
            <a:off x="980236" y="777240"/>
            <a:ext cx="0" cy="219456"/>
          </a:xfrm>
          <a:prstGeom prst="line">
            <a:avLst/>
          </a:prstGeom>
          <a:ln w="9525">
            <a:solidFill>
              <a:srgbClr val="A38128"/>
            </a:solidFill>
          </a:ln>
        </p:spPr>
      </p:cxnSp>
      <p:cxnSp>
        <p:nvCxnSpPr>
          <p:cNvPr id="6" name="Connector 5"/>
          <p:cNvCxnSpPr/>
          <p:nvPr/>
        </p:nvCxnSpPr>
        <p:spPr>
          <a:xfrm>
            <a:off x="1093622" y="777240"/>
            <a:ext cx="0" cy="219456"/>
          </a:xfrm>
          <a:prstGeom prst="line">
            <a:avLst/>
          </a:prstGeom>
          <a:ln w="9525">
            <a:solidFill>
              <a:srgbClr val="A38128"/>
            </a:solidFill>
          </a:ln>
        </p:spPr>
      </p:cxnSp>
      <p:sp>
        <p:nvSpPr>
          <p:cNvPr id="7" name="TextBox 6"/>
          <p:cNvSpPr txBox="1"/>
          <p:nvPr/>
        </p:nvSpPr>
        <p:spPr>
          <a:xfrm>
            <a:off x="1417320" y="548640"/>
            <a:ext cx="10149840" cy="685800"/>
          </a:xfrm>
          <a:prstGeom prst="rect">
            <a:avLst/>
          </a:prstGeom>
          <a:noFill/>
        </p:spPr>
        <p:txBody>
          <a:bodyPr wrap="square" lIns="0" rIns="0" tIns="0" bIns="0" anchor="ctr">
            <a:noAutofit/>
          </a:bodyPr>
          <a:lstStyle/>
          <a:p>
            <a:pPr algn="l">
              <a:spcBef>
                <a:spcPts val="0"/>
              </a:spcBef>
              <a:spcAft>
                <a:spcPts val="0"/>
              </a:spcAft>
            </a:pPr>
            <a:r>
              <a:rPr sz="3000" b="1" i="0">
                <a:solidFill>
                  <a:srgbClr val="10263F"/>
                </a:solidFill>
                <a:latin typeface="Georgia"/>
              </a:rPr>
              <a:t>Evaluation</a:t>
            </a:r>
          </a:p>
        </p:txBody>
      </p:sp>
      <p:cxnSp>
        <p:nvCxnSpPr>
          <p:cNvPr id="8" name="Connector 7"/>
          <p:cNvCxnSpPr/>
          <p:nvPr/>
        </p:nvCxnSpPr>
        <p:spPr>
          <a:xfrm>
            <a:off x="640080" y="1335024"/>
            <a:ext cx="10908792" cy="0"/>
          </a:xfrm>
          <a:prstGeom prst="line">
            <a:avLst/>
          </a:prstGeom>
          <a:ln w="15875">
            <a:solidFill>
              <a:srgbClr val="9AA5AE"/>
            </a:solidFill>
            <a:prstDash val="dash"/>
          </a:ln>
        </p:spPr>
      </p:cxnSp>
      <p:pic>
        <p:nvPicPr>
          <p:cNvPr id="9" name="Picture 8" descr="wave_band.png"/>
          <p:cNvPicPr>
            <a:picLocks noChangeAspect="1"/>
          </p:cNvPicPr>
          <p:nvPr/>
        </p:nvPicPr>
        <p:blipFill>
          <a:blip r:embed="rId2"/>
          <a:stretch>
            <a:fillRect/>
          </a:stretch>
        </p:blipFill>
        <p:spPr>
          <a:xfrm>
            <a:off x="0" y="6355080"/>
            <a:ext cx="12191695" cy="502845"/>
          </a:xfrm>
          <a:prstGeom prst="rect">
            <a:avLst/>
          </a:prstGeom>
        </p:spPr>
      </p:pic>
      <p:pic>
        <p:nvPicPr>
          <p:cNvPr id="10" name="Picture 9" descr="tug_small.png"/>
          <p:cNvPicPr>
            <a:picLocks noChangeAspect="1"/>
          </p:cNvPicPr>
          <p:nvPr/>
        </p:nvPicPr>
        <p:blipFill>
          <a:blip r:embed="rId3"/>
          <a:stretch>
            <a:fillRect/>
          </a:stretch>
        </p:blipFill>
        <p:spPr>
          <a:xfrm>
            <a:off x="9805181" y="6070981"/>
            <a:ext cx="566928" cy="457835"/>
          </a:xfrm>
          <a:prstGeom prst="rect">
            <a:avLst/>
          </a:prstGeom>
        </p:spPr>
      </p:pic>
      <p:sp>
        <p:nvSpPr>
          <p:cNvPr id="11" name="TextBox 10"/>
          <p:cNvSpPr txBox="1"/>
          <p:nvPr/>
        </p:nvSpPr>
        <p:spPr>
          <a:xfrm>
            <a:off x="640080" y="6126480"/>
            <a:ext cx="2743200" cy="228600"/>
          </a:xfrm>
          <a:prstGeom prst="rect">
            <a:avLst/>
          </a:prstGeom>
          <a:noFill/>
        </p:spPr>
        <p:txBody>
          <a:bodyPr wrap="square" lIns="0" rIns="0" tIns="0" bIns="0" anchor="ctr">
            <a:noAutofit/>
          </a:bodyPr>
          <a:lstStyle/>
          <a:p>
            <a:pPr algn="l">
              <a:spcBef>
                <a:spcPts val="0"/>
              </a:spcBef>
              <a:spcAft>
                <a:spcPts val="0"/>
              </a:spcAft>
            </a:pPr>
            <a:r>
              <a:rPr sz="1000" b="0" i="0">
                <a:solidFill>
                  <a:srgbClr val="7E8A97"/>
                </a:solidFill>
                <a:latin typeface="Arial"/>
              </a:rPr>
              <a:t>Traefik   13 / 15</a:t>
            </a:r>
          </a:p>
        </p:txBody>
      </p:sp>
      <p:pic>
        <p:nvPicPr>
          <p:cNvPr id="12" name="Picture 11" descr="logo_college.png"/>
          <p:cNvPicPr>
            <a:picLocks noChangeAspect="1"/>
          </p:cNvPicPr>
          <p:nvPr/>
        </p:nvPicPr>
        <p:blipFill>
          <a:blip r:embed="rId4"/>
          <a:stretch>
            <a:fillRect/>
          </a:stretch>
        </p:blipFill>
        <p:spPr>
          <a:xfrm>
            <a:off x="640080" y="91440"/>
            <a:ext cx="1625550" cy="475488"/>
          </a:xfrm>
          <a:prstGeom prst="rect">
            <a:avLst/>
          </a:prstGeom>
        </p:spPr>
      </p:pic>
      <p:pic>
        <p:nvPicPr>
          <p:cNvPr id="13" name="Picture 12" descr="logo_trust.png"/>
          <p:cNvPicPr>
            <a:picLocks noChangeAspect="1"/>
          </p:cNvPicPr>
          <p:nvPr/>
        </p:nvPicPr>
        <p:blipFill>
          <a:blip r:embed="rId5"/>
          <a:stretch>
            <a:fillRect/>
          </a:stretch>
        </p:blipFill>
        <p:spPr>
          <a:xfrm>
            <a:off x="10940472" y="91440"/>
            <a:ext cx="608400" cy="457200"/>
          </a:xfrm>
          <a:prstGeom prst="rect">
            <a:avLst/>
          </a:prstGeom>
        </p:spPr>
      </p:pic>
      <p:sp>
        <p:nvSpPr>
          <p:cNvPr id="14" name="Rounded Rectangle 13"/>
          <p:cNvSpPr/>
          <p:nvPr/>
        </p:nvSpPr>
        <p:spPr>
          <a:xfrm>
            <a:off x="640080" y="1600200"/>
            <a:ext cx="5212080" cy="502920"/>
          </a:xfrm>
          <a:prstGeom prst="roundRect">
            <a:avLst>
              <a:gd name="adj" fmla="val 7272"/>
            </a:avLst>
          </a:prstGeom>
          <a:solidFill>
            <a:srgbClr val="2F8F83"/>
          </a:solidFill>
          <a:ln w="19050">
            <a:solidFill>
              <a:srgbClr val="10263F"/>
            </a:solidFill>
          </a:ln>
        </p:spPr>
        <p:txBody>
          <a:bodyPr rtlCol="0" anchor="ctr"/>
          <a:lstStyle/>
          <a:p>
            <a:pPr algn="ctr"/>
          </a:p>
        </p:txBody>
      </p:sp>
      <p:sp>
        <p:nvSpPr>
          <p:cNvPr id="15" name="TextBox 14"/>
          <p:cNvSpPr txBox="1"/>
          <p:nvPr/>
        </p:nvSpPr>
        <p:spPr>
          <a:xfrm>
            <a:off x="868680" y="1600200"/>
            <a:ext cx="4754880" cy="502920"/>
          </a:xfrm>
          <a:prstGeom prst="rect">
            <a:avLst/>
          </a:prstGeom>
          <a:noFill/>
        </p:spPr>
        <p:txBody>
          <a:bodyPr wrap="square" lIns="0" rIns="0" tIns="0" bIns="0" anchor="ctr">
            <a:noAutofit/>
          </a:bodyPr>
          <a:lstStyle/>
          <a:p>
            <a:pPr algn="l">
              <a:spcBef>
                <a:spcPts val="0"/>
              </a:spcBef>
              <a:spcAft>
                <a:spcPts val="0"/>
              </a:spcAft>
            </a:pPr>
            <a:r>
              <a:rPr sz="1800" b="1" i="0">
                <a:solidFill>
                  <a:srgbClr val="FFFFFF"/>
                </a:solidFill>
                <a:latin typeface="Georgia"/>
              </a:rPr>
              <a:t>What worked</a:t>
            </a:r>
          </a:p>
        </p:txBody>
      </p:sp>
      <p:cxnSp>
        <p:nvCxnSpPr>
          <p:cNvPr id="16" name="Connector 15"/>
          <p:cNvCxnSpPr/>
          <p:nvPr/>
        </p:nvCxnSpPr>
        <p:spPr>
          <a:xfrm>
            <a:off x="640080" y="2286000"/>
            <a:ext cx="5212080" cy="0"/>
          </a:xfrm>
          <a:prstGeom prst="line">
            <a:avLst/>
          </a:prstGeom>
          <a:ln w="12700">
            <a:solidFill>
              <a:srgbClr val="C4CBD0"/>
            </a:solidFill>
          </a:ln>
        </p:spPr>
      </p:cxnSp>
      <p:sp>
        <p:nvSpPr>
          <p:cNvPr id="17" name="Rectangle 16"/>
          <p:cNvSpPr/>
          <p:nvPr/>
        </p:nvSpPr>
        <p:spPr>
          <a:xfrm>
            <a:off x="685800" y="2487168"/>
            <a:ext cx="411480" cy="256032"/>
          </a:xfrm>
          <a:prstGeom prst="rect">
            <a:avLst/>
          </a:prstGeom>
          <a:solidFill>
            <a:srgbClr val="C8472D"/>
          </a:solidFill>
          <a:ln w="15875">
            <a:solidFill>
              <a:srgbClr val="10263F"/>
            </a:solidFill>
          </a:ln>
        </p:spPr>
        <p:txBody>
          <a:bodyPr rtlCol="0" anchor="ctr"/>
          <a:lstStyle/>
          <a:p>
            <a:pPr algn="ctr"/>
          </a:p>
        </p:txBody>
      </p:sp>
      <p:cxnSp>
        <p:nvCxnSpPr>
          <p:cNvPr id="18" name="Connector 17"/>
          <p:cNvCxnSpPr/>
          <p:nvPr/>
        </p:nvCxnSpPr>
        <p:spPr>
          <a:xfrm>
            <a:off x="768096" y="2532888"/>
            <a:ext cx="0" cy="164592"/>
          </a:xfrm>
          <a:prstGeom prst="line">
            <a:avLst/>
          </a:prstGeom>
          <a:ln w="9525">
            <a:solidFill>
              <a:srgbClr val="8C311F"/>
            </a:solidFill>
          </a:ln>
        </p:spPr>
      </p:cxnSp>
      <p:cxnSp>
        <p:nvCxnSpPr>
          <p:cNvPr id="19" name="Connector 18"/>
          <p:cNvCxnSpPr/>
          <p:nvPr/>
        </p:nvCxnSpPr>
        <p:spPr>
          <a:xfrm>
            <a:off x="850392" y="2532888"/>
            <a:ext cx="0" cy="164592"/>
          </a:xfrm>
          <a:prstGeom prst="line">
            <a:avLst/>
          </a:prstGeom>
          <a:ln w="9525">
            <a:solidFill>
              <a:srgbClr val="8C311F"/>
            </a:solidFill>
          </a:ln>
        </p:spPr>
      </p:cxnSp>
      <p:cxnSp>
        <p:nvCxnSpPr>
          <p:cNvPr id="20" name="Connector 19"/>
          <p:cNvCxnSpPr/>
          <p:nvPr/>
        </p:nvCxnSpPr>
        <p:spPr>
          <a:xfrm>
            <a:off x="932688" y="2532888"/>
            <a:ext cx="0" cy="164592"/>
          </a:xfrm>
          <a:prstGeom prst="line">
            <a:avLst/>
          </a:prstGeom>
          <a:ln w="9525">
            <a:solidFill>
              <a:srgbClr val="8C311F"/>
            </a:solidFill>
          </a:ln>
        </p:spPr>
      </p:cxnSp>
      <p:cxnSp>
        <p:nvCxnSpPr>
          <p:cNvPr id="21" name="Connector 20"/>
          <p:cNvCxnSpPr/>
          <p:nvPr/>
        </p:nvCxnSpPr>
        <p:spPr>
          <a:xfrm>
            <a:off x="1014983" y="2532888"/>
            <a:ext cx="0" cy="164592"/>
          </a:xfrm>
          <a:prstGeom prst="line">
            <a:avLst/>
          </a:prstGeom>
          <a:ln w="9525">
            <a:solidFill>
              <a:srgbClr val="8C311F"/>
            </a:solidFill>
          </a:ln>
        </p:spPr>
      </p:cxnSp>
      <p:sp>
        <p:nvSpPr>
          <p:cNvPr id="22" name="TextBox 21"/>
          <p:cNvSpPr txBox="1"/>
          <p:nvPr/>
        </p:nvSpPr>
        <p:spPr>
          <a:xfrm>
            <a:off x="1280160" y="2286000"/>
            <a:ext cx="4572000" cy="713232"/>
          </a:xfrm>
          <a:prstGeom prst="rect">
            <a:avLst/>
          </a:prstGeom>
          <a:noFill/>
        </p:spPr>
        <p:txBody>
          <a:bodyPr wrap="square" lIns="0" rIns="0" tIns="0" bIns="0" anchor="ctr">
            <a:noAutofit/>
          </a:bodyPr>
          <a:lstStyle/>
          <a:p>
            <a:pPr algn="l">
              <a:lnSpc>
                <a:spcPct val="115000"/>
              </a:lnSpc>
              <a:spcBef>
                <a:spcPts val="0"/>
              </a:spcBef>
              <a:spcAft>
                <a:spcPts val="0"/>
              </a:spcAft>
            </a:pPr>
            <a:r>
              <a:rPr sz="1400" b="0" i="0">
                <a:solidFill>
                  <a:srgbClr val="10263F"/>
                </a:solidFill>
                <a:latin typeface="Arial"/>
              </a:rPr>
              <a:t>Discovery behaved as documented, with no restart.</a:t>
            </a:r>
          </a:p>
        </p:txBody>
      </p:sp>
      <p:cxnSp>
        <p:nvCxnSpPr>
          <p:cNvPr id="23" name="Connector 22"/>
          <p:cNvCxnSpPr/>
          <p:nvPr/>
        </p:nvCxnSpPr>
        <p:spPr>
          <a:xfrm>
            <a:off x="640080" y="2999232"/>
            <a:ext cx="5212080" cy="0"/>
          </a:xfrm>
          <a:prstGeom prst="line">
            <a:avLst/>
          </a:prstGeom>
          <a:ln w="12700">
            <a:solidFill>
              <a:srgbClr val="C4CBD0"/>
            </a:solidFill>
          </a:ln>
        </p:spPr>
      </p:cxnSp>
      <p:sp>
        <p:nvSpPr>
          <p:cNvPr id="24" name="Rectangle 23"/>
          <p:cNvSpPr/>
          <p:nvPr/>
        </p:nvSpPr>
        <p:spPr>
          <a:xfrm>
            <a:off x="685800" y="3200400"/>
            <a:ext cx="411480" cy="256032"/>
          </a:xfrm>
          <a:prstGeom prst="rect">
            <a:avLst/>
          </a:prstGeom>
          <a:solidFill>
            <a:srgbClr val="E9B93A"/>
          </a:solidFill>
          <a:ln w="15875">
            <a:solidFill>
              <a:srgbClr val="10263F"/>
            </a:solidFill>
          </a:ln>
        </p:spPr>
        <p:txBody>
          <a:bodyPr rtlCol="0" anchor="ctr"/>
          <a:lstStyle/>
          <a:p>
            <a:pPr algn="ctr"/>
          </a:p>
        </p:txBody>
      </p:sp>
      <p:cxnSp>
        <p:nvCxnSpPr>
          <p:cNvPr id="25" name="Connector 24"/>
          <p:cNvCxnSpPr/>
          <p:nvPr/>
        </p:nvCxnSpPr>
        <p:spPr>
          <a:xfrm>
            <a:off x="768096" y="3246120"/>
            <a:ext cx="0" cy="164592"/>
          </a:xfrm>
          <a:prstGeom prst="line">
            <a:avLst/>
          </a:prstGeom>
          <a:ln w="9525">
            <a:solidFill>
              <a:srgbClr val="A38128"/>
            </a:solidFill>
          </a:ln>
        </p:spPr>
      </p:cxnSp>
      <p:cxnSp>
        <p:nvCxnSpPr>
          <p:cNvPr id="26" name="Connector 25"/>
          <p:cNvCxnSpPr/>
          <p:nvPr/>
        </p:nvCxnSpPr>
        <p:spPr>
          <a:xfrm>
            <a:off x="850392" y="3246120"/>
            <a:ext cx="0" cy="164592"/>
          </a:xfrm>
          <a:prstGeom prst="line">
            <a:avLst/>
          </a:prstGeom>
          <a:ln w="9525">
            <a:solidFill>
              <a:srgbClr val="A38128"/>
            </a:solidFill>
          </a:ln>
        </p:spPr>
      </p:cxnSp>
      <p:cxnSp>
        <p:nvCxnSpPr>
          <p:cNvPr id="27" name="Connector 26"/>
          <p:cNvCxnSpPr/>
          <p:nvPr/>
        </p:nvCxnSpPr>
        <p:spPr>
          <a:xfrm>
            <a:off x="932688" y="3246120"/>
            <a:ext cx="0" cy="164592"/>
          </a:xfrm>
          <a:prstGeom prst="line">
            <a:avLst/>
          </a:prstGeom>
          <a:ln w="9525">
            <a:solidFill>
              <a:srgbClr val="A38128"/>
            </a:solidFill>
          </a:ln>
        </p:spPr>
      </p:cxnSp>
      <p:cxnSp>
        <p:nvCxnSpPr>
          <p:cNvPr id="28" name="Connector 27"/>
          <p:cNvCxnSpPr/>
          <p:nvPr/>
        </p:nvCxnSpPr>
        <p:spPr>
          <a:xfrm>
            <a:off x="1014983" y="3246120"/>
            <a:ext cx="0" cy="164592"/>
          </a:xfrm>
          <a:prstGeom prst="line">
            <a:avLst/>
          </a:prstGeom>
          <a:ln w="9525">
            <a:solidFill>
              <a:srgbClr val="A38128"/>
            </a:solidFill>
          </a:ln>
        </p:spPr>
      </p:cxnSp>
      <p:sp>
        <p:nvSpPr>
          <p:cNvPr id="29" name="TextBox 28"/>
          <p:cNvSpPr txBox="1"/>
          <p:nvPr/>
        </p:nvSpPr>
        <p:spPr>
          <a:xfrm>
            <a:off x="1280160" y="2999232"/>
            <a:ext cx="4572000" cy="713232"/>
          </a:xfrm>
          <a:prstGeom prst="rect">
            <a:avLst/>
          </a:prstGeom>
          <a:noFill/>
        </p:spPr>
        <p:txBody>
          <a:bodyPr wrap="square" lIns="0" rIns="0" tIns="0" bIns="0" anchor="ctr">
            <a:noAutofit/>
          </a:bodyPr>
          <a:lstStyle/>
          <a:p>
            <a:pPr algn="l">
              <a:lnSpc>
                <a:spcPct val="115000"/>
              </a:lnSpc>
              <a:spcBef>
                <a:spcPts val="0"/>
              </a:spcBef>
              <a:spcAft>
                <a:spcPts val="0"/>
              </a:spcAft>
            </a:pPr>
            <a:r>
              <a:rPr sz="1400" b="0" i="0">
                <a:solidFill>
                  <a:srgbClr val="10263F"/>
                </a:solidFill>
                <a:latin typeface="Arial"/>
              </a:rPr>
              <a:t>The certificate exchange needed no commands from me.</a:t>
            </a:r>
          </a:p>
        </p:txBody>
      </p:sp>
      <p:cxnSp>
        <p:nvCxnSpPr>
          <p:cNvPr id="30" name="Connector 29"/>
          <p:cNvCxnSpPr/>
          <p:nvPr/>
        </p:nvCxnSpPr>
        <p:spPr>
          <a:xfrm>
            <a:off x="640080" y="3712464"/>
            <a:ext cx="5212080" cy="0"/>
          </a:xfrm>
          <a:prstGeom prst="line">
            <a:avLst/>
          </a:prstGeom>
          <a:ln w="12700">
            <a:solidFill>
              <a:srgbClr val="C4CBD0"/>
            </a:solidFill>
          </a:ln>
        </p:spPr>
      </p:cxnSp>
      <p:sp>
        <p:nvSpPr>
          <p:cNvPr id="31" name="Rectangle 30"/>
          <p:cNvSpPr/>
          <p:nvPr/>
        </p:nvSpPr>
        <p:spPr>
          <a:xfrm>
            <a:off x="685800" y="3913632"/>
            <a:ext cx="411480" cy="256032"/>
          </a:xfrm>
          <a:prstGeom prst="rect">
            <a:avLst/>
          </a:prstGeom>
          <a:solidFill>
            <a:srgbClr val="2F8F83"/>
          </a:solidFill>
          <a:ln w="15875">
            <a:solidFill>
              <a:srgbClr val="10263F"/>
            </a:solidFill>
          </a:ln>
        </p:spPr>
        <p:txBody>
          <a:bodyPr rtlCol="0" anchor="ctr"/>
          <a:lstStyle/>
          <a:p>
            <a:pPr algn="ctr"/>
          </a:p>
        </p:txBody>
      </p:sp>
      <p:cxnSp>
        <p:nvCxnSpPr>
          <p:cNvPr id="32" name="Connector 31"/>
          <p:cNvCxnSpPr/>
          <p:nvPr/>
        </p:nvCxnSpPr>
        <p:spPr>
          <a:xfrm>
            <a:off x="768096" y="3959352"/>
            <a:ext cx="0" cy="164592"/>
          </a:xfrm>
          <a:prstGeom prst="line">
            <a:avLst/>
          </a:prstGeom>
          <a:ln w="9525">
            <a:solidFill>
              <a:srgbClr val="20645B"/>
            </a:solidFill>
          </a:ln>
        </p:spPr>
      </p:cxnSp>
      <p:cxnSp>
        <p:nvCxnSpPr>
          <p:cNvPr id="33" name="Connector 32"/>
          <p:cNvCxnSpPr/>
          <p:nvPr/>
        </p:nvCxnSpPr>
        <p:spPr>
          <a:xfrm>
            <a:off x="850392" y="3959352"/>
            <a:ext cx="0" cy="164592"/>
          </a:xfrm>
          <a:prstGeom prst="line">
            <a:avLst/>
          </a:prstGeom>
          <a:ln w="9525">
            <a:solidFill>
              <a:srgbClr val="20645B"/>
            </a:solidFill>
          </a:ln>
        </p:spPr>
      </p:cxnSp>
      <p:cxnSp>
        <p:nvCxnSpPr>
          <p:cNvPr id="34" name="Connector 33"/>
          <p:cNvCxnSpPr/>
          <p:nvPr/>
        </p:nvCxnSpPr>
        <p:spPr>
          <a:xfrm>
            <a:off x="932688" y="3959352"/>
            <a:ext cx="0" cy="164592"/>
          </a:xfrm>
          <a:prstGeom prst="line">
            <a:avLst/>
          </a:prstGeom>
          <a:ln w="9525">
            <a:solidFill>
              <a:srgbClr val="20645B"/>
            </a:solidFill>
          </a:ln>
        </p:spPr>
      </p:cxnSp>
      <p:cxnSp>
        <p:nvCxnSpPr>
          <p:cNvPr id="35" name="Connector 34"/>
          <p:cNvCxnSpPr/>
          <p:nvPr/>
        </p:nvCxnSpPr>
        <p:spPr>
          <a:xfrm>
            <a:off x="1014983" y="3959352"/>
            <a:ext cx="0" cy="164592"/>
          </a:xfrm>
          <a:prstGeom prst="line">
            <a:avLst/>
          </a:prstGeom>
          <a:ln w="9525">
            <a:solidFill>
              <a:srgbClr val="20645B"/>
            </a:solidFill>
          </a:ln>
        </p:spPr>
      </p:cxnSp>
      <p:sp>
        <p:nvSpPr>
          <p:cNvPr id="36" name="TextBox 35"/>
          <p:cNvSpPr txBox="1"/>
          <p:nvPr/>
        </p:nvSpPr>
        <p:spPr>
          <a:xfrm>
            <a:off x="1280160" y="3712464"/>
            <a:ext cx="4572000" cy="713232"/>
          </a:xfrm>
          <a:prstGeom prst="rect">
            <a:avLst/>
          </a:prstGeom>
          <a:noFill/>
        </p:spPr>
        <p:txBody>
          <a:bodyPr wrap="square" lIns="0" rIns="0" tIns="0" bIns="0" anchor="ctr">
            <a:noAutofit/>
          </a:bodyPr>
          <a:lstStyle/>
          <a:p>
            <a:pPr algn="l">
              <a:lnSpc>
                <a:spcPct val="115000"/>
              </a:lnSpc>
              <a:spcBef>
                <a:spcPts val="0"/>
              </a:spcBef>
              <a:spcAft>
                <a:spcPts val="0"/>
              </a:spcAft>
            </a:pPr>
            <a:r>
              <a:rPr sz="1400" b="0" i="0">
                <a:solidFill>
                  <a:srgbClr val="10263F"/>
                </a:solidFill>
                <a:latin typeface="Arial"/>
              </a:rPr>
              <a:t>The dashboard made mistakes easy to see.</a:t>
            </a:r>
          </a:p>
        </p:txBody>
      </p:sp>
      <p:sp>
        <p:nvSpPr>
          <p:cNvPr id="37" name="Rounded Rectangle 36"/>
          <p:cNvSpPr/>
          <p:nvPr/>
        </p:nvSpPr>
        <p:spPr>
          <a:xfrm>
            <a:off x="6217920" y="1600200"/>
            <a:ext cx="5212080" cy="502920"/>
          </a:xfrm>
          <a:prstGeom prst="roundRect">
            <a:avLst>
              <a:gd name="adj" fmla="val 7272"/>
            </a:avLst>
          </a:prstGeom>
          <a:solidFill>
            <a:srgbClr val="C8472D"/>
          </a:solidFill>
          <a:ln w="19050">
            <a:solidFill>
              <a:srgbClr val="10263F"/>
            </a:solidFill>
          </a:ln>
        </p:spPr>
        <p:txBody>
          <a:bodyPr rtlCol="0" anchor="ctr"/>
          <a:lstStyle/>
          <a:p>
            <a:pPr algn="ctr"/>
          </a:p>
        </p:txBody>
      </p:sp>
      <p:sp>
        <p:nvSpPr>
          <p:cNvPr id="38" name="TextBox 37"/>
          <p:cNvSpPr txBox="1"/>
          <p:nvPr/>
        </p:nvSpPr>
        <p:spPr>
          <a:xfrm>
            <a:off x="6446520" y="1600200"/>
            <a:ext cx="4754880" cy="502920"/>
          </a:xfrm>
          <a:prstGeom prst="rect">
            <a:avLst/>
          </a:prstGeom>
          <a:noFill/>
        </p:spPr>
        <p:txBody>
          <a:bodyPr wrap="square" lIns="0" rIns="0" tIns="0" bIns="0" anchor="ctr">
            <a:noAutofit/>
          </a:bodyPr>
          <a:lstStyle/>
          <a:p>
            <a:pPr algn="l">
              <a:spcBef>
                <a:spcPts val="0"/>
              </a:spcBef>
              <a:spcAft>
                <a:spcPts val="0"/>
              </a:spcAft>
            </a:pPr>
            <a:r>
              <a:rPr sz="1800" b="1" i="0">
                <a:solidFill>
                  <a:srgbClr val="FFFFFF"/>
                </a:solidFill>
                <a:latin typeface="Georgia"/>
              </a:rPr>
              <a:t>What was hard</a:t>
            </a:r>
          </a:p>
        </p:txBody>
      </p:sp>
      <p:cxnSp>
        <p:nvCxnSpPr>
          <p:cNvPr id="39" name="Connector 38"/>
          <p:cNvCxnSpPr/>
          <p:nvPr/>
        </p:nvCxnSpPr>
        <p:spPr>
          <a:xfrm>
            <a:off x="6217920" y="2286000"/>
            <a:ext cx="5212080" cy="0"/>
          </a:xfrm>
          <a:prstGeom prst="line">
            <a:avLst/>
          </a:prstGeom>
          <a:ln w="12700">
            <a:solidFill>
              <a:srgbClr val="C4CBD0"/>
            </a:solidFill>
          </a:ln>
        </p:spPr>
      </p:cxnSp>
      <p:sp>
        <p:nvSpPr>
          <p:cNvPr id="40" name="Rectangle 39"/>
          <p:cNvSpPr/>
          <p:nvPr/>
        </p:nvSpPr>
        <p:spPr>
          <a:xfrm>
            <a:off x="6263640" y="2487168"/>
            <a:ext cx="411480" cy="256032"/>
          </a:xfrm>
          <a:prstGeom prst="rect">
            <a:avLst/>
          </a:prstGeom>
          <a:solidFill>
            <a:srgbClr val="2F8F83"/>
          </a:solidFill>
          <a:ln w="15875">
            <a:solidFill>
              <a:srgbClr val="10263F"/>
            </a:solidFill>
          </a:ln>
        </p:spPr>
        <p:txBody>
          <a:bodyPr rtlCol="0" anchor="ctr"/>
          <a:lstStyle/>
          <a:p>
            <a:pPr algn="ctr"/>
          </a:p>
        </p:txBody>
      </p:sp>
      <p:cxnSp>
        <p:nvCxnSpPr>
          <p:cNvPr id="41" name="Connector 40"/>
          <p:cNvCxnSpPr/>
          <p:nvPr/>
        </p:nvCxnSpPr>
        <p:spPr>
          <a:xfrm>
            <a:off x="6345936" y="2532888"/>
            <a:ext cx="0" cy="164592"/>
          </a:xfrm>
          <a:prstGeom prst="line">
            <a:avLst/>
          </a:prstGeom>
          <a:ln w="9525">
            <a:solidFill>
              <a:srgbClr val="20645B"/>
            </a:solidFill>
          </a:ln>
        </p:spPr>
      </p:cxnSp>
      <p:cxnSp>
        <p:nvCxnSpPr>
          <p:cNvPr id="42" name="Connector 41"/>
          <p:cNvCxnSpPr/>
          <p:nvPr/>
        </p:nvCxnSpPr>
        <p:spPr>
          <a:xfrm>
            <a:off x="6428231" y="2532888"/>
            <a:ext cx="0" cy="164592"/>
          </a:xfrm>
          <a:prstGeom prst="line">
            <a:avLst/>
          </a:prstGeom>
          <a:ln w="9525">
            <a:solidFill>
              <a:srgbClr val="20645B"/>
            </a:solidFill>
          </a:ln>
        </p:spPr>
      </p:cxnSp>
      <p:cxnSp>
        <p:nvCxnSpPr>
          <p:cNvPr id="43" name="Connector 42"/>
          <p:cNvCxnSpPr/>
          <p:nvPr/>
        </p:nvCxnSpPr>
        <p:spPr>
          <a:xfrm>
            <a:off x="6510527" y="2532888"/>
            <a:ext cx="0" cy="164592"/>
          </a:xfrm>
          <a:prstGeom prst="line">
            <a:avLst/>
          </a:prstGeom>
          <a:ln w="9525">
            <a:solidFill>
              <a:srgbClr val="20645B"/>
            </a:solidFill>
          </a:ln>
        </p:spPr>
      </p:cxnSp>
      <p:cxnSp>
        <p:nvCxnSpPr>
          <p:cNvPr id="44" name="Connector 43"/>
          <p:cNvCxnSpPr/>
          <p:nvPr/>
        </p:nvCxnSpPr>
        <p:spPr>
          <a:xfrm>
            <a:off x="6592824" y="2532888"/>
            <a:ext cx="0" cy="164592"/>
          </a:xfrm>
          <a:prstGeom prst="line">
            <a:avLst/>
          </a:prstGeom>
          <a:ln w="9525">
            <a:solidFill>
              <a:srgbClr val="20645B"/>
            </a:solidFill>
          </a:ln>
        </p:spPr>
      </p:cxnSp>
      <p:sp>
        <p:nvSpPr>
          <p:cNvPr id="45" name="TextBox 44"/>
          <p:cNvSpPr txBox="1"/>
          <p:nvPr/>
        </p:nvSpPr>
        <p:spPr>
          <a:xfrm>
            <a:off x="6858000" y="2286000"/>
            <a:ext cx="4572000" cy="713232"/>
          </a:xfrm>
          <a:prstGeom prst="rect">
            <a:avLst/>
          </a:prstGeom>
          <a:noFill/>
        </p:spPr>
        <p:txBody>
          <a:bodyPr wrap="square" lIns="0" rIns="0" tIns="0" bIns="0" anchor="ctr">
            <a:noAutofit/>
          </a:bodyPr>
          <a:lstStyle/>
          <a:p>
            <a:pPr algn="l">
              <a:lnSpc>
                <a:spcPct val="115000"/>
              </a:lnSpc>
              <a:spcBef>
                <a:spcPts val="0"/>
              </a:spcBef>
              <a:spcAft>
                <a:spcPts val="0"/>
              </a:spcAft>
            </a:pPr>
            <a:r>
              <a:rPr sz="1400" b="0" i="0">
                <a:solidFill>
                  <a:srgbClr val="10263F"/>
                </a:solidFill>
                <a:latin typeface="Arial"/>
              </a:rPr>
              <a:t>Labels are long strings with no type checking.</a:t>
            </a:r>
          </a:p>
        </p:txBody>
      </p:sp>
      <p:cxnSp>
        <p:nvCxnSpPr>
          <p:cNvPr id="46" name="Connector 45"/>
          <p:cNvCxnSpPr/>
          <p:nvPr/>
        </p:nvCxnSpPr>
        <p:spPr>
          <a:xfrm>
            <a:off x="6217920" y="2999232"/>
            <a:ext cx="5212080" cy="0"/>
          </a:xfrm>
          <a:prstGeom prst="line">
            <a:avLst/>
          </a:prstGeom>
          <a:ln w="12700">
            <a:solidFill>
              <a:srgbClr val="C4CBD0"/>
            </a:solidFill>
          </a:ln>
        </p:spPr>
      </p:cxnSp>
      <p:sp>
        <p:nvSpPr>
          <p:cNvPr id="47" name="Rectangle 46"/>
          <p:cNvSpPr/>
          <p:nvPr/>
        </p:nvSpPr>
        <p:spPr>
          <a:xfrm>
            <a:off x="6263640" y="3200400"/>
            <a:ext cx="411480" cy="256032"/>
          </a:xfrm>
          <a:prstGeom prst="rect">
            <a:avLst/>
          </a:prstGeom>
          <a:solidFill>
            <a:srgbClr val="E58A2B"/>
          </a:solidFill>
          <a:ln w="15875">
            <a:solidFill>
              <a:srgbClr val="10263F"/>
            </a:solidFill>
          </a:ln>
        </p:spPr>
        <p:txBody>
          <a:bodyPr rtlCol="0" anchor="ctr"/>
          <a:lstStyle/>
          <a:p>
            <a:pPr algn="ctr"/>
          </a:p>
        </p:txBody>
      </p:sp>
      <p:cxnSp>
        <p:nvCxnSpPr>
          <p:cNvPr id="48" name="Connector 47"/>
          <p:cNvCxnSpPr/>
          <p:nvPr/>
        </p:nvCxnSpPr>
        <p:spPr>
          <a:xfrm>
            <a:off x="6345936" y="3246120"/>
            <a:ext cx="0" cy="164592"/>
          </a:xfrm>
          <a:prstGeom prst="line">
            <a:avLst/>
          </a:prstGeom>
          <a:ln w="9525">
            <a:solidFill>
              <a:srgbClr val="A0601E"/>
            </a:solidFill>
          </a:ln>
        </p:spPr>
      </p:cxnSp>
      <p:cxnSp>
        <p:nvCxnSpPr>
          <p:cNvPr id="49" name="Connector 48"/>
          <p:cNvCxnSpPr/>
          <p:nvPr/>
        </p:nvCxnSpPr>
        <p:spPr>
          <a:xfrm>
            <a:off x="6428231" y="3246120"/>
            <a:ext cx="0" cy="164592"/>
          </a:xfrm>
          <a:prstGeom prst="line">
            <a:avLst/>
          </a:prstGeom>
          <a:ln w="9525">
            <a:solidFill>
              <a:srgbClr val="A0601E"/>
            </a:solidFill>
          </a:ln>
        </p:spPr>
      </p:cxnSp>
      <p:cxnSp>
        <p:nvCxnSpPr>
          <p:cNvPr id="50" name="Connector 49"/>
          <p:cNvCxnSpPr/>
          <p:nvPr/>
        </p:nvCxnSpPr>
        <p:spPr>
          <a:xfrm>
            <a:off x="6510527" y="3246120"/>
            <a:ext cx="0" cy="164592"/>
          </a:xfrm>
          <a:prstGeom prst="line">
            <a:avLst/>
          </a:prstGeom>
          <a:ln w="9525">
            <a:solidFill>
              <a:srgbClr val="A0601E"/>
            </a:solidFill>
          </a:ln>
        </p:spPr>
      </p:cxnSp>
      <p:cxnSp>
        <p:nvCxnSpPr>
          <p:cNvPr id="51" name="Connector 50"/>
          <p:cNvCxnSpPr/>
          <p:nvPr/>
        </p:nvCxnSpPr>
        <p:spPr>
          <a:xfrm>
            <a:off x="6592824" y="3246120"/>
            <a:ext cx="0" cy="164592"/>
          </a:xfrm>
          <a:prstGeom prst="line">
            <a:avLst/>
          </a:prstGeom>
          <a:ln w="9525">
            <a:solidFill>
              <a:srgbClr val="A0601E"/>
            </a:solidFill>
          </a:ln>
        </p:spPr>
      </p:cxnSp>
      <p:sp>
        <p:nvSpPr>
          <p:cNvPr id="52" name="TextBox 51"/>
          <p:cNvSpPr txBox="1"/>
          <p:nvPr/>
        </p:nvSpPr>
        <p:spPr>
          <a:xfrm>
            <a:off x="6858000" y="2999232"/>
            <a:ext cx="4572000" cy="713232"/>
          </a:xfrm>
          <a:prstGeom prst="rect">
            <a:avLst/>
          </a:prstGeom>
          <a:noFill/>
        </p:spPr>
        <p:txBody>
          <a:bodyPr wrap="square" lIns="0" rIns="0" tIns="0" bIns="0" anchor="ctr">
            <a:noAutofit/>
          </a:bodyPr>
          <a:lstStyle/>
          <a:p>
            <a:pPr algn="l">
              <a:lnSpc>
                <a:spcPct val="115000"/>
              </a:lnSpc>
              <a:spcBef>
                <a:spcPts val="0"/>
              </a:spcBef>
              <a:spcAft>
                <a:spcPts val="0"/>
              </a:spcAft>
            </a:pPr>
            <a:r>
              <a:rPr sz="1400" b="0" i="0">
                <a:solidFill>
                  <a:srgbClr val="10263F"/>
                </a:solidFill>
                <a:latin typeface="Arial"/>
              </a:rPr>
              <a:t>Docker socket access is powerful.</a:t>
            </a:r>
          </a:p>
        </p:txBody>
      </p:sp>
      <p:cxnSp>
        <p:nvCxnSpPr>
          <p:cNvPr id="53" name="Connector 52"/>
          <p:cNvCxnSpPr/>
          <p:nvPr/>
        </p:nvCxnSpPr>
        <p:spPr>
          <a:xfrm>
            <a:off x="6217920" y="3712464"/>
            <a:ext cx="5212080" cy="0"/>
          </a:xfrm>
          <a:prstGeom prst="line">
            <a:avLst/>
          </a:prstGeom>
          <a:ln w="12700">
            <a:solidFill>
              <a:srgbClr val="C4CBD0"/>
            </a:solidFill>
          </a:ln>
        </p:spPr>
      </p:cxnSp>
      <p:sp>
        <p:nvSpPr>
          <p:cNvPr id="54" name="Rectangle 53"/>
          <p:cNvSpPr/>
          <p:nvPr/>
        </p:nvSpPr>
        <p:spPr>
          <a:xfrm>
            <a:off x="6263640" y="3913632"/>
            <a:ext cx="411480" cy="256032"/>
          </a:xfrm>
          <a:prstGeom prst="rect">
            <a:avLst/>
          </a:prstGeom>
          <a:solidFill>
            <a:srgbClr val="2B6CA3"/>
          </a:solidFill>
          <a:ln w="15875">
            <a:solidFill>
              <a:srgbClr val="10263F"/>
            </a:solidFill>
          </a:ln>
        </p:spPr>
        <p:txBody>
          <a:bodyPr rtlCol="0" anchor="ctr"/>
          <a:lstStyle/>
          <a:p>
            <a:pPr algn="ctr"/>
          </a:p>
        </p:txBody>
      </p:sp>
      <p:cxnSp>
        <p:nvCxnSpPr>
          <p:cNvPr id="55" name="Connector 54"/>
          <p:cNvCxnSpPr/>
          <p:nvPr/>
        </p:nvCxnSpPr>
        <p:spPr>
          <a:xfrm>
            <a:off x="6345936" y="3959352"/>
            <a:ext cx="0" cy="164592"/>
          </a:xfrm>
          <a:prstGeom prst="line">
            <a:avLst/>
          </a:prstGeom>
          <a:ln w="9525">
            <a:solidFill>
              <a:srgbClr val="1E4B72"/>
            </a:solidFill>
          </a:ln>
        </p:spPr>
      </p:cxnSp>
      <p:cxnSp>
        <p:nvCxnSpPr>
          <p:cNvPr id="56" name="Connector 55"/>
          <p:cNvCxnSpPr/>
          <p:nvPr/>
        </p:nvCxnSpPr>
        <p:spPr>
          <a:xfrm>
            <a:off x="6428231" y="3959352"/>
            <a:ext cx="0" cy="164592"/>
          </a:xfrm>
          <a:prstGeom prst="line">
            <a:avLst/>
          </a:prstGeom>
          <a:ln w="9525">
            <a:solidFill>
              <a:srgbClr val="1E4B72"/>
            </a:solidFill>
          </a:ln>
        </p:spPr>
      </p:cxnSp>
      <p:cxnSp>
        <p:nvCxnSpPr>
          <p:cNvPr id="57" name="Connector 56"/>
          <p:cNvCxnSpPr/>
          <p:nvPr/>
        </p:nvCxnSpPr>
        <p:spPr>
          <a:xfrm>
            <a:off x="6510527" y="3959352"/>
            <a:ext cx="0" cy="164592"/>
          </a:xfrm>
          <a:prstGeom prst="line">
            <a:avLst/>
          </a:prstGeom>
          <a:ln w="9525">
            <a:solidFill>
              <a:srgbClr val="1E4B72"/>
            </a:solidFill>
          </a:ln>
        </p:spPr>
      </p:cxnSp>
      <p:cxnSp>
        <p:nvCxnSpPr>
          <p:cNvPr id="58" name="Connector 57"/>
          <p:cNvCxnSpPr/>
          <p:nvPr/>
        </p:nvCxnSpPr>
        <p:spPr>
          <a:xfrm>
            <a:off x="6592824" y="3959352"/>
            <a:ext cx="0" cy="164592"/>
          </a:xfrm>
          <a:prstGeom prst="line">
            <a:avLst/>
          </a:prstGeom>
          <a:ln w="9525">
            <a:solidFill>
              <a:srgbClr val="1E4B72"/>
            </a:solidFill>
          </a:ln>
        </p:spPr>
      </p:cxnSp>
      <p:sp>
        <p:nvSpPr>
          <p:cNvPr id="59" name="TextBox 58"/>
          <p:cNvSpPr txBox="1"/>
          <p:nvPr/>
        </p:nvSpPr>
        <p:spPr>
          <a:xfrm>
            <a:off x="6858000" y="3712464"/>
            <a:ext cx="4572000" cy="713232"/>
          </a:xfrm>
          <a:prstGeom prst="rect">
            <a:avLst/>
          </a:prstGeom>
          <a:noFill/>
        </p:spPr>
        <p:txBody>
          <a:bodyPr wrap="square" lIns="0" rIns="0" tIns="0" bIns="0" anchor="ctr">
            <a:noAutofit/>
          </a:bodyPr>
          <a:lstStyle/>
          <a:p>
            <a:pPr algn="l">
              <a:lnSpc>
                <a:spcPct val="115000"/>
              </a:lnSpc>
              <a:spcBef>
                <a:spcPts val="0"/>
              </a:spcBef>
              <a:spcAft>
                <a:spcPts val="0"/>
              </a:spcAft>
            </a:pPr>
            <a:r>
              <a:rPr sz="1400" b="0" i="0">
                <a:solidFill>
                  <a:srgbClr val="10263F"/>
                </a:solidFill>
                <a:latin typeface="Arial"/>
              </a:rPr>
              <a:t>Traefik and Docker must agree on an API version.</a:t>
            </a:r>
          </a:p>
        </p:txBody>
      </p:sp>
      <p:cxnSp>
        <p:nvCxnSpPr>
          <p:cNvPr id="60" name="Connector 59"/>
          <p:cNvCxnSpPr/>
          <p:nvPr/>
        </p:nvCxnSpPr>
        <p:spPr>
          <a:xfrm>
            <a:off x="6217920" y="4425696"/>
            <a:ext cx="5212080" cy="0"/>
          </a:xfrm>
          <a:prstGeom prst="line">
            <a:avLst/>
          </a:prstGeom>
          <a:ln w="12700">
            <a:solidFill>
              <a:srgbClr val="C4CBD0"/>
            </a:solidFill>
          </a:ln>
        </p:spPr>
      </p:cxnSp>
      <p:sp>
        <p:nvSpPr>
          <p:cNvPr id="61" name="Rectangle 60"/>
          <p:cNvSpPr/>
          <p:nvPr/>
        </p:nvSpPr>
        <p:spPr>
          <a:xfrm>
            <a:off x="6263640" y="4626864"/>
            <a:ext cx="411480" cy="256032"/>
          </a:xfrm>
          <a:prstGeom prst="rect">
            <a:avLst/>
          </a:prstGeom>
          <a:solidFill>
            <a:srgbClr val="C8472D"/>
          </a:solidFill>
          <a:ln w="15875">
            <a:solidFill>
              <a:srgbClr val="10263F"/>
            </a:solidFill>
          </a:ln>
        </p:spPr>
        <p:txBody>
          <a:bodyPr rtlCol="0" anchor="ctr"/>
          <a:lstStyle/>
          <a:p>
            <a:pPr algn="ctr"/>
          </a:p>
        </p:txBody>
      </p:sp>
      <p:cxnSp>
        <p:nvCxnSpPr>
          <p:cNvPr id="62" name="Connector 61"/>
          <p:cNvCxnSpPr/>
          <p:nvPr/>
        </p:nvCxnSpPr>
        <p:spPr>
          <a:xfrm>
            <a:off x="6345936" y="4672583"/>
            <a:ext cx="0" cy="164593"/>
          </a:xfrm>
          <a:prstGeom prst="line">
            <a:avLst/>
          </a:prstGeom>
          <a:ln w="9525">
            <a:solidFill>
              <a:srgbClr val="8C311F"/>
            </a:solidFill>
          </a:ln>
        </p:spPr>
      </p:cxnSp>
      <p:cxnSp>
        <p:nvCxnSpPr>
          <p:cNvPr id="63" name="Connector 62"/>
          <p:cNvCxnSpPr/>
          <p:nvPr/>
        </p:nvCxnSpPr>
        <p:spPr>
          <a:xfrm>
            <a:off x="6428231" y="4672583"/>
            <a:ext cx="0" cy="164593"/>
          </a:xfrm>
          <a:prstGeom prst="line">
            <a:avLst/>
          </a:prstGeom>
          <a:ln w="9525">
            <a:solidFill>
              <a:srgbClr val="8C311F"/>
            </a:solidFill>
          </a:ln>
        </p:spPr>
      </p:cxnSp>
      <p:cxnSp>
        <p:nvCxnSpPr>
          <p:cNvPr id="64" name="Connector 63"/>
          <p:cNvCxnSpPr/>
          <p:nvPr/>
        </p:nvCxnSpPr>
        <p:spPr>
          <a:xfrm>
            <a:off x="6510527" y="4672583"/>
            <a:ext cx="0" cy="164593"/>
          </a:xfrm>
          <a:prstGeom prst="line">
            <a:avLst/>
          </a:prstGeom>
          <a:ln w="9525">
            <a:solidFill>
              <a:srgbClr val="8C311F"/>
            </a:solidFill>
          </a:ln>
        </p:spPr>
      </p:cxnSp>
      <p:cxnSp>
        <p:nvCxnSpPr>
          <p:cNvPr id="65" name="Connector 64"/>
          <p:cNvCxnSpPr/>
          <p:nvPr/>
        </p:nvCxnSpPr>
        <p:spPr>
          <a:xfrm>
            <a:off x="6592824" y="4672583"/>
            <a:ext cx="0" cy="164593"/>
          </a:xfrm>
          <a:prstGeom prst="line">
            <a:avLst/>
          </a:prstGeom>
          <a:ln w="9525">
            <a:solidFill>
              <a:srgbClr val="8C311F"/>
            </a:solidFill>
          </a:ln>
        </p:spPr>
      </p:cxnSp>
      <p:sp>
        <p:nvSpPr>
          <p:cNvPr id="66" name="TextBox 65"/>
          <p:cNvSpPr txBox="1"/>
          <p:nvPr/>
        </p:nvSpPr>
        <p:spPr>
          <a:xfrm>
            <a:off x="6858000" y="4425696"/>
            <a:ext cx="4572000" cy="713232"/>
          </a:xfrm>
          <a:prstGeom prst="rect">
            <a:avLst/>
          </a:prstGeom>
          <a:noFill/>
        </p:spPr>
        <p:txBody>
          <a:bodyPr wrap="square" lIns="0" rIns="0" tIns="0" bIns="0" anchor="ctr">
            <a:noAutofit/>
          </a:bodyPr>
          <a:lstStyle/>
          <a:p>
            <a:pPr algn="l">
              <a:lnSpc>
                <a:spcPct val="115000"/>
              </a:lnSpc>
              <a:spcBef>
                <a:spcPts val="0"/>
              </a:spcBef>
              <a:spcAft>
                <a:spcPts val="0"/>
              </a:spcAft>
            </a:pPr>
            <a:r>
              <a:rPr sz="1400" b="0" i="0">
                <a:solidFill>
                  <a:srgbClr val="10263F"/>
                </a:solidFill>
                <a:latin typeface="Arial"/>
              </a:rPr>
              <a:t>HTTPS needs a public name.</a:t>
            </a:r>
          </a:p>
        </p:txBody>
      </p:sp>
      <p:cxnSp>
        <p:nvCxnSpPr>
          <p:cNvPr id="67" name="Connector 66"/>
          <p:cNvCxnSpPr/>
          <p:nvPr/>
        </p:nvCxnSpPr>
        <p:spPr>
          <a:xfrm>
            <a:off x="6217920" y="5138928"/>
            <a:ext cx="5212080" cy="0"/>
          </a:xfrm>
          <a:prstGeom prst="line">
            <a:avLst/>
          </a:prstGeom>
          <a:ln w="12700">
            <a:solidFill>
              <a:srgbClr val="C4CBD0"/>
            </a:solidFill>
          </a:ln>
        </p:spPr>
      </p:cxnSp>
      <p:sp>
        <p:nvSpPr>
          <p:cNvPr id="68" name="Rectangle 67"/>
          <p:cNvSpPr/>
          <p:nvPr/>
        </p:nvSpPr>
        <p:spPr>
          <a:xfrm>
            <a:off x="6263640" y="5340096"/>
            <a:ext cx="411480" cy="256032"/>
          </a:xfrm>
          <a:prstGeom prst="rect">
            <a:avLst/>
          </a:prstGeom>
          <a:solidFill>
            <a:srgbClr val="E9B93A"/>
          </a:solidFill>
          <a:ln w="15875">
            <a:solidFill>
              <a:srgbClr val="10263F"/>
            </a:solidFill>
          </a:ln>
        </p:spPr>
        <p:txBody>
          <a:bodyPr rtlCol="0" anchor="ctr"/>
          <a:lstStyle/>
          <a:p>
            <a:pPr algn="ctr"/>
          </a:p>
        </p:txBody>
      </p:sp>
      <p:cxnSp>
        <p:nvCxnSpPr>
          <p:cNvPr id="69" name="Connector 68"/>
          <p:cNvCxnSpPr/>
          <p:nvPr/>
        </p:nvCxnSpPr>
        <p:spPr>
          <a:xfrm>
            <a:off x="6345936" y="5385816"/>
            <a:ext cx="0" cy="164592"/>
          </a:xfrm>
          <a:prstGeom prst="line">
            <a:avLst/>
          </a:prstGeom>
          <a:ln w="9525">
            <a:solidFill>
              <a:srgbClr val="A38128"/>
            </a:solidFill>
          </a:ln>
        </p:spPr>
      </p:cxnSp>
      <p:cxnSp>
        <p:nvCxnSpPr>
          <p:cNvPr id="70" name="Connector 69"/>
          <p:cNvCxnSpPr/>
          <p:nvPr/>
        </p:nvCxnSpPr>
        <p:spPr>
          <a:xfrm>
            <a:off x="6428231" y="5385816"/>
            <a:ext cx="0" cy="164592"/>
          </a:xfrm>
          <a:prstGeom prst="line">
            <a:avLst/>
          </a:prstGeom>
          <a:ln w="9525">
            <a:solidFill>
              <a:srgbClr val="A38128"/>
            </a:solidFill>
          </a:ln>
        </p:spPr>
      </p:cxnSp>
      <p:cxnSp>
        <p:nvCxnSpPr>
          <p:cNvPr id="71" name="Connector 70"/>
          <p:cNvCxnSpPr/>
          <p:nvPr/>
        </p:nvCxnSpPr>
        <p:spPr>
          <a:xfrm>
            <a:off x="6510527" y="5385816"/>
            <a:ext cx="0" cy="164592"/>
          </a:xfrm>
          <a:prstGeom prst="line">
            <a:avLst/>
          </a:prstGeom>
          <a:ln w="9525">
            <a:solidFill>
              <a:srgbClr val="A38128"/>
            </a:solidFill>
          </a:ln>
        </p:spPr>
      </p:cxnSp>
      <p:cxnSp>
        <p:nvCxnSpPr>
          <p:cNvPr id="72" name="Connector 71"/>
          <p:cNvCxnSpPr/>
          <p:nvPr/>
        </p:nvCxnSpPr>
        <p:spPr>
          <a:xfrm>
            <a:off x="6592824" y="5385816"/>
            <a:ext cx="0" cy="164592"/>
          </a:xfrm>
          <a:prstGeom prst="line">
            <a:avLst/>
          </a:prstGeom>
          <a:ln w="9525">
            <a:solidFill>
              <a:srgbClr val="A38128"/>
            </a:solidFill>
          </a:ln>
        </p:spPr>
      </p:cxnSp>
      <p:sp>
        <p:nvSpPr>
          <p:cNvPr id="73" name="TextBox 72"/>
          <p:cNvSpPr txBox="1"/>
          <p:nvPr/>
        </p:nvSpPr>
        <p:spPr>
          <a:xfrm>
            <a:off x="6858000" y="5138928"/>
            <a:ext cx="4572000" cy="713232"/>
          </a:xfrm>
          <a:prstGeom prst="rect">
            <a:avLst/>
          </a:prstGeom>
          <a:noFill/>
        </p:spPr>
        <p:txBody>
          <a:bodyPr wrap="square" lIns="0" rIns="0" tIns="0" bIns="0" anchor="ctr">
            <a:noAutofit/>
          </a:bodyPr>
          <a:lstStyle/>
          <a:p>
            <a:pPr algn="l">
              <a:lnSpc>
                <a:spcPct val="115000"/>
              </a:lnSpc>
              <a:spcBef>
                <a:spcPts val="0"/>
              </a:spcBef>
              <a:spcAft>
                <a:spcPts val="0"/>
              </a:spcAft>
            </a:pPr>
            <a:r>
              <a:rPr sz="1400" b="0" i="0">
                <a:solidFill>
                  <a:srgbClr val="10263F"/>
                </a:solidFill>
                <a:latin typeface="Arial"/>
              </a:rPr>
              <a:t>I did not measure performance.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Rectangle 1"/>
          <p:cNvSpPr/>
          <p:nvPr/>
        </p:nvSpPr>
        <p:spPr>
          <a:xfrm>
            <a:off x="640080" y="731520"/>
            <a:ext cx="566928" cy="310896"/>
          </a:xfrm>
          <a:prstGeom prst="rect">
            <a:avLst/>
          </a:prstGeom>
          <a:solidFill>
            <a:srgbClr val="2F8F83"/>
          </a:solidFill>
          <a:ln w="15875">
            <a:solidFill>
              <a:srgbClr val="10263F"/>
            </a:solidFill>
          </a:ln>
        </p:spPr>
        <p:txBody>
          <a:bodyPr rtlCol="0" anchor="ctr"/>
          <a:lstStyle/>
          <a:p>
            <a:pPr algn="ctr"/>
          </a:p>
        </p:txBody>
      </p:sp>
      <p:cxnSp>
        <p:nvCxnSpPr>
          <p:cNvPr id="3" name="Connector 2"/>
          <p:cNvCxnSpPr/>
          <p:nvPr/>
        </p:nvCxnSpPr>
        <p:spPr>
          <a:xfrm>
            <a:off x="753465" y="777240"/>
            <a:ext cx="0" cy="219456"/>
          </a:xfrm>
          <a:prstGeom prst="line">
            <a:avLst/>
          </a:prstGeom>
          <a:ln w="9525">
            <a:solidFill>
              <a:srgbClr val="20645B"/>
            </a:solidFill>
          </a:ln>
        </p:spPr>
      </p:cxnSp>
      <p:cxnSp>
        <p:nvCxnSpPr>
          <p:cNvPr id="4" name="Connector 3"/>
          <p:cNvCxnSpPr/>
          <p:nvPr/>
        </p:nvCxnSpPr>
        <p:spPr>
          <a:xfrm>
            <a:off x="866851" y="777240"/>
            <a:ext cx="0" cy="219456"/>
          </a:xfrm>
          <a:prstGeom prst="line">
            <a:avLst/>
          </a:prstGeom>
          <a:ln w="9525">
            <a:solidFill>
              <a:srgbClr val="20645B"/>
            </a:solidFill>
          </a:ln>
        </p:spPr>
      </p:cxnSp>
      <p:cxnSp>
        <p:nvCxnSpPr>
          <p:cNvPr id="5" name="Connector 4"/>
          <p:cNvCxnSpPr/>
          <p:nvPr/>
        </p:nvCxnSpPr>
        <p:spPr>
          <a:xfrm>
            <a:off x="980236" y="777240"/>
            <a:ext cx="0" cy="219456"/>
          </a:xfrm>
          <a:prstGeom prst="line">
            <a:avLst/>
          </a:prstGeom>
          <a:ln w="9525">
            <a:solidFill>
              <a:srgbClr val="20645B"/>
            </a:solidFill>
          </a:ln>
        </p:spPr>
      </p:cxnSp>
      <p:cxnSp>
        <p:nvCxnSpPr>
          <p:cNvPr id="6" name="Connector 5"/>
          <p:cNvCxnSpPr/>
          <p:nvPr/>
        </p:nvCxnSpPr>
        <p:spPr>
          <a:xfrm>
            <a:off x="1093622" y="777240"/>
            <a:ext cx="0" cy="219456"/>
          </a:xfrm>
          <a:prstGeom prst="line">
            <a:avLst/>
          </a:prstGeom>
          <a:ln w="9525">
            <a:solidFill>
              <a:srgbClr val="20645B"/>
            </a:solidFill>
          </a:ln>
        </p:spPr>
      </p:cxnSp>
      <p:sp>
        <p:nvSpPr>
          <p:cNvPr id="7" name="TextBox 6"/>
          <p:cNvSpPr txBox="1"/>
          <p:nvPr/>
        </p:nvSpPr>
        <p:spPr>
          <a:xfrm>
            <a:off x="1417320" y="548640"/>
            <a:ext cx="10149840" cy="685800"/>
          </a:xfrm>
          <a:prstGeom prst="rect">
            <a:avLst/>
          </a:prstGeom>
          <a:noFill/>
        </p:spPr>
        <p:txBody>
          <a:bodyPr wrap="square" lIns="0" rIns="0" tIns="0" bIns="0" anchor="ctr">
            <a:noAutofit/>
          </a:bodyPr>
          <a:lstStyle/>
          <a:p>
            <a:pPr algn="l">
              <a:spcBef>
                <a:spcPts val="0"/>
              </a:spcBef>
              <a:spcAft>
                <a:spcPts val="0"/>
              </a:spcAft>
            </a:pPr>
            <a:r>
              <a:rPr sz="3000" b="1" i="0">
                <a:solidFill>
                  <a:srgbClr val="10263F"/>
                </a:solidFill>
                <a:latin typeface="Georgia"/>
              </a:rPr>
              <a:t>Conclusion</a:t>
            </a:r>
          </a:p>
        </p:txBody>
      </p:sp>
      <p:cxnSp>
        <p:nvCxnSpPr>
          <p:cNvPr id="8" name="Connector 7"/>
          <p:cNvCxnSpPr/>
          <p:nvPr/>
        </p:nvCxnSpPr>
        <p:spPr>
          <a:xfrm>
            <a:off x="640080" y="1335024"/>
            <a:ext cx="10908792" cy="0"/>
          </a:xfrm>
          <a:prstGeom prst="line">
            <a:avLst/>
          </a:prstGeom>
          <a:ln w="15875">
            <a:solidFill>
              <a:srgbClr val="9AA5AE"/>
            </a:solidFill>
            <a:prstDash val="dash"/>
          </a:ln>
        </p:spPr>
      </p:cxnSp>
      <p:pic>
        <p:nvPicPr>
          <p:cNvPr id="9" name="Picture 8" descr="wave_band.png"/>
          <p:cNvPicPr>
            <a:picLocks noChangeAspect="1"/>
          </p:cNvPicPr>
          <p:nvPr/>
        </p:nvPicPr>
        <p:blipFill>
          <a:blip r:embed="rId2"/>
          <a:stretch>
            <a:fillRect/>
          </a:stretch>
        </p:blipFill>
        <p:spPr>
          <a:xfrm>
            <a:off x="0" y="6355080"/>
            <a:ext cx="12191695" cy="502845"/>
          </a:xfrm>
          <a:prstGeom prst="rect">
            <a:avLst/>
          </a:prstGeom>
        </p:spPr>
      </p:pic>
      <p:pic>
        <p:nvPicPr>
          <p:cNvPr id="10" name="Picture 9" descr="tug_small.png"/>
          <p:cNvPicPr>
            <a:picLocks noChangeAspect="1"/>
          </p:cNvPicPr>
          <p:nvPr/>
        </p:nvPicPr>
        <p:blipFill>
          <a:blip r:embed="rId3"/>
          <a:stretch>
            <a:fillRect/>
          </a:stretch>
        </p:blipFill>
        <p:spPr>
          <a:xfrm>
            <a:off x="10571870" y="6070981"/>
            <a:ext cx="566928" cy="457835"/>
          </a:xfrm>
          <a:prstGeom prst="rect">
            <a:avLst/>
          </a:prstGeom>
        </p:spPr>
      </p:pic>
      <p:sp>
        <p:nvSpPr>
          <p:cNvPr id="11" name="TextBox 10"/>
          <p:cNvSpPr txBox="1"/>
          <p:nvPr/>
        </p:nvSpPr>
        <p:spPr>
          <a:xfrm>
            <a:off x="640080" y="6126480"/>
            <a:ext cx="2743200" cy="228600"/>
          </a:xfrm>
          <a:prstGeom prst="rect">
            <a:avLst/>
          </a:prstGeom>
          <a:noFill/>
        </p:spPr>
        <p:txBody>
          <a:bodyPr wrap="square" lIns="0" rIns="0" tIns="0" bIns="0" anchor="ctr">
            <a:noAutofit/>
          </a:bodyPr>
          <a:lstStyle/>
          <a:p>
            <a:pPr algn="l">
              <a:spcBef>
                <a:spcPts val="0"/>
              </a:spcBef>
              <a:spcAft>
                <a:spcPts val="0"/>
              </a:spcAft>
            </a:pPr>
            <a:r>
              <a:rPr sz="1000" b="0" i="0">
                <a:solidFill>
                  <a:srgbClr val="7E8A97"/>
                </a:solidFill>
                <a:latin typeface="Arial"/>
              </a:rPr>
              <a:t>Traefik   14 / 15</a:t>
            </a:r>
          </a:p>
        </p:txBody>
      </p:sp>
      <p:pic>
        <p:nvPicPr>
          <p:cNvPr id="12" name="Picture 11" descr="logo_college.png"/>
          <p:cNvPicPr>
            <a:picLocks noChangeAspect="1"/>
          </p:cNvPicPr>
          <p:nvPr/>
        </p:nvPicPr>
        <p:blipFill>
          <a:blip r:embed="rId4"/>
          <a:stretch>
            <a:fillRect/>
          </a:stretch>
        </p:blipFill>
        <p:spPr>
          <a:xfrm>
            <a:off x="640080" y="91440"/>
            <a:ext cx="1625550" cy="475488"/>
          </a:xfrm>
          <a:prstGeom prst="rect">
            <a:avLst/>
          </a:prstGeom>
        </p:spPr>
      </p:pic>
      <p:pic>
        <p:nvPicPr>
          <p:cNvPr id="13" name="Picture 12" descr="logo_trust.png"/>
          <p:cNvPicPr>
            <a:picLocks noChangeAspect="1"/>
          </p:cNvPicPr>
          <p:nvPr/>
        </p:nvPicPr>
        <p:blipFill>
          <a:blip r:embed="rId5"/>
          <a:stretch>
            <a:fillRect/>
          </a:stretch>
        </p:blipFill>
        <p:spPr>
          <a:xfrm>
            <a:off x="10940472" y="91440"/>
            <a:ext cx="608400" cy="457200"/>
          </a:xfrm>
          <a:prstGeom prst="rect">
            <a:avLst/>
          </a:prstGeom>
        </p:spPr>
      </p:pic>
      <p:sp>
        <p:nvSpPr>
          <p:cNvPr id="14" name="Rectangle 13"/>
          <p:cNvSpPr/>
          <p:nvPr/>
        </p:nvSpPr>
        <p:spPr>
          <a:xfrm>
            <a:off x="640080" y="1691640"/>
            <a:ext cx="3520440" cy="3291840"/>
          </a:xfrm>
          <a:prstGeom prst="rect">
            <a:avLst/>
          </a:prstGeom>
          <a:solidFill>
            <a:srgbClr val="2B6CA3"/>
          </a:solidFill>
          <a:ln w="22225">
            <a:solidFill>
              <a:srgbClr val="10263F"/>
            </a:solidFill>
          </a:ln>
        </p:spPr>
        <p:txBody>
          <a:bodyPr rtlCol="0" anchor="ctr"/>
          <a:lstStyle/>
          <a:p>
            <a:pPr algn="ctr"/>
          </a:p>
        </p:txBody>
      </p:sp>
      <p:cxnSp>
        <p:nvCxnSpPr>
          <p:cNvPr id="15" name="Connector 14"/>
          <p:cNvCxnSpPr/>
          <p:nvPr/>
        </p:nvCxnSpPr>
        <p:spPr>
          <a:xfrm>
            <a:off x="780897" y="1764792"/>
            <a:ext cx="0" cy="3145536"/>
          </a:xfrm>
          <a:prstGeom prst="line">
            <a:avLst/>
          </a:prstGeom>
          <a:ln w="12700">
            <a:solidFill>
              <a:srgbClr val="225682"/>
            </a:solidFill>
          </a:ln>
        </p:spPr>
      </p:cxnSp>
      <p:cxnSp>
        <p:nvCxnSpPr>
          <p:cNvPr id="16" name="Connector 15"/>
          <p:cNvCxnSpPr/>
          <p:nvPr/>
        </p:nvCxnSpPr>
        <p:spPr>
          <a:xfrm>
            <a:off x="921715" y="1764792"/>
            <a:ext cx="0" cy="3145536"/>
          </a:xfrm>
          <a:prstGeom prst="line">
            <a:avLst/>
          </a:prstGeom>
          <a:ln w="12700">
            <a:solidFill>
              <a:srgbClr val="225682"/>
            </a:solidFill>
          </a:ln>
        </p:spPr>
      </p:cxnSp>
      <p:cxnSp>
        <p:nvCxnSpPr>
          <p:cNvPr id="17" name="Connector 16"/>
          <p:cNvCxnSpPr/>
          <p:nvPr/>
        </p:nvCxnSpPr>
        <p:spPr>
          <a:xfrm>
            <a:off x="1062532" y="1764792"/>
            <a:ext cx="0" cy="3145536"/>
          </a:xfrm>
          <a:prstGeom prst="line">
            <a:avLst/>
          </a:prstGeom>
          <a:ln w="12700">
            <a:solidFill>
              <a:srgbClr val="225682"/>
            </a:solidFill>
          </a:ln>
        </p:spPr>
      </p:cxnSp>
      <p:cxnSp>
        <p:nvCxnSpPr>
          <p:cNvPr id="18" name="Connector 17"/>
          <p:cNvCxnSpPr/>
          <p:nvPr/>
        </p:nvCxnSpPr>
        <p:spPr>
          <a:xfrm>
            <a:off x="1203350" y="1764792"/>
            <a:ext cx="0" cy="3145536"/>
          </a:xfrm>
          <a:prstGeom prst="line">
            <a:avLst/>
          </a:prstGeom>
          <a:ln w="12700">
            <a:solidFill>
              <a:srgbClr val="225682"/>
            </a:solidFill>
          </a:ln>
        </p:spPr>
      </p:cxnSp>
      <p:cxnSp>
        <p:nvCxnSpPr>
          <p:cNvPr id="19" name="Connector 18"/>
          <p:cNvCxnSpPr/>
          <p:nvPr/>
        </p:nvCxnSpPr>
        <p:spPr>
          <a:xfrm>
            <a:off x="1344168" y="1764792"/>
            <a:ext cx="0" cy="3145536"/>
          </a:xfrm>
          <a:prstGeom prst="line">
            <a:avLst/>
          </a:prstGeom>
          <a:ln w="12700">
            <a:solidFill>
              <a:srgbClr val="225682"/>
            </a:solidFill>
          </a:ln>
        </p:spPr>
      </p:cxnSp>
      <p:cxnSp>
        <p:nvCxnSpPr>
          <p:cNvPr id="20" name="Connector 19"/>
          <p:cNvCxnSpPr/>
          <p:nvPr/>
        </p:nvCxnSpPr>
        <p:spPr>
          <a:xfrm>
            <a:off x="1484985" y="1764792"/>
            <a:ext cx="0" cy="3145536"/>
          </a:xfrm>
          <a:prstGeom prst="line">
            <a:avLst/>
          </a:prstGeom>
          <a:ln w="12700">
            <a:solidFill>
              <a:srgbClr val="225682"/>
            </a:solidFill>
          </a:ln>
        </p:spPr>
      </p:cxnSp>
      <p:cxnSp>
        <p:nvCxnSpPr>
          <p:cNvPr id="21" name="Connector 20"/>
          <p:cNvCxnSpPr/>
          <p:nvPr/>
        </p:nvCxnSpPr>
        <p:spPr>
          <a:xfrm>
            <a:off x="1625803" y="1764792"/>
            <a:ext cx="0" cy="3145536"/>
          </a:xfrm>
          <a:prstGeom prst="line">
            <a:avLst/>
          </a:prstGeom>
          <a:ln w="12700">
            <a:solidFill>
              <a:srgbClr val="225682"/>
            </a:solidFill>
          </a:ln>
        </p:spPr>
      </p:cxnSp>
      <p:cxnSp>
        <p:nvCxnSpPr>
          <p:cNvPr id="22" name="Connector 21"/>
          <p:cNvCxnSpPr/>
          <p:nvPr/>
        </p:nvCxnSpPr>
        <p:spPr>
          <a:xfrm>
            <a:off x="1766620" y="1764792"/>
            <a:ext cx="0" cy="3145536"/>
          </a:xfrm>
          <a:prstGeom prst="line">
            <a:avLst/>
          </a:prstGeom>
          <a:ln w="12700">
            <a:solidFill>
              <a:srgbClr val="225682"/>
            </a:solidFill>
          </a:ln>
        </p:spPr>
      </p:cxnSp>
      <p:cxnSp>
        <p:nvCxnSpPr>
          <p:cNvPr id="23" name="Connector 22"/>
          <p:cNvCxnSpPr/>
          <p:nvPr/>
        </p:nvCxnSpPr>
        <p:spPr>
          <a:xfrm>
            <a:off x="1907438" y="1764792"/>
            <a:ext cx="0" cy="3145536"/>
          </a:xfrm>
          <a:prstGeom prst="line">
            <a:avLst/>
          </a:prstGeom>
          <a:ln w="12700">
            <a:solidFill>
              <a:srgbClr val="225682"/>
            </a:solidFill>
          </a:ln>
        </p:spPr>
      </p:cxnSp>
      <p:cxnSp>
        <p:nvCxnSpPr>
          <p:cNvPr id="24" name="Connector 23"/>
          <p:cNvCxnSpPr/>
          <p:nvPr/>
        </p:nvCxnSpPr>
        <p:spPr>
          <a:xfrm>
            <a:off x="2048256" y="1764792"/>
            <a:ext cx="0" cy="3145536"/>
          </a:xfrm>
          <a:prstGeom prst="line">
            <a:avLst/>
          </a:prstGeom>
          <a:ln w="12700">
            <a:solidFill>
              <a:srgbClr val="225682"/>
            </a:solidFill>
          </a:ln>
        </p:spPr>
      </p:cxnSp>
      <p:cxnSp>
        <p:nvCxnSpPr>
          <p:cNvPr id="25" name="Connector 24"/>
          <p:cNvCxnSpPr/>
          <p:nvPr/>
        </p:nvCxnSpPr>
        <p:spPr>
          <a:xfrm>
            <a:off x="2189073" y="1764792"/>
            <a:ext cx="0" cy="3145536"/>
          </a:xfrm>
          <a:prstGeom prst="line">
            <a:avLst/>
          </a:prstGeom>
          <a:ln w="12700">
            <a:solidFill>
              <a:srgbClr val="225682"/>
            </a:solidFill>
          </a:ln>
        </p:spPr>
      </p:cxnSp>
      <p:cxnSp>
        <p:nvCxnSpPr>
          <p:cNvPr id="26" name="Connector 25"/>
          <p:cNvCxnSpPr/>
          <p:nvPr/>
        </p:nvCxnSpPr>
        <p:spPr>
          <a:xfrm>
            <a:off x="2329891" y="1764792"/>
            <a:ext cx="0" cy="3145536"/>
          </a:xfrm>
          <a:prstGeom prst="line">
            <a:avLst/>
          </a:prstGeom>
          <a:ln w="12700">
            <a:solidFill>
              <a:srgbClr val="225682"/>
            </a:solidFill>
          </a:ln>
        </p:spPr>
      </p:cxnSp>
      <p:cxnSp>
        <p:nvCxnSpPr>
          <p:cNvPr id="27" name="Connector 26"/>
          <p:cNvCxnSpPr/>
          <p:nvPr/>
        </p:nvCxnSpPr>
        <p:spPr>
          <a:xfrm>
            <a:off x="2470708" y="1764792"/>
            <a:ext cx="0" cy="3145536"/>
          </a:xfrm>
          <a:prstGeom prst="line">
            <a:avLst/>
          </a:prstGeom>
          <a:ln w="12700">
            <a:solidFill>
              <a:srgbClr val="225682"/>
            </a:solidFill>
          </a:ln>
        </p:spPr>
      </p:cxnSp>
      <p:cxnSp>
        <p:nvCxnSpPr>
          <p:cNvPr id="28" name="Connector 27"/>
          <p:cNvCxnSpPr/>
          <p:nvPr/>
        </p:nvCxnSpPr>
        <p:spPr>
          <a:xfrm>
            <a:off x="2611526" y="1764792"/>
            <a:ext cx="0" cy="3145536"/>
          </a:xfrm>
          <a:prstGeom prst="line">
            <a:avLst/>
          </a:prstGeom>
          <a:ln w="12700">
            <a:solidFill>
              <a:srgbClr val="225682"/>
            </a:solidFill>
          </a:ln>
        </p:spPr>
      </p:cxnSp>
      <p:cxnSp>
        <p:nvCxnSpPr>
          <p:cNvPr id="29" name="Connector 28"/>
          <p:cNvCxnSpPr/>
          <p:nvPr/>
        </p:nvCxnSpPr>
        <p:spPr>
          <a:xfrm>
            <a:off x="2752344" y="1764792"/>
            <a:ext cx="0" cy="3145536"/>
          </a:xfrm>
          <a:prstGeom prst="line">
            <a:avLst/>
          </a:prstGeom>
          <a:ln w="12700">
            <a:solidFill>
              <a:srgbClr val="225682"/>
            </a:solidFill>
          </a:ln>
        </p:spPr>
      </p:cxnSp>
      <p:cxnSp>
        <p:nvCxnSpPr>
          <p:cNvPr id="30" name="Connector 29"/>
          <p:cNvCxnSpPr/>
          <p:nvPr/>
        </p:nvCxnSpPr>
        <p:spPr>
          <a:xfrm>
            <a:off x="2893161" y="1764792"/>
            <a:ext cx="0" cy="3145536"/>
          </a:xfrm>
          <a:prstGeom prst="line">
            <a:avLst/>
          </a:prstGeom>
          <a:ln w="12700">
            <a:solidFill>
              <a:srgbClr val="225682"/>
            </a:solidFill>
          </a:ln>
        </p:spPr>
      </p:cxnSp>
      <p:cxnSp>
        <p:nvCxnSpPr>
          <p:cNvPr id="31" name="Connector 30"/>
          <p:cNvCxnSpPr/>
          <p:nvPr/>
        </p:nvCxnSpPr>
        <p:spPr>
          <a:xfrm>
            <a:off x="3033979" y="1764792"/>
            <a:ext cx="0" cy="3145536"/>
          </a:xfrm>
          <a:prstGeom prst="line">
            <a:avLst/>
          </a:prstGeom>
          <a:ln w="12700">
            <a:solidFill>
              <a:srgbClr val="225682"/>
            </a:solidFill>
          </a:ln>
        </p:spPr>
      </p:cxnSp>
      <p:cxnSp>
        <p:nvCxnSpPr>
          <p:cNvPr id="32" name="Connector 31"/>
          <p:cNvCxnSpPr/>
          <p:nvPr/>
        </p:nvCxnSpPr>
        <p:spPr>
          <a:xfrm>
            <a:off x="3174796" y="1764792"/>
            <a:ext cx="0" cy="3145536"/>
          </a:xfrm>
          <a:prstGeom prst="line">
            <a:avLst/>
          </a:prstGeom>
          <a:ln w="12700">
            <a:solidFill>
              <a:srgbClr val="225682"/>
            </a:solidFill>
          </a:ln>
        </p:spPr>
      </p:cxnSp>
      <p:cxnSp>
        <p:nvCxnSpPr>
          <p:cNvPr id="33" name="Connector 32"/>
          <p:cNvCxnSpPr/>
          <p:nvPr/>
        </p:nvCxnSpPr>
        <p:spPr>
          <a:xfrm>
            <a:off x="3315614" y="1764792"/>
            <a:ext cx="0" cy="3145536"/>
          </a:xfrm>
          <a:prstGeom prst="line">
            <a:avLst/>
          </a:prstGeom>
          <a:ln w="12700">
            <a:solidFill>
              <a:srgbClr val="225682"/>
            </a:solidFill>
          </a:ln>
        </p:spPr>
      </p:cxnSp>
      <p:cxnSp>
        <p:nvCxnSpPr>
          <p:cNvPr id="34" name="Connector 33"/>
          <p:cNvCxnSpPr/>
          <p:nvPr/>
        </p:nvCxnSpPr>
        <p:spPr>
          <a:xfrm>
            <a:off x="3456432" y="1764792"/>
            <a:ext cx="0" cy="3145536"/>
          </a:xfrm>
          <a:prstGeom prst="line">
            <a:avLst/>
          </a:prstGeom>
          <a:ln w="12700">
            <a:solidFill>
              <a:srgbClr val="225682"/>
            </a:solidFill>
          </a:ln>
        </p:spPr>
      </p:cxnSp>
      <p:cxnSp>
        <p:nvCxnSpPr>
          <p:cNvPr id="35" name="Connector 34"/>
          <p:cNvCxnSpPr/>
          <p:nvPr/>
        </p:nvCxnSpPr>
        <p:spPr>
          <a:xfrm>
            <a:off x="3597249" y="1764792"/>
            <a:ext cx="0" cy="3145536"/>
          </a:xfrm>
          <a:prstGeom prst="line">
            <a:avLst/>
          </a:prstGeom>
          <a:ln w="12700">
            <a:solidFill>
              <a:srgbClr val="225682"/>
            </a:solidFill>
          </a:ln>
        </p:spPr>
      </p:cxnSp>
      <p:cxnSp>
        <p:nvCxnSpPr>
          <p:cNvPr id="36" name="Connector 35"/>
          <p:cNvCxnSpPr/>
          <p:nvPr/>
        </p:nvCxnSpPr>
        <p:spPr>
          <a:xfrm>
            <a:off x="3738067" y="1764792"/>
            <a:ext cx="0" cy="3145536"/>
          </a:xfrm>
          <a:prstGeom prst="line">
            <a:avLst/>
          </a:prstGeom>
          <a:ln w="12700">
            <a:solidFill>
              <a:srgbClr val="225682"/>
            </a:solidFill>
          </a:ln>
        </p:spPr>
      </p:cxnSp>
      <p:cxnSp>
        <p:nvCxnSpPr>
          <p:cNvPr id="37" name="Connector 36"/>
          <p:cNvCxnSpPr/>
          <p:nvPr/>
        </p:nvCxnSpPr>
        <p:spPr>
          <a:xfrm>
            <a:off x="3878884" y="1764792"/>
            <a:ext cx="0" cy="3145536"/>
          </a:xfrm>
          <a:prstGeom prst="line">
            <a:avLst/>
          </a:prstGeom>
          <a:ln w="12700">
            <a:solidFill>
              <a:srgbClr val="225682"/>
            </a:solidFill>
          </a:ln>
        </p:spPr>
      </p:cxnSp>
      <p:cxnSp>
        <p:nvCxnSpPr>
          <p:cNvPr id="38" name="Connector 37"/>
          <p:cNvCxnSpPr/>
          <p:nvPr/>
        </p:nvCxnSpPr>
        <p:spPr>
          <a:xfrm>
            <a:off x="4019702" y="1764792"/>
            <a:ext cx="0" cy="3145536"/>
          </a:xfrm>
          <a:prstGeom prst="line">
            <a:avLst/>
          </a:prstGeom>
          <a:ln w="12700">
            <a:solidFill>
              <a:srgbClr val="225682"/>
            </a:solidFill>
          </a:ln>
        </p:spPr>
      </p:cxnSp>
      <p:sp>
        <p:nvSpPr>
          <p:cNvPr id="39" name="TextBox 38"/>
          <p:cNvSpPr txBox="1"/>
          <p:nvPr/>
        </p:nvSpPr>
        <p:spPr>
          <a:xfrm>
            <a:off x="914400" y="1874519"/>
            <a:ext cx="3017520" cy="640080"/>
          </a:xfrm>
          <a:prstGeom prst="rect">
            <a:avLst/>
          </a:prstGeom>
          <a:noFill/>
        </p:spPr>
        <p:txBody>
          <a:bodyPr wrap="square" lIns="0" rIns="0" tIns="0" bIns="0" anchor="t">
            <a:noAutofit/>
          </a:bodyPr>
          <a:lstStyle/>
          <a:p>
            <a:pPr algn="l">
              <a:spcBef>
                <a:spcPts val="0"/>
              </a:spcBef>
              <a:spcAft>
                <a:spcPts val="0"/>
              </a:spcAft>
            </a:pPr>
            <a:r>
              <a:rPr sz="4000" b="1" i="0">
                <a:solidFill>
                  <a:srgbClr val="FFFFFF"/>
                </a:solidFill>
                <a:latin typeface="Georgia"/>
              </a:rPr>
              <a:t>1</a:t>
            </a:r>
          </a:p>
        </p:txBody>
      </p:sp>
      <p:sp>
        <p:nvSpPr>
          <p:cNvPr id="40" name="TextBox 39"/>
          <p:cNvSpPr txBox="1"/>
          <p:nvPr/>
        </p:nvSpPr>
        <p:spPr>
          <a:xfrm>
            <a:off x="914400" y="2697480"/>
            <a:ext cx="3017520" cy="914400"/>
          </a:xfrm>
          <a:prstGeom prst="rect">
            <a:avLst/>
          </a:prstGeom>
          <a:noFill/>
        </p:spPr>
        <p:txBody>
          <a:bodyPr wrap="square" lIns="0" rIns="0" tIns="0" bIns="0" anchor="t">
            <a:noAutofit/>
          </a:bodyPr>
          <a:lstStyle/>
          <a:p>
            <a:pPr algn="l">
              <a:lnSpc>
                <a:spcPct val="110000"/>
              </a:lnSpc>
              <a:spcBef>
                <a:spcPts val="0"/>
              </a:spcBef>
              <a:spcAft>
                <a:spcPts val="0"/>
              </a:spcAft>
            </a:pPr>
            <a:r>
              <a:rPr sz="1900" b="1" i="0">
                <a:solidFill>
                  <a:srgbClr val="FFFFFF"/>
                </a:solidFill>
                <a:latin typeface="Georgia"/>
              </a:rPr>
              <a:t>Routes follow the containers</a:t>
            </a:r>
          </a:p>
        </p:txBody>
      </p:sp>
      <p:sp>
        <p:nvSpPr>
          <p:cNvPr id="41" name="TextBox 40"/>
          <p:cNvSpPr txBox="1"/>
          <p:nvPr/>
        </p:nvSpPr>
        <p:spPr>
          <a:xfrm>
            <a:off x="914400" y="3703320"/>
            <a:ext cx="3017520" cy="1188720"/>
          </a:xfrm>
          <a:prstGeom prst="rect">
            <a:avLst/>
          </a:prstGeom>
          <a:noFill/>
        </p:spPr>
        <p:txBody>
          <a:bodyPr wrap="square" lIns="0" rIns="0" tIns="0" bIns="0" anchor="t">
            <a:noAutofit/>
          </a:bodyPr>
          <a:lstStyle/>
          <a:p>
            <a:pPr algn="l">
              <a:lnSpc>
                <a:spcPct val="120000"/>
              </a:lnSpc>
              <a:spcBef>
                <a:spcPts val="0"/>
              </a:spcBef>
              <a:spcAft>
                <a:spcPts val="0"/>
              </a:spcAft>
            </a:pPr>
            <a:r>
              <a:rPr sz="1400" b="0" i="0">
                <a:solidFill>
                  <a:srgbClr val="FFFFFF"/>
                </a:solidFill>
                <a:latin typeface="Arial"/>
              </a:rPr>
              <a:t>Traefik builds them from what Docker says is running. No file to edit, no restart.</a:t>
            </a:r>
          </a:p>
        </p:txBody>
      </p:sp>
      <p:sp>
        <p:nvSpPr>
          <p:cNvPr id="42" name="Rectangle 41"/>
          <p:cNvSpPr/>
          <p:nvPr/>
        </p:nvSpPr>
        <p:spPr>
          <a:xfrm>
            <a:off x="4334256" y="1691640"/>
            <a:ext cx="3520440" cy="3291840"/>
          </a:xfrm>
          <a:prstGeom prst="rect">
            <a:avLst/>
          </a:prstGeom>
          <a:solidFill>
            <a:srgbClr val="2F8F83"/>
          </a:solidFill>
          <a:ln w="22225">
            <a:solidFill>
              <a:srgbClr val="10263F"/>
            </a:solidFill>
          </a:ln>
        </p:spPr>
        <p:txBody>
          <a:bodyPr rtlCol="0" anchor="ctr"/>
          <a:lstStyle/>
          <a:p>
            <a:pPr algn="ctr"/>
          </a:p>
        </p:txBody>
      </p:sp>
      <p:cxnSp>
        <p:nvCxnSpPr>
          <p:cNvPr id="43" name="Connector 42"/>
          <p:cNvCxnSpPr/>
          <p:nvPr/>
        </p:nvCxnSpPr>
        <p:spPr>
          <a:xfrm>
            <a:off x="4475073" y="1764792"/>
            <a:ext cx="0" cy="3145536"/>
          </a:xfrm>
          <a:prstGeom prst="line">
            <a:avLst/>
          </a:prstGeom>
          <a:ln w="12700">
            <a:solidFill>
              <a:srgbClr val="257268"/>
            </a:solidFill>
          </a:ln>
        </p:spPr>
      </p:cxnSp>
      <p:cxnSp>
        <p:nvCxnSpPr>
          <p:cNvPr id="44" name="Connector 43"/>
          <p:cNvCxnSpPr/>
          <p:nvPr/>
        </p:nvCxnSpPr>
        <p:spPr>
          <a:xfrm>
            <a:off x="4615891" y="1764792"/>
            <a:ext cx="0" cy="3145536"/>
          </a:xfrm>
          <a:prstGeom prst="line">
            <a:avLst/>
          </a:prstGeom>
          <a:ln w="12700">
            <a:solidFill>
              <a:srgbClr val="257268"/>
            </a:solidFill>
          </a:ln>
        </p:spPr>
      </p:cxnSp>
      <p:cxnSp>
        <p:nvCxnSpPr>
          <p:cNvPr id="45" name="Connector 44"/>
          <p:cNvCxnSpPr/>
          <p:nvPr/>
        </p:nvCxnSpPr>
        <p:spPr>
          <a:xfrm>
            <a:off x="4756708" y="1764792"/>
            <a:ext cx="0" cy="3145536"/>
          </a:xfrm>
          <a:prstGeom prst="line">
            <a:avLst/>
          </a:prstGeom>
          <a:ln w="12700">
            <a:solidFill>
              <a:srgbClr val="257268"/>
            </a:solidFill>
          </a:ln>
        </p:spPr>
      </p:cxnSp>
      <p:cxnSp>
        <p:nvCxnSpPr>
          <p:cNvPr id="46" name="Connector 45"/>
          <p:cNvCxnSpPr/>
          <p:nvPr/>
        </p:nvCxnSpPr>
        <p:spPr>
          <a:xfrm>
            <a:off x="4897526" y="1764792"/>
            <a:ext cx="0" cy="3145536"/>
          </a:xfrm>
          <a:prstGeom prst="line">
            <a:avLst/>
          </a:prstGeom>
          <a:ln w="12700">
            <a:solidFill>
              <a:srgbClr val="257268"/>
            </a:solidFill>
          </a:ln>
        </p:spPr>
      </p:cxnSp>
      <p:cxnSp>
        <p:nvCxnSpPr>
          <p:cNvPr id="47" name="Connector 46"/>
          <p:cNvCxnSpPr/>
          <p:nvPr/>
        </p:nvCxnSpPr>
        <p:spPr>
          <a:xfrm>
            <a:off x="5038344" y="1764792"/>
            <a:ext cx="0" cy="3145536"/>
          </a:xfrm>
          <a:prstGeom prst="line">
            <a:avLst/>
          </a:prstGeom>
          <a:ln w="12700">
            <a:solidFill>
              <a:srgbClr val="257268"/>
            </a:solidFill>
          </a:ln>
        </p:spPr>
      </p:cxnSp>
      <p:cxnSp>
        <p:nvCxnSpPr>
          <p:cNvPr id="48" name="Connector 47"/>
          <p:cNvCxnSpPr/>
          <p:nvPr/>
        </p:nvCxnSpPr>
        <p:spPr>
          <a:xfrm>
            <a:off x="5179161" y="1764792"/>
            <a:ext cx="0" cy="3145536"/>
          </a:xfrm>
          <a:prstGeom prst="line">
            <a:avLst/>
          </a:prstGeom>
          <a:ln w="12700">
            <a:solidFill>
              <a:srgbClr val="257268"/>
            </a:solidFill>
          </a:ln>
        </p:spPr>
      </p:cxnSp>
      <p:cxnSp>
        <p:nvCxnSpPr>
          <p:cNvPr id="49" name="Connector 48"/>
          <p:cNvCxnSpPr/>
          <p:nvPr/>
        </p:nvCxnSpPr>
        <p:spPr>
          <a:xfrm>
            <a:off x="5319979" y="1764792"/>
            <a:ext cx="0" cy="3145536"/>
          </a:xfrm>
          <a:prstGeom prst="line">
            <a:avLst/>
          </a:prstGeom>
          <a:ln w="12700">
            <a:solidFill>
              <a:srgbClr val="257268"/>
            </a:solidFill>
          </a:ln>
        </p:spPr>
      </p:cxnSp>
      <p:cxnSp>
        <p:nvCxnSpPr>
          <p:cNvPr id="50" name="Connector 49"/>
          <p:cNvCxnSpPr/>
          <p:nvPr/>
        </p:nvCxnSpPr>
        <p:spPr>
          <a:xfrm>
            <a:off x="5460796" y="1764792"/>
            <a:ext cx="0" cy="3145536"/>
          </a:xfrm>
          <a:prstGeom prst="line">
            <a:avLst/>
          </a:prstGeom>
          <a:ln w="12700">
            <a:solidFill>
              <a:srgbClr val="257268"/>
            </a:solidFill>
          </a:ln>
        </p:spPr>
      </p:cxnSp>
      <p:cxnSp>
        <p:nvCxnSpPr>
          <p:cNvPr id="51" name="Connector 50"/>
          <p:cNvCxnSpPr/>
          <p:nvPr/>
        </p:nvCxnSpPr>
        <p:spPr>
          <a:xfrm>
            <a:off x="5601614" y="1764792"/>
            <a:ext cx="0" cy="3145536"/>
          </a:xfrm>
          <a:prstGeom prst="line">
            <a:avLst/>
          </a:prstGeom>
          <a:ln w="12700">
            <a:solidFill>
              <a:srgbClr val="257268"/>
            </a:solidFill>
          </a:ln>
        </p:spPr>
      </p:cxnSp>
      <p:cxnSp>
        <p:nvCxnSpPr>
          <p:cNvPr id="52" name="Connector 51"/>
          <p:cNvCxnSpPr/>
          <p:nvPr/>
        </p:nvCxnSpPr>
        <p:spPr>
          <a:xfrm>
            <a:off x="5742432" y="1764792"/>
            <a:ext cx="0" cy="3145536"/>
          </a:xfrm>
          <a:prstGeom prst="line">
            <a:avLst/>
          </a:prstGeom>
          <a:ln w="12700">
            <a:solidFill>
              <a:srgbClr val="257268"/>
            </a:solidFill>
          </a:ln>
        </p:spPr>
      </p:cxnSp>
      <p:cxnSp>
        <p:nvCxnSpPr>
          <p:cNvPr id="53" name="Connector 52"/>
          <p:cNvCxnSpPr/>
          <p:nvPr/>
        </p:nvCxnSpPr>
        <p:spPr>
          <a:xfrm>
            <a:off x="5883249" y="1764792"/>
            <a:ext cx="0" cy="3145536"/>
          </a:xfrm>
          <a:prstGeom prst="line">
            <a:avLst/>
          </a:prstGeom>
          <a:ln w="12700">
            <a:solidFill>
              <a:srgbClr val="257268"/>
            </a:solidFill>
          </a:ln>
        </p:spPr>
      </p:cxnSp>
      <p:cxnSp>
        <p:nvCxnSpPr>
          <p:cNvPr id="54" name="Connector 53"/>
          <p:cNvCxnSpPr/>
          <p:nvPr/>
        </p:nvCxnSpPr>
        <p:spPr>
          <a:xfrm>
            <a:off x="6024067" y="1764792"/>
            <a:ext cx="0" cy="3145536"/>
          </a:xfrm>
          <a:prstGeom prst="line">
            <a:avLst/>
          </a:prstGeom>
          <a:ln w="12700">
            <a:solidFill>
              <a:srgbClr val="257268"/>
            </a:solidFill>
          </a:ln>
        </p:spPr>
      </p:cxnSp>
      <p:cxnSp>
        <p:nvCxnSpPr>
          <p:cNvPr id="55" name="Connector 54"/>
          <p:cNvCxnSpPr/>
          <p:nvPr/>
        </p:nvCxnSpPr>
        <p:spPr>
          <a:xfrm>
            <a:off x="6164884" y="1764792"/>
            <a:ext cx="0" cy="3145536"/>
          </a:xfrm>
          <a:prstGeom prst="line">
            <a:avLst/>
          </a:prstGeom>
          <a:ln w="12700">
            <a:solidFill>
              <a:srgbClr val="257268"/>
            </a:solidFill>
          </a:ln>
        </p:spPr>
      </p:cxnSp>
      <p:cxnSp>
        <p:nvCxnSpPr>
          <p:cNvPr id="56" name="Connector 55"/>
          <p:cNvCxnSpPr/>
          <p:nvPr/>
        </p:nvCxnSpPr>
        <p:spPr>
          <a:xfrm>
            <a:off x="6305702" y="1764792"/>
            <a:ext cx="0" cy="3145536"/>
          </a:xfrm>
          <a:prstGeom prst="line">
            <a:avLst/>
          </a:prstGeom>
          <a:ln w="12700">
            <a:solidFill>
              <a:srgbClr val="257268"/>
            </a:solidFill>
          </a:ln>
        </p:spPr>
      </p:cxnSp>
      <p:cxnSp>
        <p:nvCxnSpPr>
          <p:cNvPr id="57" name="Connector 56"/>
          <p:cNvCxnSpPr/>
          <p:nvPr/>
        </p:nvCxnSpPr>
        <p:spPr>
          <a:xfrm>
            <a:off x="6446520" y="1764792"/>
            <a:ext cx="0" cy="3145536"/>
          </a:xfrm>
          <a:prstGeom prst="line">
            <a:avLst/>
          </a:prstGeom>
          <a:ln w="12700">
            <a:solidFill>
              <a:srgbClr val="257268"/>
            </a:solidFill>
          </a:ln>
        </p:spPr>
      </p:cxnSp>
      <p:cxnSp>
        <p:nvCxnSpPr>
          <p:cNvPr id="58" name="Connector 57"/>
          <p:cNvCxnSpPr/>
          <p:nvPr/>
        </p:nvCxnSpPr>
        <p:spPr>
          <a:xfrm>
            <a:off x="6587337" y="1764792"/>
            <a:ext cx="0" cy="3145536"/>
          </a:xfrm>
          <a:prstGeom prst="line">
            <a:avLst/>
          </a:prstGeom>
          <a:ln w="12700">
            <a:solidFill>
              <a:srgbClr val="257268"/>
            </a:solidFill>
          </a:ln>
        </p:spPr>
      </p:cxnSp>
      <p:cxnSp>
        <p:nvCxnSpPr>
          <p:cNvPr id="59" name="Connector 58"/>
          <p:cNvCxnSpPr/>
          <p:nvPr/>
        </p:nvCxnSpPr>
        <p:spPr>
          <a:xfrm>
            <a:off x="6728155" y="1764792"/>
            <a:ext cx="0" cy="3145536"/>
          </a:xfrm>
          <a:prstGeom prst="line">
            <a:avLst/>
          </a:prstGeom>
          <a:ln w="12700">
            <a:solidFill>
              <a:srgbClr val="257268"/>
            </a:solidFill>
          </a:ln>
        </p:spPr>
      </p:cxnSp>
      <p:cxnSp>
        <p:nvCxnSpPr>
          <p:cNvPr id="60" name="Connector 59"/>
          <p:cNvCxnSpPr/>
          <p:nvPr/>
        </p:nvCxnSpPr>
        <p:spPr>
          <a:xfrm>
            <a:off x="6868972" y="1764792"/>
            <a:ext cx="0" cy="3145536"/>
          </a:xfrm>
          <a:prstGeom prst="line">
            <a:avLst/>
          </a:prstGeom>
          <a:ln w="12700">
            <a:solidFill>
              <a:srgbClr val="257268"/>
            </a:solidFill>
          </a:ln>
        </p:spPr>
      </p:cxnSp>
      <p:cxnSp>
        <p:nvCxnSpPr>
          <p:cNvPr id="61" name="Connector 60"/>
          <p:cNvCxnSpPr/>
          <p:nvPr/>
        </p:nvCxnSpPr>
        <p:spPr>
          <a:xfrm>
            <a:off x="7009790" y="1764792"/>
            <a:ext cx="0" cy="3145536"/>
          </a:xfrm>
          <a:prstGeom prst="line">
            <a:avLst/>
          </a:prstGeom>
          <a:ln w="12700">
            <a:solidFill>
              <a:srgbClr val="257268"/>
            </a:solidFill>
          </a:ln>
        </p:spPr>
      </p:cxnSp>
      <p:cxnSp>
        <p:nvCxnSpPr>
          <p:cNvPr id="62" name="Connector 61"/>
          <p:cNvCxnSpPr/>
          <p:nvPr/>
        </p:nvCxnSpPr>
        <p:spPr>
          <a:xfrm>
            <a:off x="7150608" y="1764792"/>
            <a:ext cx="0" cy="3145536"/>
          </a:xfrm>
          <a:prstGeom prst="line">
            <a:avLst/>
          </a:prstGeom>
          <a:ln w="12700">
            <a:solidFill>
              <a:srgbClr val="257268"/>
            </a:solidFill>
          </a:ln>
        </p:spPr>
      </p:cxnSp>
      <p:cxnSp>
        <p:nvCxnSpPr>
          <p:cNvPr id="63" name="Connector 62"/>
          <p:cNvCxnSpPr/>
          <p:nvPr/>
        </p:nvCxnSpPr>
        <p:spPr>
          <a:xfrm>
            <a:off x="7291425" y="1764792"/>
            <a:ext cx="0" cy="3145536"/>
          </a:xfrm>
          <a:prstGeom prst="line">
            <a:avLst/>
          </a:prstGeom>
          <a:ln w="12700">
            <a:solidFill>
              <a:srgbClr val="257268"/>
            </a:solidFill>
          </a:ln>
        </p:spPr>
      </p:cxnSp>
      <p:cxnSp>
        <p:nvCxnSpPr>
          <p:cNvPr id="64" name="Connector 63"/>
          <p:cNvCxnSpPr/>
          <p:nvPr/>
        </p:nvCxnSpPr>
        <p:spPr>
          <a:xfrm>
            <a:off x="7432243" y="1764792"/>
            <a:ext cx="0" cy="3145536"/>
          </a:xfrm>
          <a:prstGeom prst="line">
            <a:avLst/>
          </a:prstGeom>
          <a:ln w="12700">
            <a:solidFill>
              <a:srgbClr val="257268"/>
            </a:solidFill>
          </a:ln>
        </p:spPr>
      </p:cxnSp>
      <p:cxnSp>
        <p:nvCxnSpPr>
          <p:cNvPr id="65" name="Connector 64"/>
          <p:cNvCxnSpPr/>
          <p:nvPr/>
        </p:nvCxnSpPr>
        <p:spPr>
          <a:xfrm>
            <a:off x="7573060" y="1764792"/>
            <a:ext cx="0" cy="3145536"/>
          </a:xfrm>
          <a:prstGeom prst="line">
            <a:avLst/>
          </a:prstGeom>
          <a:ln w="12700">
            <a:solidFill>
              <a:srgbClr val="257268"/>
            </a:solidFill>
          </a:ln>
        </p:spPr>
      </p:cxnSp>
      <p:cxnSp>
        <p:nvCxnSpPr>
          <p:cNvPr id="66" name="Connector 65"/>
          <p:cNvCxnSpPr/>
          <p:nvPr/>
        </p:nvCxnSpPr>
        <p:spPr>
          <a:xfrm>
            <a:off x="7713878" y="1764792"/>
            <a:ext cx="0" cy="3145536"/>
          </a:xfrm>
          <a:prstGeom prst="line">
            <a:avLst/>
          </a:prstGeom>
          <a:ln w="12700">
            <a:solidFill>
              <a:srgbClr val="257268"/>
            </a:solidFill>
          </a:ln>
        </p:spPr>
      </p:cxnSp>
      <p:sp>
        <p:nvSpPr>
          <p:cNvPr id="67" name="TextBox 66"/>
          <p:cNvSpPr txBox="1"/>
          <p:nvPr/>
        </p:nvSpPr>
        <p:spPr>
          <a:xfrm>
            <a:off x="4608576" y="1874519"/>
            <a:ext cx="3017520" cy="640080"/>
          </a:xfrm>
          <a:prstGeom prst="rect">
            <a:avLst/>
          </a:prstGeom>
          <a:noFill/>
        </p:spPr>
        <p:txBody>
          <a:bodyPr wrap="square" lIns="0" rIns="0" tIns="0" bIns="0" anchor="t">
            <a:noAutofit/>
          </a:bodyPr>
          <a:lstStyle/>
          <a:p>
            <a:pPr algn="l">
              <a:spcBef>
                <a:spcPts val="0"/>
              </a:spcBef>
              <a:spcAft>
                <a:spcPts val="0"/>
              </a:spcAft>
            </a:pPr>
            <a:r>
              <a:rPr sz="4000" b="1" i="0">
                <a:solidFill>
                  <a:srgbClr val="FFFFFF"/>
                </a:solidFill>
                <a:latin typeface="Georgia"/>
              </a:rPr>
              <a:t>2</a:t>
            </a:r>
          </a:p>
        </p:txBody>
      </p:sp>
      <p:sp>
        <p:nvSpPr>
          <p:cNvPr id="68" name="TextBox 67"/>
          <p:cNvSpPr txBox="1"/>
          <p:nvPr/>
        </p:nvSpPr>
        <p:spPr>
          <a:xfrm>
            <a:off x="4608576" y="2697480"/>
            <a:ext cx="3017520" cy="914400"/>
          </a:xfrm>
          <a:prstGeom prst="rect">
            <a:avLst/>
          </a:prstGeom>
          <a:noFill/>
        </p:spPr>
        <p:txBody>
          <a:bodyPr wrap="square" lIns="0" rIns="0" tIns="0" bIns="0" anchor="t">
            <a:noAutofit/>
          </a:bodyPr>
          <a:lstStyle/>
          <a:p>
            <a:pPr algn="l">
              <a:lnSpc>
                <a:spcPct val="110000"/>
              </a:lnSpc>
              <a:spcBef>
                <a:spcPts val="0"/>
              </a:spcBef>
              <a:spcAft>
                <a:spcPts val="0"/>
              </a:spcAft>
            </a:pPr>
            <a:r>
              <a:rPr sz="1900" b="1" i="0">
                <a:solidFill>
                  <a:srgbClr val="FFFFFF"/>
                </a:solidFill>
                <a:latin typeface="Georgia"/>
              </a:rPr>
              <a:t>Certificates come with the router</a:t>
            </a:r>
          </a:p>
        </p:txBody>
      </p:sp>
      <p:sp>
        <p:nvSpPr>
          <p:cNvPr id="69" name="TextBox 68"/>
          <p:cNvSpPr txBox="1"/>
          <p:nvPr/>
        </p:nvSpPr>
        <p:spPr>
          <a:xfrm>
            <a:off x="4608576" y="3703320"/>
            <a:ext cx="3017520" cy="1188720"/>
          </a:xfrm>
          <a:prstGeom prst="rect">
            <a:avLst/>
          </a:prstGeom>
          <a:noFill/>
        </p:spPr>
        <p:txBody>
          <a:bodyPr wrap="square" lIns="0" rIns="0" tIns="0" bIns="0" anchor="t">
            <a:noAutofit/>
          </a:bodyPr>
          <a:lstStyle/>
          <a:p>
            <a:pPr algn="l">
              <a:lnSpc>
                <a:spcPct val="120000"/>
              </a:lnSpc>
              <a:spcBef>
                <a:spcPts val="0"/>
              </a:spcBef>
              <a:spcAft>
                <a:spcPts val="0"/>
              </a:spcAft>
            </a:pPr>
            <a:r>
              <a:rPr sz="1400" b="0" i="0">
                <a:solidFill>
                  <a:srgbClr val="FFFFFF"/>
                </a:solidFill>
                <a:latin typeface="Arial"/>
              </a:rPr>
              <a:t>One label, and Traefik runs the ACME exchange, stores the result, and renews it.</a:t>
            </a:r>
          </a:p>
        </p:txBody>
      </p:sp>
      <p:sp>
        <p:nvSpPr>
          <p:cNvPr id="70" name="Rectangle 69"/>
          <p:cNvSpPr/>
          <p:nvPr/>
        </p:nvSpPr>
        <p:spPr>
          <a:xfrm>
            <a:off x="8028431" y="1691640"/>
            <a:ext cx="3520440" cy="3291840"/>
          </a:xfrm>
          <a:prstGeom prst="rect">
            <a:avLst/>
          </a:prstGeom>
          <a:solidFill>
            <a:srgbClr val="E58A2B"/>
          </a:solidFill>
          <a:ln w="22225">
            <a:solidFill>
              <a:srgbClr val="10263F"/>
            </a:solidFill>
          </a:ln>
        </p:spPr>
        <p:txBody>
          <a:bodyPr rtlCol="0" anchor="ctr"/>
          <a:lstStyle/>
          <a:p>
            <a:pPr algn="ctr"/>
          </a:p>
        </p:txBody>
      </p:sp>
      <p:cxnSp>
        <p:nvCxnSpPr>
          <p:cNvPr id="71" name="Connector 70"/>
          <p:cNvCxnSpPr/>
          <p:nvPr/>
        </p:nvCxnSpPr>
        <p:spPr>
          <a:xfrm>
            <a:off x="8169249" y="1764792"/>
            <a:ext cx="0" cy="3145536"/>
          </a:xfrm>
          <a:prstGeom prst="line">
            <a:avLst/>
          </a:prstGeom>
          <a:ln w="12700">
            <a:solidFill>
              <a:srgbClr val="B76E22"/>
            </a:solidFill>
          </a:ln>
        </p:spPr>
      </p:cxnSp>
      <p:cxnSp>
        <p:nvCxnSpPr>
          <p:cNvPr id="72" name="Connector 71"/>
          <p:cNvCxnSpPr/>
          <p:nvPr/>
        </p:nvCxnSpPr>
        <p:spPr>
          <a:xfrm>
            <a:off x="8310067" y="1764792"/>
            <a:ext cx="0" cy="3145536"/>
          </a:xfrm>
          <a:prstGeom prst="line">
            <a:avLst/>
          </a:prstGeom>
          <a:ln w="12700">
            <a:solidFill>
              <a:srgbClr val="B76E22"/>
            </a:solidFill>
          </a:ln>
        </p:spPr>
      </p:cxnSp>
      <p:cxnSp>
        <p:nvCxnSpPr>
          <p:cNvPr id="73" name="Connector 72"/>
          <p:cNvCxnSpPr/>
          <p:nvPr/>
        </p:nvCxnSpPr>
        <p:spPr>
          <a:xfrm>
            <a:off x="8450884" y="1764792"/>
            <a:ext cx="0" cy="3145536"/>
          </a:xfrm>
          <a:prstGeom prst="line">
            <a:avLst/>
          </a:prstGeom>
          <a:ln w="12700">
            <a:solidFill>
              <a:srgbClr val="B76E22"/>
            </a:solidFill>
          </a:ln>
        </p:spPr>
      </p:cxnSp>
      <p:cxnSp>
        <p:nvCxnSpPr>
          <p:cNvPr id="74" name="Connector 73"/>
          <p:cNvCxnSpPr/>
          <p:nvPr/>
        </p:nvCxnSpPr>
        <p:spPr>
          <a:xfrm>
            <a:off x="8591702" y="1764792"/>
            <a:ext cx="0" cy="3145536"/>
          </a:xfrm>
          <a:prstGeom prst="line">
            <a:avLst/>
          </a:prstGeom>
          <a:ln w="12700">
            <a:solidFill>
              <a:srgbClr val="B76E22"/>
            </a:solidFill>
          </a:ln>
        </p:spPr>
      </p:cxnSp>
      <p:cxnSp>
        <p:nvCxnSpPr>
          <p:cNvPr id="75" name="Connector 74"/>
          <p:cNvCxnSpPr/>
          <p:nvPr/>
        </p:nvCxnSpPr>
        <p:spPr>
          <a:xfrm>
            <a:off x="8732519" y="1764792"/>
            <a:ext cx="0" cy="3145536"/>
          </a:xfrm>
          <a:prstGeom prst="line">
            <a:avLst/>
          </a:prstGeom>
          <a:ln w="12700">
            <a:solidFill>
              <a:srgbClr val="B76E22"/>
            </a:solidFill>
          </a:ln>
        </p:spPr>
      </p:cxnSp>
      <p:cxnSp>
        <p:nvCxnSpPr>
          <p:cNvPr id="76" name="Connector 75"/>
          <p:cNvCxnSpPr/>
          <p:nvPr/>
        </p:nvCxnSpPr>
        <p:spPr>
          <a:xfrm>
            <a:off x="8873337" y="1764792"/>
            <a:ext cx="0" cy="3145536"/>
          </a:xfrm>
          <a:prstGeom prst="line">
            <a:avLst/>
          </a:prstGeom>
          <a:ln w="12700">
            <a:solidFill>
              <a:srgbClr val="B76E22"/>
            </a:solidFill>
          </a:ln>
        </p:spPr>
      </p:cxnSp>
      <p:cxnSp>
        <p:nvCxnSpPr>
          <p:cNvPr id="77" name="Connector 76"/>
          <p:cNvCxnSpPr/>
          <p:nvPr/>
        </p:nvCxnSpPr>
        <p:spPr>
          <a:xfrm>
            <a:off x="9014155" y="1764792"/>
            <a:ext cx="0" cy="3145536"/>
          </a:xfrm>
          <a:prstGeom prst="line">
            <a:avLst/>
          </a:prstGeom>
          <a:ln w="12700">
            <a:solidFill>
              <a:srgbClr val="B76E22"/>
            </a:solidFill>
          </a:ln>
        </p:spPr>
      </p:cxnSp>
      <p:cxnSp>
        <p:nvCxnSpPr>
          <p:cNvPr id="78" name="Connector 77"/>
          <p:cNvCxnSpPr/>
          <p:nvPr/>
        </p:nvCxnSpPr>
        <p:spPr>
          <a:xfrm>
            <a:off x="9154972" y="1764792"/>
            <a:ext cx="0" cy="3145536"/>
          </a:xfrm>
          <a:prstGeom prst="line">
            <a:avLst/>
          </a:prstGeom>
          <a:ln w="12700">
            <a:solidFill>
              <a:srgbClr val="B76E22"/>
            </a:solidFill>
          </a:ln>
        </p:spPr>
      </p:cxnSp>
      <p:cxnSp>
        <p:nvCxnSpPr>
          <p:cNvPr id="79" name="Connector 78"/>
          <p:cNvCxnSpPr/>
          <p:nvPr/>
        </p:nvCxnSpPr>
        <p:spPr>
          <a:xfrm>
            <a:off x="9295790" y="1764792"/>
            <a:ext cx="0" cy="3145536"/>
          </a:xfrm>
          <a:prstGeom prst="line">
            <a:avLst/>
          </a:prstGeom>
          <a:ln w="12700">
            <a:solidFill>
              <a:srgbClr val="B76E22"/>
            </a:solidFill>
          </a:ln>
        </p:spPr>
      </p:cxnSp>
      <p:cxnSp>
        <p:nvCxnSpPr>
          <p:cNvPr id="80" name="Connector 79"/>
          <p:cNvCxnSpPr/>
          <p:nvPr/>
        </p:nvCxnSpPr>
        <p:spPr>
          <a:xfrm>
            <a:off x="9436608" y="1764792"/>
            <a:ext cx="0" cy="3145536"/>
          </a:xfrm>
          <a:prstGeom prst="line">
            <a:avLst/>
          </a:prstGeom>
          <a:ln w="12700">
            <a:solidFill>
              <a:srgbClr val="B76E22"/>
            </a:solidFill>
          </a:ln>
        </p:spPr>
      </p:cxnSp>
      <p:cxnSp>
        <p:nvCxnSpPr>
          <p:cNvPr id="81" name="Connector 80"/>
          <p:cNvCxnSpPr/>
          <p:nvPr/>
        </p:nvCxnSpPr>
        <p:spPr>
          <a:xfrm>
            <a:off x="9577425" y="1764792"/>
            <a:ext cx="0" cy="3145536"/>
          </a:xfrm>
          <a:prstGeom prst="line">
            <a:avLst/>
          </a:prstGeom>
          <a:ln w="12700">
            <a:solidFill>
              <a:srgbClr val="B76E22"/>
            </a:solidFill>
          </a:ln>
        </p:spPr>
      </p:cxnSp>
      <p:cxnSp>
        <p:nvCxnSpPr>
          <p:cNvPr id="82" name="Connector 81"/>
          <p:cNvCxnSpPr/>
          <p:nvPr/>
        </p:nvCxnSpPr>
        <p:spPr>
          <a:xfrm>
            <a:off x="9718243" y="1764792"/>
            <a:ext cx="0" cy="3145536"/>
          </a:xfrm>
          <a:prstGeom prst="line">
            <a:avLst/>
          </a:prstGeom>
          <a:ln w="12700">
            <a:solidFill>
              <a:srgbClr val="B76E22"/>
            </a:solidFill>
          </a:ln>
        </p:spPr>
      </p:cxnSp>
      <p:cxnSp>
        <p:nvCxnSpPr>
          <p:cNvPr id="83" name="Connector 82"/>
          <p:cNvCxnSpPr/>
          <p:nvPr/>
        </p:nvCxnSpPr>
        <p:spPr>
          <a:xfrm>
            <a:off x="9859060" y="1764792"/>
            <a:ext cx="0" cy="3145536"/>
          </a:xfrm>
          <a:prstGeom prst="line">
            <a:avLst/>
          </a:prstGeom>
          <a:ln w="12700">
            <a:solidFill>
              <a:srgbClr val="B76E22"/>
            </a:solidFill>
          </a:ln>
        </p:spPr>
      </p:cxnSp>
      <p:cxnSp>
        <p:nvCxnSpPr>
          <p:cNvPr id="84" name="Connector 83"/>
          <p:cNvCxnSpPr/>
          <p:nvPr/>
        </p:nvCxnSpPr>
        <p:spPr>
          <a:xfrm>
            <a:off x="9999878" y="1764792"/>
            <a:ext cx="0" cy="3145536"/>
          </a:xfrm>
          <a:prstGeom prst="line">
            <a:avLst/>
          </a:prstGeom>
          <a:ln w="12700">
            <a:solidFill>
              <a:srgbClr val="B76E22"/>
            </a:solidFill>
          </a:ln>
        </p:spPr>
      </p:cxnSp>
      <p:cxnSp>
        <p:nvCxnSpPr>
          <p:cNvPr id="85" name="Connector 84"/>
          <p:cNvCxnSpPr/>
          <p:nvPr/>
        </p:nvCxnSpPr>
        <p:spPr>
          <a:xfrm>
            <a:off x="10140696" y="1764792"/>
            <a:ext cx="0" cy="3145536"/>
          </a:xfrm>
          <a:prstGeom prst="line">
            <a:avLst/>
          </a:prstGeom>
          <a:ln w="12700">
            <a:solidFill>
              <a:srgbClr val="B76E22"/>
            </a:solidFill>
          </a:ln>
        </p:spPr>
      </p:cxnSp>
      <p:cxnSp>
        <p:nvCxnSpPr>
          <p:cNvPr id="86" name="Connector 85"/>
          <p:cNvCxnSpPr/>
          <p:nvPr/>
        </p:nvCxnSpPr>
        <p:spPr>
          <a:xfrm>
            <a:off x="10281513" y="1764792"/>
            <a:ext cx="0" cy="3145536"/>
          </a:xfrm>
          <a:prstGeom prst="line">
            <a:avLst/>
          </a:prstGeom>
          <a:ln w="12700">
            <a:solidFill>
              <a:srgbClr val="B76E22"/>
            </a:solidFill>
          </a:ln>
        </p:spPr>
      </p:cxnSp>
      <p:cxnSp>
        <p:nvCxnSpPr>
          <p:cNvPr id="87" name="Connector 86"/>
          <p:cNvCxnSpPr/>
          <p:nvPr/>
        </p:nvCxnSpPr>
        <p:spPr>
          <a:xfrm>
            <a:off x="10422331" y="1764792"/>
            <a:ext cx="0" cy="3145536"/>
          </a:xfrm>
          <a:prstGeom prst="line">
            <a:avLst/>
          </a:prstGeom>
          <a:ln w="12700">
            <a:solidFill>
              <a:srgbClr val="B76E22"/>
            </a:solidFill>
          </a:ln>
        </p:spPr>
      </p:cxnSp>
      <p:cxnSp>
        <p:nvCxnSpPr>
          <p:cNvPr id="88" name="Connector 87"/>
          <p:cNvCxnSpPr/>
          <p:nvPr/>
        </p:nvCxnSpPr>
        <p:spPr>
          <a:xfrm>
            <a:off x="10563148" y="1764792"/>
            <a:ext cx="0" cy="3145536"/>
          </a:xfrm>
          <a:prstGeom prst="line">
            <a:avLst/>
          </a:prstGeom>
          <a:ln w="12700">
            <a:solidFill>
              <a:srgbClr val="B76E22"/>
            </a:solidFill>
          </a:ln>
        </p:spPr>
      </p:cxnSp>
      <p:cxnSp>
        <p:nvCxnSpPr>
          <p:cNvPr id="89" name="Connector 88"/>
          <p:cNvCxnSpPr/>
          <p:nvPr/>
        </p:nvCxnSpPr>
        <p:spPr>
          <a:xfrm>
            <a:off x="10703966" y="1764792"/>
            <a:ext cx="0" cy="3145536"/>
          </a:xfrm>
          <a:prstGeom prst="line">
            <a:avLst/>
          </a:prstGeom>
          <a:ln w="12700">
            <a:solidFill>
              <a:srgbClr val="B76E22"/>
            </a:solidFill>
          </a:ln>
        </p:spPr>
      </p:cxnSp>
      <p:cxnSp>
        <p:nvCxnSpPr>
          <p:cNvPr id="90" name="Connector 89"/>
          <p:cNvCxnSpPr/>
          <p:nvPr/>
        </p:nvCxnSpPr>
        <p:spPr>
          <a:xfrm>
            <a:off x="10844784" y="1764792"/>
            <a:ext cx="0" cy="3145536"/>
          </a:xfrm>
          <a:prstGeom prst="line">
            <a:avLst/>
          </a:prstGeom>
          <a:ln w="12700">
            <a:solidFill>
              <a:srgbClr val="B76E22"/>
            </a:solidFill>
          </a:ln>
        </p:spPr>
      </p:cxnSp>
      <p:cxnSp>
        <p:nvCxnSpPr>
          <p:cNvPr id="91" name="Connector 90"/>
          <p:cNvCxnSpPr/>
          <p:nvPr/>
        </p:nvCxnSpPr>
        <p:spPr>
          <a:xfrm>
            <a:off x="10985601" y="1764792"/>
            <a:ext cx="0" cy="3145536"/>
          </a:xfrm>
          <a:prstGeom prst="line">
            <a:avLst/>
          </a:prstGeom>
          <a:ln w="12700">
            <a:solidFill>
              <a:srgbClr val="B76E22"/>
            </a:solidFill>
          </a:ln>
        </p:spPr>
      </p:cxnSp>
      <p:cxnSp>
        <p:nvCxnSpPr>
          <p:cNvPr id="92" name="Connector 91"/>
          <p:cNvCxnSpPr/>
          <p:nvPr/>
        </p:nvCxnSpPr>
        <p:spPr>
          <a:xfrm>
            <a:off x="11126419" y="1764792"/>
            <a:ext cx="0" cy="3145536"/>
          </a:xfrm>
          <a:prstGeom prst="line">
            <a:avLst/>
          </a:prstGeom>
          <a:ln w="12700">
            <a:solidFill>
              <a:srgbClr val="B76E22"/>
            </a:solidFill>
          </a:ln>
        </p:spPr>
      </p:cxnSp>
      <p:cxnSp>
        <p:nvCxnSpPr>
          <p:cNvPr id="93" name="Connector 92"/>
          <p:cNvCxnSpPr/>
          <p:nvPr/>
        </p:nvCxnSpPr>
        <p:spPr>
          <a:xfrm>
            <a:off x="11267236" y="1764792"/>
            <a:ext cx="0" cy="3145536"/>
          </a:xfrm>
          <a:prstGeom prst="line">
            <a:avLst/>
          </a:prstGeom>
          <a:ln w="12700">
            <a:solidFill>
              <a:srgbClr val="B76E22"/>
            </a:solidFill>
          </a:ln>
        </p:spPr>
      </p:cxnSp>
      <p:cxnSp>
        <p:nvCxnSpPr>
          <p:cNvPr id="94" name="Connector 93"/>
          <p:cNvCxnSpPr/>
          <p:nvPr/>
        </p:nvCxnSpPr>
        <p:spPr>
          <a:xfrm>
            <a:off x="11408054" y="1764792"/>
            <a:ext cx="0" cy="3145536"/>
          </a:xfrm>
          <a:prstGeom prst="line">
            <a:avLst/>
          </a:prstGeom>
          <a:ln w="12700">
            <a:solidFill>
              <a:srgbClr val="B76E22"/>
            </a:solidFill>
          </a:ln>
        </p:spPr>
      </p:cxnSp>
      <p:sp>
        <p:nvSpPr>
          <p:cNvPr id="95" name="TextBox 94"/>
          <p:cNvSpPr txBox="1"/>
          <p:nvPr/>
        </p:nvSpPr>
        <p:spPr>
          <a:xfrm>
            <a:off x="8302752" y="1874519"/>
            <a:ext cx="3017520" cy="640080"/>
          </a:xfrm>
          <a:prstGeom prst="rect">
            <a:avLst/>
          </a:prstGeom>
          <a:noFill/>
        </p:spPr>
        <p:txBody>
          <a:bodyPr wrap="square" lIns="0" rIns="0" tIns="0" bIns="0" anchor="t">
            <a:noAutofit/>
          </a:bodyPr>
          <a:lstStyle/>
          <a:p>
            <a:pPr algn="l">
              <a:spcBef>
                <a:spcPts val="0"/>
              </a:spcBef>
              <a:spcAft>
                <a:spcPts val="0"/>
              </a:spcAft>
            </a:pPr>
            <a:r>
              <a:rPr sz="4000" b="1" i="0">
                <a:solidFill>
                  <a:srgbClr val="10263F"/>
                </a:solidFill>
                <a:latin typeface="Georgia"/>
              </a:rPr>
              <a:t>3</a:t>
            </a:r>
          </a:p>
        </p:txBody>
      </p:sp>
      <p:sp>
        <p:nvSpPr>
          <p:cNvPr id="96" name="TextBox 95"/>
          <p:cNvSpPr txBox="1"/>
          <p:nvPr/>
        </p:nvSpPr>
        <p:spPr>
          <a:xfrm>
            <a:off x="8302752" y="2697480"/>
            <a:ext cx="3017520" cy="914400"/>
          </a:xfrm>
          <a:prstGeom prst="rect">
            <a:avLst/>
          </a:prstGeom>
          <a:noFill/>
        </p:spPr>
        <p:txBody>
          <a:bodyPr wrap="square" lIns="0" rIns="0" tIns="0" bIns="0" anchor="t">
            <a:noAutofit/>
          </a:bodyPr>
          <a:lstStyle/>
          <a:p>
            <a:pPr algn="l">
              <a:lnSpc>
                <a:spcPct val="110000"/>
              </a:lnSpc>
              <a:spcBef>
                <a:spcPts val="0"/>
              </a:spcBef>
              <a:spcAft>
                <a:spcPts val="0"/>
              </a:spcAft>
            </a:pPr>
            <a:r>
              <a:rPr sz="1900" b="1" i="0">
                <a:solidFill>
                  <a:srgbClr val="10263F"/>
                </a:solidFill>
                <a:latin typeface="Georgia"/>
              </a:rPr>
              <a:t>Limits to keep in mind</a:t>
            </a:r>
          </a:p>
        </p:txBody>
      </p:sp>
      <p:sp>
        <p:nvSpPr>
          <p:cNvPr id="97" name="TextBox 96"/>
          <p:cNvSpPr txBox="1"/>
          <p:nvPr/>
        </p:nvSpPr>
        <p:spPr>
          <a:xfrm>
            <a:off x="8302752" y="3703320"/>
            <a:ext cx="3017520" cy="1188720"/>
          </a:xfrm>
          <a:prstGeom prst="rect">
            <a:avLst/>
          </a:prstGeom>
          <a:noFill/>
        </p:spPr>
        <p:txBody>
          <a:bodyPr wrap="square" lIns="0" rIns="0" tIns="0" bIns="0" anchor="t">
            <a:noAutofit/>
          </a:bodyPr>
          <a:lstStyle/>
          <a:p>
            <a:pPr algn="l">
              <a:lnSpc>
                <a:spcPct val="120000"/>
              </a:lnSpc>
              <a:spcBef>
                <a:spcPts val="0"/>
              </a:spcBef>
              <a:spcAft>
                <a:spcPts val="0"/>
              </a:spcAft>
            </a:pPr>
            <a:r>
              <a:rPr sz="1400" b="0" i="0">
                <a:solidFill>
                  <a:srgbClr val="10263F"/>
                </a:solidFill>
                <a:latin typeface="Arial"/>
              </a:rPr>
              <a:t>A test authority in my demo, long labels, socket access, and a Docker API version to keep in step.</a:t>
            </a:r>
          </a:p>
        </p:txBody>
      </p:sp>
      <p:sp>
        <p:nvSpPr>
          <p:cNvPr id="98" name="TextBox 97"/>
          <p:cNvSpPr txBox="1"/>
          <p:nvPr/>
        </p:nvSpPr>
        <p:spPr>
          <a:xfrm>
            <a:off x="640080" y="5257800"/>
            <a:ext cx="10881360" cy="457200"/>
          </a:xfrm>
          <a:prstGeom prst="rect">
            <a:avLst/>
          </a:prstGeom>
          <a:noFill/>
        </p:spPr>
        <p:txBody>
          <a:bodyPr wrap="square" lIns="0" rIns="0" tIns="0" bIns="0" anchor="t">
            <a:noAutofit/>
          </a:bodyPr>
          <a:lstStyle/>
          <a:p>
            <a:pPr algn="l">
              <a:spcBef>
                <a:spcPts val="0"/>
              </a:spcBef>
              <a:spcAft>
                <a:spcPts val="0"/>
              </a:spcAft>
            </a:pPr>
            <a:r>
              <a:rPr sz="1500" b="1" i="0">
                <a:solidFill>
                  <a:srgbClr val="10263F"/>
                </a:solidFill>
                <a:latin typeface="Georgia"/>
              </a:rPr>
              <a:t>Next step for my own project: use Traefik's HTTPS in Tugboat, with a real domain.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pic>
        <p:nvPicPr>
          <p:cNvPr id="2" name="Picture 1" descr="hero_close.png"/>
          <p:cNvPicPr>
            <a:picLocks noChangeAspect="1"/>
          </p:cNvPicPr>
          <p:nvPr/>
        </p:nvPicPr>
        <p:blipFill>
          <a:blip r:embed="rId2"/>
          <a:stretch>
            <a:fillRect/>
          </a:stretch>
        </p:blipFill>
        <p:spPr>
          <a:xfrm>
            <a:off x="-18288" y="-18288"/>
            <a:ext cx="12228271" cy="6894576"/>
          </a:xfrm>
          <a:prstGeom prst="rect">
            <a:avLst/>
          </a:prstGeom>
        </p:spPr>
      </p:pic>
      <p:pic>
        <p:nvPicPr>
          <p:cNvPr id="3" name="Picture 2" descr="logo_college.png"/>
          <p:cNvPicPr>
            <a:picLocks noChangeAspect="1"/>
          </p:cNvPicPr>
          <p:nvPr/>
        </p:nvPicPr>
        <p:blipFill>
          <a:blip r:embed="rId3"/>
          <a:stretch>
            <a:fillRect/>
          </a:stretch>
        </p:blipFill>
        <p:spPr>
          <a:xfrm>
            <a:off x="640080" y="91440"/>
            <a:ext cx="1625550" cy="475488"/>
          </a:xfrm>
          <a:prstGeom prst="rect">
            <a:avLst/>
          </a:prstGeom>
        </p:spPr>
      </p:pic>
      <p:pic>
        <p:nvPicPr>
          <p:cNvPr id="4" name="Picture 3" descr="logo_trust.png"/>
          <p:cNvPicPr>
            <a:picLocks noChangeAspect="1"/>
          </p:cNvPicPr>
          <p:nvPr/>
        </p:nvPicPr>
        <p:blipFill>
          <a:blip r:embed="rId4"/>
          <a:stretch>
            <a:fillRect/>
          </a:stretch>
        </p:blipFill>
        <p:spPr>
          <a:xfrm>
            <a:off x="10940472" y="91440"/>
            <a:ext cx="608400" cy="457200"/>
          </a:xfrm>
          <a:prstGeom prst="rect">
            <a:avLst/>
          </a:prstGeom>
        </p:spPr>
      </p:pic>
      <p:sp>
        <p:nvSpPr>
          <p:cNvPr id="5" name="TextBox 4"/>
          <p:cNvSpPr txBox="1"/>
          <p:nvPr/>
        </p:nvSpPr>
        <p:spPr>
          <a:xfrm>
            <a:off x="0" y="777240"/>
            <a:ext cx="12191695" cy="1188720"/>
          </a:xfrm>
          <a:prstGeom prst="rect">
            <a:avLst/>
          </a:prstGeom>
          <a:noFill/>
        </p:spPr>
        <p:txBody>
          <a:bodyPr wrap="square" lIns="0" rIns="0" tIns="0" bIns="0" anchor="t">
            <a:noAutofit/>
          </a:bodyPr>
          <a:lstStyle/>
          <a:p>
            <a:pPr algn="ctr">
              <a:spcBef>
                <a:spcPts val="0"/>
              </a:spcBef>
              <a:spcAft>
                <a:spcPts val="0"/>
              </a:spcAft>
            </a:pPr>
            <a:r>
              <a:rPr sz="7000" b="1" i="0">
                <a:solidFill>
                  <a:srgbClr val="10263F"/>
                </a:solidFill>
                <a:latin typeface="Georgia"/>
              </a:rPr>
              <a:t>Thank you</a:t>
            </a:r>
          </a:p>
        </p:txBody>
      </p:sp>
      <p:sp>
        <p:nvSpPr>
          <p:cNvPr id="6" name="TextBox 5"/>
          <p:cNvSpPr txBox="1"/>
          <p:nvPr/>
        </p:nvSpPr>
        <p:spPr>
          <a:xfrm>
            <a:off x="0" y="2011680"/>
            <a:ext cx="12191695" cy="548640"/>
          </a:xfrm>
          <a:prstGeom prst="rect">
            <a:avLst/>
          </a:prstGeom>
          <a:noFill/>
        </p:spPr>
        <p:txBody>
          <a:bodyPr wrap="square" lIns="0" rIns="0" tIns="0" bIns="0" anchor="t">
            <a:noAutofit/>
          </a:bodyPr>
          <a:lstStyle/>
          <a:p>
            <a:pPr algn="ctr">
              <a:spcBef>
                <a:spcPts val="0"/>
              </a:spcBef>
              <a:spcAft>
                <a:spcPts val="0"/>
              </a:spcAft>
            </a:pPr>
            <a:r>
              <a:rPr sz="2800" b="0" i="0">
                <a:solidFill>
                  <a:srgbClr val="4A5A6B"/>
                </a:solidFill>
                <a:latin typeface="Georgia"/>
              </a:rPr>
              <a:t>Questions?</a:t>
            </a:r>
          </a:p>
        </p:txBody>
      </p:sp>
      <p:sp>
        <p:nvSpPr>
          <p:cNvPr id="7" name="Rounded Rectangle 6"/>
          <p:cNvSpPr/>
          <p:nvPr/>
        </p:nvSpPr>
        <p:spPr>
          <a:xfrm>
            <a:off x="3630168" y="2898648"/>
            <a:ext cx="5056632" cy="566928"/>
          </a:xfrm>
          <a:prstGeom prst="roundRect">
            <a:avLst>
              <a:gd name="adj" fmla="val 6451"/>
            </a:avLst>
          </a:prstGeom>
          <a:solidFill>
            <a:srgbClr val="10263F"/>
          </a:solidFill>
          <a:ln>
            <a:noFill/>
          </a:ln>
        </p:spPr>
        <p:txBody>
          <a:bodyPr rtlCol="0" anchor="ctr"/>
          <a:lstStyle/>
          <a:p>
            <a:pPr algn="ctr"/>
          </a:p>
        </p:txBody>
      </p:sp>
      <p:sp>
        <p:nvSpPr>
          <p:cNvPr id="8" name="Rounded Rectangle 7"/>
          <p:cNvSpPr/>
          <p:nvPr/>
        </p:nvSpPr>
        <p:spPr>
          <a:xfrm>
            <a:off x="3566160" y="2834640"/>
            <a:ext cx="5056632" cy="566928"/>
          </a:xfrm>
          <a:prstGeom prst="roundRect">
            <a:avLst>
              <a:gd name="adj" fmla="val 6451"/>
            </a:avLst>
          </a:prstGeom>
          <a:solidFill>
            <a:srgbClr val="FFFFFF"/>
          </a:solidFill>
          <a:ln w="22225">
            <a:solidFill>
              <a:srgbClr val="10263F"/>
            </a:solidFill>
          </a:ln>
        </p:spPr>
        <p:txBody>
          <a:bodyPr rtlCol="0" anchor="ctr"/>
          <a:lstStyle/>
          <a:p>
            <a:pPr algn="ctr"/>
          </a:p>
        </p:txBody>
      </p:sp>
      <p:sp>
        <p:nvSpPr>
          <p:cNvPr id="9" name="TextBox 8"/>
          <p:cNvSpPr txBox="1"/>
          <p:nvPr/>
        </p:nvSpPr>
        <p:spPr>
          <a:xfrm>
            <a:off x="3566160" y="2834640"/>
            <a:ext cx="5056632" cy="566928"/>
          </a:xfrm>
          <a:prstGeom prst="rect">
            <a:avLst/>
          </a:prstGeom>
          <a:noFill/>
        </p:spPr>
        <p:txBody>
          <a:bodyPr wrap="square" lIns="0" rIns="0" tIns="0" bIns="0" anchor="ctr">
            <a:noAutofit/>
          </a:bodyPr>
          <a:lstStyle/>
          <a:p>
            <a:pPr algn="ctr">
              <a:spcBef>
                <a:spcPts val="0"/>
              </a:spcBef>
              <a:spcAft>
                <a:spcPts val="0"/>
              </a:spcAft>
            </a:pPr>
            <a:r>
              <a:rPr sz="1500" b="1" i="0">
                <a:solidFill>
                  <a:srgbClr val="10263F"/>
                </a:solidFill>
                <a:latin typeface="Arial"/>
              </a:rPr>
              <a:t>github.com/altf4-games/tugboat  (traefik-demo)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Traefik: zero-config service discovery and automatic HTTPS (DevOps Theory IA)</dc:title>
  <dc:subject/>
  <dc:creator>Pradyum Mistry</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