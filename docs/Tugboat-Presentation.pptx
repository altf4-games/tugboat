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Tugboat is a small self-hosted version of Vercel or Railway, and I built it for my DevOps mini project. You link a GitHub repo and every push gets built into a container, routed to a URL, and shared through a public HTTPS link. When you push to the default branch it goes to production.</a:t>
            </a:r>
          </a:p>
          <a:p>
            <a:r>
              <a:t>I used open-source tools throughout and tested it against real Docker, Traefik and pack instead of mocks.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put an app on the internet you normally write a Dockerfile, set up a reverse proxy with TLS, and open ports or configure DNS so other people can reach it.</a:t>
            </a:r>
          </a:p>
          <a:p>
            <a:r>
              <a:t>Vercel, Railway and Render do all of that for you, but they are hosted and metered, and you can't see how they work. So I built my own small version from open-source tools. It runs on one laptop, and I understand every part of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steps from the user's side. You sign in with GitHub and link a repo, and Tugboat adds a webhook to it.</a:t>
            </a:r>
          </a:p>
          <a:p>
            <a:r>
              <a:t>Every push is built with Buildpacks, so no Dockerfile is needed, and Traefik routes the branch to its own URL. A Cloudflare quick tunnel gives each deployment a public HTTPS link.</a:t>
            </a:r>
          </a:p>
          <a:p>
            <a:r>
              <a:t>Pushing to the default branch swaps production without dropping requests, and rollback is one click.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left to right. GitHub sends a push webhook to my control plane, which is the part I wrote (the yellow box). Everything else is an existing tool.</a:t>
            </a:r>
          </a:p>
          <a:p>
            <a:r>
              <a:t>The control plane checks the HMAC signature, clones the repo, runs pack build, and starts the container in Docker with Traefik labels. Traefik watches Docker and routes the hostname to that container.</a:t>
            </a:r>
          </a:p>
          <a:p>
            <a:r>
              <a:t>Each deployment also gets its own cloudflared quick tunnel, which produces the public HTTPS link. The dashboard talks to the control plane over REST, and build logs stream over Server-Sent Events.</a:t>
            </a:r>
          </a:p>
          <a:p>
            <a:r>
              <a:t>For production, the control plane writes a route file into Traefik after the new container passes its health check.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maps the project to the DevOps cycle. Source control is Git and GitHub webhooks, build is Buildpacks, test is Vitest, containerize is Docker, deploy is Traefik plus the tunnel, and operate is the logs, webhook history and cleanup.</a:t>
            </a:r>
          </a:p>
          <a:p>
            <a:r>
              <a:t>Every stage uses the real tool. The pipeline itself is the CI/CD: a push triggers the build and deploy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Besides the pipeline there is a dashboard. You sign in with GitHub, pick a repo to link, and watch the build log stream in while pack runs.</a:t>
            </a:r>
          </a:p>
          <a:p>
            <a:r>
              <a:t>Each project page has Rollback and Redeploy buttons, settings for environment variables and memory and CPU limits, and a history of the webhooks GitHub sent. Unlinking a project removes the webhook, containers, images and build cache.</a:t>
            </a:r>
          </a:p>
          <a:p>
            <a:r>
              <a:t>The screenshot is rendered with sample data for illustration. The landing page on the first slide is the real app.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steps. Start the new container next to the old one, check that it answers /health before anything is routed to it, point Traefik's production route at it in one step and confirm through Traefik's API that the route loaded, then stop the old container.</a:t>
            </a:r>
          </a:p>
          <a:p>
            <a:r>
              <a:t>The proof is an integration test. It sends a request every 50 milliseconds while production is promoted twice in a row, and asserts that none of them fail.</a:t>
            </a:r>
          </a:p>
          <a:p>
            <a:r>
              <a:t>Rollback runs the same steps with the previous image.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wrote each feature test-first. The integration tests run the real tools, docker, pack, Traefik and cloudflared, and nothing is mocked.</a:t>
            </a:r>
          </a:p>
          <a:p>
            <a:r>
              <a:t>The webhook tests use payloads captured from real GitHub deliveries, with their signatures verified. The database only has rows from real builds and real webhooks, because I never seeded it.</a:t>
            </a:r>
          </a:p>
          <a:p>
            <a:r>
              <a:t>The numbers are from the last full run: 74 tests in 28 files. 15 of those files are unit tests, 12 are integration tests, and one is a smoke test.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all showed up because nothing was mocked.</a:t>
            </a:r>
          </a:p>
          <a:p>
            <a:r>
              <a:t>Traefik's Docker client speaks API 1.24 and OrbStack needs 1.40 or newer, so I put an nginx proxy in front of the socket. Label-based routing for production dropped requests during a swap, so production uses Traefik's file provider.</a:t>
            </a:r>
          </a:p>
          <a:p>
            <a:r>
              <a:t>File writes through a bind mount didn't trigger inotify on macOS, so I write the route with docker cp. A double-clicked Redeploy raced two builds, so there is a lock per branch. And new trycloudflare.com names took a few seconds to resolve locally, so I wait on a public resolver.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Docker (OrbStack) running, pack and cloudflared installed, control-plane/.env filled in.</a:t>
            </a:r>
          </a:p>
          <a:p>
            <a:r>
              <a:t>Pull the base images beforehand. The first pack build downloads about 5 GB (the Paketo builder alone is about 4.8 GB), so do one throwaway build first and the live one will be quick.</a:t>
            </a:r>
          </a:p>
          <a:p>
            <a:r>
              <a:t>Run order: open http://localhost:4000 and sign in with GitHub. Link tugboat-cookie-clicker; the first deploy starts by itself. Open the deployment to show the build log streaming. Open the preview URL and point out the screenshot. Push a commit to main and show production swap. Click Rollback, then unlink to show the cleanup.</a:t>
            </a:r>
          </a:p>
          <a:p>
            <a:r>
              <a:t>If the network is slow, fall back to the screenshots from the earlier slides.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gaps I know about. All projects share one production route. Rollback history is kept in memory, so a restart clears it. Quick tunnel URLs change on every deployment. And OAuth tokens and environment variables are stored unencrypted in the local SQLite database.</a:t>
            </a:r>
          </a:p>
          <a:p>
            <a:r>
              <a:t>Each one has an obvious next step: per-project production routes, storing history in SQLite, named Cloudflare tunnels with custom domains, and encrypting secrets.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Questions welcome. The repo is github.com/altf4-games/tugboat, and the README covers setup, screenshots and how to run the tests.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6.xml"/><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pic>
        <p:nvPicPr>
          <p:cNvPr id="2" name="Picture 1" descr="hero_title.png"/>
          <p:cNvPicPr>
            <a:picLocks noChangeAspect="1"/>
          </p:cNvPicPr>
          <p:nvPr/>
        </p:nvPicPr>
        <p:blipFill>
          <a:blip r:embed="rId2"/>
          <a:stretch>
            <a:fillRect/>
          </a:stretch>
        </p:blipFill>
        <p:spPr>
          <a:xfrm>
            <a:off x="0" y="0"/>
            <a:ext cx="12191695" cy="6856971"/>
          </a:xfrm>
          <a:prstGeom prst="rect">
            <a:avLst/>
          </a:prstGeom>
        </p:spPr>
      </p:pic>
      <p:sp>
        <p:nvSpPr>
          <p:cNvPr id="3" name="TextBox 2"/>
          <p:cNvSpPr txBox="1"/>
          <p:nvPr/>
        </p:nvSpPr>
        <p:spPr>
          <a:xfrm>
            <a:off x="640080" y="685800"/>
            <a:ext cx="7315200" cy="1097280"/>
          </a:xfrm>
          <a:prstGeom prst="rect">
            <a:avLst/>
          </a:prstGeom>
          <a:noFill/>
        </p:spPr>
        <p:txBody>
          <a:bodyPr wrap="square" lIns="0" rIns="0" tIns="0" bIns="0" anchor="t">
            <a:noAutofit/>
          </a:bodyPr>
          <a:lstStyle/>
          <a:p>
            <a:pPr algn="l">
              <a:spcBef>
                <a:spcPts val="0"/>
              </a:spcBef>
              <a:spcAft>
                <a:spcPts val="0"/>
              </a:spcAft>
            </a:pPr>
            <a:r>
              <a:rPr sz="7200" b="1" i="0">
                <a:solidFill>
                  <a:srgbClr val="10263F"/>
                </a:solidFill>
                <a:latin typeface="Georgia"/>
              </a:rPr>
              <a:t>TUGBOAT</a:t>
            </a:r>
          </a:p>
        </p:txBody>
      </p:sp>
      <p:sp>
        <p:nvSpPr>
          <p:cNvPr id="4" name="TextBox 3"/>
          <p:cNvSpPr txBox="1"/>
          <p:nvPr/>
        </p:nvSpPr>
        <p:spPr>
          <a:xfrm>
            <a:off x="640080" y="1874519"/>
            <a:ext cx="6949440" cy="1097280"/>
          </a:xfrm>
          <a:prstGeom prst="rect">
            <a:avLst/>
          </a:prstGeom>
          <a:noFill/>
        </p:spPr>
        <p:txBody>
          <a:bodyPr wrap="square" lIns="0" rIns="0" tIns="0" bIns="0" anchor="t">
            <a:noAutofit/>
          </a:bodyPr>
          <a:lstStyle/>
          <a:p>
            <a:pPr algn="l">
              <a:lnSpc>
                <a:spcPct val="110000"/>
              </a:lnSpc>
              <a:spcBef>
                <a:spcPts val="0"/>
              </a:spcBef>
              <a:spcAft>
                <a:spcPts val="0"/>
              </a:spcAft>
            </a:pPr>
            <a:r>
              <a:rPr sz="3000" b="0" i="0">
                <a:solidFill>
                  <a:srgbClr val="10263F"/>
                </a:solidFill>
                <a:latin typeface="Georgia"/>
              </a:rPr>
              <a:t>Push a branch, </a:t>
            </a:r>
            <a:r>
              <a:rPr sz="3000" b="0" i="0">
                <a:solidFill>
                  <a:srgbClr val="C8472D"/>
                </a:solidFill>
                <a:latin typeface="Georgia"/>
              </a:rPr>
              <a:t>tugboat</a:t>
            </a:r>
            <a:r>
              <a:rPr sz="3000" b="0" i="0">
                <a:solidFill>
                  <a:srgbClr val="10263F"/>
                </a:solidFill>
                <a:latin typeface="Georgia"/>
              </a:rPr>
              <a:t> does the towing.</a:t>
            </a:r>
          </a:p>
        </p:txBody>
      </p:sp>
      <p:sp>
        <p:nvSpPr>
          <p:cNvPr id="5" name="TextBox 4"/>
          <p:cNvSpPr txBox="1"/>
          <p:nvPr/>
        </p:nvSpPr>
        <p:spPr>
          <a:xfrm>
            <a:off x="640080" y="2971800"/>
            <a:ext cx="7680960" cy="457200"/>
          </a:xfrm>
          <a:prstGeom prst="rect">
            <a:avLst/>
          </a:prstGeom>
          <a:noFill/>
        </p:spPr>
        <p:txBody>
          <a:bodyPr wrap="square" lIns="0" rIns="0" tIns="0" bIns="0" anchor="t">
            <a:noAutofit/>
          </a:bodyPr>
          <a:lstStyle/>
          <a:p>
            <a:pPr algn="l">
              <a:spcBef>
                <a:spcPts val="0"/>
              </a:spcBef>
              <a:spcAft>
                <a:spcPts val="0"/>
              </a:spcAft>
            </a:pPr>
            <a:r>
              <a:rPr sz="1700" b="0" i="0">
                <a:solidFill>
                  <a:srgbClr val="4A5A6B"/>
                </a:solidFill>
                <a:latin typeface="Arial"/>
              </a:rPr>
              <a:t>A self-hosted deploy platform in the style of Vercel and Railway.</a:t>
            </a:r>
          </a:p>
        </p:txBody>
      </p:sp>
      <p:sp>
        <p:nvSpPr>
          <p:cNvPr id="6" name="TextBox 5"/>
          <p:cNvSpPr txBox="1"/>
          <p:nvPr/>
        </p:nvSpPr>
        <p:spPr>
          <a:xfrm>
            <a:off x="640080" y="6437376"/>
            <a:ext cx="8229600" cy="274320"/>
          </a:xfrm>
          <a:prstGeom prst="rect">
            <a:avLst/>
          </a:prstGeom>
          <a:noFill/>
        </p:spPr>
        <p:txBody>
          <a:bodyPr wrap="square" lIns="0" rIns="0" tIns="0" bIns="0" anchor="ctr">
            <a:noAutofit/>
          </a:bodyPr>
          <a:lstStyle/>
          <a:p>
            <a:pPr algn="l">
              <a:spcBef>
                <a:spcPts val="0"/>
              </a:spcBef>
              <a:spcAft>
                <a:spcPts val="0"/>
              </a:spcAft>
            </a:pPr>
            <a:r>
              <a:rPr sz="1250" b="0" i="0">
                <a:solidFill>
                  <a:srgbClr val="FFFFFF"/>
                </a:solidFill>
                <a:latin typeface="Arial"/>
              </a:rPr>
              <a:t>Pradyum Mistry      |      DevOps mini project (Lab CA)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40080" y="731520"/>
            <a:ext cx="566928" cy="310896"/>
          </a:xfrm>
          <a:prstGeom prst="rect">
            <a:avLst/>
          </a:prstGeom>
          <a:solidFill>
            <a:srgbClr val="C8472D"/>
          </a:solidFill>
          <a:ln w="15875">
            <a:solidFill>
              <a:srgbClr val="10263F"/>
            </a:solidFill>
          </a:ln>
        </p:spPr>
        <p:txBody>
          <a:bodyPr rtlCol="0" anchor="ctr"/>
          <a:lstStyle/>
          <a:p>
            <a:pPr algn="ctr"/>
          </a:p>
        </p:txBody>
      </p:sp>
      <p:sp>
        <p:nvSpPr>
          <p:cNvPr id="3" name="Rectangle 2"/>
          <p:cNvSpPr/>
          <p:nvPr/>
        </p:nvSpPr>
        <p:spPr>
          <a:xfrm>
            <a:off x="753465" y="777240"/>
            <a:ext cx="7315" cy="219456"/>
          </a:xfrm>
          <a:prstGeom prst="rect">
            <a:avLst/>
          </a:prstGeom>
          <a:solidFill>
            <a:srgbClr val="A03824"/>
          </a:solidFill>
          <a:ln>
            <a:noFill/>
          </a:ln>
        </p:spPr>
        <p:txBody>
          <a:bodyPr rtlCol="0" anchor="ctr"/>
          <a:lstStyle/>
          <a:p>
            <a:pPr algn="ctr"/>
          </a:p>
        </p:txBody>
      </p:sp>
      <p:sp>
        <p:nvSpPr>
          <p:cNvPr id="4" name="Rectangle 3"/>
          <p:cNvSpPr/>
          <p:nvPr/>
        </p:nvSpPr>
        <p:spPr>
          <a:xfrm>
            <a:off x="866851" y="777240"/>
            <a:ext cx="7315" cy="219456"/>
          </a:xfrm>
          <a:prstGeom prst="rect">
            <a:avLst/>
          </a:prstGeom>
          <a:solidFill>
            <a:srgbClr val="A03824"/>
          </a:solidFill>
          <a:ln>
            <a:noFill/>
          </a:ln>
        </p:spPr>
        <p:txBody>
          <a:bodyPr rtlCol="0" anchor="ctr"/>
          <a:lstStyle/>
          <a:p>
            <a:pPr algn="ctr"/>
          </a:p>
        </p:txBody>
      </p:sp>
      <p:sp>
        <p:nvSpPr>
          <p:cNvPr id="5" name="Rectangle 4"/>
          <p:cNvSpPr/>
          <p:nvPr/>
        </p:nvSpPr>
        <p:spPr>
          <a:xfrm>
            <a:off x="980236" y="777240"/>
            <a:ext cx="7315" cy="219456"/>
          </a:xfrm>
          <a:prstGeom prst="rect">
            <a:avLst/>
          </a:prstGeom>
          <a:solidFill>
            <a:srgbClr val="A03824"/>
          </a:solidFill>
          <a:ln>
            <a:noFill/>
          </a:ln>
        </p:spPr>
        <p:txBody>
          <a:bodyPr rtlCol="0" anchor="ctr"/>
          <a:lstStyle/>
          <a:p>
            <a:pPr algn="ctr"/>
          </a:p>
        </p:txBody>
      </p:sp>
      <p:sp>
        <p:nvSpPr>
          <p:cNvPr id="6" name="Rectangle 5"/>
          <p:cNvSpPr/>
          <p:nvPr/>
        </p:nvSpPr>
        <p:spPr>
          <a:xfrm>
            <a:off x="1093622" y="777240"/>
            <a:ext cx="7315" cy="219456"/>
          </a:xfrm>
          <a:prstGeom prst="rect">
            <a:avLst/>
          </a:prstGeom>
          <a:solidFill>
            <a:srgbClr val="A03824"/>
          </a:solidFill>
          <a:ln>
            <a:noFill/>
          </a:ln>
        </p:spPr>
        <p:txBody>
          <a:bodyPr rtlCol="0" anchor="ctr"/>
          <a:lstStyle/>
          <a:p>
            <a:pPr algn="ctr"/>
          </a:p>
        </p:txBody>
      </p:sp>
      <p:sp>
        <p:nvSpPr>
          <p:cNvPr id="7" name="TextBox 6"/>
          <p:cNvSpPr txBox="1"/>
          <p:nvPr/>
        </p:nvSpPr>
        <p:spPr>
          <a:xfrm>
            <a:off x="1417320" y="548640"/>
            <a:ext cx="10149840" cy="685800"/>
          </a:xfrm>
          <a:prstGeom prst="rect">
            <a:avLst/>
          </a:prstGeom>
          <a:noFill/>
        </p:spPr>
        <p:txBody>
          <a:bodyPr wrap="square" lIns="0" rIns="0" tIns="0" bIns="0" anchor="ctr">
            <a:noAutofit/>
          </a:bodyPr>
          <a:lstStyle/>
          <a:p>
            <a:pPr algn="l">
              <a:spcBef>
                <a:spcPts val="0"/>
              </a:spcBef>
              <a:spcAft>
                <a:spcPts val="0"/>
              </a:spcAft>
            </a:pPr>
            <a:r>
              <a:rPr sz="3000" b="1" i="0">
                <a:solidFill>
                  <a:srgbClr val="10263F"/>
                </a:solidFill>
                <a:latin typeface="Georgia"/>
              </a:rPr>
              <a:t>Getting code online takes too many steps</a:t>
            </a:r>
          </a:p>
        </p:txBody>
      </p:sp>
      <p:cxnSp>
        <p:nvCxnSpPr>
          <p:cNvPr id="8" name="Connector 7"/>
          <p:cNvCxnSpPr/>
          <p:nvPr/>
        </p:nvCxnSpPr>
        <p:spPr>
          <a:xfrm>
            <a:off x="640080" y="1335024"/>
            <a:ext cx="10908792" cy="0"/>
          </a:xfrm>
          <a:prstGeom prst="line">
            <a:avLst/>
          </a:prstGeom>
          <a:ln w="15875">
            <a:solidFill>
              <a:srgbClr val="9AA5AE"/>
            </a:solidFill>
            <a:prstDash val="dash"/>
          </a:ln>
        </p:spPr>
      </p:cxnSp>
      <p:pic>
        <p:nvPicPr>
          <p:cNvPr id="9" name="Picture 8" descr="wave_band.png"/>
          <p:cNvPicPr>
            <a:picLocks noChangeAspect="1"/>
          </p:cNvPicPr>
          <p:nvPr/>
        </p:nvPicPr>
        <p:blipFill>
          <a:blip r:embed="rId2"/>
          <a:stretch>
            <a:fillRect/>
          </a:stretch>
        </p:blipFill>
        <p:spPr>
          <a:xfrm>
            <a:off x="0" y="6355080"/>
            <a:ext cx="12191695" cy="502845"/>
          </a:xfrm>
          <a:prstGeom prst="rect">
            <a:avLst/>
          </a:prstGeom>
        </p:spPr>
      </p:pic>
      <p:pic>
        <p:nvPicPr>
          <p:cNvPr id="10" name="Picture 9" descr="tug_small.png"/>
          <p:cNvPicPr>
            <a:picLocks noChangeAspect="1"/>
          </p:cNvPicPr>
          <p:nvPr/>
        </p:nvPicPr>
        <p:blipFill>
          <a:blip r:embed="rId3"/>
          <a:stretch>
            <a:fillRect/>
          </a:stretch>
        </p:blipFill>
        <p:spPr>
          <a:xfrm>
            <a:off x="2103120" y="6078380"/>
            <a:ext cx="566928" cy="450436"/>
          </a:xfrm>
          <a:prstGeom prst="rect">
            <a:avLst/>
          </a:prstGeom>
        </p:spPr>
      </p:pic>
      <p:sp>
        <p:nvSpPr>
          <p:cNvPr id="11" name="TextBox 10"/>
          <p:cNvSpPr txBox="1"/>
          <p:nvPr/>
        </p:nvSpPr>
        <p:spPr>
          <a:xfrm>
            <a:off x="640080" y="6126480"/>
            <a:ext cx="2743200" cy="228600"/>
          </a:xfrm>
          <a:prstGeom prst="rect">
            <a:avLst/>
          </a:prstGeom>
          <a:noFill/>
        </p:spPr>
        <p:txBody>
          <a:bodyPr wrap="square" lIns="0" rIns="0" tIns="0" bIns="0" anchor="ctr">
            <a:noAutofit/>
          </a:bodyPr>
          <a:lstStyle/>
          <a:p>
            <a:pPr algn="l">
              <a:spcBef>
                <a:spcPts val="0"/>
              </a:spcBef>
              <a:spcAft>
                <a:spcPts val="0"/>
              </a:spcAft>
            </a:pPr>
            <a:r>
              <a:rPr sz="1000" b="0" i="0">
                <a:solidFill>
                  <a:srgbClr val="7E8A97"/>
                </a:solidFill>
                <a:latin typeface="Arial"/>
              </a:rPr>
              <a:t>Tugboat   2 / 12</a:t>
            </a:r>
          </a:p>
        </p:txBody>
      </p:sp>
      <p:sp>
        <p:nvSpPr>
          <p:cNvPr id="12" name="Rounded Rectangle 11"/>
          <p:cNvSpPr/>
          <p:nvPr/>
        </p:nvSpPr>
        <p:spPr>
          <a:xfrm>
            <a:off x="640080" y="1783080"/>
            <a:ext cx="640080" cy="640080"/>
          </a:xfrm>
          <a:prstGeom prst="roundRect">
            <a:avLst>
              <a:gd name="adj" fmla="val 7142"/>
            </a:avLst>
          </a:prstGeom>
          <a:solidFill>
            <a:srgbClr val="C8472D"/>
          </a:solidFill>
          <a:ln w="19050">
            <a:solidFill>
              <a:srgbClr val="10263F"/>
            </a:solidFill>
          </a:ln>
        </p:spPr>
        <p:txBody>
          <a:bodyPr rtlCol="0" anchor="ctr"/>
          <a:lstStyle/>
          <a:p>
            <a:pPr algn="ctr"/>
          </a:p>
        </p:txBody>
      </p:sp>
      <p:sp>
        <p:nvSpPr>
          <p:cNvPr id="13" name="TextBox 12"/>
          <p:cNvSpPr txBox="1"/>
          <p:nvPr/>
        </p:nvSpPr>
        <p:spPr>
          <a:xfrm>
            <a:off x="640080" y="1783080"/>
            <a:ext cx="640080" cy="640080"/>
          </a:xfrm>
          <a:prstGeom prst="rect">
            <a:avLst/>
          </a:prstGeom>
          <a:noFill/>
        </p:spPr>
        <p:txBody>
          <a:bodyPr wrap="square" lIns="0" rIns="0" tIns="0" bIns="0" anchor="ctr">
            <a:noAutofit/>
          </a:bodyPr>
          <a:lstStyle/>
          <a:p>
            <a:pPr algn="ctr">
              <a:spcBef>
                <a:spcPts val="0"/>
              </a:spcBef>
              <a:spcAft>
                <a:spcPts val="0"/>
              </a:spcAft>
            </a:pPr>
            <a:r>
              <a:rPr sz="2600" b="1" i="0">
                <a:solidFill>
                  <a:srgbClr val="FFFFFF"/>
                </a:solidFill>
                <a:latin typeface="Georgia"/>
              </a:rPr>
              <a:t>1</a:t>
            </a:r>
          </a:p>
        </p:txBody>
      </p:sp>
      <p:sp>
        <p:nvSpPr>
          <p:cNvPr id="14" name="TextBox 13"/>
          <p:cNvSpPr txBox="1"/>
          <p:nvPr/>
        </p:nvSpPr>
        <p:spPr>
          <a:xfrm>
            <a:off x="1554480" y="1709928"/>
            <a:ext cx="4754880" cy="457200"/>
          </a:xfrm>
          <a:prstGeom prst="rect">
            <a:avLst/>
          </a:prstGeom>
          <a:noFill/>
        </p:spPr>
        <p:txBody>
          <a:bodyPr wrap="square" lIns="0" rIns="0" tIns="0" bIns="0" anchor="t">
            <a:noAutofit/>
          </a:bodyPr>
          <a:lstStyle/>
          <a:p>
            <a:pPr algn="l">
              <a:spcBef>
                <a:spcPts val="0"/>
              </a:spcBef>
              <a:spcAft>
                <a:spcPts val="0"/>
              </a:spcAft>
            </a:pPr>
            <a:r>
              <a:rPr sz="2200" b="1" i="0">
                <a:solidFill>
                  <a:srgbClr val="10263F"/>
                </a:solidFill>
                <a:latin typeface="Georgia"/>
              </a:rPr>
              <a:t>Write a Dockerfile.</a:t>
            </a:r>
          </a:p>
        </p:txBody>
      </p:sp>
      <p:sp>
        <p:nvSpPr>
          <p:cNvPr id="15" name="TextBox 14"/>
          <p:cNvSpPr txBox="1"/>
          <p:nvPr/>
        </p:nvSpPr>
        <p:spPr>
          <a:xfrm>
            <a:off x="1554480" y="2194560"/>
            <a:ext cx="4754880" cy="365760"/>
          </a:xfrm>
          <a:prstGeom prst="rect">
            <a:avLst/>
          </a:prstGeom>
          <a:noFill/>
        </p:spPr>
        <p:txBody>
          <a:bodyPr wrap="square" lIns="0" rIns="0" tIns="0" bIns="0" anchor="t">
            <a:noAutofit/>
          </a:bodyPr>
          <a:lstStyle/>
          <a:p>
            <a:pPr algn="l">
              <a:spcBef>
                <a:spcPts val="0"/>
              </a:spcBef>
              <a:spcAft>
                <a:spcPts val="0"/>
              </a:spcAft>
            </a:pPr>
            <a:r>
              <a:rPr sz="1450" b="0" i="0">
                <a:solidFill>
                  <a:srgbClr val="4A5A6B"/>
                </a:solidFill>
                <a:latin typeface="Arial"/>
              </a:rPr>
              <a:t>For every app, in every language.</a:t>
            </a:r>
          </a:p>
        </p:txBody>
      </p:sp>
      <p:cxnSp>
        <p:nvCxnSpPr>
          <p:cNvPr id="16" name="Connector 15"/>
          <p:cNvCxnSpPr/>
          <p:nvPr/>
        </p:nvCxnSpPr>
        <p:spPr>
          <a:xfrm>
            <a:off x="640080" y="2953512"/>
            <a:ext cx="5669280" cy="0"/>
          </a:xfrm>
          <a:prstGeom prst="line">
            <a:avLst/>
          </a:prstGeom>
          <a:ln w="15875">
            <a:solidFill>
              <a:srgbClr val="9AA5AE"/>
            </a:solidFill>
            <a:prstDash val="dash"/>
          </a:ln>
        </p:spPr>
      </p:cxnSp>
      <p:sp>
        <p:nvSpPr>
          <p:cNvPr id="17" name="Rounded Rectangle 16"/>
          <p:cNvSpPr/>
          <p:nvPr/>
        </p:nvSpPr>
        <p:spPr>
          <a:xfrm>
            <a:off x="640080" y="3154680"/>
            <a:ext cx="640080" cy="640080"/>
          </a:xfrm>
          <a:prstGeom prst="roundRect">
            <a:avLst>
              <a:gd name="adj" fmla="val 7142"/>
            </a:avLst>
          </a:prstGeom>
          <a:solidFill>
            <a:srgbClr val="E9B93A"/>
          </a:solidFill>
          <a:ln w="19050">
            <a:solidFill>
              <a:srgbClr val="10263F"/>
            </a:solidFill>
          </a:ln>
        </p:spPr>
        <p:txBody>
          <a:bodyPr rtlCol="0" anchor="ctr"/>
          <a:lstStyle/>
          <a:p>
            <a:pPr algn="ctr"/>
          </a:p>
        </p:txBody>
      </p:sp>
      <p:sp>
        <p:nvSpPr>
          <p:cNvPr id="18" name="TextBox 17"/>
          <p:cNvSpPr txBox="1"/>
          <p:nvPr/>
        </p:nvSpPr>
        <p:spPr>
          <a:xfrm>
            <a:off x="640080" y="3154680"/>
            <a:ext cx="640080" cy="640080"/>
          </a:xfrm>
          <a:prstGeom prst="rect">
            <a:avLst/>
          </a:prstGeom>
          <a:noFill/>
        </p:spPr>
        <p:txBody>
          <a:bodyPr wrap="square" lIns="0" rIns="0" tIns="0" bIns="0" anchor="ctr">
            <a:noAutofit/>
          </a:bodyPr>
          <a:lstStyle/>
          <a:p>
            <a:pPr algn="ctr">
              <a:spcBef>
                <a:spcPts val="0"/>
              </a:spcBef>
              <a:spcAft>
                <a:spcPts val="0"/>
              </a:spcAft>
            </a:pPr>
            <a:r>
              <a:rPr sz="2600" b="1" i="0">
                <a:solidFill>
                  <a:srgbClr val="10263F"/>
                </a:solidFill>
                <a:latin typeface="Georgia"/>
              </a:rPr>
              <a:t>2</a:t>
            </a:r>
          </a:p>
        </p:txBody>
      </p:sp>
      <p:sp>
        <p:nvSpPr>
          <p:cNvPr id="19" name="TextBox 18"/>
          <p:cNvSpPr txBox="1"/>
          <p:nvPr/>
        </p:nvSpPr>
        <p:spPr>
          <a:xfrm>
            <a:off x="1554480" y="3081528"/>
            <a:ext cx="4754880" cy="457200"/>
          </a:xfrm>
          <a:prstGeom prst="rect">
            <a:avLst/>
          </a:prstGeom>
          <a:noFill/>
        </p:spPr>
        <p:txBody>
          <a:bodyPr wrap="square" lIns="0" rIns="0" tIns="0" bIns="0" anchor="t">
            <a:noAutofit/>
          </a:bodyPr>
          <a:lstStyle/>
          <a:p>
            <a:pPr algn="l">
              <a:spcBef>
                <a:spcPts val="0"/>
              </a:spcBef>
              <a:spcAft>
                <a:spcPts val="0"/>
              </a:spcAft>
            </a:pPr>
            <a:r>
              <a:rPr sz="2200" b="1" i="0">
                <a:solidFill>
                  <a:srgbClr val="10263F"/>
                </a:solidFill>
                <a:latin typeface="Georgia"/>
              </a:rPr>
              <a:t>Set up a reverse proxy and TLS.</a:t>
            </a:r>
          </a:p>
        </p:txBody>
      </p:sp>
      <p:sp>
        <p:nvSpPr>
          <p:cNvPr id="20" name="TextBox 19"/>
          <p:cNvSpPr txBox="1"/>
          <p:nvPr/>
        </p:nvSpPr>
        <p:spPr>
          <a:xfrm>
            <a:off x="1554480" y="3566160"/>
            <a:ext cx="4754880" cy="365760"/>
          </a:xfrm>
          <a:prstGeom prst="rect">
            <a:avLst/>
          </a:prstGeom>
          <a:noFill/>
        </p:spPr>
        <p:txBody>
          <a:bodyPr wrap="square" lIns="0" rIns="0" tIns="0" bIns="0" anchor="t">
            <a:noAutofit/>
          </a:bodyPr>
          <a:lstStyle/>
          <a:p>
            <a:pPr algn="l">
              <a:spcBef>
                <a:spcPts val="0"/>
              </a:spcBef>
              <a:spcAft>
                <a:spcPts val="0"/>
              </a:spcAft>
            </a:pPr>
            <a:r>
              <a:rPr sz="1450" b="0" i="0">
                <a:solidFill>
                  <a:srgbClr val="4A5A6B"/>
                </a:solidFill>
                <a:latin typeface="Arial"/>
              </a:rPr>
              <a:t>And reload it when something changes.</a:t>
            </a:r>
          </a:p>
        </p:txBody>
      </p:sp>
      <p:cxnSp>
        <p:nvCxnSpPr>
          <p:cNvPr id="21" name="Connector 20"/>
          <p:cNvCxnSpPr/>
          <p:nvPr/>
        </p:nvCxnSpPr>
        <p:spPr>
          <a:xfrm>
            <a:off x="640080" y="4325112"/>
            <a:ext cx="5669280" cy="0"/>
          </a:xfrm>
          <a:prstGeom prst="line">
            <a:avLst/>
          </a:prstGeom>
          <a:ln w="15875">
            <a:solidFill>
              <a:srgbClr val="9AA5AE"/>
            </a:solidFill>
            <a:prstDash val="dash"/>
          </a:ln>
        </p:spPr>
      </p:cxnSp>
      <p:sp>
        <p:nvSpPr>
          <p:cNvPr id="22" name="Rounded Rectangle 21"/>
          <p:cNvSpPr/>
          <p:nvPr/>
        </p:nvSpPr>
        <p:spPr>
          <a:xfrm>
            <a:off x="640080" y="4526279"/>
            <a:ext cx="640080" cy="640080"/>
          </a:xfrm>
          <a:prstGeom prst="roundRect">
            <a:avLst>
              <a:gd name="adj" fmla="val 7142"/>
            </a:avLst>
          </a:prstGeom>
          <a:solidFill>
            <a:srgbClr val="2F8F83"/>
          </a:solidFill>
          <a:ln w="19050">
            <a:solidFill>
              <a:srgbClr val="10263F"/>
            </a:solidFill>
          </a:ln>
        </p:spPr>
        <p:txBody>
          <a:bodyPr rtlCol="0" anchor="ctr"/>
          <a:lstStyle/>
          <a:p>
            <a:pPr algn="ctr"/>
          </a:p>
        </p:txBody>
      </p:sp>
      <p:sp>
        <p:nvSpPr>
          <p:cNvPr id="23" name="TextBox 22"/>
          <p:cNvSpPr txBox="1"/>
          <p:nvPr/>
        </p:nvSpPr>
        <p:spPr>
          <a:xfrm>
            <a:off x="640080" y="4526279"/>
            <a:ext cx="640080" cy="640080"/>
          </a:xfrm>
          <a:prstGeom prst="rect">
            <a:avLst/>
          </a:prstGeom>
          <a:noFill/>
        </p:spPr>
        <p:txBody>
          <a:bodyPr wrap="square" lIns="0" rIns="0" tIns="0" bIns="0" anchor="ctr">
            <a:noAutofit/>
          </a:bodyPr>
          <a:lstStyle/>
          <a:p>
            <a:pPr algn="ctr">
              <a:spcBef>
                <a:spcPts val="0"/>
              </a:spcBef>
              <a:spcAft>
                <a:spcPts val="0"/>
              </a:spcAft>
            </a:pPr>
            <a:r>
              <a:rPr sz="2600" b="1" i="0">
                <a:solidFill>
                  <a:srgbClr val="FFFFFF"/>
                </a:solidFill>
                <a:latin typeface="Georgia"/>
              </a:rPr>
              <a:t>3</a:t>
            </a:r>
          </a:p>
        </p:txBody>
      </p:sp>
      <p:sp>
        <p:nvSpPr>
          <p:cNvPr id="24" name="TextBox 23"/>
          <p:cNvSpPr txBox="1"/>
          <p:nvPr/>
        </p:nvSpPr>
        <p:spPr>
          <a:xfrm>
            <a:off x="1554480" y="4453127"/>
            <a:ext cx="4754880" cy="457200"/>
          </a:xfrm>
          <a:prstGeom prst="rect">
            <a:avLst/>
          </a:prstGeom>
          <a:noFill/>
        </p:spPr>
        <p:txBody>
          <a:bodyPr wrap="square" lIns="0" rIns="0" tIns="0" bIns="0" anchor="t">
            <a:noAutofit/>
          </a:bodyPr>
          <a:lstStyle/>
          <a:p>
            <a:pPr algn="l">
              <a:spcBef>
                <a:spcPts val="0"/>
              </a:spcBef>
              <a:spcAft>
                <a:spcPts val="0"/>
              </a:spcAft>
            </a:pPr>
            <a:r>
              <a:rPr sz="2200" b="1" i="0">
                <a:solidFill>
                  <a:srgbClr val="10263F"/>
                </a:solidFill>
                <a:latin typeface="Georgia"/>
              </a:rPr>
              <a:t>Open ports or configure DNS.</a:t>
            </a:r>
          </a:p>
        </p:txBody>
      </p:sp>
      <p:sp>
        <p:nvSpPr>
          <p:cNvPr id="25" name="TextBox 24"/>
          <p:cNvSpPr txBox="1"/>
          <p:nvPr/>
        </p:nvSpPr>
        <p:spPr>
          <a:xfrm>
            <a:off x="1554480" y="4937759"/>
            <a:ext cx="4754880" cy="365760"/>
          </a:xfrm>
          <a:prstGeom prst="rect">
            <a:avLst/>
          </a:prstGeom>
          <a:noFill/>
        </p:spPr>
        <p:txBody>
          <a:bodyPr wrap="square" lIns="0" rIns="0" tIns="0" bIns="0" anchor="t">
            <a:noAutofit/>
          </a:bodyPr>
          <a:lstStyle/>
          <a:p>
            <a:pPr algn="l">
              <a:spcBef>
                <a:spcPts val="0"/>
              </a:spcBef>
              <a:spcAft>
                <a:spcPts val="0"/>
              </a:spcAft>
            </a:pPr>
            <a:r>
              <a:rPr sz="1450" b="0" i="0">
                <a:solidFill>
                  <a:srgbClr val="4A5A6B"/>
                </a:solidFill>
                <a:latin typeface="Arial"/>
              </a:rPr>
              <a:t>So other people can reach it.</a:t>
            </a:r>
          </a:p>
        </p:txBody>
      </p:sp>
      <p:sp>
        <p:nvSpPr>
          <p:cNvPr id="26" name="Rounded Rectangle 25"/>
          <p:cNvSpPr/>
          <p:nvPr/>
        </p:nvSpPr>
        <p:spPr>
          <a:xfrm>
            <a:off x="7013448" y="1801368"/>
            <a:ext cx="4599432" cy="3886200"/>
          </a:xfrm>
          <a:prstGeom prst="roundRect">
            <a:avLst>
              <a:gd name="adj" fmla="val 941"/>
            </a:avLst>
          </a:prstGeom>
          <a:solidFill>
            <a:srgbClr val="10263F"/>
          </a:solidFill>
          <a:ln>
            <a:noFill/>
          </a:ln>
        </p:spPr>
        <p:txBody>
          <a:bodyPr rtlCol="0" anchor="ctr"/>
          <a:lstStyle/>
          <a:p>
            <a:pPr algn="ctr"/>
          </a:p>
        </p:txBody>
      </p:sp>
      <p:sp>
        <p:nvSpPr>
          <p:cNvPr id="27" name="Rounded Rectangle 26"/>
          <p:cNvSpPr/>
          <p:nvPr/>
        </p:nvSpPr>
        <p:spPr>
          <a:xfrm>
            <a:off x="6949440" y="1737360"/>
            <a:ext cx="4599432" cy="3886200"/>
          </a:xfrm>
          <a:prstGeom prst="roundRect">
            <a:avLst>
              <a:gd name="adj" fmla="val 941"/>
            </a:avLst>
          </a:prstGeom>
          <a:solidFill>
            <a:srgbClr val="FFFFFF"/>
          </a:solidFill>
          <a:ln w="22225">
            <a:solidFill>
              <a:srgbClr val="10263F"/>
            </a:solidFill>
          </a:ln>
        </p:spPr>
        <p:txBody>
          <a:bodyPr rtlCol="0" anchor="ctr"/>
          <a:lstStyle/>
          <a:p>
            <a:pPr algn="ctr"/>
          </a:p>
        </p:txBody>
      </p:sp>
      <p:sp>
        <p:nvSpPr>
          <p:cNvPr id="28" name="TextBox 27"/>
          <p:cNvSpPr txBox="1"/>
          <p:nvPr/>
        </p:nvSpPr>
        <p:spPr>
          <a:xfrm>
            <a:off x="7269480" y="2011680"/>
            <a:ext cx="4023360" cy="3474720"/>
          </a:xfrm>
          <a:prstGeom prst="rect">
            <a:avLst/>
          </a:prstGeom>
          <a:noFill/>
        </p:spPr>
        <p:txBody>
          <a:bodyPr wrap="square" lIns="0" rIns="0" tIns="0" bIns="0" anchor="t">
            <a:noAutofit/>
          </a:bodyPr>
          <a:lstStyle/>
          <a:p>
            <a:pPr algn="l">
              <a:lnSpc>
                <a:spcPct val="125000"/>
              </a:lnSpc>
              <a:spcBef>
                <a:spcPts val="0"/>
              </a:spcBef>
              <a:spcAft>
                <a:spcPts val="800"/>
              </a:spcAft>
            </a:pPr>
            <a:r>
              <a:rPr sz="1500" b="0" i="0">
                <a:solidFill>
                  <a:srgbClr val="4A5A6B"/>
                </a:solidFill>
                <a:latin typeface="Arial"/>
              </a:rPr>
              <a:t>Vercel, Railway and Render do all of this for you.</a:t>
            </a:r>
          </a:p>
          <a:p>
            <a:pPr algn="l">
              <a:lnSpc>
                <a:spcPct val="125000"/>
              </a:lnSpc>
              <a:spcBef>
                <a:spcPts val="0"/>
              </a:spcBef>
              <a:spcAft>
                <a:spcPts val="2200"/>
              </a:spcAft>
            </a:pPr>
            <a:r>
              <a:rPr sz="1500" b="0" i="0">
                <a:solidFill>
                  <a:srgbClr val="4A5A6B"/>
                </a:solidFill>
                <a:latin typeface="Arial"/>
              </a:rPr>
              <a:t>But they are hosted and metered, and you can't see how they work.</a:t>
            </a:r>
          </a:p>
          <a:p>
            <a:pPr algn="l">
              <a:lnSpc>
                <a:spcPct val="120000"/>
              </a:lnSpc>
              <a:spcBef>
                <a:spcPts val="0"/>
              </a:spcBef>
              <a:spcAft>
                <a:spcPts val="1000"/>
              </a:spcAft>
            </a:pPr>
            <a:r>
              <a:rPr sz="2400" b="1" i="0">
                <a:solidFill>
                  <a:srgbClr val="10263F"/>
                </a:solidFill>
                <a:latin typeface="Georgia"/>
              </a:rPr>
              <a:t>So I built my own small version from open-source tools.</a:t>
            </a:r>
          </a:p>
          <a:p>
            <a:pPr algn="l">
              <a:spcBef>
                <a:spcPts val="0"/>
              </a:spcBef>
              <a:spcAft>
                <a:spcPts val="0"/>
              </a:spcAft>
            </a:pPr>
            <a:r>
              <a:rPr sz="2400" b="1" i="0">
                <a:solidFill>
                  <a:srgbClr val="C8472D"/>
                </a:solidFill>
                <a:latin typeface="Georgia"/>
              </a:rPr>
              <a:t>It runs on one laptop.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40080" y="731520"/>
            <a:ext cx="566928" cy="310896"/>
          </a:xfrm>
          <a:prstGeom prst="rect">
            <a:avLst/>
          </a:prstGeom>
          <a:solidFill>
            <a:srgbClr val="E9B93A"/>
          </a:solidFill>
          <a:ln w="15875">
            <a:solidFill>
              <a:srgbClr val="10263F"/>
            </a:solidFill>
          </a:ln>
        </p:spPr>
        <p:txBody>
          <a:bodyPr rtlCol="0" anchor="ctr"/>
          <a:lstStyle/>
          <a:p>
            <a:pPr algn="ctr"/>
          </a:p>
        </p:txBody>
      </p:sp>
      <p:sp>
        <p:nvSpPr>
          <p:cNvPr id="3" name="Rectangle 2"/>
          <p:cNvSpPr/>
          <p:nvPr/>
        </p:nvSpPr>
        <p:spPr>
          <a:xfrm>
            <a:off x="753465" y="777240"/>
            <a:ext cx="7315" cy="219456"/>
          </a:xfrm>
          <a:prstGeom prst="rect">
            <a:avLst/>
          </a:prstGeom>
          <a:solidFill>
            <a:srgbClr val="BA942E"/>
          </a:solidFill>
          <a:ln>
            <a:noFill/>
          </a:ln>
        </p:spPr>
        <p:txBody>
          <a:bodyPr rtlCol="0" anchor="ctr"/>
          <a:lstStyle/>
          <a:p>
            <a:pPr algn="ctr"/>
          </a:p>
        </p:txBody>
      </p:sp>
      <p:sp>
        <p:nvSpPr>
          <p:cNvPr id="4" name="Rectangle 3"/>
          <p:cNvSpPr/>
          <p:nvPr/>
        </p:nvSpPr>
        <p:spPr>
          <a:xfrm>
            <a:off x="866851" y="777240"/>
            <a:ext cx="7315" cy="219456"/>
          </a:xfrm>
          <a:prstGeom prst="rect">
            <a:avLst/>
          </a:prstGeom>
          <a:solidFill>
            <a:srgbClr val="BA942E"/>
          </a:solidFill>
          <a:ln>
            <a:noFill/>
          </a:ln>
        </p:spPr>
        <p:txBody>
          <a:bodyPr rtlCol="0" anchor="ctr"/>
          <a:lstStyle/>
          <a:p>
            <a:pPr algn="ctr"/>
          </a:p>
        </p:txBody>
      </p:sp>
      <p:sp>
        <p:nvSpPr>
          <p:cNvPr id="5" name="Rectangle 4"/>
          <p:cNvSpPr/>
          <p:nvPr/>
        </p:nvSpPr>
        <p:spPr>
          <a:xfrm>
            <a:off x="980236" y="777240"/>
            <a:ext cx="7315" cy="219456"/>
          </a:xfrm>
          <a:prstGeom prst="rect">
            <a:avLst/>
          </a:prstGeom>
          <a:solidFill>
            <a:srgbClr val="BA942E"/>
          </a:solidFill>
          <a:ln>
            <a:noFill/>
          </a:ln>
        </p:spPr>
        <p:txBody>
          <a:bodyPr rtlCol="0" anchor="ctr"/>
          <a:lstStyle/>
          <a:p>
            <a:pPr algn="ctr"/>
          </a:p>
        </p:txBody>
      </p:sp>
      <p:sp>
        <p:nvSpPr>
          <p:cNvPr id="6" name="Rectangle 5"/>
          <p:cNvSpPr/>
          <p:nvPr/>
        </p:nvSpPr>
        <p:spPr>
          <a:xfrm>
            <a:off x="1093622" y="777240"/>
            <a:ext cx="7315" cy="219456"/>
          </a:xfrm>
          <a:prstGeom prst="rect">
            <a:avLst/>
          </a:prstGeom>
          <a:solidFill>
            <a:srgbClr val="BA942E"/>
          </a:solidFill>
          <a:ln>
            <a:noFill/>
          </a:ln>
        </p:spPr>
        <p:txBody>
          <a:bodyPr rtlCol="0" anchor="ctr"/>
          <a:lstStyle/>
          <a:p>
            <a:pPr algn="ctr"/>
          </a:p>
        </p:txBody>
      </p:sp>
      <p:sp>
        <p:nvSpPr>
          <p:cNvPr id="7" name="TextBox 6"/>
          <p:cNvSpPr txBox="1"/>
          <p:nvPr/>
        </p:nvSpPr>
        <p:spPr>
          <a:xfrm>
            <a:off x="1417320" y="548640"/>
            <a:ext cx="10149840" cy="685800"/>
          </a:xfrm>
          <a:prstGeom prst="rect">
            <a:avLst/>
          </a:prstGeom>
          <a:noFill/>
        </p:spPr>
        <p:txBody>
          <a:bodyPr wrap="square" lIns="0" rIns="0" tIns="0" bIns="0" anchor="ctr">
            <a:noAutofit/>
          </a:bodyPr>
          <a:lstStyle/>
          <a:p>
            <a:pPr algn="l">
              <a:spcBef>
                <a:spcPts val="0"/>
              </a:spcBef>
              <a:spcAft>
                <a:spcPts val="0"/>
              </a:spcAft>
            </a:pPr>
            <a:r>
              <a:rPr sz="3000" b="1" i="0">
                <a:solidFill>
                  <a:srgbClr val="10263F"/>
                </a:solidFill>
                <a:latin typeface="Georgia"/>
              </a:rPr>
              <a:t>What Tugboat does</a:t>
            </a:r>
          </a:p>
        </p:txBody>
      </p:sp>
      <p:cxnSp>
        <p:nvCxnSpPr>
          <p:cNvPr id="8" name="Connector 7"/>
          <p:cNvCxnSpPr/>
          <p:nvPr/>
        </p:nvCxnSpPr>
        <p:spPr>
          <a:xfrm>
            <a:off x="640080" y="1335024"/>
            <a:ext cx="10908792" cy="0"/>
          </a:xfrm>
          <a:prstGeom prst="line">
            <a:avLst/>
          </a:prstGeom>
          <a:ln w="15875">
            <a:solidFill>
              <a:srgbClr val="9AA5AE"/>
            </a:solidFill>
            <a:prstDash val="dash"/>
          </a:ln>
        </p:spPr>
      </p:cxnSp>
      <p:pic>
        <p:nvPicPr>
          <p:cNvPr id="9" name="Picture 8" descr="wave_band.png"/>
          <p:cNvPicPr>
            <a:picLocks noChangeAspect="1"/>
          </p:cNvPicPr>
          <p:nvPr/>
        </p:nvPicPr>
        <p:blipFill>
          <a:blip r:embed="rId2"/>
          <a:stretch>
            <a:fillRect/>
          </a:stretch>
        </p:blipFill>
        <p:spPr>
          <a:xfrm>
            <a:off x="0" y="6355080"/>
            <a:ext cx="12191695" cy="502845"/>
          </a:xfrm>
          <a:prstGeom prst="rect">
            <a:avLst/>
          </a:prstGeom>
        </p:spPr>
      </p:pic>
      <p:pic>
        <p:nvPicPr>
          <p:cNvPr id="10" name="Picture 9" descr="tug_small.png"/>
          <p:cNvPicPr>
            <a:picLocks noChangeAspect="1"/>
          </p:cNvPicPr>
          <p:nvPr/>
        </p:nvPicPr>
        <p:blipFill>
          <a:blip r:embed="rId3"/>
          <a:stretch>
            <a:fillRect/>
          </a:stretch>
        </p:blipFill>
        <p:spPr>
          <a:xfrm>
            <a:off x="3026663" y="6078380"/>
            <a:ext cx="566928" cy="450436"/>
          </a:xfrm>
          <a:prstGeom prst="rect">
            <a:avLst/>
          </a:prstGeom>
        </p:spPr>
      </p:pic>
      <p:sp>
        <p:nvSpPr>
          <p:cNvPr id="11" name="TextBox 10"/>
          <p:cNvSpPr txBox="1"/>
          <p:nvPr/>
        </p:nvSpPr>
        <p:spPr>
          <a:xfrm>
            <a:off x="640080" y="6126480"/>
            <a:ext cx="2743200" cy="228600"/>
          </a:xfrm>
          <a:prstGeom prst="rect">
            <a:avLst/>
          </a:prstGeom>
          <a:noFill/>
        </p:spPr>
        <p:txBody>
          <a:bodyPr wrap="square" lIns="0" rIns="0" tIns="0" bIns="0" anchor="ctr">
            <a:noAutofit/>
          </a:bodyPr>
          <a:lstStyle/>
          <a:p>
            <a:pPr algn="l">
              <a:spcBef>
                <a:spcPts val="0"/>
              </a:spcBef>
              <a:spcAft>
                <a:spcPts val="0"/>
              </a:spcAft>
            </a:pPr>
            <a:r>
              <a:rPr sz="1000" b="0" i="0">
                <a:solidFill>
                  <a:srgbClr val="7E8A97"/>
                </a:solidFill>
                <a:latin typeface="Arial"/>
              </a:rPr>
              <a:t>Tugboat   3 / 12</a:t>
            </a:r>
          </a:p>
        </p:txBody>
      </p:sp>
      <p:sp>
        <p:nvSpPr>
          <p:cNvPr id="12" name="Rectangle 11"/>
          <p:cNvSpPr/>
          <p:nvPr/>
        </p:nvSpPr>
        <p:spPr>
          <a:xfrm>
            <a:off x="640080" y="1691640"/>
            <a:ext cx="2651760" cy="4069080"/>
          </a:xfrm>
          <a:prstGeom prst="rect">
            <a:avLst/>
          </a:prstGeom>
          <a:solidFill>
            <a:srgbClr val="C8472D"/>
          </a:solidFill>
          <a:ln w="22225">
            <a:solidFill>
              <a:srgbClr val="10263F"/>
            </a:solidFill>
          </a:ln>
        </p:spPr>
        <p:txBody>
          <a:bodyPr rtlCol="0" anchor="ctr"/>
          <a:lstStyle/>
          <a:p>
            <a:pPr algn="ctr"/>
          </a:p>
        </p:txBody>
      </p:sp>
      <p:sp>
        <p:nvSpPr>
          <p:cNvPr id="13" name="Rectangle 12"/>
          <p:cNvSpPr/>
          <p:nvPr/>
        </p:nvSpPr>
        <p:spPr>
          <a:xfrm>
            <a:off x="779646" y="1764792"/>
            <a:ext cx="7315" cy="3922776"/>
          </a:xfrm>
          <a:prstGeom prst="rect">
            <a:avLst/>
          </a:prstGeom>
          <a:solidFill>
            <a:srgbClr val="AC3D26"/>
          </a:solidFill>
          <a:ln>
            <a:noFill/>
          </a:ln>
        </p:spPr>
        <p:txBody>
          <a:bodyPr rtlCol="0" anchor="ctr"/>
          <a:lstStyle/>
          <a:p>
            <a:pPr algn="ctr"/>
          </a:p>
        </p:txBody>
      </p:sp>
      <p:sp>
        <p:nvSpPr>
          <p:cNvPr id="14" name="Rectangle 13"/>
          <p:cNvSpPr/>
          <p:nvPr/>
        </p:nvSpPr>
        <p:spPr>
          <a:xfrm>
            <a:off x="919212" y="1764792"/>
            <a:ext cx="7315" cy="3922776"/>
          </a:xfrm>
          <a:prstGeom prst="rect">
            <a:avLst/>
          </a:prstGeom>
          <a:solidFill>
            <a:srgbClr val="AC3D26"/>
          </a:solidFill>
          <a:ln>
            <a:noFill/>
          </a:ln>
        </p:spPr>
        <p:txBody>
          <a:bodyPr rtlCol="0" anchor="ctr"/>
          <a:lstStyle/>
          <a:p>
            <a:pPr algn="ctr"/>
          </a:p>
        </p:txBody>
      </p:sp>
      <p:sp>
        <p:nvSpPr>
          <p:cNvPr id="15" name="Rectangle 14"/>
          <p:cNvSpPr/>
          <p:nvPr/>
        </p:nvSpPr>
        <p:spPr>
          <a:xfrm>
            <a:off x="1058778" y="1764792"/>
            <a:ext cx="7315" cy="3922776"/>
          </a:xfrm>
          <a:prstGeom prst="rect">
            <a:avLst/>
          </a:prstGeom>
          <a:solidFill>
            <a:srgbClr val="AC3D26"/>
          </a:solidFill>
          <a:ln>
            <a:noFill/>
          </a:ln>
        </p:spPr>
        <p:txBody>
          <a:bodyPr rtlCol="0" anchor="ctr"/>
          <a:lstStyle/>
          <a:p>
            <a:pPr algn="ctr"/>
          </a:p>
        </p:txBody>
      </p:sp>
      <p:sp>
        <p:nvSpPr>
          <p:cNvPr id="16" name="Rectangle 15"/>
          <p:cNvSpPr/>
          <p:nvPr/>
        </p:nvSpPr>
        <p:spPr>
          <a:xfrm>
            <a:off x="1198345" y="1764792"/>
            <a:ext cx="7315" cy="3922776"/>
          </a:xfrm>
          <a:prstGeom prst="rect">
            <a:avLst/>
          </a:prstGeom>
          <a:solidFill>
            <a:srgbClr val="AC3D26"/>
          </a:solidFill>
          <a:ln>
            <a:noFill/>
          </a:ln>
        </p:spPr>
        <p:txBody>
          <a:bodyPr rtlCol="0" anchor="ctr"/>
          <a:lstStyle/>
          <a:p>
            <a:pPr algn="ctr"/>
          </a:p>
        </p:txBody>
      </p:sp>
      <p:sp>
        <p:nvSpPr>
          <p:cNvPr id="17" name="Rectangle 16"/>
          <p:cNvSpPr/>
          <p:nvPr/>
        </p:nvSpPr>
        <p:spPr>
          <a:xfrm>
            <a:off x="1337911" y="1764792"/>
            <a:ext cx="7315" cy="3922776"/>
          </a:xfrm>
          <a:prstGeom prst="rect">
            <a:avLst/>
          </a:prstGeom>
          <a:solidFill>
            <a:srgbClr val="AC3D26"/>
          </a:solidFill>
          <a:ln>
            <a:noFill/>
          </a:ln>
        </p:spPr>
        <p:txBody>
          <a:bodyPr rtlCol="0" anchor="ctr"/>
          <a:lstStyle/>
          <a:p>
            <a:pPr algn="ctr"/>
          </a:p>
        </p:txBody>
      </p:sp>
      <p:sp>
        <p:nvSpPr>
          <p:cNvPr id="18" name="Rectangle 17"/>
          <p:cNvSpPr/>
          <p:nvPr/>
        </p:nvSpPr>
        <p:spPr>
          <a:xfrm>
            <a:off x="1477477" y="1764792"/>
            <a:ext cx="7315" cy="3922776"/>
          </a:xfrm>
          <a:prstGeom prst="rect">
            <a:avLst/>
          </a:prstGeom>
          <a:solidFill>
            <a:srgbClr val="AC3D26"/>
          </a:solidFill>
          <a:ln>
            <a:noFill/>
          </a:ln>
        </p:spPr>
        <p:txBody>
          <a:bodyPr rtlCol="0" anchor="ctr"/>
          <a:lstStyle/>
          <a:p>
            <a:pPr algn="ctr"/>
          </a:p>
        </p:txBody>
      </p:sp>
      <p:sp>
        <p:nvSpPr>
          <p:cNvPr id="19" name="Rectangle 18"/>
          <p:cNvSpPr/>
          <p:nvPr/>
        </p:nvSpPr>
        <p:spPr>
          <a:xfrm>
            <a:off x="1617044" y="1764792"/>
            <a:ext cx="7315" cy="3922776"/>
          </a:xfrm>
          <a:prstGeom prst="rect">
            <a:avLst/>
          </a:prstGeom>
          <a:solidFill>
            <a:srgbClr val="AC3D26"/>
          </a:solidFill>
          <a:ln>
            <a:noFill/>
          </a:ln>
        </p:spPr>
        <p:txBody>
          <a:bodyPr rtlCol="0" anchor="ctr"/>
          <a:lstStyle/>
          <a:p>
            <a:pPr algn="ctr"/>
          </a:p>
        </p:txBody>
      </p:sp>
      <p:sp>
        <p:nvSpPr>
          <p:cNvPr id="20" name="Rectangle 19"/>
          <p:cNvSpPr/>
          <p:nvPr/>
        </p:nvSpPr>
        <p:spPr>
          <a:xfrm>
            <a:off x="1756610" y="1764792"/>
            <a:ext cx="7315" cy="3922776"/>
          </a:xfrm>
          <a:prstGeom prst="rect">
            <a:avLst/>
          </a:prstGeom>
          <a:solidFill>
            <a:srgbClr val="AC3D26"/>
          </a:solidFill>
          <a:ln>
            <a:noFill/>
          </a:ln>
        </p:spPr>
        <p:txBody>
          <a:bodyPr rtlCol="0" anchor="ctr"/>
          <a:lstStyle/>
          <a:p>
            <a:pPr algn="ctr"/>
          </a:p>
        </p:txBody>
      </p:sp>
      <p:sp>
        <p:nvSpPr>
          <p:cNvPr id="21" name="Rectangle 20"/>
          <p:cNvSpPr/>
          <p:nvPr/>
        </p:nvSpPr>
        <p:spPr>
          <a:xfrm>
            <a:off x="1896176" y="1764792"/>
            <a:ext cx="7315" cy="3922776"/>
          </a:xfrm>
          <a:prstGeom prst="rect">
            <a:avLst/>
          </a:prstGeom>
          <a:solidFill>
            <a:srgbClr val="AC3D26"/>
          </a:solidFill>
          <a:ln>
            <a:noFill/>
          </a:ln>
        </p:spPr>
        <p:txBody>
          <a:bodyPr rtlCol="0" anchor="ctr"/>
          <a:lstStyle/>
          <a:p>
            <a:pPr algn="ctr"/>
          </a:p>
        </p:txBody>
      </p:sp>
      <p:sp>
        <p:nvSpPr>
          <p:cNvPr id="22" name="Rectangle 21"/>
          <p:cNvSpPr/>
          <p:nvPr/>
        </p:nvSpPr>
        <p:spPr>
          <a:xfrm>
            <a:off x="2035743" y="1764792"/>
            <a:ext cx="7315" cy="3922776"/>
          </a:xfrm>
          <a:prstGeom prst="rect">
            <a:avLst/>
          </a:prstGeom>
          <a:solidFill>
            <a:srgbClr val="AC3D26"/>
          </a:solidFill>
          <a:ln>
            <a:noFill/>
          </a:ln>
        </p:spPr>
        <p:txBody>
          <a:bodyPr rtlCol="0" anchor="ctr"/>
          <a:lstStyle/>
          <a:p>
            <a:pPr algn="ctr"/>
          </a:p>
        </p:txBody>
      </p:sp>
      <p:sp>
        <p:nvSpPr>
          <p:cNvPr id="23" name="Rectangle 22"/>
          <p:cNvSpPr/>
          <p:nvPr/>
        </p:nvSpPr>
        <p:spPr>
          <a:xfrm>
            <a:off x="2175309" y="1764792"/>
            <a:ext cx="7315" cy="3922776"/>
          </a:xfrm>
          <a:prstGeom prst="rect">
            <a:avLst/>
          </a:prstGeom>
          <a:solidFill>
            <a:srgbClr val="AC3D26"/>
          </a:solidFill>
          <a:ln>
            <a:noFill/>
          </a:ln>
        </p:spPr>
        <p:txBody>
          <a:bodyPr rtlCol="0" anchor="ctr"/>
          <a:lstStyle/>
          <a:p>
            <a:pPr algn="ctr"/>
          </a:p>
        </p:txBody>
      </p:sp>
      <p:sp>
        <p:nvSpPr>
          <p:cNvPr id="24" name="Rectangle 23"/>
          <p:cNvSpPr/>
          <p:nvPr/>
        </p:nvSpPr>
        <p:spPr>
          <a:xfrm>
            <a:off x="2314875" y="1764792"/>
            <a:ext cx="7315" cy="3922776"/>
          </a:xfrm>
          <a:prstGeom prst="rect">
            <a:avLst/>
          </a:prstGeom>
          <a:solidFill>
            <a:srgbClr val="AC3D26"/>
          </a:solidFill>
          <a:ln>
            <a:noFill/>
          </a:ln>
        </p:spPr>
        <p:txBody>
          <a:bodyPr rtlCol="0" anchor="ctr"/>
          <a:lstStyle/>
          <a:p>
            <a:pPr algn="ctr"/>
          </a:p>
        </p:txBody>
      </p:sp>
      <p:sp>
        <p:nvSpPr>
          <p:cNvPr id="25" name="Rectangle 24"/>
          <p:cNvSpPr/>
          <p:nvPr/>
        </p:nvSpPr>
        <p:spPr>
          <a:xfrm>
            <a:off x="2454442" y="1764792"/>
            <a:ext cx="7315" cy="3922776"/>
          </a:xfrm>
          <a:prstGeom prst="rect">
            <a:avLst/>
          </a:prstGeom>
          <a:solidFill>
            <a:srgbClr val="AC3D26"/>
          </a:solidFill>
          <a:ln>
            <a:noFill/>
          </a:ln>
        </p:spPr>
        <p:txBody>
          <a:bodyPr rtlCol="0" anchor="ctr"/>
          <a:lstStyle/>
          <a:p>
            <a:pPr algn="ctr"/>
          </a:p>
        </p:txBody>
      </p:sp>
      <p:sp>
        <p:nvSpPr>
          <p:cNvPr id="26" name="Rectangle 25"/>
          <p:cNvSpPr/>
          <p:nvPr/>
        </p:nvSpPr>
        <p:spPr>
          <a:xfrm>
            <a:off x="2594008" y="1764792"/>
            <a:ext cx="7315" cy="3922776"/>
          </a:xfrm>
          <a:prstGeom prst="rect">
            <a:avLst/>
          </a:prstGeom>
          <a:solidFill>
            <a:srgbClr val="AC3D26"/>
          </a:solidFill>
          <a:ln>
            <a:noFill/>
          </a:ln>
        </p:spPr>
        <p:txBody>
          <a:bodyPr rtlCol="0" anchor="ctr"/>
          <a:lstStyle/>
          <a:p>
            <a:pPr algn="ctr"/>
          </a:p>
        </p:txBody>
      </p:sp>
      <p:sp>
        <p:nvSpPr>
          <p:cNvPr id="27" name="Rectangle 26"/>
          <p:cNvSpPr/>
          <p:nvPr/>
        </p:nvSpPr>
        <p:spPr>
          <a:xfrm>
            <a:off x="2733574" y="1764792"/>
            <a:ext cx="7315" cy="3922776"/>
          </a:xfrm>
          <a:prstGeom prst="rect">
            <a:avLst/>
          </a:prstGeom>
          <a:solidFill>
            <a:srgbClr val="AC3D26"/>
          </a:solidFill>
          <a:ln>
            <a:noFill/>
          </a:ln>
        </p:spPr>
        <p:txBody>
          <a:bodyPr rtlCol="0" anchor="ctr"/>
          <a:lstStyle/>
          <a:p>
            <a:pPr algn="ctr"/>
          </a:p>
        </p:txBody>
      </p:sp>
      <p:sp>
        <p:nvSpPr>
          <p:cNvPr id="28" name="Rectangle 27"/>
          <p:cNvSpPr/>
          <p:nvPr/>
        </p:nvSpPr>
        <p:spPr>
          <a:xfrm>
            <a:off x="2873141" y="1764792"/>
            <a:ext cx="7315" cy="3922776"/>
          </a:xfrm>
          <a:prstGeom prst="rect">
            <a:avLst/>
          </a:prstGeom>
          <a:solidFill>
            <a:srgbClr val="AC3D26"/>
          </a:solidFill>
          <a:ln>
            <a:noFill/>
          </a:ln>
        </p:spPr>
        <p:txBody>
          <a:bodyPr rtlCol="0" anchor="ctr"/>
          <a:lstStyle/>
          <a:p>
            <a:pPr algn="ctr"/>
          </a:p>
        </p:txBody>
      </p:sp>
      <p:sp>
        <p:nvSpPr>
          <p:cNvPr id="29" name="Rectangle 28"/>
          <p:cNvSpPr/>
          <p:nvPr/>
        </p:nvSpPr>
        <p:spPr>
          <a:xfrm>
            <a:off x="3012707" y="1764792"/>
            <a:ext cx="7315" cy="3922776"/>
          </a:xfrm>
          <a:prstGeom prst="rect">
            <a:avLst/>
          </a:prstGeom>
          <a:solidFill>
            <a:srgbClr val="AC3D26"/>
          </a:solidFill>
          <a:ln>
            <a:noFill/>
          </a:ln>
        </p:spPr>
        <p:txBody>
          <a:bodyPr rtlCol="0" anchor="ctr"/>
          <a:lstStyle/>
          <a:p>
            <a:pPr algn="ctr"/>
          </a:p>
        </p:txBody>
      </p:sp>
      <p:sp>
        <p:nvSpPr>
          <p:cNvPr id="30" name="Rectangle 29"/>
          <p:cNvSpPr/>
          <p:nvPr/>
        </p:nvSpPr>
        <p:spPr>
          <a:xfrm>
            <a:off x="3152273" y="1764792"/>
            <a:ext cx="7315" cy="3922776"/>
          </a:xfrm>
          <a:prstGeom prst="rect">
            <a:avLst/>
          </a:prstGeom>
          <a:solidFill>
            <a:srgbClr val="AC3D26"/>
          </a:solidFill>
          <a:ln>
            <a:noFill/>
          </a:ln>
        </p:spPr>
        <p:txBody>
          <a:bodyPr rtlCol="0" anchor="ctr"/>
          <a:lstStyle/>
          <a:p>
            <a:pPr algn="ctr"/>
          </a:p>
        </p:txBody>
      </p:sp>
      <p:sp>
        <p:nvSpPr>
          <p:cNvPr id="31" name="TextBox 30"/>
          <p:cNvSpPr txBox="1"/>
          <p:nvPr/>
        </p:nvSpPr>
        <p:spPr>
          <a:xfrm>
            <a:off x="914400" y="1874519"/>
            <a:ext cx="2103120" cy="731520"/>
          </a:xfrm>
          <a:prstGeom prst="rect">
            <a:avLst/>
          </a:prstGeom>
          <a:noFill/>
        </p:spPr>
        <p:txBody>
          <a:bodyPr wrap="square" lIns="0" rIns="0" tIns="0" bIns="0" anchor="t">
            <a:noAutofit/>
          </a:bodyPr>
          <a:lstStyle/>
          <a:p>
            <a:pPr algn="l">
              <a:spcBef>
                <a:spcPts val="0"/>
              </a:spcBef>
              <a:spcAft>
                <a:spcPts val="0"/>
              </a:spcAft>
            </a:pPr>
            <a:r>
              <a:rPr sz="4400" b="1" i="0">
                <a:solidFill>
                  <a:srgbClr val="FFFFFF"/>
                </a:solidFill>
                <a:latin typeface="Georgia"/>
              </a:rPr>
              <a:t>1</a:t>
            </a:r>
          </a:p>
        </p:txBody>
      </p:sp>
      <p:sp>
        <p:nvSpPr>
          <p:cNvPr id="32" name="TextBox 31"/>
          <p:cNvSpPr txBox="1"/>
          <p:nvPr/>
        </p:nvSpPr>
        <p:spPr>
          <a:xfrm>
            <a:off x="914400" y="2788920"/>
            <a:ext cx="2148840" cy="914400"/>
          </a:xfrm>
          <a:prstGeom prst="rect">
            <a:avLst/>
          </a:prstGeom>
          <a:noFill/>
        </p:spPr>
        <p:txBody>
          <a:bodyPr wrap="square" lIns="0" rIns="0" tIns="0" bIns="0" anchor="t">
            <a:noAutofit/>
          </a:bodyPr>
          <a:lstStyle/>
          <a:p>
            <a:pPr algn="l">
              <a:lnSpc>
                <a:spcPct val="105000"/>
              </a:lnSpc>
              <a:spcBef>
                <a:spcPts val="0"/>
              </a:spcBef>
              <a:spcAft>
                <a:spcPts val="0"/>
              </a:spcAft>
            </a:pPr>
            <a:r>
              <a:rPr sz="2000" b="1" i="0">
                <a:solidFill>
                  <a:srgbClr val="FFFFFF"/>
                </a:solidFill>
                <a:latin typeface="Georgia"/>
              </a:rPr>
              <a:t>Link a repo</a:t>
            </a:r>
          </a:p>
        </p:txBody>
      </p:sp>
      <p:sp>
        <p:nvSpPr>
          <p:cNvPr id="33" name="TextBox 32"/>
          <p:cNvSpPr txBox="1"/>
          <p:nvPr/>
        </p:nvSpPr>
        <p:spPr>
          <a:xfrm>
            <a:off x="914400" y="3794760"/>
            <a:ext cx="2148840" cy="1737360"/>
          </a:xfrm>
          <a:prstGeom prst="rect">
            <a:avLst/>
          </a:prstGeom>
          <a:noFill/>
        </p:spPr>
        <p:txBody>
          <a:bodyPr wrap="square" lIns="0" rIns="0" tIns="0" bIns="0" anchor="t">
            <a:noAutofit/>
          </a:bodyPr>
          <a:lstStyle/>
          <a:p>
            <a:pPr algn="l">
              <a:lnSpc>
                <a:spcPct val="120000"/>
              </a:lnSpc>
              <a:spcBef>
                <a:spcPts val="0"/>
              </a:spcBef>
              <a:spcAft>
                <a:spcPts val="0"/>
              </a:spcAft>
            </a:pPr>
            <a:r>
              <a:rPr sz="1350" b="0" i="0">
                <a:solidFill>
                  <a:srgbClr val="FFFFFF"/>
                </a:solidFill>
                <a:latin typeface="Arial"/>
              </a:rPr>
              <a:t>Sign in with GitHub and pick a repo. Tugboat adds a webhook to it.</a:t>
            </a:r>
          </a:p>
        </p:txBody>
      </p:sp>
      <p:sp>
        <p:nvSpPr>
          <p:cNvPr id="34" name="TextBox 33"/>
          <p:cNvSpPr txBox="1"/>
          <p:nvPr/>
        </p:nvSpPr>
        <p:spPr>
          <a:xfrm>
            <a:off x="914400" y="5486400"/>
            <a:ext cx="2103120" cy="228600"/>
          </a:xfrm>
          <a:prstGeom prst="rect">
            <a:avLst/>
          </a:prstGeom>
          <a:noFill/>
        </p:spPr>
        <p:txBody>
          <a:bodyPr wrap="square" lIns="0" rIns="0" tIns="0" bIns="0" anchor="t">
            <a:noAutofit/>
          </a:bodyPr>
          <a:lstStyle/>
          <a:p>
            <a:pPr algn="l">
              <a:spcBef>
                <a:spcPts val="0"/>
              </a:spcBef>
              <a:spcAft>
                <a:spcPts val="0"/>
              </a:spcAft>
            </a:pPr>
            <a:r>
              <a:rPr sz="900" b="0" i="0">
                <a:solidFill>
                  <a:srgbClr val="FFFFFF"/>
                </a:solidFill>
                <a:latin typeface="Courier New"/>
              </a:rPr>
              <a:t>TUGB 000001 4</a:t>
            </a:r>
          </a:p>
        </p:txBody>
      </p:sp>
      <p:sp>
        <p:nvSpPr>
          <p:cNvPr id="35" name="Rectangle 34"/>
          <p:cNvSpPr/>
          <p:nvPr/>
        </p:nvSpPr>
        <p:spPr>
          <a:xfrm>
            <a:off x="3392424" y="1691640"/>
            <a:ext cx="2651760" cy="4069080"/>
          </a:xfrm>
          <a:prstGeom prst="rect">
            <a:avLst/>
          </a:prstGeom>
          <a:solidFill>
            <a:srgbClr val="E9B93A"/>
          </a:solidFill>
          <a:ln w="22225">
            <a:solidFill>
              <a:srgbClr val="10263F"/>
            </a:solidFill>
          </a:ln>
        </p:spPr>
        <p:txBody>
          <a:bodyPr rtlCol="0" anchor="ctr"/>
          <a:lstStyle/>
          <a:p>
            <a:pPr algn="ctr"/>
          </a:p>
        </p:txBody>
      </p:sp>
      <p:sp>
        <p:nvSpPr>
          <p:cNvPr id="36" name="Rectangle 35"/>
          <p:cNvSpPr/>
          <p:nvPr/>
        </p:nvSpPr>
        <p:spPr>
          <a:xfrm>
            <a:off x="3531990" y="1764792"/>
            <a:ext cx="7315" cy="3922776"/>
          </a:xfrm>
          <a:prstGeom prst="rect">
            <a:avLst/>
          </a:prstGeom>
          <a:solidFill>
            <a:srgbClr val="C89F31"/>
          </a:solidFill>
          <a:ln>
            <a:noFill/>
          </a:ln>
        </p:spPr>
        <p:txBody>
          <a:bodyPr rtlCol="0" anchor="ctr"/>
          <a:lstStyle/>
          <a:p>
            <a:pPr algn="ctr"/>
          </a:p>
        </p:txBody>
      </p:sp>
      <p:sp>
        <p:nvSpPr>
          <p:cNvPr id="37" name="Rectangle 36"/>
          <p:cNvSpPr/>
          <p:nvPr/>
        </p:nvSpPr>
        <p:spPr>
          <a:xfrm>
            <a:off x="3671556" y="1764792"/>
            <a:ext cx="7315" cy="3922776"/>
          </a:xfrm>
          <a:prstGeom prst="rect">
            <a:avLst/>
          </a:prstGeom>
          <a:solidFill>
            <a:srgbClr val="C89F31"/>
          </a:solidFill>
          <a:ln>
            <a:noFill/>
          </a:ln>
        </p:spPr>
        <p:txBody>
          <a:bodyPr rtlCol="0" anchor="ctr"/>
          <a:lstStyle/>
          <a:p>
            <a:pPr algn="ctr"/>
          </a:p>
        </p:txBody>
      </p:sp>
      <p:sp>
        <p:nvSpPr>
          <p:cNvPr id="38" name="Rectangle 37"/>
          <p:cNvSpPr/>
          <p:nvPr/>
        </p:nvSpPr>
        <p:spPr>
          <a:xfrm>
            <a:off x="3811122" y="1764792"/>
            <a:ext cx="7315" cy="3922776"/>
          </a:xfrm>
          <a:prstGeom prst="rect">
            <a:avLst/>
          </a:prstGeom>
          <a:solidFill>
            <a:srgbClr val="C89F31"/>
          </a:solidFill>
          <a:ln>
            <a:noFill/>
          </a:ln>
        </p:spPr>
        <p:txBody>
          <a:bodyPr rtlCol="0" anchor="ctr"/>
          <a:lstStyle/>
          <a:p>
            <a:pPr algn="ctr"/>
          </a:p>
        </p:txBody>
      </p:sp>
      <p:sp>
        <p:nvSpPr>
          <p:cNvPr id="39" name="Rectangle 38"/>
          <p:cNvSpPr/>
          <p:nvPr/>
        </p:nvSpPr>
        <p:spPr>
          <a:xfrm>
            <a:off x="3950689" y="1764792"/>
            <a:ext cx="7315" cy="3922776"/>
          </a:xfrm>
          <a:prstGeom prst="rect">
            <a:avLst/>
          </a:prstGeom>
          <a:solidFill>
            <a:srgbClr val="C89F31"/>
          </a:solidFill>
          <a:ln>
            <a:noFill/>
          </a:ln>
        </p:spPr>
        <p:txBody>
          <a:bodyPr rtlCol="0" anchor="ctr"/>
          <a:lstStyle/>
          <a:p>
            <a:pPr algn="ctr"/>
          </a:p>
        </p:txBody>
      </p:sp>
      <p:sp>
        <p:nvSpPr>
          <p:cNvPr id="40" name="Rectangle 39"/>
          <p:cNvSpPr/>
          <p:nvPr/>
        </p:nvSpPr>
        <p:spPr>
          <a:xfrm>
            <a:off x="4090255" y="1764792"/>
            <a:ext cx="7315" cy="3922776"/>
          </a:xfrm>
          <a:prstGeom prst="rect">
            <a:avLst/>
          </a:prstGeom>
          <a:solidFill>
            <a:srgbClr val="C89F31"/>
          </a:solidFill>
          <a:ln>
            <a:noFill/>
          </a:ln>
        </p:spPr>
        <p:txBody>
          <a:bodyPr rtlCol="0" anchor="ctr"/>
          <a:lstStyle/>
          <a:p>
            <a:pPr algn="ctr"/>
          </a:p>
        </p:txBody>
      </p:sp>
      <p:sp>
        <p:nvSpPr>
          <p:cNvPr id="41" name="Rectangle 40"/>
          <p:cNvSpPr/>
          <p:nvPr/>
        </p:nvSpPr>
        <p:spPr>
          <a:xfrm>
            <a:off x="4229821" y="1764792"/>
            <a:ext cx="7315" cy="3922776"/>
          </a:xfrm>
          <a:prstGeom prst="rect">
            <a:avLst/>
          </a:prstGeom>
          <a:solidFill>
            <a:srgbClr val="C89F31"/>
          </a:solidFill>
          <a:ln>
            <a:noFill/>
          </a:ln>
        </p:spPr>
        <p:txBody>
          <a:bodyPr rtlCol="0" anchor="ctr"/>
          <a:lstStyle/>
          <a:p>
            <a:pPr algn="ctr"/>
          </a:p>
        </p:txBody>
      </p:sp>
      <p:sp>
        <p:nvSpPr>
          <p:cNvPr id="42" name="Rectangle 41"/>
          <p:cNvSpPr/>
          <p:nvPr/>
        </p:nvSpPr>
        <p:spPr>
          <a:xfrm>
            <a:off x="4369388" y="1764792"/>
            <a:ext cx="7315" cy="3922776"/>
          </a:xfrm>
          <a:prstGeom prst="rect">
            <a:avLst/>
          </a:prstGeom>
          <a:solidFill>
            <a:srgbClr val="C89F31"/>
          </a:solidFill>
          <a:ln>
            <a:noFill/>
          </a:ln>
        </p:spPr>
        <p:txBody>
          <a:bodyPr rtlCol="0" anchor="ctr"/>
          <a:lstStyle/>
          <a:p>
            <a:pPr algn="ctr"/>
          </a:p>
        </p:txBody>
      </p:sp>
      <p:sp>
        <p:nvSpPr>
          <p:cNvPr id="43" name="Rectangle 42"/>
          <p:cNvSpPr/>
          <p:nvPr/>
        </p:nvSpPr>
        <p:spPr>
          <a:xfrm>
            <a:off x="4508954" y="1764792"/>
            <a:ext cx="7315" cy="3922776"/>
          </a:xfrm>
          <a:prstGeom prst="rect">
            <a:avLst/>
          </a:prstGeom>
          <a:solidFill>
            <a:srgbClr val="C89F31"/>
          </a:solidFill>
          <a:ln>
            <a:noFill/>
          </a:ln>
        </p:spPr>
        <p:txBody>
          <a:bodyPr rtlCol="0" anchor="ctr"/>
          <a:lstStyle/>
          <a:p>
            <a:pPr algn="ctr"/>
          </a:p>
        </p:txBody>
      </p:sp>
      <p:sp>
        <p:nvSpPr>
          <p:cNvPr id="44" name="Rectangle 43"/>
          <p:cNvSpPr/>
          <p:nvPr/>
        </p:nvSpPr>
        <p:spPr>
          <a:xfrm>
            <a:off x="4648520" y="1764792"/>
            <a:ext cx="7315" cy="3922776"/>
          </a:xfrm>
          <a:prstGeom prst="rect">
            <a:avLst/>
          </a:prstGeom>
          <a:solidFill>
            <a:srgbClr val="C89F31"/>
          </a:solidFill>
          <a:ln>
            <a:noFill/>
          </a:ln>
        </p:spPr>
        <p:txBody>
          <a:bodyPr rtlCol="0" anchor="ctr"/>
          <a:lstStyle/>
          <a:p>
            <a:pPr algn="ctr"/>
          </a:p>
        </p:txBody>
      </p:sp>
      <p:sp>
        <p:nvSpPr>
          <p:cNvPr id="45" name="Rectangle 44"/>
          <p:cNvSpPr/>
          <p:nvPr/>
        </p:nvSpPr>
        <p:spPr>
          <a:xfrm>
            <a:off x="4788087" y="1764792"/>
            <a:ext cx="7315" cy="3922776"/>
          </a:xfrm>
          <a:prstGeom prst="rect">
            <a:avLst/>
          </a:prstGeom>
          <a:solidFill>
            <a:srgbClr val="C89F31"/>
          </a:solidFill>
          <a:ln>
            <a:noFill/>
          </a:ln>
        </p:spPr>
        <p:txBody>
          <a:bodyPr rtlCol="0" anchor="ctr"/>
          <a:lstStyle/>
          <a:p>
            <a:pPr algn="ctr"/>
          </a:p>
        </p:txBody>
      </p:sp>
      <p:sp>
        <p:nvSpPr>
          <p:cNvPr id="46" name="Rectangle 45"/>
          <p:cNvSpPr/>
          <p:nvPr/>
        </p:nvSpPr>
        <p:spPr>
          <a:xfrm>
            <a:off x="4927653" y="1764792"/>
            <a:ext cx="7315" cy="3922776"/>
          </a:xfrm>
          <a:prstGeom prst="rect">
            <a:avLst/>
          </a:prstGeom>
          <a:solidFill>
            <a:srgbClr val="C89F31"/>
          </a:solidFill>
          <a:ln>
            <a:noFill/>
          </a:ln>
        </p:spPr>
        <p:txBody>
          <a:bodyPr rtlCol="0" anchor="ctr"/>
          <a:lstStyle/>
          <a:p>
            <a:pPr algn="ctr"/>
          </a:p>
        </p:txBody>
      </p:sp>
      <p:sp>
        <p:nvSpPr>
          <p:cNvPr id="47" name="Rectangle 46"/>
          <p:cNvSpPr/>
          <p:nvPr/>
        </p:nvSpPr>
        <p:spPr>
          <a:xfrm>
            <a:off x="5067219" y="1764792"/>
            <a:ext cx="7315" cy="3922776"/>
          </a:xfrm>
          <a:prstGeom prst="rect">
            <a:avLst/>
          </a:prstGeom>
          <a:solidFill>
            <a:srgbClr val="C89F31"/>
          </a:solidFill>
          <a:ln>
            <a:noFill/>
          </a:ln>
        </p:spPr>
        <p:txBody>
          <a:bodyPr rtlCol="0" anchor="ctr"/>
          <a:lstStyle/>
          <a:p>
            <a:pPr algn="ctr"/>
          </a:p>
        </p:txBody>
      </p:sp>
      <p:sp>
        <p:nvSpPr>
          <p:cNvPr id="48" name="Rectangle 47"/>
          <p:cNvSpPr/>
          <p:nvPr/>
        </p:nvSpPr>
        <p:spPr>
          <a:xfrm>
            <a:off x="5206786" y="1764792"/>
            <a:ext cx="7315" cy="3922776"/>
          </a:xfrm>
          <a:prstGeom prst="rect">
            <a:avLst/>
          </a:prstGeom>
          <a:solidFill>
            <a:srgbClr val="C89F31"/>
          </a:solidFill>
          <a:ln>
            <a:noFill/>
          </a:ln>
        </p:spPr>
        <p:txBody>
          <a:bodyPr rtlCol="0" anchor="ctr"/>
          <a:lstStyle/>
          <a:p>
            <a:pPr algn="ctr"/>
          </a:p>
        </p:txBody>
      </p:sp>
      <p:sp>
        <p:nvSpPr>
          <p:cNvPr id="49" name="Rectangle 48"/>
          <p:cNvSpPr/>
          <p:nvPr/>
        </p:nvSpPr>
        <p:spPr>
          <a:xfrm>
            <a:off x="5346352" y="1764792"/>
            <a:ext cx="7315" cy="3922776"/>
          </a:xfrm>
          <a:prstGeom prst="rect">
            <a:avLst/>
          </a:prstGeom>
          <a:solidFill>
            <a:srgbClr val="C89F31"/>
          </a:solidFill>
          <a:ln>
            <a:noFill/>
          </a:ln>
        </p:spPr>
        <p:txBody>
          <a:bodyPr rtlCol="0" anchor="ctr"/>
          <a:lstStyle/>
          <a:p>
            <a:pPr algn="ctr"/>
          </a:p>
        </p:txBody>
      </p:sp>
      <p:sp>
        <p:nvSpPr>
          <p:cNvPr id="50" name="Rectangle 49"/>
          <p:cNvSpPr/>
          <p:nvPr/>
        </p:nvSpPr>
        <p:spPr>
          <a:xfrm>
            <a:off x="5485918" y="1764792"/>
            <a:ext cx="7315" cy="3922776"/>
          </a:xfrm>
          <a:prstGeom prst="rect">
            <a:avLst/>
          </a:prstGeom>
          <a:solidFill>
            <a:srgbClr val="C89F31"/>
          </a:solidFill>
          <a:ln>
            <a:noFill/>
          </a:ln>
        </p:spPr>
        <p:txBody>
          <a:bodyPr rtlCol="0" anchor="ctr"/>
          <a:lstStyle/>
          <a:p>
            <a:pPr algn="ctr"/>
          </a:p>
        </p:txBody>
      </p:sp>
      <p:sp>
        <p:nvSpPr>
          <p:cNvPr id="51" name="Rectangle 50"/>
          <p:cNvSpPr/>
          <p:nvPr/>
        </p:nvSpPr>
        <p:spPr>
          <a:xfrm>
            <a:off x="5625485" y="1764792"/>
            <a:ext cx="7315" cy="3922776"/>
          </a:xfrm>
          <a:prstGeom prst="rect">
            <a:avLst/>
          </a:prstGeom>
          <a:solidFill>
            <a:srgbClr val="C89F31"/>
          </a:solidFill>
          <a:ln>
            <a:noFill/>
          </a:ln>
        </p:spPr>
        <p:txBody>
          <a:bodyPr rtlCol="0" anchor="ctr"/>
          <a:lstStyle/>
          <a:p>
            <a:pPr algn="ctr"/>
          </a:p>
        </p:txBody>
      </p:sp>
      <p:sp>
        <p:nvSpPr>
          <p:cNvPr id="52" name="Rectangle 51"/>
          <p:cNvSpPr/>
          <p:nvPr/>
        </p:nvSpPr>
        <p:spPr>
          <a:xfrm>
            <a:off x="5765051" y="1764792"/>
            <a:ext cx="7315" cy="3922776"/>
          </a:xfrm>
          <a:prstGeom prst="rect">
            <a:avLst/>
          </a:prstGeom>
          <a:solidFill>
            <a:srgbClr val="C89F31"/>
          </a:solidFill>
          <a:ln>
            <a:noFill/>
          </a:ln>
        </p:spPr>
        <p:txBody>
          <a:bodyPr rtlCol="0" anchor="ctr"/>
          <a:lstStyle/>
          <a:p>
            <a:pPr algn="ctr"/>
          </a:p>
        </p:txBody>
      </p:sp>
      <p:sp>
        <p:nvSpPr>
          <p:cNvPr id="53" name="Rectangle 52"/>
          <p:cNvSpPr/>
          <p:nvPr/>
        </p:nvSpPr>
        <p:spPr>
          <a:xfrm>
            <a:off x="5904617" y="1764792"/>
            <a:ext cx="7315" cy="3922776"/>
          </a:xfrm>
          <a:prstGeom prst="rect">
            <a:avLst/>
          </a:prstGeom>
          <a:solidFill>
            <a:srgbClr val="C89F31"/>
          </a:solidFill>
          <a:ln>
            <a:noFill/>
          </a:ln>
        </p:spPr>
        <p:txBody>
          <a:bodyPr rtlCol="0" anchor="ctr"/>
          <a:lstStyle/>
          <a:p>
            <a:pPr algn="ctr"/>
          </a:p>
        </p:txBody>
      </p:sp>
      <p:sp>
        <p:nvSpPr>
          <p:cNvPr id="54" name="TextBox 53"/>
          <p:cNvSpPr txBox="1"/>
          <p:nvPr/>
        </p:nvSpPr>
        <p:spPr>
          <a:xfrm>
            <a:off x="3666744" y="1874519"/>
            <a:ext cx="2103120" cy="731520"/>
          </a:xfrm>
          <a:prstGeom prst="rect">
            <a:avLst/>
          </a:prstGeom>
          <a:noFill/>
        </p:spPr>
        <p:txBody>
          <a:bodyPr wrap="square" lIns="0" rIns="0" tIns="0" bIns="0" anchor="t">
            <a:noAutofit/>
          </a:bodyPr>
          <a:lstStyle/>
          <a:p>
            <a:pPr algn="l">
              <a:spcBef>
                <a:spcPts val="0"/>
              </a:spcBef>
              <a:spcAft>
                <a:spcPts val="0"/>
              </a:spcAft>
            </a:pPr>
            <a:r>
              <a:rPr sz="4400" b="1" i="0">
                <a:solidFill>
                  <a:srgbClr val="10263F"/>
                </a:solidFill>
                <a:latin typeface="Georgia"/>
              </a:rPr>
              <a:t>2</a:t>
            </a:r>
          </a:p>
        </p:txBody>
      </p:sp>
      <p:sp>
        <p:nvSpPr>
          <p:cNvPr id="55" name="TextBox 54"/>
          <p:cNvSpPr txBox="1"/>
          <p:nvPr/>
        </p:nvSpPr>
        <p:spPr>
          <a:xfrm>
            <a:off x="3666744" y="2788920"/>
            <a:ext cx="2148840" cy="914400"/>
          </a:xfrm>
          <a:prstGeom prst="rect">
            <a:avLst/>
          </a:prstGeom>
          <a:noFill/>
        </p:spPr>
        <p:txBody>
          <a:bodyPr wrap="square" lIns="0" rIns="0" tIns="0" bIns="0" anchor="t">
            <a:noAutofit/>
          </a:bodyPr>
          <a:lstStyle/>
          <a:p>
            <a:pPr algn="l">
              <a:lnSpc>
                <a:spcPct val="105000"/>
              </a:lnSpc>
              <a:spcBef>
                <a:spcPts val="0"/>
              </a:spcBef>
              <a:spcAft>
                <a:spcPts val="0"/>
              </a:spcAft>
            </a:pPr>
            <a:r>
              <a:rPr sz="2000" b="1" i="0">
                <a:solidFill>
                  <a:srgbClr val="10263F"/>
                </a:solidFill>
                <a:latin typeface="Georgia"/>
              </a:rPr>
              <a:t>Push, and it's built and run</a:t>
            </a:r>
          </a:p>
        </p:txBody>
      </p:sp>
      <p:sp>
        <p:nvSpPr>
          <p:cNvPr id="56" name="TextBox 55"/>
          <p:cNvSpPr txBox="1"/>
          <p:nvPr/>
        </p:nvSpPr>
        <p:spPr>
          <a:xfrm>
            <a:off x="3666744" y="3794760"/>
            <a:ext cx="2148840" cy="1737360"/>
          </a:xfrm>
          <a:prstGeom prst="rect">
            <a:avLst/>
          </a:prstGeom>
          <a:noFill/>
        </p:spPr>
        <p:txBody>
          <a:bodyPr wrap="square" lIns="0" rIns="0" tIns="0" bIns="0" anchor="t">
            <a:noAutofit/>
          </a:bodyPr>
          <a:lstStyle/>
          <a:p>
            <a:pPr algn="l">
              <a:lnSpc>
                <a:spcPct val="120000"/>
              </a:lnSpc>
              <a:spcBef>
                <a:spcPts val="0"/>
              </a:spcBef>
              <a:spcAft>
                <a:spcPts val="0"/>
              </a:spcAft>
            </a:pPr>
            <a:r>
              <a:rPr sz="1350" b="0" i="0">
                <a:solidFill>
                  <a:srgbClr val="10263F"/>
                </a:solidFill>
                <a:latin typeface="Arial"/>
              </a:rPr>
              <a:t>Buildpacks turn the code into a container, so there's no Dockerfile. Traefik routes the branch to its own URL.</a:t>
            </a:r>
          </a:p>
        </p:txBody>
      </p:sp>
      <p:sp>
        <p:nvSpPr>
          <p:cNvPr id="57" name="TextBox 56"/>
          <p:cNvSpPr txBox="1"/>
          <p:nvPr/>
        </p:nvSpPr>
        <p:spPr>
          <a:xfrm>
            <a:off x="3666744" y="5486400"/>
            <a:ext cx="2103120" cy="228600"/>
          </a:xfrm>
          <a:prstGeom prst="rect">
            <a:avLst/>
          </a:prstGeom>
          <a:noFill/>
        </p:spPr>
        <p:txBody>
          <a:bodyPr wrap="square" lIns="0" rIns="0" tIns="0" bIns="0" anchor="t">
            <a:noAutofit/>
          </a:bodyPr>
          <a:lstStyle/>
          <a:p>
            <a:pPr algn="l">
              <a:spcBef>
                <a:spcPts val="0"/>
              </a:spcBef>
              <a:spcAft>
                <a:spcPts val="0"/>
              </a:spcAft>
            </a:pPr>
            <a:r>
              <a:rPr sz="900" b="0" i="0">
                <a:solidFill>
                  <a:srgbClr val="10263F"/>
                </a:solidFill>
                <a:latin typeface="Courier New"/>
              </a:rPr>
              <a:t>TUGB 000002 4</a:t>
            </a:r>
          </a:p>
        </p:txBody>
      </p:sp>
      <p:sp>
        <p:nvSpPr>
          <p:cNvPr id="58" name="Rectangle 57"/>
          <p:cNvSpPr/>
          <p:nvPr/>
        </p:nvSpPr>
        <p:spPr>
          <a:xfrm>
            <a:off x="6144768" y="1691640"/>
            <a:ext cx="2651760" cy="4069080"/>
          </a:xfrm>
          <a:prstGeom prst="rect">
            <a:avLst/>
          </a:prstGeom>
          <a:solidFill>
            <a:srgbClr val="2F8F83"/>
          </a:solidFill>
          <a:ln w="22225">
            <a:solidFill>
              <a:srgbClr val="10263F"/>
            </a:solidFill>
          </a:ln>
        </p:spPr>
        <p:txBody>
          <a:bodyPr rtlCol="0" anchor="ctr"/>
          <a:lstStyle/>
          <a:p>
            <a:pPr algn="ctr"/>
          </a:p>
        </p:txBody>
      </p:sp>
      <p:sp>
        <p:nvSpPr>
          <p:cNvPr id="59" name="Rectangle 58"/>
          <p:cNvSpPr/>
          <p:nvPr/>
        </p:nvSpPr>
        <p:spPr>
          <a:xfrm>
            <a:off x="6284334" y="1764792"/>
            <a:ext cx="7315" cy="3922776"/>
          </a:xfrm>
          <a:prstGeom prst="rect">
            <a:avLst/>
          </a:prstGeom>
          <a:solidFill>
            <a:srgbClr val="287A70"/>
          </a:solidFill>
          <a:ln>
            <a:noFill/>
          </a:ln>
        </p:spPr>
        <p:txBody>
          <a:bodyPr rtlCol="0" anchor="ctr"/>
          <a:lstStyle/>
          <a:p>
            <a:pPr algn="ctr"/>
          </a:p>
        </p:txBody>
      </p:sp>
      <p:sp>
        <p:nvSpPr>
          <p:cNvPr id="60" name="Rectangle 59"/>
          <p:cNvSpPr/>
          <p:nvPr/>
        </p:nvSpPr>
        <p:spPr>
          <a:xfrm>
            <a:off x="6423900" y="1764792"/>
            <a:ext cx="7315" cy="3922776"/>
          </a:xfrm>
          <a:prstGeom prst="rect">
            <a:avLst/>
          </a:prstGeom>
          <a:solidFill>
            <a:srgbClr val="287A70"/>
          </a:solidFill>
          <a:ln>
            <a:noFill/>
          </a:ln>
        </p:spPr>
        <p:txBody>
          <a:bodyPr rtlCol="0" anchor="ctr"/>
          <a:lstStyle/>
          <a:p>
            <a:pPr algn="ctr"/>
          </a:p>
        </p:txBody>
      </p:sp>
      <p:sp>
        <p:nvSpPr>
          <p:cNvPr id="61" name="Rectangle 60"/>
          <p:cNvSpPr/>
          <p:nvPr/>
        </p:nvSpPr>
        <p:spPr>
          <a:xfrm>
            <a:off x="6563466" y="1764792"/>
            <a:ext cx="7315" cy="3922776"/>
          </a:xfrm>
          <a:prstGeom prst="rect">
            <a:avLst/>
          </a:prstGeom>
          <a:solidFill>
            <a:srgbClr val="287A70"/>
          </a:solidFill>
          <a:ln>
            <a:noFill/>
          </a:ln>
        </p:spPr>
        <p:txBody>
          <a:bodyPr rtlCol="0" anchor="ctr"/>
          <a:lstStyle/>
          <a:p>
            <a:pPr algn="ctr"/>
          </a:p>
        </p:txBody>
      </p:sp>
      <p:sp>
        <p:nvSpPr>
          <p:cNvPr id="62" name="Rectangle 61"/>
          <p:cNvSpPr/>
          <p:nvPr/>
        </p:nvSpPr>
        <p:spPr>
          <a:xfrm>
            <a:off x="6703033" y="1764792"/>
            <a:ext cx="7315" cy="3922776"/>
          </a:xfrm>
          <a:prstGeom prst="rect">
            <a:avLst/>
          </a:prstGeom>
          <a:solidFill>
            <a:srgbClr val="287A70"/>
          </a:solidFill>
          <a:ln>
            <a:noFill/>
          </a:ln>
        </p:spPr>
        <p:txBody>
          <a:bodyPr rtlCol="0" anchor="ctr"/>
          <a:lstStyle/>
          <a:p>
            <a:pPr algn="ctr"/>
          </a:p>
        </p:txBody>
      </p:sp>
      <p:sp>
        <p:nvSpPr>
          <p:cNvPr id="63" name="Rectangle 62"/>
          <p:cNvSpPr/>
          <p:nvPr/>
        </p:nvSpPr>
        <p:spPr>
          <a:xfrm>
            <a:off x="6842599" y="1764792"/>
            <a:ext cx="7315" cy="3922776"/>
          </a:xfrm>
          <a:prstGeom prst="rect">
            <a:avLst/>
          </a:prstGeom>
          <a:solidFill>
            <a:srgbClr val="287A70"/>
          </a:solidFill>
          <a:ln>
            <a:noFill/>
          </a:ln>
        </p:spPr>
        <p:txBody>
          <a:bodyPr rtlCol="0" anchor="ctr"/>
          <a:lstStyle/>
          <a:p>
            <a:pPr algn="ctr"/>
          </a:p>
        </p:txBody>
      </p:sp>
      <p:sp>
        <p:nvSpPr>
          <p:cNvPr id="64" name="Rectangle 63"/>
          <p:cNvSpPr/>
          <p:nvPr/>
        </p:nvSpPr>
        <p:spPr>
          <a:xfrm>
            <a:off x="6982165" y="1764792"/>
            <a:ext cx="7315" cy="3922776"/>
          </a:xfrm>
          <a:prstGeom prst="rect">
            <a:avLst/>
          </a:prstGeom>
          <a:solidFill>
            <a:srgbClr val="287A70"/>
          </a:solidFill>
          <a:ln>
            <a:noFill/>
          </a:ln>
        </p:spPr>
        <p:txBody>
          <a:bodyPr rtlCol="0" anchor="ctr"/>
          <a:lstStyle/>
          <a:p>
            <a:pPr algn="ctr"/>
          </a:p>
        </p:txBody>
      </p:sp>
      <p:sp>
        <p:nvSpPr>
          <p:cNvPr id="65" name="Rectangle 64"/>
          <p:cNvSpPr/>
          <p:nvPr/>
        </p:nvSpPr>
        <p:spPr>
          <a:xfrm>
            <a:off x="7121732" y="1764792"/>
            <a:ext cx="7315" cy="3922776"/>
          </a:xfrm>
          <a:prstGeom prst="rect">
            <a:avLst/>
          </a:prstGeom>
          <a:solidFill>
            <a:srgbClr val="287A70"/>
          </a:solidFill>
          <a:ln>
            <a:noFill/>
          </a:ln>
        </p:spPr>
        <p:txBody>
          <a:bodyPr rtlCol="0" anchor="ctr"/>
          <a:lstStyle/>
          <a:p>
            <a:pPr algn="ctr"/>
          </a:p>
        </p:txBody>
      </p:sp>
      <p:sp>
        <p:nvSpPr>
          <p:cNvPr id="66" name="Rectangle 65"/>
          <p:cNvSpPr/>
          <p:nvPr/>
        </p:nvSpPr>
        <p:spPr>
          <a:xfrm>
            <a:off x="7261298" y="1764792"/>
            <a:ext cx="7315" cy="3922776"/>
          </a:xfrm>
          <a:prstGeom prst="rect">
            <a:avLst/>
          </a:prstGeom>
          <a:solidFill>
            <a:srgbClr val="287A70"/>
          </a:solidFill>
          <a:ln>
            <a:noFill/>
          </a:ln>
        </p:spPr>
        <p:txBody>
          <a:bodyPr rtlCol="0" anchor="ctr"/>
          <a:lstStyle/>
          <a:p>
            <a:pPr algn="ctr"/>
          </a:p>
        </p:txBody>
      </p:sp>
      <p:sp>
        <p:nvSpPr>
          <p:cNvPr id="67" name="Rectangle 66"/>
          <p:cNvSpPr/>
          <p:nvPr/>
        </p:nvSpPr>
        <p:spPr>
          <a:xfrm>
            <a:off x="7400864" y="1764792"/>
            <a:ext cx="7315" cy="3922776"/>
          </a:xfrm>
          <a:prstGeom prst="rect">
            <a:avLst/>
          </a:prstGeom>
          <a:solidFill>
            <a:srgbClr val="287A70"/>
          </a:solidFill>
          <a:ln>
            <a:noFill/>
          </a:ln>
        </p:spPr>
        <p:txBody>
          <a:bodyPr rtlCol="0" anchor="ctr"/>
          <a:lstStyle/>
          <a:p>
            <a:pPr algn="ctr"/>
          </a:p>
        </p:txBody>
      </p:sp>
      <p:sp>
        <p:nvSpPr>
          <p:cNvPr id="68" name="Rectangle 67"/>
          <p:cNvSpPr/>
          <p:nvPr/>
        </p:nvSpPr>
        <p:spPr>
          <a:xfrm>
            <a:off x="7540431" y="1764792"/>
            <a:ext cx="7315" cy="3922776"/>
          </a:xfrm>
          <a:prstGeom prst="rect">
            <a:avLst/>
          </a:prstGeom>
          <a:solidFill>
            <a:srgbClr val="287A70"/>
          </a:solidFill>
          <a:ln>
            <a:noFill/>
          </a:ln>
        </p:spPr>
        <p:txBody>
          <a:bodyPr rtlCol="0" anchor="ctr"/>
          <a:lstStyle/>
          <a:p>
            <a:pPr algn="ctr"/>
          </a:p>
        </p:txBody>
      </p:sp>
      <p:sp>
        <p:nvSpPr>
          <p:cNvPr id="69" name="Rectangle 68"/>
          <p:cNvSpPr/>
          <p:nvPr/>
        </p:nvSpPr>
        <p:spPr>
          <a:xfrm>
            <a:off x="7679997" y="1764792"/>
            <a:ext cx="7315" cy="3922776"/>
          </a:xfrm>
          <a:prstGeom prst="rect">
            <a:avLst/>
          </a:prstGeom>
          <a:solidFill>
            <a:srgbClr val="287A70"/>
          </a:solidFill>
          <a:ln>
            <a:noFill/>
          </a:ln>
        </p:spPr>
        <p:txBody>
          <a:bodyPr rtlCol="0" anchor="ctr"/>
          <a:lstStyle/>
          <a:p>
            <a:pPr algn="ctr"/>
          </a:p>
        </p:txBody>
      </p:sp>
      <p:sp>
        <p:nvSpPr>
          <p:cNvPr id="70" name="Rectangle 69"/>
          <p:cNvSpPr/>
          <p:nvPr/>
        </p:nvSpPr>
        <p:spPr>
          <a:xfrm>
            <a:off x="7819563" y="1764792"/>
            <a:ext cx="7315" cy="3922776"/>
          </a:xfrm>
          <a:prstGeom prst="rect">
            <a:avLst/>
          </a:prstGeom>
          <a:solidFill>
            <a:srgbClr val="287A70"/>
          </a:solidFill>
          <a:ln>
            <a:noFill/>
          </a:ln>
        </p:spPr>
        <p:txBody>
          <a:bodyPr rtlCol="0" anchor="ctr"/>
          <a:lstStyle/>
          <a:p>
            <a:pPr algn="ctr"/>
          </a:p>
        </p:txBody>
      </p:sp>
      <p:sp>
        <p:nvSpPr>
          <p:cNvPr id="71" name="Rectangle 70"/>
          <p:cNvSpPr/>
          <p:nvPr/>
        </p:nvSpPr>
        <p:spPr>
          <a:xfrm>
            <a:off x="7959130" y="1764792"/>
            <a:ext cx="7315" cy="3922776"/>
          </a:xfrm>
          <a:prstGeom prst="rect">
            <a:avLst/>
          </a:prstGeom>
          <a:solidFill>
            <a:srgbClr val="287A70"/>
          </a:solidFill>
          <a:ln>
            <a:noFill/>
          </a:ln>
        </p:spPr>
        <p:txBody>
          <a:bodyPr rtlCol="0" anchor="ctr"/>
          <a:lstStyle/>
          <a:p>
            <a:pPr algn="ctr"/>
          </a:p>
        </p:txBody>
      </p:sp>
      <p:sp>
        <p:nvSpPr>
          <p:cNvPr id="72" name="Rectangle 71"/>
          <p:cNvSpPr/>
          <p:nvPr/>
        </p:nvSpPr>
        <p:spPr>
          <a:xfrm>
            <a:off x="8098696" y="1764792"/>
            <a:ext cx="7315" cy="3922776"/>
          </a:xfrm>
          <a:prstGeom prst="rect">
            <a:avLst/>
          </a:prstGeom>
          <a:solidFill>
            <a:srgbClr val="287A70"/>
          </a:solidFill>
          <a:ln>
            <a:noFill/>
          </a:ln>
        </p:spPr>
        <p:txBody>
          <a:bodyPr rtlCol="0" anchor="ctr"/>
          <a:lstStyle/>
          <a:p>
            <a:pPr algn="ctr"/>
          </a:p>
        </p:txBody>
      </p:sp>
      <p:sp>
        <p:nvSpPr>
          <p:cNvPr id="73" name="Rectangle 72"/>
          <p:cNvSpPr/>
          <p:nvPr/>
        </p:nvSpPr>
        <p:spPr>
          <a:xfrm>
            <a:off x="8238262" y="1764792"/>
            <a:ext cx="7315" cy="3922776"/>
          </a:xfrm>
          <a:prstGeom prst="rect">
            <a:avLst/>
          </a:prstGeom>
          <a:solidFill>
            <a:srgbClr val="287A70"/>
          </a:solidFill>
          <a:ln>
            <a:noFill/>
          </a:ln>
        </p:spPr>
        <p:txBody>
          <a:bodyPr rtlCol="0" anchor="ctr"/>
          <a:lstStyle/>
          <a:p>
            <a:pPr algn="ctr"/>
          </a:p>
        </p:txBody>
      </p:sp>
      <p:sp>
        <p:nvSpPr>
          <p:cNvPr id="74" name="Rectangle 73"/>
          <p:cNvSpPr/>
          <p:nvPr/>
        </p:nvSpPr>
        <p:spPr>
          <a:xfrm>
            <a:off x="8377829" y="1764792"/>
            <a:ext cx="7315" cy="3922776"/>
          </a:xfrm>
          <a:prstGeom prst="rect">
            <a:avLst/>
          </a:prstGeom>
          <a:solidFill>
            <a:srgbClr val="287A70"/>
          </a:solidFill>
          <a:ln>
            <a:noFill/>
          </a:ln>
        </p:spPr>
        <p:txBody>
          <a:bodyPr rtlCol="0" anchor="ctr"/>
          <a:lstStyle/>
          <a:p>
            <a:pPr algn="ctr"/>
          </a:p>
        </p:txBody>
      </p:sp>
      <p:sp>
        <p:nvSpPr>
          <p:cNvPr id="75" name="Rectangle 74"/>
          <p:cNvSpPr/>
          <p:nvPr/>
        </p:nvSpPr>
        <p:spPr>
          <a:xfrm>
            <a:off x="8517395" y="1764792"/>
            <a:ext cx="7315" cy="3922776"/>
          </a:xfrm>
          <a:prstGeom prst="rect">
            <a:avLst/>
          </a:prstGeom>
          <a:solidFill>
            <a:srgbClr val="287A70"/>
          </a:solidFill>
          <a:ln>
            <a:noFill/>
          </a:ln>
        </p:spPr>
        <p:txBody>
          <a:bodyPr rtlCol="0" anchor="ctr"/>
          <a:lstStyle/>
          <a:p>
            <a:pPr algn="ctr"/>
          </a:p>
        </p:txBody>
      </p:sp>
      <p:sp>
        <p:nvSpPr>
          <p:cNvPr id="76" name="Rectangle 75"/>
          <p:cNvSpPr/>
          <p:nvPr/>
        </p:nvSpPr>
        <p:spPr>
          <a:xfrm>
            <a:off x="8656961" y="1764792"/>
            <a:ext cx="7315" cy="3922776"/>
          </a:xfrm>
          <a:prstGeom prst="rect">
            <a:avLst/>
          </a:prstGeom>
          <a:solidFill>
            <a:srgbClr val="287A70"/>
          </a:solidFill>
          <a:ln>
            <a:noFill/>
          </a:ln>
        </p:spPr>
        <p:txBody>
          <a:bodyPr rtlCol="0" anchor="ctr"/>
          <a:lstStyle/>
          <a:p>
            <a:pPr algn="ctr"/>
          </a:p>
        </p:txBody>
      </p:sp>
      <p:sp>
        <p:nvSpPr>
          <p:cNvPr id="77" name="TextBox 76"/>
          <p:cNvSpPr txBox="1"/>
          <p:nvPr/>
        </p:nvSpPr>
        <p:spPr>
          <a:xfrm>
            <a:off x="6419088" y="1874519"/>
            <a:ext cx="2103120" cy="731520"/>
          </a:xfrm>
          <a:prstGeom prst="rect">
            <a:avLst/>
          </a:prstGeom>
          <a:noFill/>
        </p:spPr>
        <p:txBody>
          <a:bodyPr wrap="square" lIns="0" rIns="0" tIns="0" bIns="0" anchor="t">
            <a:noAutofit/>
          </a:bodyPr>
          <a:lstStyle/>
          <a:p>
            <a:pPr algn="l">
              <a:spcBef>
                <a:spcPts val="0"/>
              </a:spcBef>
              <a:spcAft>
                <a:spcPts val="0"/>
              </a:spcAft>
            </a:pPr>
            <a:r>
              <a:rPr sz="4400" b="1" i="0">
                <a:solidFill>
                  <a:srgbClr val="FFFFFF"/>
                </a:solidFill>
                <a:latin typeface="Georgia"/>
              </a:rPr>
              <a:t>3</a:t>
            </a:r>
          </a:p>
        </p:txBody>
      </p:sp>
      <p:sp>
        <p:nvSpPr>
          <p:cNvPr id="78" name="TextBox 77"/>
          <p:cNvSpPr txBox="1"/>
          <p:nvPr/>
        </p:nvSpPr>
        <p:spPr>
          <a:xfrm>
            <a:off x="6419088" y="2788920"/>
            <a:ext cx="2148840" cy="914400"/>
          </a:xfrm>
          <a:prstGeom prst="rect">
            <a:avLst/>
          </a:prstGeom>
          <a:noFill/>
        </p:spPr>
        <p:txBody>
          <a:bodyPr wrap="square" lIns="0" rIns="0" tIns="0" bIns="0" anchor="t">
            <a:noAutofit/>
          </a:bodyPr>
          <a:lstStyle/>
          <a:p>
            <a:pPr algn="l">
              <a:lnSpc>
                <a:spcPct val="105000"/>
              </a:lnSpc>
              <a:spcBef>
                <a:spcPts val="0"/>
              </a:spcBef>
              <a:spcAft>
                <a:spcPts val="0"/>
              </a:spcAft>
            </a:pPr>
            <a:r>
              <a:rPr sz="2000" b="1" i="0">
                <a:solidFill>
                  <a:srgbClr val="FFFFFF"/>
                </a:solidFill>
                <a:latin typeface="Georgia"/>
              </a:rPr>
              <a:t>Get a public link</a:t>
            </a:r>
          </a:p>
        </p:txBody>
      </p:sp>
      <p:sp>
        <p:nvSpPr>
          <p:cNvPr id="79" name="TextBox 78"/>
          <p:cNvSpPr txBox="1"/>
          <p:nvPr/>
        </p:nvSpPr>
        <p:spPr>
          <a:xfrm>
            <a:off x="6419088" y="3794760"/>
            <a:ext cx="2148840" cy="1737360"/>
          </a:xfrm>
          <a:prstGeom prst="rect">
            <a:avLst/>
          </a:prstGeom>
          <a:noFill/>
        </p:spPr>
        <p:txBody>
          <a:bodyPr wrap="square" lIns="0" rIns="0" tIns="0" bIns="0" anchor="t">
            <a:noAutofit/>
          </a:bodyPr>
          <a:lstStyle/>
          <a:p>
            <a:pPr algn="l">
              <a:lnSpc>
                <a:spcPct val="120000"/>
              </a:lnSpc>
              <a:spcBef>
                <a:spcPts val="0"/>
              </a:spcBef>
              <a:spcAft>
                <a:spcPts val="0"/>
              </a:spcAft>
            </a:pPr>
            <a:r>
              <a:rPr sz="1350" b="0" i="0">
                <a:solidFill>
                  <a:srgbClr val="FFFFFF"/>
                </a:solidFill>
                <a:latin typeface="Arial"/>
              </a:rPr>
              <a:t>A Cloudflare quick tunnel gives every deployment an HTTPS URL anyone can open.</a:t>
            </a:r>
          </a:p>
        </p:txBody>
      </p:sp>
      <p:sp>
        <p:nvSpPr>
          <p:cNvPr id="80" name="TextBox 79"/>
          <p:cNvSpPr txBox="1"/>
          <p:nvPr/>
        </p:nvSpPr>
        <p:spPr>
          <a:xfrm>
            <a:off x="6419088" y="5486400"/>
            <a:ext cx="2103120" cy="228600"/>
          </a:xfrm>
          <a:prstGeom prst="rect">
            <a:avLst/>
          </a:prstGeom>
          <a:noFill/>
        </p:spPr>
        <p:txBody>
          <a:bodyPr wrap="square" lIns="0" rIns="0" tIns="0" bIns="0" anchor="t">
            <a:noAutofit/>
          </a:bodyPr>
          <a:lstStyle/>
          <a:p>
            <a:pPr algn="l">
              <a:spcBef>
                <a:spcPts val="0"/>
              </a:spcBef>
              <a:spcAft>
                <a:spcPts val="0"/>
              </a:spcAft>
            </a:pPr>
            <a:r>
              <a:rPr sz="900" b="0" i="0">
                <a:solidFill>
                  <a:srgbClr val="FFFFFF"/>
                </a:solidFill>
                <a:latin typeface="Courier New"/>
              </a:rPr>
              <a:t>TUGB 000003 4</a:t>
            </a:r>
          </a:p>
        </p:txBody>
      </p:sp>
      <p:sp>
        <p:nvSpPr>
          <p:cNvPr id="81" name="Rectangle 80"/>
          <p:cNvSpPr/>
          <p:nvPr/>
        </p:nvSpPr>
        <p:spPr>
          <a:xfrm>
            <a:off x="8897111" y="1691640"/>
            <a:ext cx="2651760" cy="4069080"/>
          </a:xfrm>
          <a:prstGeom prst="rect">
            <a:avLst/>
          </a:prstGeom>
          <a:solidFill>
            <a:srgbClr val="2B6CA3"/>
          </a:solidFill>
          <a:ln w="22225">
            <a:solidFill>
              <a:srgbClr val="10263F"/>
            </a:solidFill>
          </a:ln>
        </p:spPr>
        <p:txBody>
          <a:bodyPr rtlCol="0" anchor="ctr"/>
          <a:lstStyle/>
          <a:p>
            <a:pPr algn="ctr"/>
          </a:p>
        </p:txBody>
      </p:sp>
      <p:sp>
        <p:nvSpPr>
          <p:cNvPr id="82" name="Rectangle 81"/>
          <p:cNvSpPr/>
          <p:nvPr/>
        </p:nvSpPr>
        <p:spPr>
          <a:xfrm>
            <a:off x="9036678" y="1764792"/>
            <a:ext cx="7315" cy="3922776"/>
          </a:xfrm>
          <a:prstGeom prst="rect">
            <a:avLst/>
          </a:prstGeom>
          <a:solidFill>
            <a:srgbClr val="245C8C"/>
          </a:solidFill>
          <a:ln>
            <a:noFill/>
          </a:ln>
        </p:spPr>
        <p:txBody>
          <a:bodyPr rtlCol="0" anchor="ctr"/>
          <a:lstStyle/>
          <a:p>
            <a:pPr algn="ctr"/>
          </a:p>
        </p:txBody>
      </p:sp>
      <p:sp>
        <p:nvSpPr>
          <p:cNvPr id="83" name="Rectangle 82"/>
          <p:cNvSpPr/>
          <p:nvPr/>
        </p:nvSpPr>
        <p:spPr>
          <a:xfrm>
            <a:off x="9176244" y="1764792"/>
            <a:ext cx="7315" cy="3922776"/>
          </a:xfrm>
          <a:prstGeom prst="rect">
            <a:avLst/>
          </a:prstGeom>
          <a:solidFill>
            <a:srgbClr val="245C8C"/>
          </a:solidFill>
          <a:ln>
            <a:noFill/>
          </a:ln>
        </p:spPr>
        <p:txBody>
          <a:bodyPr rtlCol="0" anchor="ctr"/>
          <a:lstStyle/>
          <a:p>
            <a:pPr algn="ctr"/>
          </a:p>
        </p:txBody>
      </p:sp>
      <p:sp>
        <p:nvSpPr>
          <p:cNvPr id="84" name="Rectangle 83"/>
          <p:cNvSpPr/>
          <p:nvPr/>
        </p:nvSpPr>
        <p:spPr>
          <a:xfrm>
            <a:off x="9315810" y="1764792"/>
            <a:ext cx="7315" cy="3922776"/>
          </a:xfrm>
          <a:prstGeom prst="rect">
            <a:avLst/>
          </a:prstGeom>
          <a:solidFill>
            <a:srgbClr val="245C8C"/>
          </a:solidFill>
          <a:ln>
            <a:noFill/>
          </a:ln>
        </p:spPr>
        <p:txBody>
          <a:bodyPr rtlCol="0" anchor="ctr"/>
          <a:lstStyle/>
          <a:p>
            <a:pPr algn="ctr"/>
          </a:p>
        </p:txBody>
      </p:sp>
      <p:sp>
        <p:nvSpPr>
          <p:cNvPr id="85" name="Rectangle 84"/>
          <p:cNvSpPr/>
          <p:nvPr/>
        </p:nvSpPr>
        <p:spPr>
          <a:xfrm>
            <a:off x="9455377" y="1764792"/>
            <a:ext cx="7315" cy="3922776"/>
          </a:xfrm>
          <a:prstGeom prst="rect">
            <a:avLst/>
          </a:prstGeom>
          <a:solidFill>
            <a:srgbClr val="245C8C"/>
          </a:solidFill>
          <a:ln>
            <a:noFill/>
          </a:ln>
        </p:spPr>
        <p:txBody>
          <a:bodyPr rtlCol="0" anchor="ctr"/>
          <a:lstStyle/>
          <a:p>
            <a:pPr algn="ctr"/>
          </a:p>
        </p:txBody>
      </p:sp>
      <p:sp>
        <p:nvSpPr>
          <p:cNvPr id="86" name="Rectangle 85"/>
          <p:cNvSpPr/>
          <p:nvPr/>
        </p:nvSpPr>
        <p:spPr>
          <a:xfrm>
            <a:off x="9594943" y="1764792"/>
            <a:ext cx="7315" cy="3922776"/>
          </a:xfrm>
          <a:prstGeom prst="rect">
            <a:avLst/>
          </a:prstGeom>
          <a:solidFill>
            <a:srgbClr val="245C8C"/>
          </a:solidFill>
          <a:ln>
            <a:noFill/>
          </a:ln>
        </p:spPr>
        <p:txBody>
          <a:bodyPr rtlCol="0" anchor="ctr"/>
          <a:lstStyle/>
          <a:p>
            <a:pPr algn="ctr"/>
          </a:p>
        </p:txBody>
      </p:sp>
      <p:sp>
        <p:nvSpPr>
          <p:cNvPr id="87" name="Rectangle 86"/>
          <p:cNvSpPr/>
          <p:nvPr/>
        </p:nvSpPr>
        <p:spPr>
          <a:xfrm>
            <a:off x="9734509" y="1764792"/>
            <a:ext cx="7315" cy="3922776"/>
          </a:xfrm>
          <a:prstGeom prst="rect">
            <a:avLst/>
          </a:prstGeom>
          <a:solidFill>
            <a:srgbClr val="245C8C"/>
          </a:solidFill>
          <a:ln>
            <a:noFill/>
          </a:ln>
        </p:spPr>
        <p:txBody>
          <a:bodyPr rtlCol="0" anchor="ctr"/>
          <a:lstStyle/>
          <a:p>
            <a:pPr algn="ctr"/>
          </a:p>
        </p:txBody>
      </p:sp>
      <p:sp>
        <p:nvSpPr>
          <p:cNvPr id="88" name="Rectangle 87"/>
          <p:cNvSpPr/>
          <p:nvPr/>
        </p:nvSpPr>
        <p:spPr>
          <a:xfrm>
            <a:off x="9874076" y="1764792"/>
            <a:ext cx="7315" cy="3922776"/>
          </a:xfrm>
          <a:prstGeom prst="rect">
            <a:avLst/>
          </a:prstGeom>
          <a:solidFill>
            <a:srgbClr val="245C8C"/>
          </a:solidFill>
          <a:ln>
            <a:noFill/>
          </a:ln>
        </p:spPr>
        <p:txBody>
          <a:bodyPr rtlCol="0" anchor="ctr"/>
          <a:lstStyle/>
          <a:p>
            <a:pPr algn="ctr"/>
          </a:p>
        </p:txBody>
      </p:sp>
      <p:sp>
        <p:nvSpPr>
          <p:cNvPr id="89" name="Rectangle 88"/>
          <p:cNvSpPr/>
          <p:nvPr/>
        </p:nvSpPr>
        <p:spPr>
          <a:xfrm>
            <a:off x="10013642" y="1764792"/>
            <a:ext cx="7315" cy="3922776"/>
          </a:xfrm>
          <a:prstGeom prst="rect">
            <a:avLst/>
          </a:prstGeom>
          <a:solidFill>
            <a:srgbClr val="245C8C"/>
          </a:solidFill>
          <a:ln>
            <a:noFill/>
          </a:ln>
        </p:spPr>
        <p:txBody>
          <a:bodyPr rtlCol="0" anchor="ctr"/>
          <a:lstStyle/>
          <a:p>
            <a:pPr algn="ctr"/>
          </a:p>
        </p:txBody>
      </p:sp>
      <p:sp>
        <p:nvSpPr>
          <p:cNvPr id="90" name="Rectangle 89"/>
          <p:cNvSpPr/>
          <p:nvPr/>
        </p:nvSpPr>
        <p:spPr>
          <a:xfrm>
            <a:off x="10153208" y="1764792"/>
            <a:ext cx="7315" cy="3922776"/>
          </a:xfrm>
          <a:prstGeom prst="rect">
            <a:avLst/>
          </a:prstGeom>
          <a:solidFill>
            <a:srgbClr val="245C8C"/>
          </a:solidFill>
          <a:ln>
            <a:noFill/>
          </a:ln>
        </p:spPr>
        <p:txBody>
          <a:bodyPr rtlCol="0" anchor="ctr"/>
          <a:lstStyle/>
          <a:p>
            <a:pPr algn="ctr"/>
          </a:p>
        </p:txBody>
      </p:sp>
      <p:sp>
        <p:nvSpPr>
          <p:cNvPr id="91" name="Rectangle 90"/>
          <p:cNvSpPr/>
          <p:nvPr/>
        </p:nvSpPr>
        <p:spPr>
          <a:xfrm>
            <a:off x="10292775" y="1764792"/>
            <a:ext cx="7315" cy="3922776"/>
          </a:xfrm>
          <a:prstGeom prst="rect">
            <a:avLst/>
          </a:prstGeom>
          <a:solidFill>
            <a:srgbClr val="245C8C"/>
          </a:solidFill>
          <a:ln>
            <a:noFill/>
          </a:ln>
        </p:spPr>
        <p:txBody>
          <a:bodyPr rtlCol="0" anchor="ctr"/>
          <a:lstStyle/>
          <a:p>
            <a:pPr algn="ctr"/>
          </a:p>
        </p:txBody>
      </p:sp>
      <p:sp>
        <p:nvSpPr>
          <p:cNvPr id="92" name="Rectangle 91"/>
          <p:cNvSpPr/>
          <p:nvPr/>
        </p:nvSpPr>
        <p:spPr>
          <a:xfrm>
            <a:off x="10432341" y="1764792"/>
            <a:ext cx="7315" cy="3922776"/>
          </a:xfrm>
          <a:prstGeom prst="rect">
            <a:avLst/>
          </a:prstGeom>
          <a:solidFill>
            <a:srgbClr val="245C8C"/>
          </a:solidFill>
          <a:ln>
            <a:noFill/>
          </a:ln>
        </p:spPr>
        <p:txBody>
          <a:bodyPr rtlCol="0" anchor="ctr"/>
          <a:lstStyle/>
          <a:p>
            <a:pPr algn="ctr"/>
          </a:p>
        </p:txBody>
      </p:sp>
      <p:sp>
        <p:nvSpPr>
          <p:cNvPr id="93" name="Rectangle 92"/>
          <p:cNvSpPr/>
          <p:nvPr/>
        </p:nvSpPr>
        <p:spPr>
          <a:xfrm>
            <a:off x="10571907" y="1764792"/>
            <a:ext cx="7315" cy="3922776"/>
          </a:xfrm>
          <a:prstGeom prst="rect">
            <a:avLst/>
          </a:prstGeom>
          <a:solidFill>
            <a:srgbClr val="245C8C"/>
          </a:solidFill>
          <a:ln>
            <a:noFill/>
          </a:ln>
        </p:spPr>
        <p:txBody>
          <a:bodyPr rtlCol="0" anchor="ctr"/>
          <a:lstStyle/>
          <a:p>
            <a:pPr algn="ctr"/>
          </a:p>
        </p:txBody>
      </p:sp>
      <p:sp>
        <p:nvSpPr>
          <p:cNvPr id="94" name="Rectangle 93"/>
          <p:cNvSpPr/>
          <p:nvPr/>
        </p:nvSpPr>
        <p:spPr>
          <a:xfrm>
            <a:off x="10711474" y="1764792"/>
            <a:ext cx="7315" cy="3922776"/>
          </a:xfrm>
          <a:prstGeom prst="rect">
            <a:avLst/>
          </a:prstGeom>
          <a:solidFill>
            <a:srgbClr val="245C8C"/>
          </a:solidFill>
          <a:ln>
            <a:noFill/>
          </a:ln>
        </p:spPr>
        <p:txBody>
          <a:bodyPr rtlCol="0" anchor="ctr"/>
          <a:lstStyle/>
          <a:p>
            <a:pPr algn="ctr"/>
          </a:p>
        </p:txBody>
      </p:sp>
      <p:sp>
        <p:nvSpPr>
          <p:cNvPr id="95" name="Rectangle 94"/>
          <p:cNvSpPr/>
          <p:nvPr/>
        </p:nvSpPr>
        <p:spPr>
          <a:xfrm>
            <a:off x="10851040" y="1764792"/>
            <a:ext cx="7315" cy="3922776"/>
          </a:xfrm>
          <a:prstGeom prst="rect">
            <a:avLst/>
          </a:prstGeom>
          <a:solidFill>
            <a:srgbClr val="245C8C"/>
          </a:solidFill>
          <a:ln>
            <a:noFill/>
          </a:ln>
        </p:spPr>
        <p:txBody>
          <a:bodyPr rtlCol="0" anchor="ctr"/>
          <a:lstStyle/>
          <a:p>
            <a:pPr algn="ctr"/>
          </a:p>
        </p:txBody>
      </p:sp>
      <p:sp>
        <p:nvSpPr>
          <p:cNvPr id="96" name="Rectangle 95"/>
          <p:cNvSpPr/>
          <p:nvPr/>
        </p:nvSpPr>
        <p:spPr>
          <a:xfrm>
            <a:off x="10990606" y="1764792"/>
            <a:ext cx="7315" cy="3922776"/>
          </a:xfrm>
          <a:prstGeom prst="rect">
            <a:avLst/>
          </a:prstGeom>
          <a:solidFill>
            <a:srgbClr val="245C8C"/>
          </a:solidFill>
          <a:ln>
            <a:noFill/>
          </a:ln>
        </p:spPr>
        <p:txBody>
          <a:bodyPr rtlCol="0" anchor="ctr"/>
          <a:lstStyle/>
          <a:p>
            <a:pPr algn="ctr"/>
          </a:p>
        </p:txBody>
      </p:sp>
      <p:sp>
        <p:nvSpPr>
          <p:cNvPr id="97" name="Rectangle 96"/>
          <p:cNvSpPr/>
          <p:nvPr/>
        </p:nvSpPr>
        <p:spPr>
          <a:xfrm>
            <a:off x="11130173" y="1764792"/>
            <a:ext cx="7315" cy="3922776"/>
          </a:xfrm>
          <a:prstGeom prst="rect">
            <a:avLst/>
          </a:prstGeom>
          <a:solidFill>
            <a:srgbClr val="245C8C"/>
          </a:solidFill>
          <a:ln>
            <a:noFill/>
          </a:ln>
        </p:spPr>
        <p:txBody>
          <a:bodyPr rtlCol="0" anchor="ctr"/>
          <a:lstStyle/>
          <a:p>
            <a:pPr algn="ctr"/>
          </a:p>
        </p:txBody>
      </p:sp>
      <p:sp>
        <p:nvSpPr>
          <p:cNvPr id="98" name="Rectangle 97"/>
          <p:cNvSpPr/>
          <p:nvPr/>
        </p:nvSpPr>
        <p:spPr>
          <a:xfrm>
            <a:off x="11269739" y="1764792"/>
            <a:ext cx="7315" cy="3922776"/>
          </a:xfrm>
          <a:prstGeom prst="rect">
            <a:avLst/>
          </a:prstGeom>
          <a:solidFill>
            <a:srgbClr val="245C8C"/>
          </a:solidFill>
          <a:ln>
            <a:noFill/>
          </a:ln>
        </p:spPr>
        <p:txBody>
          <a:bodyPr rtlCol="0" anchor="ctr"/>
          <a:lstStyle/>
          <a:p>
            <a:pPr algn="ctr"/>
          </a:p>
        </p:txBody>
      </p:sp>
      <p:sp>
        <p:nvSpPr>
          <p:cNvPr id="99" name="Rectangle 98"/>
          <p:cNvSpPr/>
          <p:nvPr/>
        </p:nvSpPr>
        <p:spPr>
          <a:xfrm>
            <a:off x="11409305" y="1764792"/>
            <a:ext cx="7315" cy="3922776"/>
          </a:xfrm>
          <a:prstGeom prst="rect">
            <a:avLst/>
          </a:prstGeom>
          <a:solidFill>
            <a:srgbClr val="245C8C"/>
          </a:solidFill>
          <a:ln>
            <a:noFill/>
          </a:ln>
        </p:spPr>
        <p:txBody>
          <a:bodyPr rtlCol="0" anchor="ctr"/>
          <a:lstStyle/>
          <a:p>
            <a:pPr algn="ctr"/>
          </a:p>
        </p:txBody>
      </p:sp>
      <p:sp>
        <p:nvSpPr>
          <p:cNvPr id="100" name="TextBox 99"/>
          <p:cNvSpPr txBox="1"/>
          <p:nvPr/>
        </p:nvSpPr>
        <p:spPr>
          <a:xfrm>
            <a:off x="9171432" y="1874519"/>
            <a:ext cx="2103120" cy="731520"/>
          </a:xfrm>
          <a:prstGeom prst="rect">
            <a:avLst/>
          </a:prstGeom>
          <a:noFill/>
        </p:spPr>
        <p:txBody>
          <a:bodyPr wrap="square" lIns="0" rIns="0" tIns="0" bIns="0" anchor="t">
            <a:noAutofit/>
          </a:bodyPr>
          <a:lstStyle/>
          <a:p>
            <a:pPr algn="l">
              <a:spcBef>
                <a:spcPts val="0"/>
              </a:spcBef>
              <a:spcAft>
                <a:spcPts val="0"/>
              </a:spcAft>
            </a:pPr>
            <a:r>
              <a:rPr sz="4400" b="1" i="0">
                <a:solidFill>
                  <a:srgbClr val="FFFFFF"/>
                </a:solidFill>
                <a:latin typeface="Georgia"/>
              </a:rPr>
              <a:t>4</a:t>
            </a:r>
          </a:p>
        </p:txBody>
      </p:sp>
      <p:sp>
        <p:nvSpPr>
          <p:cNvPr id="101" name="TextBox 100"/>
          <p:cNvSpPr txBox="1"/>
          <p:nvPr/>
        </p:nvSpPr>
        <p:spPr>
          <a:xfrm>
            <a:off x="9171432" y="2788920"/>
            <a:ext cx="2148840" cy="914400"/>
          </a:xfrm>
          <a:prstGeom prst="rect">
            <a:avLst/>
          </a:prstGeom>
          <a:noFill/>
        </p:spPr>
        <p:txBody>
          <a:bodyPr wrap="square" lIns="0" rIns="0" tIns="0" bIns="0" anchor="t">
            <a:noAutofit/>
          </a:bodyPr>
          <a:lstStyle/>
          <a:p>
            <a:pPr algn="l">
              <a:lnSpc>
                <a:spcPct val="105000"/>
              </a:lnSpc>
              <a:spcBef>
                <a:spcPts val="0"/>
              </a:spcBef>
              <a:spcAft>
                <a:spcPts val="0"/>
              </a:spcAft>
            </a:pPr>
            <a:r>
              <a:rPr sz="2000" b="1" i="0">
                <a:solidFill>
                  <a:srgbClr val="FFFFFF"/>
                </a:solidFill>
                <a:latin typeface="Georgia"/>
              </a:rPr>
              <a:t>Merge to production</a:t>
            </a:r>
          </a:p>
        </p:txBody>
      </p:sp>
      <p:sp>
        <p:nvSpPr>
          <p:cNvPr id="102" name="TextBox 101"/>
          <p:cNvSpPr txBox="1"/>
          <p:nvPr/>
        </p:nvSpPr>
        <p:spPr>
          <a:xfrm>
            <a:off x="9171432" y="3794760"/>
            <a:ext cx="2148840" cy="1737360"/>
          </a:xfrm>
          <a:prstGeom prst="rect">
            <a:avLst/>
          </a:prstGeom>
          <a:noFill/>
        </p:spPr>
        <p:txBody>
          <a:bodyPr wrap="square" lIns="0" rIns="0" tIns="0" bIns="0" anchor="t">
            <a:noAutofit/>
          </a:bodyPr>
          <a:lstStyle/>
          <a:p>
            <a:pPr algn="l">
              <a:lnSpc>
                <a:spcPct val="120000"/>
              </a:lnSpc>
              <a:spcBef>
                <a:spcPts val="0"/>
              </a:spcBef>
              <a:spcAft>
                <a:spcPts val="0"/>
              </a:spcAft>
            </a:pPr>
            <a:r>
              <a:rPr sz="1350" b="0" i="0">
                <a:solidFill>
                  <a:srgbClr val="FFFFFF"/>
                </a:solidFill>
                <a:latin typeface="Arial"/>
              </a:rPr>
              <a:t>The default branch goes live without dropping requests. One click rolls it back.</a:t>
            </a:r>
          </a:p>
        </p:txBody>
      </p:sp>
      <p:sp>
        <p:nvSpPr>
          <p:cNvPr id="103" name="TextBox 102"/>
          <p:cNvSpPr txBox="1"/>
          <p:nvPr/>
        </p:nvSpPr>
        <p:spPr>
          <a:xfrm>
            <a:off x="9171432" y="5486400"/>
            <a:ext cx="2103120" cy="228600"/>
          </a:xfrm>
          <a:prstGeom prst="rect">
            <a:avLst/>
          </a:prstGeom>
          <a:noFill/>
        </p:spPr>
        <p:txBody>
          <a:bodyPr wrap="square" lIns="0" rIns="0" tIns="0" bIns="0" anchor="t">
            <a:noAutofit/>
          </a:bodyPr>
          <a:lstStyle/>
          <a:p>
            <a:pPr algn="l">
              <a:spcBef>
                <a:spcPts val="0"/>
              </a:spcBef>
              <a:spcAft>
                <a:spcPts val="0"/>
              </a:spcAft>
            </a:pPr>
            <a:r>
              <a:rPr sz="900" b="0" i="0">
                <a:solidFill>
                  <a:srgbClr val="FFFFFF"/>
                </a:solidFill>
                <a:latin typeface="Courier New"/>
              </a:rPr>
              <a:t>TUGB 000004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40080" y="731520"/>
            <a:ext cx="566928" cy="310896"/>
          </a:xfrm>
          <a:prstGeom prst="rect">
            <a:avLst/>
          </a:prstGeom>
          <a:solidFill>
            <a:srgbClr val="2F8F83"/>
          </a:solidFill>
          <a:ln w="15875">
            <a:solidFill>
              <a:srgbClr val="10263F"/>
            </a:solidFill>
          </a:ln>
        </p:spPr>
        <p:txBody>
          <a:bodyPr rtlCol="0" anchor="ctr"/>
          <a:lstStyle/>
          <a:p>
            <a:pPr algn="ctr"/>
          </a:p>
        </p:txBody>
      </p:sp>
      <p:sp>
        <p:nvSpPr>
          <p:cNvPr id="3" name="Rectangle 2"/>
          <p:cNvSpPr/>
          <p:nvPr/>
        </p:nvSpPr>
        <p:spPr>
          <a:xfrm>
            <a:off x="753465" y="777240"/>
            <a:ext cx="7315" cy="219456"/>
          </a:xfrm>
          <a:prstGeom prst="rect">
            <a:avLst/>
          </a:prstGeom>
          <a:solidFill>
            <a:srgbClr val="257268"/>
          </a:solidFill>
          <a:ln>
            <a:noFill/>
          </a:ln>
        </p:spPr>
        <p:txBody>
          <a:bodyPr rtlCol="0" anchor="ctr"/>
          <a:lstStyle/>
          <a:p>
            <a:pPr algn="ctr"/>
          </a:p>
        </p:txBody>
      </p:sp>
      <p:sp>
        <p:nvSpPr>
          <p:cNvPr id="4" name="Rectangle 3"/>
          <p:cNvSpPr/>
          <p:nvPr/>
        </p:nvSpPr>
        <p:spPr>
          <a:xfrm>
            <a:off x="866851" y="777240"/>
            <a:ext cx="7315" cy="219456"/>
          </a:xfrm>
          <a:prstGeom prst="rect">
            <a:avLst/>
          </a:prstGeom>
          <a:solidFill>
            <a:srgbClr val="257268"/>
          </a:solidFill>
          <a:ln>
            <a:noFill/>
          </a:ln>
        </p:spPr>
        <p:txBody>
          <a:bodyPr rtlCol="0" anchor="ctr"/>
          <a:lstStyle/>
          <a:p>
            <a:pPr algn="ctr"/>
          </a:p>
        </p:txBody>
      </p:sp>
      <p:sp>
        <p:nvSpPr>
          <p:cNvPr id="5" name="Rectangle 4"/>
          <p:cNvSpPr/>
          <p:nvPr/>
        </p:nvSpPr>
        <p:spPr>
          <a:xfrm>
            <a:off x="980236" y="777240"/>
            <a:ext cx="7315" cy="219456"/>
          </a:xfrm>
          <a:prstGeom prst="rect">
            <a:avLst/>
          </a:prstGeom>
          <a:solidFill>
            <a:srgbClr val="257268"/>
          </a:solidFill>
          <a:ln>
            <a:noFill/>
          </a:ln>
        </p:spPr>
        <p:txBody>
          <a:bodyPr rtlCol="0" anchor="ctr"/>
          <a:lstStyle/>
          <a:p>
            <a:pPr algn="ctr"/>
          </a:p>
        </p:txBody>
      </p:sp>
      <p:sp>
        <p:nvSpPr>
          <p:cNvPr id="6" name="Rectangle 5"/>
          <p:cNvSpPr/>
          <p:nvPr/>
        </p:nvSpPr>
        <p:spPr>
          <a:xfrm>
            <a:off x="1093622" y="777240"/>
            <a:ext cx="7315" cy="219456"/>
          </a:xfrm>
          <a:prstGeom prst="rect">
            <a:avLst/>
          </a:prstGeom>
          <a:solidFill>
            <a:srgbClr val="257268"/>
          </a:solidFill>
          <a:ln>
            <a:noFill/>
          </a:ln>
        </p:spPr>
        <p:txBody>
          <a:bodyPr rtlCol="0" anchor="ctr"/>
          <a:lstStyle/>
          <a:p>
            <a:pPr algn="ctr"/>
          </a:p>
        </p:txBody>
      </p:sp>
      <p:sp>
        <p:nvSpPr>
          <p:cNvPr id="7" name="TextBox 6"/>
          <p:cNvSpPr txBox="1"/>
          <p:nvPr/>
        </p:nvSpPr>
        <p:spPr>
          <a:xfrm>
            <a:off x="1417320" y="548640"/>
            <a:ext cx="10149840" cy="685800"/>
          </a:xfrm>
          <a:prstGeom prst="rect">
            <a:avLst/>
          </a:prstGeom>
          <a:noFill/>
        </p:spPr>
        <p:txBody>
          <a:bodyPr wrap="square" lIns="0" rIns="0" tIns="0" bIns="0" anchor="ctr">
            <a:noAutofit/>
          </a:bodyPr>
          <a:lstStyle/>
          <a:p>
            <a:pPr algn="l">
              <a:spcBef>
                <a:spcPts val="0"/>
              </a:spcBef>
              <a:spcAft>
                <a:spcPts val="0"/>
              </a:spcAft>
            </a:pPr>
            <a:r>
              <a:rPr sz="3000" b="1" i="0">
                <a:solidFill>
                  <a:srgbClr val="10263F"/>
                </a:solidFill>
                <a:latin typeface="Georgia"/>
              </a:rPr>
              <a:t>How the pieces fit together</a:t>
            </a:r>
          </a:p>
        </p:txBody>
      </p:sp>
      <p:cxnSp>
        <p:nvCxnSpPr>
          <p:cNvPr id="8" name="Connector 7"/>
          <p:cNvCxnSpPr/>
          <p:nvPr/>
        </p:nvCxnSpPr>
        <p:spPr>
          <a:xfrm>
            <a:off x="640080" y="1335024"/>
            <a:ext cx="10908792" cy="0"/>
          </a:xfrm>
          <a:prstGeom prst="line">
            <a:avLst/>
          </a:prstGeom>
          <a:ln w="15875">
            <a:solidFill>
              <a:srgbClr val="9AA5AE"/>
            </a:solidFill>
            <a:prstDash val="dash"/>
          </a:ln>
        </p:spPr>
      </p:cxnSp>
      <p:pic>
        <p:nvPicPr>
          <p:cNvPr id="9" name="Picture 8" descr="wave_band.png"/>
          <p:cNvPicPr>
            <a:picLocks noChangeAspect="1"/>
          </p:cNvPicPr>
          <p:nvPr/>
        </p:nvPicPr>
        <p:blipFill>
          <a:blip r:embed="rId2"/>
          <a:stretch>
            <a:fillRect/>
          </a:stretch>
        </p:blipFill>
        <p:spPr>
          <a:xfrm>
            <a:off x="0" y="6355080"/>
            <a:ext cx="12191695" cy="502845"/>
          </a:xfrm>
          <a:prstGeom prst="rect">
            <a:avLst/>
          </a:prstGeom>
        </p:spPr>
      </p:pic>
      <p:pic>
        <p:nvPicPr>
          <p:cNvPr id="10" name="Picture 9" descr="tug_small.png"/>
          <p:cNvPicPr>
            <a:picLocks noChangeAspect="1"/>
          </p:cNvPicPr>
          <p:nvPr/>
        </p:nvPicPr>
        <p:blipFill>
          <a:blip r:embed="rId3"/>
          <a:stretch>
            <a:fillRect/>
          </a:stretch>
        </p:blipFill>
        <p:spPr>
          <a:xfrm>
            <a:off x="3950208" y="6078380"/>
            <a:ext cx="566928" cy="450436"/>
          </a:xfrm>
          <a:prstGeom prst="rect">
            <a:avLst/>
          </a:prstGeom>
        </p:spPr>
      </p:pic>
      <p:sp>
        <p:nvSpPr>
          <p:cNvPr id="11" name="TextBox 10"/>
          <p:cNvSpPr txBox="1"/>
          <p:nvPr/>
        </p:nvSpPr>
        <p:spPr>
          <a:xfrm>
            <a:off x="640080" y="6126480"/>
            <a:ext cx="2743200" cy="228600"/>
          </a:xfrm>
          <a:prstGeom prst="rect">
            <a:avLst/>
          </a:prstGeom>
          <a:noFill/>
        </p:spPr>
        <p:txBody>
          <a:bodyPr wrap="square" lIns="0" rIns="0" tIns="0" bIns="0" anchor="ctr">
            <a:noAutofit/>
          </a:bodyPr>
          <a:lstStyle/>
          <a:p>
            <a:pPr algn="l">
              <a:spcBef>
                <a:spcPts val="0"/>
              </a:spcBef>
              <a:spcAft>
                <a:spcPts val="0"/>
              </a:spcAft>
            </a:pPr>
            <a:r>
              <a:rPr sz="1000" b="0" i="0">
                <a:solidFill>
                  <a:srgbClr val="7E8A97"/>
                </a:solidFill>
                <a:latin typeface="Arial"/>
              </a:rPr>
              <a:t>Tugboat   4 / 12</a:t>
            </a:r>
          </a:p>
        </p:txBody>
      </p:sp>
      <p:sp>
        <p:nvSpPr>
          <p:cNvPr id="12" name="Rounded Rectangle 11"/>
          <p:cNvSpPr/>
          <p:nvPr/>
        </p:nvSpPr>
        <p:spPr>
          <a:xfrm>
            <a:off x="2697480" y="1572768"/>
            <a:ext cx="7086600" cy="4187952"/>
          </a:xfrm>
          <a:prstGeom prst="roundRect">
            <a:avLst>
              <a:gd name="adj" fmla="val 2183"/>
            </a:avLst>
          </a:prstGeom>
          <a:solidFill>
            <a:srgbClr val="E3ECF0"/>
          </a:solidFill>
          <a:ln>
            <a:noFill/>
          </a:ln>
        </p:spPr>
        <p:txBody>
          <a:bodyPr rtlCol="0" anchor="ctr"/>
          <a:lstStyle/>
          <a:p>
            <a:pPr algn="ctr"/>
          </a:p>
        </p:txBody>
      </p:sp>
      <p:sp>
        <p:nvSpPr>
          <p:cNvPr id="13" name="TextBox 12"/>
          <p:cNvSpPr txBox="1"/>
          <p:nvPr/>
        </p:nvSpPr>
        <p:spPr>
          <a:xfrm>
            <a:off x="2834640" y="1673352"/>
            <a:ext cx="2743200" cy="228600"/>
          </a:xfrm>
          <a:prstGeom prst="rect">
            <a:avLst/>
          </a:prstGeom>
          <a:noFill/>
        </p:spPr>
        <p:txBody>
          <a:bodyPr wrap="square" lIns="0" rIns="0" tIns="0" bIns="0" anchor="t">
            <a:noAutofit/>
          </a:bodyPr>
          <a:lstStyle/>
          <a:p>
            <a:pPr algn="l">
              <a:spcBef>
                <a:spcPts val="0"/>
              </a:spcBef>
              <a:spcAft>
                <a:spcPts val="0"/>
              </a:spcAft>
            </a:pPr>
            <a:r>
              <a:rPr sz="1050" b="0" i="0">
                <a:solidFill>
                  <a:srgbClr val="7E8A97"/>
                </a:solidFill>
                <a:latin typeface="Arial"/>
              </a:rPr>
              <a:t>Runs on your laptop</a:t>
            </a:r>
          </a:p>
        </p:txBody>
      </p:sp>
      <p:sp>
        <p:nvSpPr>
          <p:cNvPr id="14" name="Rounded Rectangle 13"/>
          <p:cNvSpPr/>
          <p:nvPr/>
        </p:nvSpPr>
        <p:spPr>
          <a:xfrm>
            <a:off x="640080" y="2560320"/>
            <a:ext cx="1280160" cy="914400"/>
          </a:xfrm>
          <a:prstGeom prst="roundRect">
            <a:avLst>
              <a:gd name="adj" fmla="val 5000"/>
            </a:avLst>
          </a:prstGeom>
          <a:solidFill>
            <a:srgbClr val="10263F"/>
          </a:solidFill>
          <a:ln w="19050">
            <a:solidFill>
              <a:srgbClr val="10263F"/>
            </a:solidFill>
          </a:ln>
        </p:spPr>
        <p:txBody>
          <a:bodyPr rtlCol="0" anchor="ctr"/>
          <a:lstStyle/>
          <a:p>
            <a:pPr algn="ctr"/>
          </a:p>
        </p:txBody>
      </p:sp>
      <p:sp>
        <p:nvSpPr>
          <p:cNvPr id="15" name="TextBox 14"/>
          <p:cNvSpPr txBox="1"/>
          <p:nvPr/>
        </p:nvSpPr>
        <p:spPr>
          <a:xfrm>
            <a:off x="749808" y="2560320"/>
            <a:ext cx="1060704" cy="914400"/>
          </a:xfrm>
          <a:prstGeom prst="rect">
            <a:avLst/>
          </a:prstGeom>
          <a:noFill/>
        </p:spPr>
        <p:txBody>
          <a:bodyPr wrap="square" lIns="0" rIns="0" tIns="0" bIns="0" anchor="ctr">
            <a:noAutofit/>
          </a:bodyPr>
          <a:lstStyle/>
          <a:p>
            <a:pPr algn="l">
              <a:spcBef>
                <a:spcPts val="0"/>
              </a:spcBef>
              <a:spcAft>
                <a:spcPts val="200"/>
              </a:spcAft>
            </a:pPr>
            <a:r>
              <a:rPr sz="1250" b="1" i="0">
                <a:solidFill>
                  <a:srgbClr val="FFFFFF"/>
                </a:solidFill>
                <a:latin typeface="Arial"/>
              </a:rPr>
              <a:t>GitHub</a:t>
            </a:r>
          </a:p>
          <a:p>
            <a:pPr algn="l">
              <a:lnSpc>
                <a:spcPct val="105000"/>
              </a:lnSpc>
              <a:spcBef>
                <a:spcPts val="0"/>
              </a:spcBef>
              <a:spcAft>
                <a:spcPts val="0"/>
              </a:spcAft>
            </a:pPr>
            <a:r>
              <a:rPr sz="1050" b="0" i="0">
                <a:solidFill>
                  <a:srgbClr val="B7C4D2"/>
                </a:solidFill>
                <a:latin typeface="Arial"/>
              </a:rPr>
              <a:t>repo and webhook</a:t>
            </a:r>
          </a:p>
        </p:txBody>
      </p:sp>
      <p:sp>
        <p:nvSpPr>
          <p:cNvPr id="16" name="Rounded Rectangle 15"/>
          <p:cNvSpPr/>
          <p:nvPr/>
        </p:nvSpPr>
        <p:spPr>
          <a:xfrm>
            <a:off x="640080" y="3931920"/>
            <a:ext cx="1280160" cy="914400"/>
          </a:xfrm>
          <a:prstGeom prst="roundRect">
            <a:avLst>
              <a:gd name="adj" fmla="val 5000"/>
            </a:avLst>
          </a:prstGeom>
          <a:solidFill>
            <a:srgbClr val="FFFFFF"/>
          </a:solidFill>
          <a:ln w="19050">
            <a:solidFill>
              <a:srgbClr val="10263F"/>
            </a:solidFill>
          </a:ln>
        </p:spPr>
        <p:txBody>
          <a:bodyPr rtlCol="0" anchor="ctr"/>
          <a:lstStyle/>
          <a:p>
            <a:pPr algn="ctr"/>
          </a:p>
        </p:txBody>
      </p:sp>
      <p:sp>
        <p:nvSpPr>
          <p:cNvPr id="17" name="TextBox 16"/>
          <p:cNvSpPr txBox="1"/>
          <p:nvPr/>
        </p:nvSpPr>
        <p:spPr>
          <a:xfrm>
            <a:off x="749808" y="3931920"/>
            <a:ext cx="1060704" cy="914400"/>
          </a:xfrm>
          <a:prstGeom prst="rect">
            <a:avLst/>
          </a:prstGeom>
          <a:noFill/>
        </p:spPr>
        <p:txBody>
          <a:bodyPr wrap="square" lIns="0" rIns="0" tIns="0" bIns="0" anchor="ctr">
            <a:noAutofit/>
          </a:bodyPr>
          <a:lstStyle/>
          <a:p>
            <a:pPr algn="l">
              <a:spcBef>
                <a:spcPts val="0"/>
              </a:spcBef>
              <a:spcAft>
                <a:spcPts val="200"/>
              </a:spcAft>
            </a:pPr>
            <a:r>
              <a:rPr sz="1250" b="1" i="0">
                <a:solidFill>
                  <a:srgbClr val="10263F"/>
                </a:solidFill>
                <a:latin typeface="Arial"/>
              </a:rPr>
              <a:t>Browser</a:t>
            </a:r>
          </a:p>
          <a:p>
            <a:pPr algn="l">
              <a:lnSpc>
                <a:spcPct val="105000"/>
              </a:lnSpc>
              <a:spcBef>
                <a:spcPts val="0"/>
              </a:spcBef>
              <a:spcAft>
                <a:spcPts val="0"/>
              </a:spcAft>
            </a:pPr>
            <a:r>
              <a:rPr sz="1050" b="0" i="0">
                <a:solidFill>
                  <a:srgbClr val="4A5A6B"/>
                </a:solidFill>
                <a:latin typeface="Arial"/>
              </a:rPr>
              <a:t>dashboard</a:t>
            </a:r>
          </a:p>
        </p:txBody>
      </p:sp>
      <p:sp>
        <p:nvSpPr>
          <p:cNvPr id="18" name="Rounded Rectangle 17"/>
          <p:cNvSpPr/>
          <p:nvPr/>
        </p:nvSpPr>
        <p:spPr>
          <a:xfrm>
            <a:off x="2898648" y="2075688"/>
            <a:ext cx="2148840" cy="3520440"/>
          </a:xfrm>
          <a:prstGeom prst="roundRect">
            <a:avLst>
              <a:gd name="adj" fmla="val 1702"/>
            </a:avLst>
          </a:prstGeom>
          <a:solidFill>
            <a:srgbClr val="10263F"/>
          </a:solidFill>
          <a:ln>
            <a:noFill/>
          </a:ln>
        </p:spPr>
        <p:txBody>
          <a:bodyPr rtlCol="0" anchor="ctr"/>
          <a:lstStyle/>
          <a:p>
            <a:pPr algn="ctr"/>
          </a:p>
        </p:txBody>
      </p:sp>
      <p:sp>
        <p:nvSpPr>
          <p:cNvPr id="19" name="Rounded Rectangle 18"/>
          <p:cNvSpPr/>
          <p:nvPr/>
        </p:nvSpPr>
        <p:spPr>
          <a:xfrm>
            <a:off x="2834640" y="2011680"/>
            <a:ext cx="2148840" cy="3520440"/>
          </a:xfrm>
          <a:prstGeom prst="roundRect">
            <a:avLst>
              <a:gd name="adj" fmla="val 1702"/>
            </a:avLst>
          </a:prstGeom>
          <a:solidFill>
            <a:srgbClr val="E9B93A"/>
          </a:solidFill>
          <a:ln w="28575">
            <a:solidFill>
              <a:srgbClr val="10263F"/>
            </a:solidFill>
          </a:ln>
        </p:spPr>
        <p:txBody>
          <a:bodyPr rtlCol="0" anchor="ctr"/>
          <a:lstStyle/>
          <a:p>
            <a:pPr algn="ctr"/>
          </a:p>
        </p:txBody>
      </p:sp>
      <p:sp>
        <p:nvSpPr>
          <p:cNvPr id="20" name="TextBox 19"/>
          <p:cNvSpPr txBox="1"/>
          <p:nvPr/>
        </p:nvSpPr>
        <p:spPr>
          <a:xfrm>
            <a:off x="3017520" y="2121408"/>
            <a:ext cx="1783080" cy="274320"/>
          </a:xfrm>
          <a:prstGeom prst="rect">
            <a:avLst/>
          </a:prstGeom>
          <a:noFill/>
        </p:spPr>
        <p:txBody>
          <a:bodyPr wrap="square" lIns="0" rIns="0" tIns="0" bIns="0" anchor="t">
            <a:noAutofit/>
          </a:bodyPr>
          <a:lstStyle/>
          <a:p>
            <a:pPr algn="l">
              <a:spcBef>
                <a:spcPts val="0"/>
              </a:spcBef>
              <a:spcAft>
                <a:spcPts val="0"/>
              </a:spcAft>
            </a:pPr>
            <a:r>
              <a:rPr sz="1400" b="1" i="0">
                <a:solidFill>
                  <a:srgbClr val="10263F"/>
                </a:solidFill>
                <a:latin typeface="Georgia"/>
              </a:rPr>
              <a:t>Control plane</a:t>
            </a:r>
          </a:p>
        </p:txBody>
      </p:sp>
      <p:sp>
        <p:nvSpPr>
          <p:cNvPr id="21" name="TextBox 20"/>
          <p:cNvSpPr txBox="1"/>
          <p:nvPr/>
        </p:nvSpPr>
        <p:spPr>
          <a:xfrm>
            <a:off x="3017520" y="2395728"/>
            <a:ext cx="1783080" cy="228600"/>
          </a:xfrm>
          <a:prstGeom prst="rect">
            <a:avLst/>
          </a:prstGeom>
          <a:noFill/>
        </p:spPr>
        <p:txBody>
          <a:bodyPr wrap="square" lIns="0" rIns="0" tIns="0" bIns="0" anchor="t">
            <a:noAutofit/>
          </a:bodyPr>
          <a:lstStyle/>
          <a:p>
            <a:pPr algn="l">
              <a:spcBef>
                <a:spcPts val="0"/>
              </a:spcBef>
              <a:spcAft>
                <a:spcPts val="0"/>
              </a:spcAft>
            </a:pPr>
            <a:r>
              <a:rPr sz="1050" b="0" i="0">
                <a:solidFill>
                  <a:srgbClr val="68531A"/>
                </a:solidFill>
                <a:latin typeface="Arial"/>
              </a:rPr>
              <a:t>Node.js and Express</a:t>
            </a:r>
          </a:p>
        </p:txBody>
      </p:sp>
      <p:sp>
        <p:nvSpPr>
          <p:cNvPr id="22" name="TextBox 21"/>
          <p:cNvSpPr txBox="1"/>
          <p:nvPr/>
        </p:nvSpPr>
        <p:spPr>
          <a:xfrm>
            <a:off x="3017520" y="2779776"/>
            <a:ext cx="1783080" cy="274320"/>
          </a:xfrm>
          <a:prstGeom prst="rect">
            <a:avLst/>
          </a:prstGeom>
          <a:noFill/>
        </p:spPr>
        <p:txBody>
          <a:bodyPr wrap="square" lIns="0" rIns="0" tIns="0" bIns="0" anchor="t">
            <a:noAutofit/>
          </a:bodyPr>
          <a:lstStyle/>
          <a:p>
            <a:pPr algn="l">
              <a:spcBef>
                <a:spcPts val="0"/>
              </a:spcBef>
              <a:spcAft>
                <a:spcPts val="0"/>
              </a:spcAft>
            </a:pPr>
            <a:r>
              <a:rPr sz="1250" b="1" i="0">
                <a:solidFill>
                  <a:srgbClr val="10263F"/>
                </a:solidFill>
                <a:latin typeface="Arial"/>
              </a:rPr>
              <a:t>Webhook intake</a:t>
            </a:r>
          </a:p>
        </p:txBody>
      </p:sp>
      <p:sp>
        <p:nvSpPr>
          <p:cNvPr id="23" name="TextBox 22"/>
          <p:cNvSpPr txBox="1"/>
          <p:nvPr/>
        </p:nvSpPr>
        <p:spPr>
          <a:xfrm>
            <a:off x="3017520" y="3035808"/>
            <a:ext cx="1783080" cy="274320"/>
          </a:xfrm>
          <a:prstGeom prst="rect">
            <a:avLst/>
          </a:prstGeom>
          <a:noFill/>
        </p:spPr>
        <p:txBody>
          <a:bodyPr wrap="square" lIns="0" rIns="0" tIns="0" bIns="0" anchor="t">
            <a:noAutofit/>
          </a:bodyPr>
          <a:lstStyle/>
          <a:p>
            <a:pPr algn="l">
              <a:spcBef>
                <a:spcPts val="0"/>
              </a:spcBef>
              <a:spcAft>
                <a:spcPts val="0"/>
              </a:spcAft>
            </a:pPr>
            <a:r>
              <a:rPr sz="1050" b="0" i="0">
                <a:solidFill>
                  <a:srgbClr val="5D4A17"/>
                </a:solidFill>
                <a:latin typeface="Arial"/>
              </a:rPr>
              <a:t>checks the HMAC signature</a:t>
            </a:r>
          </a:p>
        </p:txBody>
      </p:sp>
      <p:sp>
        <p:nvSpPr>
          <p:cNvPr id="24" name="Rectangle 23"/>
          <p:cNvSpPr/>
          <p:nvPr/>
        </p:nvSpPr>
        <p:spPr>
          <a:xfrm>
            <a:off x="3017520" y="3364992"/>
            <a:ext cx="1783080" cy="10972"/>
          </a:xfrm>
          <a:prstGeom prst="rect">
            <a:avLst/>
          </a:prstGeom>
          <a:solidFill>
            <a:srgbClr val="A78529"/>
          </a:solidFill>
          <a:ln>
            <a:noFill/>
          </a:ln>
        </p:spPr>
        <p:txBody>
          <a:bodyPr rtlCol="0" anchor="ctr"/>
          <a:lstStyle/>
          <a:p>
            <a:pPr algn="ctr"/>
          </a:p>
        </p:txBody>
      </p:sp>
      <p:sp>
        <p:nvSpPr>
          <p:cNvPr id="25" name="TextBox 24"/>
          <p:cNvSpPr txBox="1"/>
          <p:nvPr/>
        </p:nvSpPr>
        <p:spPr>
          <a:xfrm>
            <a:off x="3017520" y="3465576"/>
            <a:ext cx="1783080" cy="274320"/>
          </a:xfrm>
          <a:prstGeom prst="rect">
            <a:avLst/>
          </a:prstGeom>
          <a:noFill/>
        </p:spPr>
        <p:txBody>
          <a:bodyPr wrap="square" lIns="0" rIns="0" tIns="0" bIns="0" anchor="t">
            <a:noAutofit/>
          </a:bodyPr>
          <a:lstStyle/>
          <a:p>
            <a:pPr algn="l">
              <a:spcBef>
                <a:spcPts val="0"/>
              </a:spcBef>
              <a:spcAft>
                <a:spcPts val="0"/>
              </a:spcAft>
            </a:pPr>
            <a:r>
              <a:rPr sz="1250" b="1" i="0">
                <a:solidFill>
                  <a:srgbClr val="10263F"/>
                </a:solidFill>
                <a:latin typeface="Arial"/>
              </a:rPr>
              <a:t>Deploy pipeline</a:t>
            </a:r>
          </a:p>
        </p:txBody>
      </p:sp>
      <p:sp>
        <p:nvSpPr>
          <p:cNvPr id="26" name="TextBox 25"/>
          <p:cNvSpPr txBox="1"/>
          <p:nvPr/>
        </p:nvSpPr>
        <p:spPr>
          <a:xfrm>
            <a:off x="3017520" y="3721608"/>
            <a:ext cx="1783080" cy="274320"/>
          </a:xfrm>
          <a:prstGeom prst="rect">
            <a:avLst/>
          </a:prstGeom>
          <a:noFill/>
        </p:spPr>
        <p:txBody>
          <a:bodyPr wrap="square" lIns="0" rIns="0" tIns="0" bIns="0" anchor="t">
            <a:noAutofit/>
          </a:bodyPr>
          <a:lstStyle/>
          <a:p>
            <a:pPr algn="l">
              <a:spcBef>
                <a:spcPts val="0"/>
              </a:spcBef>
              <a:spcAft>
                <a:spcPts val="0"/>
              </a:spcAft>
            </a:pPr>
            <a:r>
              <a:rPr sz="1050" b="0" i="0">
                <a:solidFill>
                  <a:srgbClr val="5D4A17"/>
                </a:solidFill>
                <a:latin typeface="Arial"/>
              </a:rPr>
              <a:t>clone, build, run, promote</a:t>
            </a:r>
          </a:p>
        </p:txBody>
      </p:sp>
      <p:sp>
        <p:nvSpPr>
          <p:cNvPr id="27" name="Rectangle 26"/>
          <p:cNvSpPr/>
          <p:nvPr/>
        </p:nvSpPr>
        <p:spPr>
          <a:xfrm>
            <a:off x="3017520" y="4050792"/>
            <a:ext cx="1783080" cy="10972"/>
          </a:xfrm>
          <a:prstGeom prst="rect">
            <a:avLst/>
          </a:prstGeom>
          <a:solidFill>
            <a:srgbClr val="A78529"/>
          </a:solidFill>
          <a:ln>
            <a:noFill/>
          </a:ln>
        </p:spPr>
        <p:txBody>
          <a:bodyPr rtlCol="0" anchor="ctr"/>
          <a:lstStyle/>
          <a:p>
            <a:pPr algn="ctr"/>
          </a:p>
        </p:txBody>
      </p:sp>
      <p:sp>
        <p:nvSpPr>
          <p:cNvPr id="28" name="TextBox 27"/>
          <p:cNvSpPr txBox="1"/>
          <p:nvPr/>
        </p:nvSpPr>
        <p:spPr>
          <a:xfrm>
            <a:off x="3017520" y="4151376"/>
            <a:ext cx="1783080" cy="274320"/>
          </a:xfrm>
          <a:prstGeom prst="rect">
            <a:avLst/>
          </a:prstGeom>
          <a:noFill/>
        </p:spPr>
        <p:txBody>
          <a:bodyPr wrap="square" lIns="0" rIns="0" tIns="0" bIns="0" anchor="t">
            <a:noAutofit/>
          </a:bodyPr>
          <a:lstStyle/>
          <a:p>
            <a:pPr algn="l">
              <a:spcBef>
                <a:spcPts val="0"/>
              </a:spcBef>
              <a:spcAft>
                <a:spcPts val="0"/>
              </a:spcAft>
            </a:pPr>
            <a:r>
              <a:rPr sz="1250" b="1" i="0">
                <a:solidFill>
                  <a:srgbClr val="10263F"/>
                </a:solidFill>
                <a:latin typeface="Arial"/>
              </a:rPr>
              <a:t>REST API and live logs</a:t>
            </a:r>
          </a:p>
        </p:txBody>
      </p:sp>
      <p:sp>
        <p:nvSpPr>
          <p:cNvPr id="29" name="TextBox 28"/>
          <p:cNvSpPr txBox="1"/>
          <p:nvPr/>
        </p:nvSpPr>
        <p:spPr>
          <a:xfrm>
            <a:off x="3017520" y="4407408"/>
            <a:ext cx="1783080" cy="274320"/>
          </a:xfrm>
          <a:prstGeom prst="rect">
            <a:avLst/>
          </a:prstGeom>
          <a:noFill/>
        </p:spPr>
        <p:txBody>
          <a:bodyPr wrap="square" lIns="0" rIns="0" tIns="0" bIns="0" anchor="t">
            <a:noAutofit/>
          </a:bodyPr>
          <a:lstStyle/>
          <a:p>
            <a:pPr algn="l">
              <a:spcBef>
                <a:spcPts val="0"/>
              </a:spcBef>
              <a:spcAft>
                <a:spcPts val="0"/>
              </a:spcAft>
            </a:pPr>
            <a:r>
              <a:rPr sz="1050" b="0" i="0">
                <a:solidFill>
                  <a:srgbClr val="5D4A17"/>
                </a:solidFill>
                <a:latin typeface="Arial"/>
              </a:rPr>
              <a:t>Server-Sent Events</a:t>
            </a:r>
          </a:p>
        </p:txBody>
      </p:sp>
      <p:sp>
        <p:nvSpPr>
          <p:cNvPr id="30" name="Rectangle 29"/>
          <p:cNvSpPr/>
          <p:nvPr/>
        </p:nvSpPr>
        <p:spPr>
          <a:xfrm>
            <a:off x="3017520" y="4736592"/>
            <a:ext cx="1783080" cy="10972"/>
          </a:xfrm>
          <a:prstGeom prst="rect">
            <a:avLst/>
          </a:prstGeom>
          <a:solidFill>
            <a:srgbClr val="A78529"/>
          </a:solidFill>
          <a:ln>
            <a:noFill/>
          </a:ln>
        </p:spPr>
        <p:txBody>
          <a:bodyPr rtlCol="0" anchor="ctr"/>
          <a:lstStyle/>
          <a:p>
            <a:pPr algn="ctr"/>
          </a:p>
        </p:txBody>
      </p:sp>
      <p:sp>
        <p:nvSpPr>
          <p:cNvPr id="31" name="TextBox 30"/>
          <p:cNvSpPr txBox="1"/>
          <p:nvPr/>
        </p:nvSpPr>
        <p:spPr>
          <a:xfrm>
            <a:off x="3017520" y="4837176"/>
            <a:ext cx="1783080" cy="274320"/>
          </a:xfrm>
          <a:prstGeom prst="rect">
            <a:avLst/>
          </a:prstGeom>
          <a:noFill/>
        </p:spPr>
        <p:txBody>
          <a:bodyPr wrap="square" lIns="0" rIns="0" tIns="0" bIns="0" anchor="t">
            <a:noAutofit/>
          </a:bodyPr>
          <a:lstStyle/>
          <a:p>
            <a:pPr algn="l">
              <a:spcBef>
                <a:spcPts val="0"/>
              </a:spcBef>
              <a:spcAft>
                <a:spcPts val="0"/>
              </a:spcAft>
            </a:pPr>
            <a:r>
              <a:rPr sz="1250" b="1" i="0">
                <a:solidFill>
                  <a:srgbClr val="10263F"/>
                </a:solidFill>
                <a:latin typeface="Arial"/>
              </a:rPr>
              <a:t>SQLite</a:t>
            </a:r>
          </a:p>
        </p:txBody>
      </p:sp>
      <p:sp>
        <p:nvSpPr>
          <p:cNvPr id="32" name="TextBox 31"/>
          <p:cNvSpPr txBox="1"/>
          <p:nvPr/>
        </p:nvSpPr>
        <p:spPr>
          <a:xfrm>
            <a:off x="3017520" y="5093208"/>
            <a:ext cx="1783080" cy="274320"/>
          </a:xfrm>
          <a:prstGeom prst="rect">
            <a:avLst/>
          </a:prstGeom>
          <a:noFill/>
        </p:spPr>
        <p:txBody>
          <a:bodyPr wrap="square" lIns="0" rIns="0" tIns="0" bIns="0" anchor="t">
            <a:noAutofit/>
          </a:bodyPr>
          <a:lstStyle/>
          <a:p>
            <a:pPr algn="l">
              <a:spcBef>
                <a:spcPts val="0"/>
              </a:spcBef>
              <a:spcAft>
                <a:spcPts val="0"/>
              </a:spcAft>
            </a:pPr>
            <a:r>
              <a:rPr sz="1050" b="0" i="0">
                <a:solidFill>
                  <a:srgbClr val="5D4A17"/>
                </a:solidFill>
                <a:latin typeface="Arial"/>
              </a:rPr>
              <a:t>projects and deployments</a:t>
            </a:r>
          </a:p>
        </p:txBody>
      </p:sp>
      <p:sp>
        <p:nvSpPr>
          <p:cNvPr id="33" name="Rounded Rectangle 32"/>
          <p:cNvSpPr/>
          <p:nvPr/>
        </p:nvSpPr>
        <p:spPr>
          <a:xfrm>
            <a:off x="5760720" y="2011680"/>
            <a:ext cx="2148840" cy="3520440"/>
          </a:xfrm>
          <a:prstGeom prst="roundRect">
            <a:avLst>
              <a:gd name="adj" fmla="val 2127"/>
            </a:avLst>
          </a:prstGeom>
          <a:solidFill>
            <a:srgbClr val="FFFFFF"/>
          </a:solidFill>
          <a:ln w="22225">
            <a:solidFill>
              <a:srgbClr val="10263F"/>
            </a:solidFill>
          </a:ln>
        </p:spPr>
        <p:txBody>
          <a:bodyPr rtlCol="0" anchor="ctr"/>
          <a:lstStyle/>
          <a:p>
            <a:pPr algn="ctr"/>
          </a:p>
        </p:txBody>
      </p:sp>
      <p:sp>
        <p:nvSpPr>
          <p:cNvPr id="34" name="TextBox 33"/>
          <p:cNvSpPr txBox="1"/>
          <p:nvPr/>
        </p:nvSpPr>
        <p:spPr>
          <a:xfrm>
            <a:off x="5943600" y="2121408"/>
            <a:ext cx="1783080" cy="274320"/>
          </a:xfrm>
          <a:prstGeom prst="rect">
            <a:avLst/>
          </a:prstGeom>
          <a:noFill/>
        </p:spPr>
        <p:txBody>
          <a:bodyPr wrap="square" lIns="0" rIns="0" tIns="0" bIns="0" anchor="t">
            <a:noAutofit/>
          </a:bodyPr>
          <a:lstStyle/>
          <a:p>
            <a:pPr algn="l">
              <a:spcBef>
                <a:spcPts val="0"/>
              </a:spcBef>
              <a:spcAft>
                <a:spcPts val="0"/>
              </a:spcAft>
            </a:pPr>
            <a:r>
              <a:rPr sz="1400" b="1" i="0">
                <a:solidFill>
                  <a:srgbClr val="10263F"/>
                </a:solidFill>
                <a:latin typeface="Georgia"/>
              </a:rPr>
              <a:t>Docker</a:t>
            </a:r>
          </a:p>
        </p:txBody>
      </p:sp>
      <p:sp>
        <p:nvSpPr>
          <p:cNvPr id="35" name="Rounded Rectangle 34"/>
          <p:cNvSpPr/>
          <p:nvPr/>
        </p:nvSpPr>
        <p:spPr>
          <a:xfrm>
            <a:off x="5897880" y="2514600"/>
            <a:ext cx="1874520" cy="640080"/>
          </a:xfrm>
          <a:prstGeom prst="roundRect">
            <a:avLst>
              <a:gd name="adj" fmla="val 7142"/>
            </a:avLst>
          </a:prstGeom>
          <a:solidFill>
            <a:srgbClr val="2B6CA3"/>
          </a:solidFill>
          <a:ln w="19050">
            <a:solidFill>
              <a:srgbClr val="10263F"/>
            </a:solidFill>
          </a:ln>
        </p:spPr>
        <p:txBody>
          <a:bodyPr rtlCol="0" anchor="ctr"/>
          <a:lstStyle/>
          <a:p>
            <a:pPr algn="ctr"/>
          </a:p>
        </p:txBody>
      </p:sp>
      <p:sp>
        <p:nvSpPr>
          <p:cNvPr id="36" name="TextBox 35"/>
          <p:cNvSpPr txBox="1"/>
          <p:nvPr/>
        </p:nvSpPr>
        <p:spPr>
          <a:xfrm>
            <a:off x="6007608" y="2514600"/>
            <a:ext cx="1655064" cy="640080"/>
          </a:xfrm>
          <a:prstGeom prst="rect">
            <a:avLst/>
          </a:prstGeom>
          <a:noFill/>
        </p:spPr>
        <p:txBody>
          <a:bodyPr wrap="square" lIns="0" rIns="0" tIns="0" bIns="0" anchor="ctr">
            <a:noAutofit/>
          </a:bodyPr>
          <a:lstStyle/>
          <a:p>
            <a:pPr algn="l">
              <a:spcBef>
                <a:spcPts val="0"/>
              </a:spcBef>
              <a:spcAft>
                <a:spcPts val="200"/>
              </a:spcAft>
            </a:pPr>
            <a:r>
              <a:rPr sz="1250" b="1" i="0">
                <a:solidFill>
                  <a:srgbClr val="FFFFFF"/>
                </a:solidFill>
                <a:latin typeface="Arial"/>
              </a:rPr>
              <a:t>pack build</a:t>
            </a:r>
          </a:p>
          <a:p>
            <a:pPr algn="l">
              <a:lnSpc>
                <a:spcPct val="105000"/>
              </a:lnSpc>
              <a:spcBef>
                <a:spcPts val="0"/>
              </a:spcBef>
              <a:spcAft>
                <a:spcPts val="0"/>
              </a:spcAft>
            </a:pPr>
            <a:r>
              <a:rPr sz="1050" b="0" i="0">
                <a:solidFill>
                  <a:srgbClr val="D6E4F0"/>
                </a:solidFill>
                <a:latin typeface="Arial"/>
              </a:rPr>
              <a:t>Cloud Native Buildpacks</a:t>
            </a:r>
          </a:p>
        </p:txBody>
      </p:sp>
      <p:sp>
        <p:nvSpPr>
          <p:cNvPr id="37" name="Rectangle 36"/>
          <p:cNvSpPr/>
          <p:nvPr/>
        </p:nvSpPr>
        <p:spPr>
          <a:xfrm>
            <a:off x="5897880" y="3474720"/>
            <a:ext cx="1874520" cy="822960"/>
          </a:xfrm>
          <a:prstGeom prst="rect">
            <a:avLst/>
          </a:prstGeom>
          <a:solidFill>
            <a:srgbClr val="C8472D"/>
          </a:solidFill>
          <a:ln w="19050">
            <a:solidFill>
              <a:srgbClr val="10263F"/>
            </a:solidFill>
          </a:ln>
        </p:spPr>
        <p:txBody>
          <a:bodyPr rtlCol="0" anchor="ctr"/>
          <a:lstStyle/>
          <a:p>
            <a:pPr algn="ctr"/>
          </a:p>
        </p:txBody>
      </p:sp>
      <p:sp>
        <p:nvSpPr>
          <p:cNvPr id="38" name="Rectangle 37"/>
          <p:cNvSpPr/>
          <p:nvPr/>
        </p:nvSpPr>
        <p:spPr>
          <a:xfrm>
            <a:off x="6022848" y="3547872"/>
            <a:ext cx="7315" cy="676656"/>
          </a:xfrm>
          <a:prstGeom prst="rect">
            <a:avLst/>
          </a:prstGeom>
          <a:solidFill>
            <a:srgbClr val="AC3D26"/>
          </a:solidFill>
          <a:ln>
            <a:noFill/>
          </a:ln>
        </p:spPr>
        <p:txBody>
          <a:bodyPr rtlCol="0" anchor="ctr"/>
          <a:lstStyle/>
          <a:p>
            <a:pPr algn="ctr"/>
          </a:p>
        </p:txBody>
      </p:sp>
      <p:sp>
        <p:nvSpPr>
          <p:cNvPr id="39" name="Rectangle 38"/>
          <p:cNvSpPr/>
          <p:nvPr/>
        </p:nvSpPr>
        <p:spPr>
          <a:xfrm>
            <a:off x="6147816" y="3547872"/>
            <a:ext cx="7315" cy="676656"/>
          </a:xfrm>
          <a:prstGeom prst="rect">
            <a:avLst/>
          </a:prstGeom>
          <a:solidFill>
            <a:srgbClr val="AC3D26"/>
          </a:solidFill>
          <a:ln>
            <a:noFill/>
          </a:ln>
        </p:spPr>
        <p:txBody>
          <a:bodyPr rtlCol="0" anchor="ctr"/>
          <a:lstStyle/>
          <a:p>
            <a:pPr algn="ctr"/>
          </a:p>
        </p:txBody>
      </p:sp>
      <p:sp>
        <p:nvSpPr>
          <p:cNvPr id="40" name="Rectangle 39"/>
          <p:cNvSpPr/>
          <p:nvPr/>
        </p:nvSpPr>
        <p:spPr>
          <a:xfrm>
            <a:off x="6272784" y="3547872"/>
            <a:ext cx="7315" cy="676656"/>
          </a:xfrm>
          <a:prstGeom prst="rect">
            <a:avLst/>
          </a:prstGeom>
          <a:solidFill>
            <a:srgbClr val="AC3D26"/>
          </a:solidFill>
          <a:ln>
            <a:noFill/>
          </a:ln>
        </p:spPr>
        <p:txBody>
          <a:bodyPr rtlCol="0" anchor="ctr"/>
          <a:lstStyle/>
          <a:p>
            <a:pPr algn="ctr"/>
          </a:p>
        </p:txBody>
      </p:sp>
      <p:sp>
        <p:nvSpPr>
          <p:cNvPr id="41" name="Rectangle 40"/>
          <p:cNvSpPr/>
          <p:nvPr/>
        </p:nvSpPr>
        <p:spPr>
          <a:xfrm>
            <a:off x="6397752" y="3547872"/>
            <a:ext cx="7315" cy="676656"/>
          </a:xfrm>
          <a:prstGeom prst="rect">
            <a:avLst/>
          </a:prstGeom>
          <a:solidFill>
            <a:srgbClr val="AC3D26"/>
          </a:solidFill>
          <a:ln>
            <a:noFill/>
          </a:ln>
        </p:spPr>
        <p:txBody>
          <a:bodyPr rtlCol="0" anchor="ctr"/>
          <a:lstStyle/>
          <a:p>
            <a:pPr algn="ctr"/>
          </a:p>
        </p:txBody>
      </p:sp>
      <p:sp>
        <p:nvSpPr>
          <p:cNvPr id="42" name="Rectangle 41"/>
          <p:cNvSpPr/>
          <p:nvPr/>
        </p:nvSpPr>
        <p:spPr>
          <a:xfrm>
            <a:off x="6522720" y="3547872"/>
            <a:ext cx="7315" cy="676656"/>
          </a:xfrm>
          <a:prstGeom prst="rect">
            <a:avLst/>
          </a:prstGeom>
          <a:solidFill>
            <a:srgbClr val="AC3D26"/>
          </a:solidFill>
          <a:ln>
            <a:noFill/>
          </a:ln>
        </p:spPr>
        <p:txBody>
          <a:bodyPr rtlCol="0" anchor="ctr"/>
          <a:lstStyle/>
          <a:p>
            <a:pPr algn="ctr"/>
          </a:p>
        </p:txBody>
      </p:sp>
      <p:sp>
        <p:nvSpPr>
          <p:cNvPr id="43" name="Rectangle 42"/>
          <p:cNvSpPr/>
          <p:nvPr/>
        </p:nvSpPr>
        <p:spPr>
          <a:xfrm>
            <a:off x="6647688" y="3547872"/>
            <a:ext cx="7315" cy="676656"/>
          </a:xfrm>
          <a:prstGeom prst="rect">
            <a:avLst/>
          </a:prstGeom>
          <a:solidFill>
            <a:srgbClr val="AC3D26"/>
          </a:solidFill>
          <a:ln>
            <a:noFill/>
          </a:ln>
        </p:spPr>
        <p:txBody>
          <a:bodyPr rtlCol="0" anchor="ctr"/>
          <a:lstStyle/>
          <a:p>
            <a:pPr algn="ctr"/>
          </a:p>
        </p:txBody>
      </p:sp>
      <p:sp>
        <p:nvSpPr>
          <p:cNvPr id="44" name="Rectangle 43"/>
          <p:cNvSpPr/>
          <p:nvPr/>
        </p:nvSpPr>
        <p:spPr>
          <a:xfrm>
            <a:off x="6772656" y="3547872"/>
            <a:ext cx="7315" cy="676656"/>
          </a:xfrm>
          <a:prstGeom prst="rect">
            <a:avLst/>
          </a:prstGeom>
          <a:solidFill>
            <a:srgbClr val="AC3D26"/>
          </a:solidFill>
          <a:ln>
            <a:noFill/>
          </a:ln>
        </p:spPr>
        <p:txBody>
          <a:bodyPr rtlCol="0" anchor="ctr"/>
          <a:lstStyle/>
          <a:p>
            <a:pPr algn="ctr"/>
          </a:p>
        </p:txBody>
      </p:sp>
      <p:sp>
        <p:nvSpPr>
          <p:cNvPr id="45" name="Rectangle 44"/>
          <p:cNvSpPr/>
          <p:nvPr/>
        </p:nvSpPr>
        <p:spPr>
          <a:xfrm>
            <a:off x="6897624" y="3547872"/>
            <a:ext cx="7315" cy="676656"/>
          </a:xfrm>
          <a:prstGeom prst="rect">
            <a:avLst/>
          </a:prstGeom>
          <a:solidFill>
            <a:srgbClr val="AC3D26"/>
          </a:solidFill>
          <a:ln>
            <a:noFill/>
          </a:ln>
        </p:spPr>
        <p:txBody>
          <a:bodyPr rtlCol="0" anchor="ctr"/>
          <a:lstStyle/>
          <a:p>
            <a:pPr algn="ctr"/>
          </a:p>
        </p:txBody>
      </p:sp>
      <p:sp>
        <p:nvSpPr>
          <p:cNvPr id="46" name="Rectangle 45"/>
          <p:cNvSpPr/>
          <p:nvPr/>
        </p:nvSpPr>
        <p:spPr>
          <a:xfrm>
            <a:off x="7022592" y="3547872"/>
            <a:ext cx="7315" cy="676656"/>
          </a:xfrm>
          <a:prstGeom prst="rect">
            <a:avLst/>
          </a:prstGeom>
          <a:solidFill>
            <a:srgbClr val="AC3D26"/>
          </a:solidFill>
          <a:ln>
            <a:noFill/>
          </a:ln>
        </p:spPr>
        <p:txBody>
          <a:bodyPr rtlCol="0" anchor="ctr"/>
          <a:lstStyle/>
          <a:p>
            <a:pPr algn="ctr"/>
          </a:p>
        </p:txBody>
      </p:sp>
      <p:sp>
        <p:nvSpPr>
          <p:cNvPr id="47" name="Rectangle 46"/>
          <p:cNvSpPr/>
          <p:nvPr/>
        </p:nvSpPr>
        <p:spPr>
          <a:xfrm>
            <a:off x="7147560" y="3547872"/>
            <a:ext cx="7315" cy="676656"/>
          </a:xfrm>
          <a:prstGeom prst="rect">
            <a:avLst/>
          </a:prstGeom>
          <a:solidFill>
            <a:srgbClr val="AC3D26"/>
          </a:solidFill>
          <a:ln>
            <a:noFill/>
          </a:ln>
        </p:spPr>
        <p:txBody>
          <a:bodyPr rtlCol="0" anchor="ctr"/>
          <a:lstStyle/>
          <a:p>
            <a:pPr algn="ctr"/>
          </a:p>
        </p:txBody>
      </p:sp>
      <p:sp>
        <p:nvSpPr>
          <p:cNvPr id="48" name="Rectangle 47"/>
          <p:cNvSpPr/>
          <p:nvPr/>
        </p:nvSpPr>
        <p:spPr>
          <a:xfrm>
            <a:off x="7272528" y="3547872"/>
            <a:ext cx="7315" cy="676656"/>
          </a:xfrm>
          <a:prstGeom prst="rect">
            <a:avLst/>
          </a:prstGeom>
          <a:solidFill>
            <a:srgbClr val="AC3D26"/>
          </a:solidFill>
          <a:ln>
            <a:noFill/>
          </a:ln>
        </p:spPr>
        <p:txBody>
          <a:bodyPr rtlCol="0" anchor="ctr"/>
          <a:lstStyle/>
          <a:p>
            <a:pPr algn="ctr"/>
          </a:p>
        </p:txBody>
      </p:sp>
      <p:sp>
        <p:nvSpPr>
          <p:cNvPr id="49" name="Rectangle 48"/>
          <p:cNvSpPr/>
          <p:nvPr/>
        </p:nvSpPr>
        <p:spPr>
          <a:xfrm>
            <a:off x="7397496" y="3547872"/>
            <a:ext cx="7315" cy="676656"/>
          </a:xfrm>
          <a:prstGeom prst="rect">
            <a:avLst/>
          </a:prstGeom>
          <a:solidFill>
            <a:srgbClr val="AC3D26"/>
          </a:solidFill>
          <a:ln>
            <a:noFill/>
          </a:ln>
        </p:spPr>
        <p:txBody>
          <a:bodyPr rtlCol="0" anchor="ctr"/>
          <a:lstStyle/>
          <a:p>
            <a:pPr algn="ctr"/>
          </a:p>
        </p:txBody>
      </p:sp>
      <p:sp>
        <p:nvSpPr>
          <p:cNvPr id="50" name="Rectangle 49"/>
          <p:cNvSpPr/>
          <p:nvPr/>
        </p:nvSpPr>
        <p:spPr>
          <a:xfrm>
            <a:off x="7522464" y="3547872"/>
            <a:ext cx="7315" cy="676656"/>
          </a:xfrm>
          <a:prstGeom prst="rect">
            <a:avLst/>
          </a:prstGeom>
          <a:solidFill>
            <a:srgbClr val="AC3D26"/>
          </a:solidFill>
          <a:ln>
            <a:noFill/>
          </a:ln>
        </p:spPr>
        <p:txBody>
          <a:bodyPr rtlCol="0" anchor="ctr"/>
          <a:lstStyle/>
          <a:p>
            <a:pPr algn="ctr"/>
          </a:p>
        </p:txBody>
      </p:sp>
      <p:sp>
        <p:nvSpPr>
          <p:cNvPr id="51" name="Rectangle 50"/>
          <p:cNvSpPr/>
          <p:nvPr/>
        </p:nvSpPr>
        <p:spPr>
          <a:xfrm>
            <a:off x="7647432" y="3547872"/>
            <a:ext cx="7315" cy="676656"/>
          </a:xfrm>
          <a:prstGeom prst="rect">
            <a:avLst/>
          </a:prstGeom>
          <a:solidFill>
            <a:srgbClr val="AC3D26"/>
          </a:solidFill>
          <a:ln>
            <a:noFill/>
          </a:ln>
        </p:spPr>
        <p:txBody>
          <a:bodyPr rtlCol="0" anchor="ctr"/>
          <a:lstStyle/>
          <a:p>
            <a:pPr algn="ctr"/>
          </a:p>
        </p:txBody>
      </p:sp>
      <p:sp>
        <p:nvSpPr>
          <p:cNvPr id="52" name="TextBox 51"/>
          <p:cNvSpPr txBox="1"/>
          <p:nvPr/>
        </p:nvSpPr>
        <p:spPr>
          <a:xfrm>
            <a:off x="6007608" y="3474720"/>
            <a:ext cx="1655064" cy="822960"/>
          </a:xfrm>
          <a:prstGeom prst="rect">
            <a:avLst/>
          </a:prstGeom>
          <a:noFill/>
        </p:spPr>
        <p:txBody>
          <a:bodyPr wrap="square" lIns="0" rIns="0" tIns="0" bIns="0" anchor="ctr">
            <a:noAutofit/>
          </a:bodyPr>
          <a:lstStyle/>
          <a:p>
            <a:pPr algn="l">
              <a:spcBef>
                <a:spcPts val="0"/>
              </a:spcBef>
              <a:spcAft>
                <a:spcPts val="200"/>
              </a:spcAft>
            </a:pPr>
            <a:r>
              <a:rPr sz="1250" b="1" i="0">
                <a:solidFill>
                  <a:srgbClr val="FFFFFF"/>
                </a:solidFill>
                <a:latin typeface="Arial"/>
              </a:rPr>
              <a:t>App containers</a:t>
            </a:r>
          </a:p>
          <a:p>
            <a:pPr algn="l">
              <a:lnSpc>
                <a:spcPct val="105000"/>
              </a:lnSpc>
              <a:spcBef>
                <a:spcPts val="0"/>
              </a:spcBef>
              <a:spcAft>
                <a:spcPts val="0"/>
              </a:spcAft>
            </a:pPr>
            <a:r>
              <a:rPr sz="1050" b="0" i="0">
                <a:solidFill>
                  <a:srgbClr val="F6D9D2"/>
                </a:solidFill>
                <a:latin typeface="Arial"/>
              </a:rPr>
              <a:t>one per branch, plus production</a:t>
            </a:r>
          </a:p>
        </p:txBody>
      </p:sp>
      <p:sp>
        <p:nvSpPr>
          <p:cNvPr id="53" name="Rounded Rectangle 52"/>
          <p:cNvSpPr/>
          <p:nvPr/>
        </p:nvSpPr>
        <p:spPr>
          <a:xfrm>
            <a:off x="5897880" y="4617720"/>
            <a:ext cx="1874520" cy="640080"/>
          </a:xfrm>
          <a:prstGeom prst="roundRect">
            <a:avLst>
              <a:gd name="adj" fmla="val 7142"/>
            </a:avLst>
          </a:prstGeom>
          <a:solidFill>
            <a:srgbClr val="2F8F83"/>
          </a:solidFill>
          <a:ln w="19050">
            <a:solidFill>
              <a:srgbClr val="10263F"/>
            </a:solidFill>
          </a:ln>
        </p:spPr>
        <p:txBody>
          <a:bodyPr rtlCol="0" anchor="ctr"/>
          <a:lstStyle/>
          <a:p>
            <a:pPr algn="ctr"/>
          </a:p>
        </p:txBody>
      </p:sp>
      <p:sp>
        <p:nvSpPr>
          <p:cNvPr id="54" name="TextBox 53"/>
          <p:cNvSpPr txBox="1"/>
          <p:nvPr/>
        </p:nvSpPr>
        <p:spPr>
          <a:xfrm>
            <a:off x="6007608" y="4617720"/>
            <a:ext cx="1655064" cy="640080"/>
          </a:xfrm>
          <a:prstGeom prst="rect">
            <a:avLst/>
          </a:prstGeom>
          <a:noFill/>
        </p:spPr>
        <p:txBody>
          <a:bodyPr wrap="square" lIns="0" rIns="0" tIns="0" bIns="0" anchor="ctr">
            <a:noAutofit/>
          </a:bodyPr>
          <a:lstStyle/>
          <a:p>
            <a:pPr algn="l">
              <a:spcBef>
                <a:spcPts val="0"/>
              </a:spcBef>
              <a:spcAft>
                <a:spcPts val="200"/>
              </a:spcAft>
            </a:pPr>
            <a:r>
              <a:rPr sz="1250" b="1" i="0">
                <a:solidFill>
                  <a:srgbClr val="FFFFFF"/>
                </a:solidFill>
                <a:latin typeface="Arial"/>
              </a:rPr>
              <a:t>Traefik</a:t>
            </a:r>
          </a:p>
          <a:p>
            <a:pPr algn="l">
              <a:lnSpc>
                <a:spcPct val="105000"/>
              </a:lnSpc>
              <a:spcBef>
                <a:spcPts val="0"/>
              </a:spcBef>
              <a:spcAft>
                <a:spcPts val="0"/>
              </a:spcAft>
            </a:pPr>
            <a:r>
              <a:rPr sz="1050" b="0" i="0">
                <a:solidFill>
                  <a:srgbClr val="D3EBE7"/>
                </a:solidFill>
                <a:latin typeface="Arial"/>
              </a:rPr>
              <a:t>routes by hostname</a:t>
            </a:r>
          </a:p>
        </p:txBody>
      </p:sp>
      <p:cxnSp>
        <p:nvCxnSpPr>
          <p:cNvPr id="55" name="Connector 54"/>
          <p:cNvCxnSpPr/>
          <p:nvPr/>
        </p:nvCxnSpPr>
        <p:spPr>
          <a:xfrm>
            <a:off x="6835140" y="3172968"/>
            <a:ext cx="0" cy="283464"/>
          </a:xfrm>
          <a:prstGeom prst="line">
            <a:avLst/>
          </a:prstGeom>
          <a:ln w="19050">
            <a:solidFill>
              <a:srgbClr val="10263F"/>
            </a:solidFill>
            <a:tailEnd type="triangle" w="med" len="med"/>
          </a:ln>
        </p:spPr>
      </p:cxnSp>
      <p:sp>
        <p:nvSpPr>
          <p:cNvPr id="56" name="TextBox 55"/>
          <p:cNvSpPr txBox="1"/>
          <p:nvPr/>
        </p:nvSpPr>
        <p:spPr>
          <a:xfrm>
            <a:off x="6926580" y="3172968"/>
            <a:ext cx="731520" cy="274320"/>
          </a:xfrm>
          <a:prstGeom prst="rect">
            <a:avLst/>
          </a:prstGeom>
          <a:noFill/>
        </p:spPr>
        <p:txBody>
          <a:bodyPr wrap="square" lIns="0" rIns="0" tIns="0" bIns="0" anchor="ctr">
            <a:noAutofit/>
          </a:bodyPr>
          <a:lstStyle/>
          <a:p>
            <a:pPr algn="l">
              <a:spcBef>
                <a:spcPts val="0"/>
              </a:spcBef>
              <a:spcAft>
                <a:spcPts val="0"/>
              </a:spcAft>
            </a:pPr>
            <a:r>
              <a:rPr sz="950" b="0" i="0">
                <a:solidFill>
                  <a:srgbClr val="10263F"/>
                </a:solidFill>
                <a:latin typeface="Arial"/>
              </a:rPr>
              <a:t>image</a:t>
            </a:r>
          </a:p>
        </p:txBody>
      </p:sp>
      <p:cxnSp>
        <p:nvCxnSpPr>
          <p:cNvPr id="57" name="Connector 56"/>
          <p:cNvCxnSpPr/>
          <p:nvPr/>
        </p:nvCxnSpPr>
        <p:spPr>
          <a:xfrm flipV="1">
            <a:off x="6835140" y="4315968"/>
            <a:ext cx="0" cy="283464"/>
          </a:xfrm>
          <a:prstGeom prst="line">
            <a:avLst/>
          </a:prstGeom>
          <a:ln w="19050">
            <a:solidFill>
              <a:srgbClr val="10263F"/>
            </a:solidFill>
            <a:tailEnd type="triangle" w="med" len="med"/>
          </a:ln>
        </p:spPr>
      </p:cxnSp>
      <p:sp>
        <p:nvSpPr>
          <p:cNvPr id="58" name="TextBox 57"/>
          <p:cNvSpPr txBox="1"/>
          <p:nvPr/>
        </p:nvSpPr>
        <p:spPr>
          <a:xfrm>
            <a:off x="6926580" y="4315968"/>
            <a:ext cx="914400" cy="274320"/>
          </a:xfrm>
          <a:prstGeom prst="rect">
            <a:avLst/>
          </a:prstGeom>
          <a:noFill/>
        </p:spPr>
        <p:txBody>
          <a:bodyPr wrap="square" lIns="0" rIns="0" tIns="0" bIns="0" anchor="ctr">
            <a:noAutofit/>
          </a:bodyPr>
          <a:lstStyle/>
          <a:p>
            <a:pPr algn="l">
              <a:spcBef>
                <a:spcPts val="0"/>
              </a:spcBef>
              <a:spcAft>
                <a:spcPts val="0"/>
              </a:spcAft>
            </a:pPr>
            <a:r>
              <a:rPr sz="950" b="0" i="0">
                <a:solidFill>
                  <a:srgbClr val="10263F"/>
                </a:solidFill>
                <a:latin typeface="Arial"/>
              </a:rPr>
              <a:t>reads labels</a:t>
            </a:r>
          </a:p>
        </p:txBody>
      </p:sp>
      <p:sp>
        <p:nvSpPr>
          <p:cNvPr id="59" name="Rounded Rectangle 58"/>
          <p:cNvSpPr/>
          <p:nvPr/>
        </p:nvSpPr>
        <p:spPr>
          <a:xfrm>
            <a:off x="8503920" y="3474720"/>
            <a:ext cx="1143000" cy="822960"/>
          </a:xfrm>
          <a:prstGeom prst="roundRect">
            <a:avLst>
              <a:gd name="adj" fmla="val 5555"/>
            </a:avLst>
          </a:prstGeom>
          <a:solidFill>
            <a:srgbClr val="E58A2B"/>
          </a:solidFill>
          <a:ln w="19050">
            <a:solidFill>
              <a:srgbClr val="10263F"/>
            </a:solidFill>
          </a:ln>
        </p:spPr>
        <p:txBody>
          <a:bodyPr rtlCol="0" anchor="ctr"/>
          <a:lstStyle/>
          <a:p>
            <a:pPr algn="ctr"/>
          </a:p>
        </p:txBody>
      </p:sp>
      <p:sp>
        <p:nvSpPr>
          <p:cNvPr id="60" name="TextBox 59"/>
          <p:cNvSpPr txBox="1"/>
          <p:nvPr/>
        </p:nvSpPr>
        <p:spPr>
          <a:xfrm>
            <a:off x="8613648" y="3474720"/>
            <a:ext cx="923544" cy="822960"/>
          </a:xfrm>
          <a:prstGeom prst="rect">
            <a:avLst/>
          </a:prstGeom>
          <a:noFill/>
        </p:spPr>
        <p:txBody>
          <a:bodyPr wrap="square" lIns="0" rIns="0" tIns="0" bIns="0" anchor="ctr">
            <a:noAutofit/>
          </a:bodyPr>
          <a:lstStyle/>
          <a:p>
            <a:pPr algn="l">
              <a:spcBef>
                <a:spcPts val="0"/>
              </a:spcBef>
              <a:spcAft>
                <a:spcPts val="200"/>
              </a:spcAft>
            </a:pPr>
            <a:r>
              <a:rPr sz="1250" b="1" i="0">
                <a:solidFill>
                  <a:srgbClr val="10263F"/>
                </a:solidFill>
                <a:latin typeface="Arial"/>
              </a:rPr>
              <a:t>cloudflared</a:t>
            </a:r>
          </a:p>
          <a:p>
            <a:pPr algn="l">
              <a:lnSpc>
                <a:spcPct val="105000"/>
              </a:lnSpc>
              <a:spcBef>
                <a:spcPts val="0"/>
              </a:spcBef>
              <a:spcAft>
                <a:spcPts val="0"/>
              </a:spcAft>
            </a:pPr>
            <a:r>
              <a:rPr sz="1050" b="0" i="0">
                <a:solidFill>
                  <a:srgbClr val="5B3711"/>
                </a:solidFill>
                <a:latin typeface="Arial"/>
              </a:rPr>
              <a:t>quick tunnel per deployment</a:t>
            </a:r>
          </a:p>
        </p:txBody>
      </p:sp>
      <p:sp>
        <p:nvSpPr>
          <p:cNvPr id="61" name="Rounded Rectangle 60"/>
          <p:cNvSpPr/>
          <p:nvPr/>
        </p:nvSpPr>
        <p:spPr>
          <a:xfrm>
            <a:off x="10177272" y="3474720"/>
            <a:ext cx="1371600" cy="822960"/>
          </a:xfrm>
          <a:prstGeom prst="roundRect">
            <a:avLst>
              <a:gd name="adj" fmla="val 5555"/>
            </a:avLst>
          </a:prstGeom>
          <a:solidFill>
            <a:srgbClr val="FFFFFF"/>
          </a:solidFill>
          <a:ln w="19050">
            <a:solidFill>
              <a:srgbClr val="10263F"/>
            </a:solidFill>
          </a:ln>
        </p:spPr>
        <p:txBody>
          <a:bodyPr rtlCol="0" anchor="ctr"/>
          <a:lstStyle/>
          <a:p>
            <a:pPr algn="ctr"/>
          </a:p>
        </p:txBody>
      </p:sp>
      <p:sp>
        <p:nvSpPr>
          <p:cNvPr id="62" name="TextBox 61"/>
          <p:cNvSpPr txBox="1"/>
          <p:nvPr/>
        </p:nvSpPr>
        <p:spPr>
          <a:xfrm>
            <a:off x="10287000" y="3474720"/>
            <a:ext cx="1152144" cy="822960"/>
          </a:xfrm>
          <a:prstGeom prst="rect">
            <a:avLst/>
          </a:prstGeom>
          <a:noFill/>
        </p:spPr>
        <p:txBody>
          <a:bodyPr wrap="square" lIns="0" rIns="0" tIns="0" bIns="0" anchor="ctr">
            <a:noAutofit/>
          </a:bodyPr>
          <a:lstStyle/>
          <a:p>
            <a:pPr algn="l">
              <a:spcBef>
                <a:spcPts val="0"/>
              </a:spcBef>
              <a:spcAft>
                <a:spcPts val="200"/>
              </a:spcAft>
            </a:pPr>
            <a:r>
              <a:rPr sz="1250" b="1" i="0">
                <a:solidFill>
                  <a:srgbClr val="10263F"/>
                </a:solidFill>
                <a:latin typeface="Arial"/>
              </a:rPr>
              <a:t>Public URL</a:t>
            </a:r>
          </a:p>
          <a:p>
            <a:pPr algn="l">
              <a:lnSpc>
                <a:spcPct val="105000"/>
              </a:lnSpc>
              <a:spcBef>
                <a:spcPts val="0"/>
              </a:spcBef>
              <a:spcAft>
                <a:spcPts val="0"/>
              </a:spcAft>
            </a:pPr>
            <a:r>
              <a:rPr sz="950" b="0" i="0">
                <a:solidFill>
                  <a:srgbClr val="4A5A6B"/>
                </a:solidFill>
                <a:latin typeface="Arial"/>
              </a:rPr>
              <a:t>*.trycloudflare.com</a:t>
            </a:r>
          </a:p>
        </p:txBody>
      </p:sp>
      <p:sp>
        <p:nvSpPr>
          <p:cNvPr id="63" name="Rounded Rectangle 62"/>
          <p:cNvSpPr/>
          <p:nvPr/>
        </p:nvSpPr>
        <p:spPr>
          <a:xfrm>
            <a:off x="10177272" y="4526280"/>
            <a:ext cx="1371600" cy="822960"/>
          </a:xfrm>
          <a:prstGeom prst="roundRect">
            <a:avLst>
              <a:gd name="adj" fmla="val 5555"/>
            </a:avLst>
          </a:prstGeom>
          <a:solidFill>
            <a:srgbClr val="FFFFFF"/>
          </a:solidFill>
          <a:ln w="19050">
            <a:solidFill>
              <a:srgbClr val="10263F"/>
            </a:solidFill>
          </a:ln>
        </p:spPr>
        <p:txBody>
          <a:bodyPr rtlCol="0" anchor="ctr"/>
          <a:lstStyle/>
          <a:p>
            <a:pPr algn="ctr"/>
          </a:p>
        </p:txBody>
      </p:sp>
      <p:sp>
        <p:nvSpPr>
          <p:cNvPr id="64" name="TextBox 63"/>
          <p:cNvSpPr txBox="1"/>
          <p:nvPr/>
        </p:nvSpPr>
        <p:spPr>
          <a:xfrm>
            <a:off x="10287000" y="4526280"/>
            <a:ext cx="1152144" cy="822960"/>
          </a:xfrm>
          <a:prstGeom prst="rect">
            <a:avLst/>
          </a:prstGeom>
          <a:noFill/>
        </p:spPr>
        <p:txBody>
          <a:bodyPr wrap="square" lIns="0" rIns="0" tIns="0" bIns="0" anchor="ctr">
            <a:noAutofit/>
          </a:bodyPr>
          <a:lstStyle/>
          <a:p>
            <a:pPr algn="l">
              <a:spcBef>
                <a:spcPts val="0"/>
              </a:spcBef>
              <a:spcAft>
                <a:spcPts val="200"/>
              </a:spcAft>
            </a:pPr>
            <a:r>
              <a:rPr sz="1250" b="1" i="0">
                <a:solidFill>
                  <a:srgbClr val="10263F"/>
                </a:solidFill>
                <a:latin typeface="Arial"/>
              </a:rPr>
              <a:t>Local URL</a:t>
            </a:r>
          </a:p>
          <a:p>
            <a:pPr algn="l">
              <a:lnSpc>
                <a:spcPct val="105000"/>
              </a:lnSpc>
              <a:spcBef>
                <a:spcPts val="0"/>
              </a:spcBef>
              <a:spcAft>
                <a:spcPts val="0"/>
              </a:spcAft>
            </a:pPr>
            <a:r>
              <a:rPr sz="950" b="0" i="0">
                <a:solidFill>
                  <a:srgbClr val="4A5A6B"/>
                </a:solidFill>
                <a:latin typeface="Arial"/>
              </a:rPr>
              <a:t>*.127.0.0.1.nip.io</a:t>
            </a:r>
          </a:p>
        </p:txBody>
      </p:sp>
      <p:cxnSp>
        <p:nvCxnSpPr>
          <p:cNvPr id="65" name="Connector 64"/>
          <p:cNvCxnSpPr/>
          <p:nvPr/>
        </p:nvCxnSpPr>
        <p:spPr>
          <a:xfrm>
            <a:off x="1920240" y="3017520"/>
            <a:ext cx="914400" cy="0"/>
          </a:xfrm>
          <a:prstGeom prst="line">
            <a:avLst/>
          </a:prstGeom>
          <a:ln w="22225">
            <a:solidFill>
              <a:srgbClr val="10263F"/>
            </a:solidFill>
            <a:tailEnd type="triangle" w="med" len="med"/>
          </a:ln>
        </p:spPr>
      </p:cxnSp>
      <p:sp>
        <p:nvSpPr>
          <p:cNvPr id="66" name="TextBox 65"/>
          <p:cNvSpPr txBox="1"/>
          <p:nvPr/>
        </p:nvSpPr>
        <p:spPr>
          <a:xfrm>
            <a:off x="1920240" y="2743200"/>
            <a:ext cx="914400" cy="210312"/>
          </a:xfrm>
          <a:prstGeom prst="rect">
            <a:avLst/>
          </a:prstGeom>
          <a:noFill/>
        </p:spPr>
        <p:txBody>
          <a:bodyPr wrap="square" lIns="0" rIns="0" tIns="0" bIns="0" anchor="b">
            <a:noAutofit/>
          </a:bodyPr>
          <a:lstStyle/>
          <a:p>
            <a:pPr algn="ctr">
              <a:spcBef>
                <a:spcPts val="0"/>
              </a:spcBef>
              <a:spcAft>
                <a:spcPts val="0"/>
              </a:spcAft>
            </a:pPr>
            <a:r>
              <a:rPr sz="950" b="0" i="0">
                <a:solidFill>
                  <a:srgbClr val="10263F"/>
                </a:solidFill>
                <a:latin typeface="Arial"/>
              </a:rPr>
              <a:t>push webhook</a:t>
            </a:r>
          </a:p>
        </p:txBody>
      </p:sp>
      <p:cxnSp>
        <p:nvCxnSpPr>
          <p:cNvPr id="67" name="Connector 66"/>
          <p:cNvCxnSpPr/>
          <p:nvPr/>
        </p:nvCxnSpPr>
        <p:spPr>
          <a:xfrm>
            <a:off x="1920240" y="4389120"/>
            <a:ext cx="914400" cy="0"/>
          </a:xfrm>
          <a:prstGeom prst="line">
            <a:avLst/>
          </a:prstGeom>
          <a:ln w="22225">
            <a:solidFill>
              <a:srgbClr val="10263F"/>
            </a:solidFill>
            <a:headEnd type="triangle" w="med" len="med"/>
            <a:tailEnd type="triangle" w="med" len="med"/>
          </a:ln>
        </p:spPr>
      </p:cxnSp>
      <p:sp>
        <p:nvSpPr>
          <p:cNvPr id="68" name="TextBox 67"/>
          <p:cNvSpPr txBox="1"/>
          <p:nvPr/>
        </p:nvSpPr>
        <p:spPr>
          <a:xfrm>
            <a:off x="1920240" y="4114799"/>
            <a:ext cx="914400" cy="210312"/>
          </a:xfrm>
          <a:prstGeom prst="rect">
            <a:avLst/>
          </a:prstGeom>
          <a:noFill/>
        </p:spPr>
        <p:txBody>
          <a:bodyPr wrap="square" lIns="0" rIns="0" tIns="0" bIns="0" anchor="b">
            <a:noAutofit/>
          </a:bodyPr>
          <a:lstStyle/>
          <a:p>
            <a:pPr algn="ctr">
              <a:spcBef>
                <a:spcPts val="0"/>
              </a:spcBef>
              <a:spcAft>
                <a:spcPts val="0"/>
              </a:spcAft>
            </a:pPr>
            <a:r>
              <a:rPr sz="950" b="0" i="0">
                <a:solidFill>
                  <a:srgbClr val="10263F"/>
                </a:solidFill>
                <a:latin typeface="Arial"/>
              </a:rPr>
              <a:t>REST + logs</a:t>
            </a:r>
          </a:p>
        </p:txBody>
      </p:sp>
      <p:cxnSp>
        <p:nvCxnSpPr>
          <p:cNvPr id="69" name="Connector 68"/>
          <p:cNvCxnSpPr/>
          <p:nvPr/>
        </p:nvCxnSpPr>
        <p:spPr>
          <a:xfrm>
            <a:off x="4983480" y="3886200"/>
            <a:ext cx="914400" cy="0"/>
          </a:xfrm>
          <a:prstGeom prst="line">
            <a:avLst/>
          </a:prstGeom>
          <a:ln w="22225">
            <a:solidFill>
              <a:srgbClr val="10263F"/>
            </a:solidFill>
            <a:tailEnd type="triangle" w="med" len="med"/>
          </a:ln>
        </p:spPr>
      </p:cxnSp>
      <p:sp>
        <p:nvSpPr>
          <p:cNvPr id="70" name="TextBox 69"/>
          <p:cNvSpPr txBox="1"/>
          <p:nvPr/>
        </p:nvSpPr>
        <p:spPr>
          <a:xfrm>
            <a:off x="4983480" y="3611879"/>
            <a:ext cx="777240" cy="210312"/>
          </a:xfrm>
          <a:prstGeom prst="rect">
            <a:avLst/>
          </a:prstGeom>
          <a:noFill/>
        </p:spPr>
        <p:txBody>
          <a:bodyPr wrap="square" lIns="0" rIns="0" tIns="0" bIns="0" anchor="b">
            <a:noAutofit/>
          </a:bodyPr>
          <a:lstStyle/>
          <a:p>
            <a:pPr algn="ctr">
              <a:spcBef>
                <a:spcPts val="0"/>
              </a:spcBef>
              <a:spcAft>
                <a:spcPts val="0"/>
              </a:spcAft>
            </a:pPr>
            <a:r>
              <a:rPr sz="950" b="0" i="0">
                <a:solidFill>
                  <a:srgbClr val="10263F"/>
                </a:solidFill>
                <a:latin typeface="Arial"/>
              </a:rPr>
              <a:t>build + run</a:t>
            </a:r>
          </a:p>
        </p:txBody>
      </p:sp>
      <p:cxnSp>
        <p:nvCxnSpPr>
          <p:cNvPr id="71" name="Connector 70"/>
          <p:cNvCxnSpPr/>
          <p:nvPr/>
        </p:nvCxnSpPr>
        <p:spPr>
          <a:xfrm>
            <a:off x="4983480" y="4937760"/>
            <a:ext cx="914400" cy="0"/>
          </a:xfrm>
          <a:prstGeom prst="line">
            <a:avLst/>
          </a:prstGeom>
          <a:ln w="22225">
            <a:solidFill>
              <a:srgbClr val="10263F"/>
            </a:solidFill>
            <a:tailEnd type="triangle" w="med" len="med"/>
          </a:ln>
        </p:spPr>
      </p:cxnSp>
      <p:sp>
        <p:nvSpPr>
          <p:cNvPr id="72" name="TextBox 71"/>
          <p:cNvSpPr txBox="1"/>
          <p:nvPr/>
        </p:nvSpPr>
        <p:spPr>
          <a:xfrm>
            <a:off x="4983480" y="4489704"/>
            <a:ext cx="777240" cy="384048"/>
          </a:xfrm>
          <a:prstGeom prst="rect">
            <a:avLst/>
          </a:prstGeom>
          <a:noFill/>
        </p:spPr>
        <p:txBody>
          <a:bodyPr wrap="square" lIns="0" rIns="0" tIns="0" bIns="0" anchor="b">
            <a:noAutofit/>
          </a:bodyPr>
          <a:lstStyle/>
          <a:p>
            <a:pPr algn="ctr">
              <a:spcBef>
                <a:spcPts val="0"/>
              </a:spcBef>
              <a:spcAft>
                <a:spcPts val="0"/>
              </a:spcAft>
            </a:pPr>
            <a:r>
              <a:rPr sz="950" b="0" i="0">
                <a:solidFill>
                  <a:srgbClr val="10263F"/>
                </a:solidFill>
                <a:latin typeface="Arial"/>
              </a:rPr>
              <a:t>production</a:t>
            </a:r>
          </a:p>
          <a:p>
            <a:pPr algn="ctr">
              <a:spcBef>
                <a:spcPts val="0"/>
              </a:spcBef>
              <a:spcAft>
                <a:spcPts val="0"/>
              </a:spcAft>
            </a:pPr>
            <a:r>
              <a:rPr sz="950" b="0" i="0">
                <a:solidFill>
                  <a:srgbClr val="10263F"/>
                </a:solidFill>
                <a:latin typeface="Arial"/>
              </a:rPr>
              <a:t>route</a:t>
            </a:r>
          </a:p>
        </p:txBody>
      </p:sp>
      <p:cxnSp>
        <p:nvCxnSpPr>
          <p:cNvPr id="73" name="Connector 72"/>
          <p:cNvCxnSpPr/>
          <p:nvPr/>
        </p:nvCxnSpPr>
        <p:spPr>
          <a:xfrm>
            <a:off x="7772400" y="3886200"/>
            <a:ext cx="731520" cy="0"/>
          </a:xfrm>
          <a:prstGeom prst="line">
            <a:avLst/>
          </a:prstGeom>
          <a:ln w="22225">
            <a:solidFill>
              <a:srgbClr val="10263F"/>
            </a:solidFill>
            <a:tailEnd type="triangle" w="med" len="med"/>
          </a:ln>
        </p:spPr>
      </p:cxnSp>
      <p:sp>
        <p:nvSpPr>
          <p:cNvPr id="74" name="TextBox 73"/>
          <p:cNvSpPr txBox="1"/>
          <p:nvPr/>
        </p:nvSpPr>
        <p:spPr>
          <a:xfrm>
            <a:off x="7909560" y="3611879"/>
            <a:ext cx="594360" cy="210312"/>
          </a:xfrm>
          <a:prstGeom prst="rect">
            <a:avLst/>
          </a:prstGeom>
          <a:noFill/>
        </p:spPr>
        <p:txBody>
          <a:bodyPr wrap="square" lIns="0" rIns="0" tIns="0" bIns="0" anchor="b">
            <a:noAutofit/>
          </a:bodyPr>
          <a:lstStyle/>
          <a:p>
            <a:pPr algn="ctr">
              <a:spcBef>
                <a:spcPts val="0"/>
              </a:spcBef>
              <a:spcAft>
                <a:spcPts val="0"/>
              </a:spcAft>
            </a:pPr>
            <a:r>
              <a:rPr sz="900" b="0" i="0">
                <a:solidFill>
                  <a:srgbClr val="10263F"/>
                </a:solidFill>
                <a:latin typeface="Arial"/>
              </a:rPr>
              <a:t>host port</a:t>
            </a:r>
          </a:p>
        </p:txBody>
      </p:sp>
      <p:cxnSp>
        <p:nvCxnSpPr>
          <p:cNvPr id="75" name="Connector 74"/>
          <p:cNvCxnSpPr/>
          <p:nvPr/>
        </p:nvCxnSpPr>
        <p:spPr>
          <a:xfrm>
            <a:off x="9646920" y="3886200"/>
            <a:ext cx="530352" cy="0"/>
          </a:xfrm>
          <a:prstGeom prst="line">
            <a:avLst/>
          </a:prstGeom>
          <a:ln w="22225">
            <a:solidFill>
              <a:srgbClr val="10263F"/>
            </a:solidFill>
            <a:tailEnd type="triangle" w="med" len="med"/>
          </a:ln>
        </p:spPr>
      </p:cxnSp>
      <p:sp>
        <p:nvSpPr>
          <p:cNvPr id="76" name="TextBox 75"/>
          <p:cNvSpPr txBox="1"/>
          <p:nvPr/>
        </p:nvSpPr>
        <p:spPr>
          <a:xfrm>
            <a:off x="9646920" y="3611879"/>
            <a:ext cx="530352" cy="210312"/>
          </a:xfrm>
          <a:prstGeom prst="rect">
            <a:avLst/>
          </a:prstGeom>
          <a:noFill/>
        </p:spPr>
        <p:txBody>
          <a:bodyPr wrap="square" lIns="0" rIns="0" tIns="0" bIns="0" anchor="b">
            <a:noAutofit/>
          </a:bodyPr>
          <a:lstStyle/>
          <a:p>
            <a:pPr algn="ctr">
              <a:spcBef>
                <a:spcPts val="0"/>
              </a:spcBef>
              <a:spcAft>
                <a:spcPts val="0"/>
              </a:spcAft>
            </a:pPr>
            <a:r>
              <a:rPr sz="950" b="0" i="0">
                <a:solidFill>
                  <a:srgbClr val="10263F"/>
                </a:solidFill>
                <a:latin typeface="Arial"/>
              </a:rPr>
              <a:t>HTTPS</a:t>
            </a:r>
          </a:p>
        </p:txBody>
      </p:sp>
      <p:cxnSp>
        <p:nvCxnSpPr>
          <p:cNvPr id="77" name="Connector 76"/>
          <p:cNvCxnSpPr/>
          <p:nvPr/>
        </p:nvCxnSpPr>
        <p:spPr>
          <a:xfrm>
            <a:off x="7772400" y="4937760"/>
            <a:ext cx="2404872" cy="0"/>
          </a:xfrm>
          <a:prstGeom prst="line">
            <a:avLst/>
          </a:prstGeom>
          <a:ln w="22225">
            <a:solidFill>
              <a:srgbClr val="10263F"/>
            </a:solidFill>
            <a:tailEnd type="triangle" w="med" len="med"/>
          </a:ln>
        </p:spPr>
      </p:cxnSp>
      <p:sp>
        <p:nvSpPr>
          <p:cNvPr id="78" name="TextBox 77"/>
          <p:cNvSpPr txBox="1"/>
          <p:nvPr/>
        </p:nvSpPr>
        <p:spPr>
          <a:xfrm>
            <a:off x="8229600" y="4663440"/>
            <a:ext cx="1463040" cy="210312"/>
          </a:xfrm>
          <a:prstGeom prst="rect">
            <a:avLst/>
          </a:prstGeom>
          <a:noFill/>
        </p:spPr>
        <p:txBody>
          <a:bodyPr wrap="square" lIns="0" rIns="0" tIns="0" bIns="0" anchor="b">
            <a:noAutofit/>
          </a:bodyPr>
          <a:lstStyle/>
          <a:p>
            <a:pPr algn="ctr">
              <a:spcBef>
                <a:spcPts val="0"/>
              </a:spcBef>
              <a:spcAft>
                <a:spcPts val="0"/>
              </a:spcAft>
            </a:pPr>
            <a:r>
              <a:rPr sz="950" b="0" i="0">
                <a:solidFill>
                  <a:srgbClr val="10263F"/>
                </a:solidFill>
                <a:latin typeface="Arial"/>
              </a:rPr>
              <a:t>local hostname</a:t>
            </a:r>
          </a:p>
        </p:txBody>
      </p:sp>
      <p:sp>
        <p:nvSpPr>
          <p:cNvPr id="79" name="Rectangle 78"/>
          <p:cNvSpPr/>
          <p:nvPr/>
        </p:nvSpPr>
        <p:spPr>
          <a:xfrm>
            <a:off x="640080" y="5833872"/>
            <a:ext cx="274320" cy="182880"/>
          </a:xfrm>
          <a:prstGeom prst="rect">
            <a:avLst/>
          </a:prstGeom>
          <a:solidFill>
            <a:srgbClr val="E9B93A"/>
          </a:solidFill>
          <a:ln w="15875">
            <a:solidFill>
              <a:srgbClr val="10263F"/>
            </a:solidFill>
          </a:ln>
        </p:spPr>
        <p:txBody>
          <a:bodyPr rtlCol="0" anchor="ctr"/>
          <a:lstStyle/>
          <a:p>
            <a:pPr algn="ctr"/>
          </a:p>
        </p:txBody>
      </p:sp>
      <p:sp>
        <p:nvSpPr>
          <p:cNvPr id="80" name="TextBox 79"/>
          <p:cNvSpPr txBox="1"/>
          <p:nvPr/>
        </p:nvSpPr>
        <p:spPr>
          <a:xfrm>
            <a:off x="1005840" y="5797296"/>
            <a:ext cx="4754880" cy="274320"/>
          </a:xfrm>
          <a:prstGeom prst="rect">
            <a:avLst/>
          </a:prstGeom>
          <a:noFill/>
        </p:spPr>
        <p:txBody>
          <a:bodyPr wrap="square" lIns="0" rIns="0" tIns="0" bIns="0" anchor="ctr">
            <a:noAutofit/>
          </a:bodyPr>
          <a:lstStyle/>
          <a:p>
            <a:pPr algn="l">
              <a:spcBef>
                <a:spcPts val="0"/>
              </a:spcBef>
              <a:spcAft>
                <a:spcPts val="0"/>
              </a:spcAft>
            </a:pPr>
            <a:r>
              <a:rPr sz="1050" b="0" i="0">
                <a:solidFill>
                  <a:srgbClr val="4A5A6B"/>
                </a:solidFill>
                <a:latin typeface="Arial"/>
              </a:rPr>
              <a:t>The part I wrote. The colored boxes are existing tools.</a:t>
            </a:r>
          </a:p>
        </p:txBody>
      </p:sp>
      <p:sp>
        <p:nvSpPr>
          <p:cNvPr id="81" name="TextBox 80"/>
          <p:cNvSpPr txBox="1"/>
          <p:nvPr/>
        </p:nvSpPr>
        <p:spPr>
          <a:xfrm>
            <a:off x="6035040" y="5742432"/>
            <a:ext cx="5513832" cy="365760"/>
          </a:xfrm>
          <a:prstGeom prst="rect">
            <a:avLst/>
          </a:prstGeom>
          <a:noFill/>
        </p:spPr>
        <p:txBody>
          <a:bodyPr wrap="square" lIns="0" rIns="0" tIns="0" bIns="0" anchor="ctr">
            <a:noAutofit/>
          </a:bodyPr>
          <a:lstStyle/>
          <a:p>
            <a:pPr algn="r">
              <a:lnSpc>
                <a:spcPct val="110000"/>
              </a:lnSpc>
              <a:spcBef>
                <a:spcPts val="0"/>
              </a:spcBef>
              <a:spcAft>
                <a:spcPts val="0"/>
              </a:spcAft>
            </a:pPr>
            <a:r>
              <a:rPr sz="1050" b="0" i="0">
                <a:solidFill>
                  <a:srgbClr val="4A5A6B"/>
                </a:solidFill>
                <a:latin typeface="Arial"/>
              </a:rPr>
              <a:t>Each deployment gets a local URL through Traefik and a public URL through its own tunnel.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40080" y="731520"/>
            <a:ext cx="566928" cy="310896"/>
          </a:xfrm>
          <a:prstGeom prst="rect">
            <a:avLst/>
          </a:prstGeom>
          <a:solidFill>
            <a:srgbClr val="E58A2B"/>
          </a:solidFill>
          <a:ln w="15875">
            <a:solidFill>
              <a:srgbClr val="10263F"/>
            </a:solidFill>
          </a:ln>
        </p:spPr>
        <p:txBody>
          <a:bodyPr rtlCol="0" anchor="ctr"/>
          <a:lstStyle/>
          <a:p>
            <a:pPr algn="ctr"/>
          </a:p>
        </p:txBody>
      </p:sp>
      <p:sp>
        <p:nvSpPr>
          <p:cNvPr id="3" name="Rectangle 2"/>
          <p:cNvSpPr/>
          <p:nvPr/>
        </p:nvSpPr>
        <p:spPr>
          <a:xfrm>
            <a:off x="753465" y="777240"/>
            <a:ext cx="7315" cy="219456"/>
          </a:xfrm>
          <a:prstGeom prst="rect">
            <a:avLst/>
          </a:prstGeom>
          <a:solidFill>
            <a:srgbClr val="B76E22"/>
          </a:solidFill>
          <a:ln>
            <a:noFill/>
          </a:ln>
        </p:spPr>
        <p:txBody>
          <a:bodyPr rtlCol="0" anchor="ctr"/>
          <a:lstStyle/>
          <a:p>
            <a:pPr algn="ctr"/>
          </a:p>
        </p:txBody>
      </p:sp>
      <p:sp>
        <p:nvSpPr>
          <p:cNvPr id="4" name="Rectangle 3"/>
          <p:cNvSpPr/>
          <p:nvPr/>
        </p:nvSpPr>
        <p:spPr>
          <a:xfrm>
            <a:off x="866851" y="777240"/>
            <a:ext cx="7315" cy="219456"/>
          </a:xfrm>
          <a:prstGeom prst="rect">
            <a:avLst/>
          </a:prstGeom>
          <a:solidFill>
            <a:srgbClr val="B76E22"/>
          </a:solidFill>
          <a:ln>
            <a:noFill/>
          </a:ln>
        </p:spPr>
        <p:txBody>
          <a:bodyPr rtlCol="0" anchor="ctr"/>
          <a:lstStyle/>
          <a:p>
            <a:pPr algn="ctr"/>
          </a:p>
        </p:txBody>
      </p:sp>
      <p:sp>
        <p:nvSpPr>
          <p:cNvPr id="5" name="Rectangle 4"/>
          <p:cNvSpPr/>
          <p:nvPr/>
        </p:nvSpPr>
        <p:spPr>
          <a:xfrm>
            <a:off x="980236" y="777240"/>
            <a:ext cx="7315" cy="219456"/>
          </a:xfrm>
          <a:prstGeom prst="rect">
            <a:avLst/>
          </a:prstGeom>
          <a:solidFill>
            <a:srgbClr val="B76E22"/>
          </a:solidFill>
          <a:ln>
            <a:noFill/>
          </a:ln>
        </p:spPr>
        <p:txBody>
          <a:bodyPr rtlCol="0" anchor="ctr"/>
          <a:lstStyle/>
          <a:p>
            <a:pPr algn="ctr"/>
          </a:p>
        </p:txBody>
      </p:sp>
      <p:sp>
        <p:nvSpPr>
          <p:cNvPr id="6" name="Rectangle 5"/>
          <p:cNvSpPr/>
          <p:nvPr/>
        </p:nvSpPr>
        <p:spPr>
          <a:xfrm>
            <a:off x="1093622" y="777240"/>
            <a:ext cx="7315" cy="219456"/>
          </a:xfrm>
          <a:prstGeom prst="rect">
            <a:avLst/>
          </a:prstGeom>
          <a:solidFill>
            <a:srgbClr val="B76E22"/>
          </a:solidFill>
          <a:ln>
            <a:noFill/>
          </a:ln>
        </p:spPr>
        <p:txBody>
          <a:bodyPr rtlCol="0" anchor="ctr"/>
          <a:lstStyle/>
          <a:p>
            <a:pPr algn="ctr"/>
          </a:p>
        </p:txBody>
      </p:sp>
      <p:sp>
        <p:nvSpPr>
          <p:cNvPr id="7" name="TextBox 6"/>
          <p:cNvSpPr txBox="1"/>
          <p:nvPr/>
        </p:nvSpPr>
        <p:spPr>
          <a:xfrm>
            <a:off x="1417320" y="548640"/>
            <a:ext cx="10149840" cy="685800"/>
          </a:xfrm>
          <a:prstGeom prst="rect">
            <a:avLst/>
          </a:prstGeom>
          <a:noFill/>
        </p:spPr>
        <p:txBody>
          <a:bodyPr wrap="square" lIns="0" rIns="0" tIns="0" bIns="0" anchor="ctr">
            <a:noAutofit/>
          </a:bodyPr>
          <a:lstStyle/>
          <a:p>
            <a:pPr algn="l">
              <a:spcBef>
                <a:spcPts val="0"/>
              </a:spcBef>
              <a:spcAft>
                <a:spcPts val="0"/>
              </a:spcAft>
            </a:pPr>
            <a:r>
              <a:rPr sz="3000" b="1" i="0">
                <a:solidFill>
                  <a:srgbClr val="10263F"/>
                </a:solidFill>
                <a:latin typeface="Georgia"/>
              </a:rPr>
              <a:t>Where each DevOps stage shows up</a:t>
            </a:r>
          </a:p>
        </p:txBody>
      </p:sp>
      <p:cxnSp>
        <p:nvCxnSpPr>
          <p:cNvPr id="8" name="Connector 7"/>
          <p:cNvCxnSpPr/>
          <p:nvPr/>
        </p:nvCxnSpPr>
        <p:spPr>
          <a:xfrm>
            <a:off x="640080" y="1335024"/>
            <a:ext cx="10908792" cy="0"/>
          </a:xfrm>
          <a:prstGeom prst="line">
            <a:avLst/>
          </a:prstGeom>
          <a:ln w="15875">
            <a:solidFill>
              <a:srgbClr val="9AA5AE"/>
            </a:solidFill>
            <a:prstDash val="dash"/>
          </a:ln>
        </p:spPr>
      </p:cxnSp>
      <p:pic>
        <p:nvPicPr>
          <p:cNvPr id="9" name="Picture 8" descr="wave_band.png"/>
          <p:cNvPicPr>
            <a:picLocks noChangeAspect="1"/>
          </p:cNvPicPr>
          <p:nvPr/>
        </p:nvPicPr>
        <p:blipFill>
          <a:blip r:embed="rId2"/>
          <a:stretch>
            <a:fillRect/>
          </a:stretch>
        </p:blipFill>
        <p:spPr>
          <a:xfrm>
            <a:off x="0" y="6355080"/>
            <a:ext cx="12191695" cy="502845"/>
          </a:xfrm>
          <a:prstGeom prst="rect">
            <a:avLst/>
          </a:prstGeom>
        </p:spPr>
      </p:pic>
      <p:pic>
        <p:nvPicPr>
          <p:cNvPr id="10" name="Picture 9" descr="tug_small.png"/>
          <p:cNvPicPr>
            <a:picLocks noChangeAspect="1"/>
          </p:cNvPicPr>
          <p:nvPr/>
        </p:nvPicPr>
        <p:blipFill>
          <a:blip r:embed="rId3"/>
          <a:stretch>
            <a:fillRect/>
          </a:stretch>
        </p:blipFill>
        <p:spPr>
          <a:xfrm>
            <a:off x="4873752" y="6078380"/>
            <a:ext cx="566928" cy="450436"/>
          </a:xfrm>
          <a:prstGeom prst="rect">
            <a:avLst/>
          </a:prstGeom>
        </p:spPr>
      </p:pic>
      <p:sp>
        <p:nvSpPr>
          <p:cNvPr id="11" name="TextBox 10"/>
          <p:cNvSpPr txBox="1"/>
          <p:nvPr/>
        </p:nvSpPr>
        <p:spPr>
          <a:xfrm>
            <a:off x="640080" y="6126480"/>
            <a:ext cx="2743200" cy="228600"/>
          </a:xfrm>
          <a:prstGeom prst="rect">
            <a:avLst/>
          </a:prstGeom>
          <a:noFill/>
        </p:spPr>
        <p:txBody>
          <a:bodyPr wrap="square" lIns="0" rIns="0" tIns="0" bIns="0" anchor="ctr">
            <a:noAutofit/>
          </a:bodyPr>
          <a:lstStyle/>
          <a:p>
            <a:pPr algn="l">
              <a:spcBef>
                <a:spcPts val="0"/>
              </a:spcBef>
              <a:spcAft>
                <a:spcPts val="0"/>
              </a:spcAft>
            </a:pPr>
            <a:r>
              <a:rPr sz="1000" b="0" i="0">
                <a:solidFill>
                  <a:srgbClr val="7E8A97"/>
                </a:solidFill>
                <a:latin typeface="Arial"/>
              </a:rPr>
              <a:t>Tugboat   5 / 12</a:t>
            </a:r>
          </a:p>
        </p:txBody>
      </p:sp>
      <p:sp>
        <p:nvSpPr>
          <p:cNvPr id="12" name="TextBox 11"/>
          <p:cNvSpPr txBox="1"/>
          <p:nvPr/>
        </p:nvSpPr>
        <p:spPr>
          <a:xfrm>
            <a:off x="1325880" y="1554480"/>
            <a:ext cx="1828800" cy="274320"/>
          </a:xfrm>
          <a:prstGeom prst="rect">
            <a:avLst/>
          </a:prstGeom>
          <a:noFill/>
        </p:spPr>
        <p:txBody>
          <a:bodyPr wrap="square" lIns="0" rIns="0" tIns="0" bIns="0" anchor="t">
            <a:noAutofit/>
          </a:bodyPr>
          <a:lstStyle/>
          <a:p>
            <a:pPr algn="l">
              <a:spcBef>
                <a:spcPts val="0"/>
              </a:spcBef>
              <a:spcAft>
                <a:spcPts val="0"/>
              </a:spcAft>
            </a:pPr>
            <a:r>
              <a:rPr sz="1050" b="1" i="0">
                <a:solidFill>
                  <a:srgbClr val="7E8A97"/>
                </a:solidFill>
                <a:latin typeface="Arial"/>
              </a:rPr>
              <a:t>Stage</a:t>
            </a:r>
          </a:p>
        </p:txBody>
      </p:sp>
      <p:sp>
        <p:nvSpPr>
          <p:cNvPr id="13" name="TextBox 12"/>
          <p:cNvSpPr txBox="1"/>
          <p:nvPr/>
        </p:nvSpPr>
        <p:spPr>
          <a:xfrm>
            <a:off x="3246120" y="1554480"/>
            <a:ext cx="6126480" cy="274320"/>
          </a:xfrm>
          <a:prstGeom prst="rect">
            <a:avLst/>
          </a:prstGeom>
          <a:noFill/>
        </p:spPr>
        <p:txBody>
          <a:bodyPr wrap="square" lIns="0" rIns="0" tIns="0" bIns="0" anchor="t">
            <a:noAutofit/>
          </a:bodyPr>
          <a:lstStyle/>
          <a:p>
            <a:pPr algn="l">
              <a:spcBef>
                <a:spcPts val="0"/>
              </a:spcBef>
              <a:spcAft>
                <a:spcPts val="0"/>
              </a:spcAft>
            </a:pPr>
            <a:r>
              <a:rPr sz="1050" b="1" i="0">
                <a:solidFill>
                  <a:srgbClr val="7E8A97"/>
                </a:solidFill>
                <a:latin typeface="Arial"/>
              </a:rPr>
              <a:t>What I did</a:t>
            </a:r>
          </a:p>
        </p:txBody>
      </p:sp>
      <p:sp>
        <p:nvSpPr>
          <p:cNvPr id="14" name="TextBox 13"/>
          <p:cNvSpPr txBox="1"/>
          <p:nvPr/>
        </p:nvSpPr>
        <p:spPr>
          <a:xfrm>
            <a:off x="9509759" y="1554480"/>
            <a:ext cx="2011680" cy="274320"/>
          </a:xfrm>
          <a:prstGeom prst="rect">
            <a:avLst/>
          </a:prstGeom>
          <a:noFill/>
        </p:spPr>
        <p:txBody>
          <a:bodyPr wrap="square" lIns="0" rIns="0" tIns="0" bIns="0" anchor="t">
            <a:noAutofit/>
          </a:bodyPr>
          <a:lstStyle/>
          <a:p>
            <a:pPr algn="l">
              <a:spcBef>
                <a:spcPts val="0"/>
              </a:spcBef>
              <a:spcAft>
                <a:spcPts val="0"/>
              </a:spcAft>
            </a:pPr>
            <a:r>
              <a:rPr sz="1050" b="1" i="0">
                <a:solidFill>
                  <a:srgbClr val="7E8A97"/>
                </a:solidFill>
                <a:latin typeface="Arial"/>
              </a:rPr>
              <a:t>Tools</a:t>
            </a:r>
          </a:p>
        </p:txBody>
      </p:sp>
      <p:sp>
        <p:nvSpPr>
          <p:cNvPr id="15" name="Rectangle 14"/>
          <p:cNvSpPr/>
          <p:nvPr/>
        </p:nvSpPr>
        <p:spPr>
          <a:xfrm>
            <a:off x="640080" y="1901952"/>
            <a:ext cx="10908792" cy="10972"/>
          </a:xfrm>
          <a:prstGeom prst="rect">
            <a:avLst/>
          </a:prstGeom>
          <a:solidFill>
            <a:srgbClr val="C4CBD0"/>
          </a:solidFill>
          <a:ln>
            <a:noFill/>
          </a:ln>
        </p:spPr>
        <p:txBody>
          <a:bodyPr rtlCol="0" anchor="ctr"/>
          <a:lstStyle/>
          <a:p>
            <a:pPr algn="ctr"/>
          </a:p>
        </p:txBody>
      </p:sp>
      <p:sp>
        <p:nvSpPr>
          <p:cNvPr id="16" name="Rectangle 15"/>
          <p:cNvSpPr/>
          <p:nvPr/>
        </p:nvSpPr>
        <p:spPr>
          <a:xfrm>
            <a:off x="640080" y="2103120"/>
            <a:ext cx="457200" cy="256032"/>
          </a:xfrm>
          <a:prstGeom prst="rect">
            <a:avLst/>
          </a:prstGeom>
          <a:solidFill>
            <a:srgbClr val="C8472D"/>
          </a:solidFill>
          <a:ln w="15875">
            <a:solidFill>
              <a:srgbClr val="10263F"/>
            </a:solidFill>
          </a:ln>
        </p:spPr>
        <p:txBody>
          <a:bodyPr rtlCol="0" anchor="ctr"/>
          <a:lstStyle/>
          <a:p>
            <a:pPr algn="ctr"/>
          </a:p>
        </p:txBody>
      </p:sp>
      <p:sp>
        <p:nvSpPr>
          <p:cNvPr id="17" name="Rectangle 16"/>
          <p:cNvSpPr/>
          <p:nvPr/>
        </p:nvSpPr>
        <p:spPr>
          <a:xfrm>
            <a:off x="731519" y="2148839"/>
            <a:ext cx="7315" cy="164592"/>
          </a:xfrm>
          <a:prstGeom prst="rect">
            <a:avLst/>
          </a:prstGeom>
          <a:solidFill>
            <a:srgbClr val="A03824"/>
          </a:solidFill>
          <a:ln>
            <a:noFill/>
          </a:ln>
        </p:spPr>
        <p:txBody>
          <a:bodyPr rtlCol="0" anchor="ctr"/>
          <a:lstStyle/>
          <a:p>
            <a:pPr algn="ctr"/>
          </a:p>
        </p:txBody>
      </p:sp>
      <p:sp>
        <p:nvSpPr>
          <p:cNvPr id="18" name="Rectangle 17"/>
          <p:cNvSpPr/>
          <p:nvPr/>
        </p:nvSpPr>
        <p:spPr>
          <a:xfrm>
            <a:off x="822959" y="2148839"/>
            <a:ext cx="7315" cy="164592"/>
          </a:xfrm>
          <a:prstGeom prst="rect">
            <a:avLst/>
          </a:prstGeom>
          <a:solidFill>
            <a:srgbClr val="A03824"/>
          </a:solidFill>
          <a:ln>
            <a:noFill/>
          </a:ln>
        </p:spPr>
        <p:txBody>
          <a:bodyPr rtlCol="0" anchor="ctr"/>
          <a:lstStyle/>
          <a:p>
            <a:pPr algn="ctr"/>
          </a:p>
        </p:txBody>
      </p:sp>
      <p:sp>
        <p:nvSpPr>
          <p:cNvPr id="19" name="Rectangle 18"/>
          <p:cNvSpPr/>
          <p:nvPr/>
        </p:nvSpPr>
        <p:spPr>
          <a:xfrm>
            <a:off x="914400" y="2148839"/>
            <a:ext cx="7315" cy="164592"/>
          </a:xfrm>
          <a:prstGeom prst="rect">
            <a:avLst/>
          </a:prstGeom>
          <a:solidFill>
            <a:srgbClr val="A03824"/>
          </a:solidFill>
          <a:ln>
            <a:noFill/>
          </a:ln>
        </p:spPr>
        <p:txBody>
          <a:bodyPr rtlCol="0" anchor="ctr"/>
          <a:lstStyle/>
          <a:p>
            <a:pPr algn="ctr"/>
          </a:p>
        </p:txBody>
      </p:sp>
      <p:sp>
        <p:nvSpPr>
          <p:cNvPr id="20" name="Rectangle 19"/>
          <p:cNvSpPr/>
          <p:nvPr/>
        </p:nvSpPr>
        <p:spPr>
          <a:xfrm>
            <a:off x="1005840" y="2148839"/>
            <a:ext cx="7315" cy="164592"/>
          </a:xfrm>
          <a:prstGeom prst="rect">
            <a:avLst/>
          </a:prstGeom>
          <a:solidFill>
            <a:srgbClr val="A03824"/>
          </a:solidFill>
          <a:ln>
            <a:noFill/>
          </a:ln>
        </p:spPr>
        <p:txBody>
          <a:bodyPr rtlCol="0" anchor="ctr"/>
          <a:lstStyle/>
          <a:p>
            <a:pPr algn="ctr"/>
          </a:p>
        </p:txBody>
      </p:sp>
      <p:sp>
        <p:nvSpPr>
          <p:cNvPr id="21" name="TextBox 20"/>
          <p:cNvSpPr txBox="1"/>
          <p:nvPr/>
        </p:nvSpPr>
        <p:spPr>
          <a:xfrm>
            <a:off x="1325880" y="1901952"/>
            <a:ext cx="1828800" cy="658368"/>
          </a:xfrm>
          <a:prstGeom prst="rect">
            <a:avLst/>
          </a:prstGeom>
          <a:noFill/>
        </p:spPr>
        <p:txBody>
          <a:bodyPr wrap="square" lIns="0" rIns="0" tIns="0" bIns="0" anchor="ctr">
            <a:noAutofit/>
          </a:bodyPr>
          <a:lstStyle/>
          <a:p>
            <a:pPr algn="l">
              <a:lnSpc>
                <a:spcPct val="105000"/>
              </a:lnSpc>
              <a:spcBef>
                <a:spcPts val="0"/>
              </a:spcBef>
              <a:spcAft>
                <a:spcPts val="0"/>
              </a:spcAft>
            </a:pPr>
            <a:r>
              <a:rPr sz="1400" b="1" i="0">
                <a:solidFill>
                  <a:srgbClr val="10263F"/>
                </a:solidFill>
                <a:latin typeface="Georgia"/>
              </a:rPr>
              <a:t>Source control</a:t>
            </a:r>
          </a:p>
        </p:txBody>
      </p:sp>
      <p:sp>
        <p:nvSpPr>
          <p:cNvPr id="22" name="TextBox 21"/>
          <p:cNvSpPr txBox="1"/>
          <p:nvPr/>
        </p:nvSpPr>
        <p:spPr>
          <a:xfrm>
            <a:off x="3246120" y="1901952"/>
            <a:ext cx="6126480" cy="658368"/>
          </a:xfrm>
          <a:prstGeom prst="rect">
            <a:avLst/>
          </a:prstGeom>
          <a:noFill/>
        </p:spPr>
        <p:txBody>
          <a:bodyPr wrap="square" lIns="0" rIns="0" tIns="0" bIns="0" anchor="ctr">
            <a:noAutofit/>
          </a:bodyPr>
          <a:lstStyle/>
          <a:p>
            <a:pPr algn="l">
              <a:lnSpc>
                <a:spcPct val="110000"/>
              </a:lnSpc>
              <a:spcBef>
                <a:spcPts val="0"/>
              </a:spcBef>
              <a:spcAft>
                <a:spcPts val="0"/>
              </a:spcAft>
            </a:pPr>
            <a:r>
              <a:rPr sz="1250" b="0" i="0">
                <a:solidFill>
                  <a:srgbClr val="4A5A6B"/>
                </a:solidFill>
                <a:latin typeface="Arial"/>
              </a:rPr>
              <a:t>Each deployment comes from a Git commit, delivered by a GitHub webhook.</a:t>
            </a:r>
          </a:p>
        </p:txBody>
      </p:sp>
      <p:sp>
        <p:nvSpPr>
          <p:cNvPr id="23" name="TextBox 22"/>
          <p:cNvSpPr txBox="1"/>
          <p:nvPr/>
        </p:nvSpPr>
        <p:spPr>
          <a:xfrm>
            <a:off x="9509759" y="1901952"/>
            <a:ext cx="2011680" cy="658368"/>
          </a:xfrm>
          <a:prstGeom prst="rect">
            <a:avLst/>
          </a:prstGeom>
          <a:noFill/>
        </p:spPr>
        <p:txBody>
          <a:bodyPr wrap="square" lIns="0" rIns="0" tIns="0" bIns="0" anchor="ctr">
            <a:noAutofit/>
          </a:bodyPr>
          <a:lstStyle/>
          <a:p>
            <a:pPr algn="l">
              <a:lnSpc>
                <a:spcPct val="110000"/>
              </a:lnSpc>
              <a:spcBef>
                <a:spcPts val="0"/>
              </a:spcBef>
              <a:spcAft>
                <a:spcPts val="0"/>
              </a:spcAft>
            </a:pPr>
            <a:r>
              <a:rPr sz="1250" b="0" i="0">
                <a:solidFill>
                  <a:srgbClr val="4A5A6B"/>
                </a:solidFill>
                <a:latin typeface="Arial"/>
              </a:rPr>
              <a:t>Git, GitHub</a:t>
            </a:r>
          </a:p>
        </p:txBody>
      </p:sp>
      <p:sp>
        <p:nvSpPr>
          <p:cNvPr id="24" name="Rectangle 23"/>
          <p:cNvSpPr/>
          <p:nvPr/>
        </p:nvSpPr>
        <p:spPr>
          <a:xfrm>
            <a:off x="640080" y="2560320"/>
            <a:ext cx="10908792" cy="10972"/>
          </a:xfrm>
          <a:prstGeom prst="rect">
            <a:avLst/>
          </a:prstGeom>
          <a:solidFill>
            <a:srgbClr val="C4CBD0"/>
          </a:solidFill>
          <a:ln>
            <a:noFill/>
          </a:ln>
        </p:spPr>
        <p:txBody>
          <a:bodyPr rtlCol="0" anchor="ctr"/>
          <a:lstStyle/>
          <a:p>
            <a:pPr algn="ctr"/>
          </a:p>
        </p:txBody>
      </p:sp>
      <p:sp>
        <p:nvSpPr>
          <p:cNvPr id="25" name="Rectangle 24"/>
          <p:cNvSpPr/>
          <p:nvPr/>
        </p:nvSpPr>
        <p:spPr>
          <a:xfrm>
            <a:off x="640080" y="2761487"/>
            <a:ext cx="457200" cy="256032"/>
          </a:xfrm>
          <a:prstGeom prst="rect">
            <a:avLst/>
          </a:prstGeom>
          <a:solidFill>
            <a:srgbClr val="E9B93A"/>
          </a:solidFill>
          <a:ln w="15875">
            <a:solidFill>
              <a:srgbClr val="10263F"/>
            </a:solidFill>
          </a:ln>
        </p:spPr>
        <p:txBody>
          <a:bodyPr rtlCol="0" anchor="ctr"/>
          <a:lstStyle/>
          <a:p>
            <a:pPr algn="ctr"/>
          </a:p>
        </p:txBody>
      </p:sp>
      <p:sp>
        <p:nvSpPr>
          <p:cNvPr id="26" name="Rectangle 25"/>
          <p:cNvSpPr/>
          <p:nvPr/>
        </p:nvSpPr>
        <p:spPr>
          <a:xfrm>
            <a:off x="731519" y="2807207"/>
            <a:ext cx="7315" cy="164592"/>
          </a:xfrm>
          <a:prstGeom prst="rect">
            <a:avLst/>
          </a:prstGeom>
          <a:solidFill>
            <a:srgbClr val="BA942E"/>
          </a:solidFill>
          <a:ln>
            <a:noFill/>
          </a:ln>
        </p:spPr>
        <p:txBody>
          <a:bodyPr rtlCol="0" anchor="ctr"/>
          <a:lstStyle/>
          <a:p>
            <a:pPr algn="ctr"/>
          </a:p>
        </p:txBody>
      </p:sp>
      <p:sp>
        <p:nvSpPr>
          <p:cNvPr id="27" name="Rectangle 26"/>
          <p:cNvSpPr/>
          <p:nvPr/>
        </p:nvSpPr>
        <p:spPr>
          <a:xfrm>
            <a:off x="822959" y="2807207"/>
            <a:ext cx="7315" cy="164592"/>
          </a:xfrm>
          <a:prstGeom prst="rect">
            <a:avLst/>
          </a:prstGeom>
          <a:solidFill>
            <a:srgbClr val="BA942E"/>
          </a:solidFill>
          <a:ln>
            <a:noFill/>
          </a:ln>
        </p:spPr>
        <p:txBody>
          <a:bodyPr rtlCol="0" anchor="ctr"/>
          <a:lstStyle/>
          <a:p>
            <a:pPr algn="ctr"/>
          </a:p>
        </p:txBody>
      </p:sp>
      <p:sp>
        <p:nvSpPr>
          <p:cNvPr id="28" name="Rectangle 27"/>
          <p:cNvSpPr/>
          <p:nvPr/>
        </p:nvSpPr>
        <p:spPr>
          <a:xfrm>
            <a:off x="914400" y="2807207"/>
            <a:ext cx="7315" cy="164592"/>
          </a:xfrm>
          <a:prstGeom prst="rect">
            <a:avLst/>
          </a:prstGeom>
          <a:solidFill>
            <a:srgbClr val="BA942E"/>
          </a:solidFill>
          <a:ln>
            <a:noFill/>
          </a:ln>
        </p:spPr>
        <p:txBody>
          <a:bodyPr rtlCol="0" anchor="ctr"/>
          <a:lstStyle/>
          <a:p>
            <a:pPr algn="ctr"/>
          </a:p>
        </p:txBody>
      </p:sp>
      <p:sp>
        <p:nvSpPr>
          <p:cNvPr id="29" name="Rectangle 28"/>
          <p:cNvSpPr/>
          <p:nvPr/>
        </p:nvSpPr>
        <p:spPr>
          <a:xfrm>
            <a:off x="1005840" y="2807207"/>
            <a:ext cx="7315" cy="164592"/>
          </a:xfrm>
          <a:prstGeom prst="rect">
            <a:avLst/>
          </a:prstGeom>
          <a:solidFill>
            <a:srgbClr val="BA942E"/>
          </a:solidFill>
          <a:ln>
            <a:noFill/>
          </a:ln>
        </p:spPr>
        <p:txBody>
          <a:bodyPr rtlCol="0" anchor="ctr"/>
          <a:lstStyle/>
          <a:p>
            <a:pPr algn="ctr"/>
          </a:p>
        </p:txBody>
      </p:sp>
      <p:sp>
        <p:nvSpPr>
          <p:cNvPr id="30" name="TextBox 29"/>
          <p:cNvSpPr txBox="1"/>
          <p:nvPr/>
        </p:nvSpPr>
        <p:spPr>
          <a:xfrm>
            <a:off x="1325880" y="2560320"/>
            <a:ext cx="1828800" cy="658368"/>
          </a:xfrm>
          <a:prstGeom prst="rect">
            <a:avLst/>
          </a:prstGeom>
          <a:noFill/>
        </p:spPr>
        <p:txBody>
          <a:bodyPr wrap="square" lIns="0" rIns="0" tIns="0" bIns="0" anchor="ctr">
            <a:noAutofit/>
          </a:bodyPr>
          <a:lstStyle/>
          <a:p>
            <a:pPr algn="l">
              <a:lnSpc>
                <a:spcPct val="105000"/>
              </a:lnSpc>
              <a:spcBef>
                <a:spcPts val="0"/>
              </a:spcBef>
              <a:spcAft>
                <a:spcPts val="0"/>
              </a:spcAft>
            </a:pPr>
            <a:r>
              <a:rPr sz="1400" b="1" i="0">
                <a:solidFill>
                  <a:srgbClr val="10263F"/>
                </a:solidFill>
                <a:latin typeface="Georgia"/>
              </a:rPr>
              <a:t>Build</a:t>
            </a:r>
          </a:p>
        </p:txBody>
      </p:sp>
      <p:sp>
        <p:nvSpPr>
          <p:cNvPr id="31" name="TextBox 30"/>
          <p:cNvSpPr txBox="1"/>
          <p:nvPr/>
        </p:nvSpPr>
        <p:spPr>
          <a:xfrm>
            <a:off x="3246120" y="2560320"/>
            <a:ext cx="6126480" cy="658368"/>
          </a:xfrm>
          <a:prstGeom prst="rect">
            <a:avLst/>
          </a:prstGeom>
          <a:noFill/>
        </p:spPr>
        <p:txBody>
          <a:bodyPr wrap="square" lIns="0" rIns="0" tIns="0" bIns="0" anchor="ctr">
            <a:noAutofit/>
          </a:bodyPr>
          <a:lstStyle/>
          <a:p>
            <a:pPr algn="l">
              <a:lnSpc>
                <a:spcPct val="110000"/>
              </a:lnSpc>
              <a:spcBef>
                <a:spcPts val="0"/>
              </a:spcBef>
              <a:spcAft>
                <a:spcPts val="0"/>
              </a:spcAft>
            </a:pPr>
            <a:r>
              <a:rPr sz="1250" b="0" i="0">
                <a:solidFill>
                  <a:srgbClr val="4A5A6B"/>
                </a:solidFill>
                <a:latin typeface="Arial"/>
              </a:rPr>
              <a:t>Buildpacks detect the language and build the image, so there's no Dockerfile.</a:t>
            </a:r>
          </a:p>
        </p:txBody>
      </p:sp>
      <p:sp>
        <p:nvSpPr>
          <p:cNvPr id="32" name="TextBox 31"/>
          <p:cNvSpPr txBox="1"/>
          <p:nvPr/>
        </p:nvSpPr>
        <p:spPr>
          <a:xfrm>
            <a:off x="9509759" y="2560320"/>
            <a:ext cx="2011680" cy="658368"/>
          </a:xfrm>
          <a:prstGeom prst="rect">
            <a:avLst/>
          </a:prstGeom>
          <a:noFill/>
        </p:spPr>
        <p:txBody>
          <a:bodyPr wrap="square" lIns="0" rIns="0" tIns="0" bIns="0" anchor="ctr">
            <a:noAutofit/>
          </a:bodyPr>
          <a:lstStyle/>
          <a:p>
            <a:pPr algn="l">
              <a:lnSpc>
                <a:spcPct val="110000"/>
              </a:lnSpc>
              <a:spcBef>
                <a:spcPts val="0"/>
              </a:spcBef>
              <a:spcAft>
                <a:spcPts val="0"/>
              </a:spcAft>
            </a:pPr>
            <a:r>
              <a:rPr sz="1250" b="0" i="0">
                <a:solidFill>
                  <a:srgbClr val="4A5A6B"/>
                </a:solidFill>
                <a:latin typeface="Arial"/>
              </a:rPr>
              <a:t>pack, Paketo</a:t>
            </a:r>
          </a:p>
        </p:txBody>
      </p:sp>
      <p:sp>
        <p:nvSpPr>
          <p:cNvPr id="33" name="Rectangle 32"/>
          <p:cNvSpPr/>
          <p:nvPr/>
        </p:nvSpPr>
        <p:spPr>
          <a:xfrm>
            <a:off x="640080" y="3218688"/>
            <a:ext cx="10908792" cy="10972"/>
          </a:xfrm>
          <a:prstGeom prst="rect">
            <a:avLst/>
          </a:prstGeom>
          <a:solidFill>
            <a:srgbClr val="C4CBD0"/>
          </a:solidFill>
          <a:ln>
            <a:noFill/>
          </a:ln>
        </p:spPr>
        <p:txBody>
          <a:bodyPr rtlCol="0" anchor="ctr"/>
          <a:lstStyle/>
          <a:p>
            <a:pPr algn="ctr"/>
          </a:p>
        </p:txBody>
      </p:sp>
      <p:sp>
        <p:nvSpPr>
          <p:cNvPr id="34" name="Rectangle 33"/>
          <p:cNvSpPr/>
          <p:nvPr/>
        </p:nvSpPr>
        <p:spPr>
          <a:xfrm>
            <a:off x="640080" y="3419856"/>
            <a:ext cx="457200" cy="256032"/>
          </a:xfrm>
          <a:prstGeom prst="rect">
            <a:avLst/>
          </a:prstGeom>
          <a:solidFill>
            <a:srgbClr val="2F8F83"/>
          </a:solidFill>
          <a:ln w="15875">
            <a:solidFill>
              <a:srgbClr val="10263F"/>
            </a:solidFill>
          </a:ln>
        </p:spPr>
        <p:txBody>
          <a:bodyPr rtlCol="0" anchor="ctr"/>
          <a:lstStyle/>
          <a:p>
            <a:pPr algn="ctr"/>
          </a:p>
        </p:txBody>
      </p:sp>
      <p:sp>
        <p:nvSpPr>
          <p:cNvPr id="35" name="Rectangle 34"/>
          <p:cNvSpPr/>
          <p:nvPr/>
        </p:nvSpPr>
        <p:spPr>
          <a:xfrm>
            <a:off x="731519" y="3465575"/>
            <a:ext cx="7315" cy="164592"/>
          </a:xfrm>
          <a:prstGeom prst="rect">
            <a:avLst/>
          </a:prstGeom>
          <a:solidFill>
            <a:srgbClr val="257268"/>
          </a:solidFill>
          <a:ln>
            <a:noFill/>
          </a:ln>
        </p:spPr>
        <p:txBody>
          <a:bodyPr rtlCol="0" anchor="ctr"/>
          <a:lstStyle/>
          <a:p>
            <a:pPr algn="ctr"/>
          </a:p>
        </p:txBody>
      </p:sp>
      <p:sp>
        <p:nvSpPr>
          <p:cNvPr id="36" name="Rectangle 35"/>
          <p:cNvSpPr/>
          <p:nvPr/>
        </p:nvSpPr>
        <p:spPr>
          <a:xfrm>
            <a:off x="822959" y="3465575"/>
            <a:ext cx="7315" cy="164592"/>
          </a:xfrm>
          <a:prstGeom prst="rect">
            <a:avLst/>
          </a:prstGeom>
          <a:solidFill>
            <a:srgbClr val="257268"/>
          </a:solidFill>
          <a:ln>
            <a:noFill/>
          </a:ln>
        </p:spPr>
        <p:txBody>
          <a:bodyPr rtlCol="0" anchor="ctr"/>
          <a:lstStyle/>
          <a:p>
            <a:pPr algn="ctr"/>
          </a:p>
        </p:txBody>
      </p:sp>
      <p:sp>
        <p:nvSpPr>
          <p:cNvPr id="37" name="Rectangle 36"/>
          <p:cNvSpPr/>
          <p:nvPr/>
        </p:nvSpPr>
        <p:spPr>
          <a:xfrm>
            <a:off x="914400" y="3465575"/>
            <a:ext cx="7315" cy="164592"/>
          </a:xfrm>
          <a:prstGeom prst="rect">
            <a:avLst/>
          </a:prstGeom>
          <a:solidFill>
            <a:srgbClr val="257268"/>
          </a:solidFill>
          <a:ln>
            <a:noFill/>
          </a:ln>
        </p:spPr>
        <p:txBody>
          <a:bodyPr rtlCol="0" anchor="ctr"/>
          <a:lstStyle/>
          <a:p>
            <a:pPr algn="ctr"/>
          </a:p>
        </p:txBody>
      </p:sp>
      <p:sp>
        <p:nvSpPr>
          <p:cNvPr id="38" name="Rectangle 37"/>
          <p:cNvSpPr/>
          <p:nvPr/>
        </p:nvSpPr>
        <p:spPr>
          <a:xfrm>
            <a:off x="1005840" y="3465575"/>
            <a:ext cx="7315" cy="164592"/>
          </a:xfrm>
          <a:prstGeom prst="rect">
            <a:avLst/>
          </a:prstGeom>
          <a:solidFill>
            <a:srgbClr val="257268"/>
          </a:solidFill>
          <a:ln>
            <a:noFill/>
          </a:ln>
        </p:spPr>
        <p:txBody>
          <a:bodyPr rtlCol="0" anchor="ctr"/>
          <a:lstStyle/>
          <a:p>
            <a:pPr algn="ctr"/>
          </a:p>
        </p:txBody>
      </p:sp>
      <p:sp>
        <p:nvSpPr>
          <p:cNvPr id="39" name="TextBox 38"/>
          <p:cNvSpPr txBox="1"/>
          <p:nvPr/>
        </p:nvSpPr>
        <p:spPr>
          <a:xfrm>
            <a:off x="1325880" y="3218688"/>
            <a:ext cx="1828800" cy="658368"/>
          </a:xfrm>
          <a:prstGeom prst="rect">
            <a:avLst/>
          </a:prstGeom>
          <a:noFill/>
        </p:spPr>
        <p:txBody>
          <a:bodyPr wrap="square" lIns="0" rIns="0" tIns="0" bIns="0" anchor="ctr">
            <a:noAutofit/>
          </a:bodyPr>
          <a:lstStyle/>
          <a:p>
            <a:pPr algn="l">
              <a:lnSpc>
                <a:spcPct val="105000"/>
              </a:lnSpc>
              <a:spcBef>
                <a:spcPts val="0"/>
              </a:spcBef>
              <a:spcAft>
                <a:spcPts val="0"/>
              </a:spcAft>
            </a:pPr>
            <a:r>
              <a:rPr sz="1400" b="1" i="0">
                <a:solidFill>
                  <a:srgbClr val="10263F"/>
                </a:solidFill>
                <a:latin typeface="Georgia"/>
              </a:rPr>
              <a:t>Test</a:t>
            </a:r>
          </a:p>
        </p:txBody>
      </p:sp>
      <p:sp>
        <p:nvSpPr>
          <p:cNvPr id="40" name="TextBox 39"/>
          <p:cNvSpPr txBox="1"/>
          <p:nvPr/>
        </p:nvSpPr>
        <p:spPr>
          <a:xfrm>
            <a:off x="3246120" y="3218688"/>
            <a:ext cx="6126480" cy="658368"/>
          </a:xfrm>
          <a:prstGeom prst="rect">
            <a:avLst/>
          </a:prstGeom>
          <a:noFill/>
        </p:spPr>
        <p:txBody>
          <a:bodyPr wrap="square" lIns="0" rIns="0" tIns="0" bIns="0" anchor="ctr">
            <a:noAutofit/>
          </a:bodyPr>
          <a:lstStyle/>
          <a:p>
            <a:pPr algn="l">
              <a:lnSpc>
                <a:spcPct val="110000"/>
              </a:lnSpc>
              <a:spcBef>
                <a:spcPts val="0"/>
              </a:spcBef>
              <a:spcAft>
                <a:spcPts val="0"/>
              </a:spcAft>
            </a:pPr>
            <a:r>
              <a:rPr sz="1250" b="0" i="0">
                <a:solidFill>
                  <a:srgbClr val="4A5A6B"/>
                </a:solidFill>
                <a:latin typeface="Arial"/>
              </a:rPr>
              <a:t>I wrote the tests first: unit tests, plus integration tests that use real Docker, Traefik and pack.</a:t>
            </a:r>
          </a:p>
        </p:txBody>
      </p:sp>
      <p:sp>
        <p:nvSpPr>
          <p:cNvPr id="41" name="TextBox 40"/>
          <p:cNvSpPr txBox="1"/>
          <p:nvPr/>
        </p:nvSpPr>
        <p:spPr>
          <a:xfrm>
            <a:off x="9509759" y="3218688"/>
            <a:ext cx="2011680" cy="658368"/>
          </a:xfrm>
          <a:prstGeom prst="rect">
            <a:avLst/>
          </a:prstGeom>
          <a:noFill/>
        </p:spPr>
        <p:txBody>
          <a:bodyPr wrap="square" lIns="0" rIns="0" tIns="0" bIns="0" anchor="ctr">
            <a:noAutofit/>
          </a:bodyPr>
          <a:lstStyle/>
          <a:p>
            <a:pPr algn="l">
              <a:lnSpc>
                <a:spcPct val="110000"/>
              </a:lnSpc>
              <a:spcBef>
                <a:spcPts val="0"/>
              </a:spcBef>
              <a:spcAft>
                <a:spcPts val="0"/>
              </a:spcAft>
            </a:pPr>
            <a:r>
              <a:rPr sz="1250" b="0" i="0">
                <a:solidFill>
                  <a:srgbClr val="4A5A6B"/>
                </a:solidFill>
                <a:latin typeface="Arial"/>
              </a:rPr>
              <a:t>Vitest</a:t>
            </a:r>
          </a:p>
        </p:txBody>
      </p:sp>
      <p:sp>
        <p:nvSpPr>
          <p:cNvPr id="42" name="Rectangle 41"/>
          <p:cNvSpPr/>
          <p:nvPr/>
        </p:nvSpPr>
        <p:spPr>
          <a:xfrm>
            <a:off x="640080" y="3877056"/>
            <a:ext cx="10908792" cy="10972"/>
          </a:xfrm>
          <a:prstGeom prst="rect">
            <a:avLst/>
          </a:prstGeom>
          <a:solidFill>
            <a:srgbClr val="C4CBD0"/>
          </a:solidFill>
          <a:ln>
            <a:noFill/>
          </a:ln>
        </p:spPr>
        <p:txBody>
          <a:bodyPr rtlCol="0" anchor="ctr"/>
          <a:lstStyle/>
          <a:p>
            <a:pPr algn="ctr"/>
          </a:p>
        </p:txBody>
      </p:sp>
      <p:sp>
        <p:nvSpPr>
          <p:cNvPr id="43" name="Rectangle 42"/>
          <p:cNvSpPr/>
          <p:nvPr/>
        </p:nvSpPr>
        <p:spPr>
          <a:xfrm>
            <a:off x="640080" y="4078224"/>
            <a:ext cx="457200" cy="256032"/>
          </a:xfrm>
          <a:prstGeom prst="rect">
            <a:avLst/>
          </a:prstGeom>
          <a:solidFill>
            <a:srgbClr val="E58A2B"/>
          </a:solidFill>
          <a:ln w="15875">
            <a:solidFill>
              <a:srgbClr val="10263F"/>
            </a:solidFill>
          </a:ln>
        </p:spPr>
        <p:txBody>
          <a:bodyPr rtlCol="0" anchor="ctr"/>
          <a:lstStyle/>
          <a:p>
            <a:pPr algn="ctr"/>
          </a:p>
        </p:txBody>
      </p:sp>
      <p:sp>
        <p:nvSpPr>
          <p:cNvPr id="44" name="Rectangle 43"/>
          <p:cNvSpPr/>
          <p:nvPr/>
        </p:nvSpPr>
        <p:spPr>
          <a:xfrm>
            <a:off x="731519" y="4123944"/>
            <a:ext cx="7315" cy="164592"/>
          </a:xfrm>
          <a:prstGeom prst="rect">
            <a:avLst/>
          </a:prstGeom>
          <a:solidFill>
            <a:srgbClr val="B76E22"/>
          </a:solidFill>
          <a:ln>
            <a:noFill/>
          </a:ln>
        </p:spPr>
        <p:txBody>
          <a:bodyPr rtlCol="0" anchor="ctr"/>
          <a:lstStyle/>
          <a:p>
            <a:pPr algn="ctr"/>
          </a:p>
        </p:txBody>
      </p:sp>
      <p:sp>
        <p:nvSpPr>
          <p:cNvPr id="45" name="Rectangle 44"/>
          <p:cNvSpPr/>
          <p:nvPr/>
        </p:nvSpPr>
        <p:spPr>
          <a:xfrm>
            <a:off x="822959" y="4123944"/>
            <a:ext cx="7315" cy="164592"/>
          </a:xfrm>
          <a:prstGeom prst="rect">
            <a:avLst/>
          </a:prstGeom>
          <a:solidFill>
            <a:srgbClr val="B76E22"/>
          </a:solidFill>
          <a:ln>
            <a:noFill/>
          </a:ln>
        </p:spPr>
        <p:txBody>
          <a:bodyPr rtlCol="0" anchor="ctr"/>
          <a:lstStyle/>
          <a:p>
            <a:pPr algn="ctr"/>
          </a:p>
        </p:txBody>
      </p:sp>
      <p:sp>
        <p:nvSpPr>
          <p:cNvPr id="46" name="Rectangle 45"/>
          <p:cNvSpPr/>
          <p:nvPr/>
        </p:nvSpPr>
        <p:spPr>
          <a:xfrm>
            <a:off x="914400" y="4123944"/>
            <a:ext cx="7315" cy="164592"/>
          </a:xfrm>
          <a:prstGeom prst="rect">
            <a:avLst/>
          </a:prstGeom>
          <a:solidFill>
            <a:srgbClr val="B76E22"/>
          </a:solidFill>
          <a:ln>
            <a:noFill/>
          </a:ln>
        </p:spPr>
        <p:txBody>
          <a:bodyPr rtlCol="0" anchor="ctr"/>
          <a:lstStyle/>
          <a:p>
            <a:pPr algn="ctr"/>
          </a:p>
        </p:txBody>
      </p:sp>
      <p:sp>
        <p:nvSpPr>
          <p:cNvPr id="47" name="Rectangle 46"/>
          <p:cNvSpPr/>
          <p:nvPr/>
        </p:nvSpPr>
        <p:spPr>
          <a:xfrm>
            <a:off x="1005840" y="4123944"/>
            <a:ext cx="7315" cy="164592"/>
          </a:xfrm>
          <a:prstGeom prst="rect">
            <a:avLst/>
          </a:prstGeom>
          <a:solidFill>
            <a:srgbClr val="B76E22"/>
          </a:solidFill>
          <a:ln>
            <a:noFill/>
          </a:ln>
        </p:spPr>
        <p:txBody>
          <a:bodyPr rtlCol="0" anchor="ctr"/>
          <a:lstStyle/>
          <a:p>
            <a:pPr algn="ctr"/>
          </a:p>
        </p:txBody>
      </p:sp>
      <p:sp>
        <p:nvSpPr>
          <p:cNvPr id="48" name="TextBox 47"/>
          <p:cNvSpPr txBox="1"/>
          <p:nvPr/>
        </p:nvSpPr>
        <p:spPr>
          <a:xfrm>
            <a:off x="1325880" y="3877056"/>
            <a:ext cx="1828800" cy="658368"/>
          </a:xfrm>
          <a:prstGeom prst="rect">
            <a:avLst/>
          </a:prstGeom>
          <a:noFill/>
        </p:spPr>
        <p:txBody>
          <a:bodyPr wrap="square" lIns="0" rIns="0" tIns="0" bIns="0" anchor="ctr">
            <a:noAutofit/>
          </a:bodyPr>
          <a:lstStyle/>
          <a:p>
            <a:pPr algn="l">
              <a:lnSpc>
                <a:spcPct val="105000"/>
              </a:lnSpc>
              <a:spcBef>
                <a:spcPts val="0"/>
              </a:spcBef>
              <a:spcAft>
                <a:spcPts val="0"/>
              </a:spcAft>
            </a:pPr>
            <a:r>
              <a:rPr sz="1400" b="1" i="0">
                <a:solidFill>
                  <a:srgbClr val="10263F"/>
                </a:solidFill>
                <a:latin typeface="Georgia"/>
              </a:rPr>
              <a:t>Containerize</a:t>
            </a:r>
          </a:p>
        </p:txBody>
      </p:sp>
      <p:sp>
        <p:nvSpPr>
          <p:cNvPr id="49" name="TextBox 48"/>
          <p:cNvSpPr txBox="1"/>
          <p:nvPr/>
        </p:nvSpPr>
        <p:spPr>
          <a:xfrm>
            <a:off x="3246120" y="3877056"/>
            <a:ext cx="6126480" cy="658368"/>
          </a:xfrm>
          <a:prstGeom prst="rect">
            <a:avLst/>
          </a:prstGeom>
          <a:noFill/>
        </p:spPr>
        <p:txBody>
          <a:bodyPr wrap="square" lIns="0" rIns="0" tIns="0" bIns="0" anchor="ctr">
            <a:noAutofit/>
          </a:bodyPr>
          <a:lstStyle/>
          <a:p>
            <a:pPr algn="l">
              <a:lnSpc>
                <a:spcPct val="110000"/>
              </a:lnSpc>
              <a:spcBef>
                <a:spcPts val="0"/>
              </a:spcBef>
              <a:spcAft>
                <a:spcPts val="0"/>
              </a:spcAft>
            </a:pPr>
            <a:r>
              <a:rPr sz="1250" b="0" i="0">
                <a:solidFill>
                  <a:srgbClr val="4A5A6B"/>
                </a:solidFill>
                <a:latin typeface="Arial"/>
              </a:rPr>
              <a:t>Every deployment runs in its own container, with environment variables and memory and CPU limits.</a:t>
            </a:r>
          </a:p>
        </p:txBody>
      </p:sp>
      <p:sp>
        <p:nvSpPr>
          <p:cNvPr id="50" name="TextBox 49"/>
          <p:cNvSpPr txBox="1"/>
          <p:nvPr/>
        </p:nvSpPr>
        <p:spPr>
          <a:xfrm>
            <a:off x="9509759" y="3877056"/>
            <a:ext cx="2011680" cy="658368"/>
          </a:xfrm>
          <a:prstGeom prst="rect">
            <a:avLst/>
          </a:prstGeom>
          <a:noFill/>
        </p:spPr>
        <p:txBody>
          <a:bodyPr wrap="square" lIns="0" rIns="0" tIns="0" bIns="0" anchor="ctr">
            <a:noAutofit/>
          </a:bodyPr>
          <a:lstStyle/>
          <a:p>
            <a:pPr algn="l">
              <a:lnSpc>
                <a:spcPct val="110000"/>
              </a:lnSpc>
              <a:spcBef>
                <a:spcPts val="0"/>
              </a:spcBef>
              <a:spcAft>
                <a:spcPts val="0"/>
              </a:spcAft>
            </a:pPr>
            <a:r>
              <a:rPr sz="1250" b="0" i="0">
                <a:solidFill>
                  <a:srgbClr val="4A5A6B"/>
                </a:solidFill>
                <a:latin typeface="Arial"/>
              </a:rPr>
              <a:t>Docker</a:t>
            </a:r>
          </a:p>
        </p:txBody>
      </p:sp>
      <p:sp>
        <p:nvSpPr>
          <p:cNvPr id="51" name="Rectangle 50"/>
          <p:cNvSpPr/>
          <p:nvPr/>
        </p:nvSpPr>
        <p:spPr>
          <a:xfrm>
            <a:off x="640080" y="4535424"/>
            <a:ext cx="10908792" cy="10972"/>
          </a:xfrm>
          <a:prstGeom prst="rect">
            <a:avLst/>
          </a:prstGeom>
          <a:solidFill>
            <a:srgbClr val="C4CBD0"/>
          </a:solidFill>
          <a:ln>
            <a:noFill/>
          </a:ln>
        </p:spPr>
        <p:txBody>
          <a:bodyPr rtlCol="0" anchor="ctr"/>
          <a:lstStyle/>
          <a:p>
            <a:pPr algn="ctr"/>
          </a:p>
        </p:txBody>
      </p:sp>
      <p:sp>
        <p:nvSpPr>
          <p:cNvPr id="52" name="Rectangle 51"/>
          <p:cNvSpPr/>
          <p:nvPr/>
        </p:nvSpPr>
        <p:spPr>
          <a:xfrm>
            <a:off x="640080" y="4736592"/>
            <a:ext cx="457200" cy="256032"/>
          </a:xfrm>
          <a:prstGeom prst="rect">
            <a:avLst/>
          </a:prstGeom>
          <a:solidFill>
            <a:srgbClr val="2B6CA3"/>
          </a:solidFill>
          <a:ln w="15875">
            <a:solidFill>
              <a:srgbClr val="10263F"/>
            </a:solidFill>
          </a:ln>
        </p:spPr>
        <p:txBody>
          <a:bodyPr rtlCol="0" anchor="ctr"/>
          <a:lstStyle/>
          <a:p>
            <a:pPr algn="ctr"/>
          </a:p>
        </p:txBody>
      </p:sp>
      <p:sp>
        <p:nvSpPr>
          <p:cNvPr id="53" name="Rectangle 52"/>
          <p:cNvSpPr/>
          <p:nvPr/>
        </p:nvSpPr>
        <p:spPr>
          <a:xfrm>
            <a:off x="731519" y="4782312"/>
            <a:ext cx="7315" cy="164592"/>
          </a:xfrm>
          <a:prstGeom prst="rect">
            <a:avLst/>
          </a:prstGeom>
          <a:solidFill>
            <a:srgbClr val="225682"/>
          </a:solidFill>
          <a:ln>
            <a:noFill/>
          </a:ln>
        </p:spPr>
        <p:txBody>
          <a:bodyPr rtlCol="0" anchor="ctr"/>
          <a:lstStyle/>
          <a:p>
            <a:pPr algn="ctr"/>
          </a:p>
        </p:txBody>
      </p:sp>
      <p:sp>
        <p:nvSpPr>
          <p:cNvPr id="54" name="Rectangle 53"/>
          <p:cNvSpPr/>
          <p:nvPr/>
        </p:nvSpPr>
        <p:spPr>
          <a:xfrm>
            <a:off x="822959" y="4782312"/>
            <a:ext cx="7315" cy="164592"/>
          </a:xfrm>
          <a:prstGeom prst="rect">
            <a:avLst/>
          </a:prstGeom>
          <a:solidFill>
            <a:srgbClr val="225682"/>
          </a:solidFill>
          <a:ln>
            <a:noFill/>
          </a:ln>
        </p:spPr>
        <p:txBody>
          <a:bodyPr rtlCol="0" anchor="ctr"/>
          <a:lstStyle/>
          <a:p>
            <a:pPr algn="ctr"/>
          </a:p>
        </p:txBody>
      </p:sp>
      <p:sp>
        <p:nvSpPr>
          <p:cNvPr id="55" name="Rectangle 54"/>
          <p:cNvSpPr/>
          <p:nvPr/>
        </p:nvSpPr>
        <p:spPr>
          <a:xfrm>
            <a:off x="914400" y="4782312"/>
            <a:ext cx="7315" cy="164592"/>
          </a:xfrm>
          <a:prstGeom prst="rect">
            <a:avLst/>
          </a:prstGeom>
          <a:solidFill>
            <a:srgbClr val="225682"/>
          </a:solidFill>
          <a:ln>
            <a:noFill/>
          </a:ln>
        </p:spPr>
        <p:txBody>
          <a:bodyPr rtlCol="0" anchor="ctr"/>
          <a:lstStyle/>
          <a:p>
            <a:pPr algn="ctr"/>
          </a:p>
        </p:txBody>
      </p:sp>
      <p:sp>
        <p:nvSpPr>
          <p:cNvPr id="56" name="Rectangle 55"/>
          <p:cNvSpPr/>
          <p:nvPr/>
        </p:nvSpPr>
        <p:spPr>
          <a:xfrm>
            <a:off x="1005840" y="4782312"/>
            <a:ext cx="7315" cy="164592"/>
          </a:xfrm>
          <a:prstGeom prst="rect">
            <a:avLst/>
          </a:prstGeom>
          <a:solidFill>
            <a:srgbClr val="225682"/>
          </a:solidFill>
          <a:ln>
            <a:noFill/>
          </a:ln>
        </p:spPr>
        <p:txBody>
          <a:bodyPr rtlCol="0" anchor="ctr"/>
          <a:lstStyle/>
          <a:p>
            <a:pPr algn="ctr"/>
          </a:p>
        </p:txBody>
      </p:sp>
      <p:sp>
        <p:nvSpPr>
          <p:cNvPr id="57" name="TextBox 56"/>
          <p:cNvSpPr txBox="1"/>
          <p:nvPr/>
        </p:nvSpPr>
        <p:spPr>
          <a:xfrm>
            <a:off x="1325880" y="4535424"/>
            <a:ext cx="1828800" cy="658368"/>
          </a:xfrm>
          <a:prstGeom prst="rect">
            <a:avLst/>
          </a:prstGeom>
          <a:noFill/>
        </p:spPr>
        <p:txBody>
          <a:bodyPr wrap="square" lIns="0" rIns="0" tIns="0" bIns="0" anchor="ctr">
            <a:noAutofit/>
          </a:bodyPr>
          <a:lstStyle/>
          <a:p>
            <a:pPr algn="l">
              <a:lnSpc>
                <a:spcPct val="105000"/>
              </a:lnSpc>
              <a:spcBef>
                <a:spcPts val="0"/>
              </a:spcBef>
              <a:spcAft>
                <a:spcPts val="0"/>
              </a:spcAft>
            </a:pPr>
            <a:r>
              <a:rPr sz="1400" b="1" i="0">
                <a:solidFill>
                  <a:srgbClr val="10263F"/>
                </a:solidFill>
                <a:latin typeface="Georgia"/>
              </a:rPr>
              <a:t>Deploy</a:t>
            </a:r>
          </a:p>
        </p:txBody>
      </p:sp>
      <p:sp>
        <p:nvSpPr>
          <p:cNvPr id="58" name="TextBox 57"/>
          <p:cNvSpPr txBox="1"/>
          <p:nvPr/>
        </p:nvSpPr>
        <p:spPr>
          <a:xfrm>
            <a:off x="3246120" y="4535424"/>
            <a:ext cx="6126480" cy="658368"/>
          </a:xfrm>
          <a:prstGeom prst="rect">
            <a:avLst/>
          </a:prstGeom>
          <a:noFill/>
        </p:spPr>
        <p:txBody>
          <a:bodyPr wrap="square" lIns="0" rIns="0" tIns="0" bIns="0" anchor="ctr">
            <a:noAutofit/>
          </a:bodyPr>
          <a:lstStyle/>
          <a:p>
            <a:pPr algn="l">
              <a:lnSpc>
                <a:spcPct val="110000"/>
              </a:lnSpc>
              <a:spcBef>
                <a:spcPts val="0"/>
              </a:spcBef>
              <a:spcAft>
                <a:spcPts val="0"/>
              </a:spcAft>
            </a:pPr>
            <a:r>
              <a:rPr sz="1250" b="0" i="0">
                <a:solidFill>
                  <a:srgbClr val="4A5A6B"/>
                </a:solidFill>
                <a:latin typeface="Arial"/>
              </a:rPr>
              <a:t>Each branch gets a preview. The default branch goes to production, and you can roll back.</a:t>
            </a:r>
          </a:p>
        </p:txBody>
      </p:sp>
      <p:sp>
        <p:nvSpPr>
          <p:cNvPr id="59" name="TextBox 58"/>
          <p:cNvSpPr txBox="1"/>
          <p:nvPr/>
        </p:nvSpPr>
        <p:spPr>
          <a:xfrm>
            <a:off x="9509759" y="4535424"/>
            <a:ext cx="2011680" cy="658368"/>
          </a:xfrm>
          <a:prstGeom prst="rect">
            <a:avLst/>
          </a:prstGeom>
          <a:noFill/>
        </p:spPr>
        <p:txBody>
          <a:bodyPr wrap="square" lIns="0" rIns="0" tIns="0" bIns="0" anchor="ctr">
            <a:noAutofit/>
          </a:bodyPr>
          <a:lstStyle/>
          <a:p>
            <a:pPr algn="l">
              <a:lnSpc>
                <a:spcPct val="110000"/>
              </a:lnSpc>
              <a:spcBef>
                <a:spcPts val="0"/>
              </a:spcBef>
              <a:spcAft>
                <a:spcPts val="0"/>
              </a:spcAft>
            </a:pPr>
            <a:r>
              <a:rPr sz="1250" b="0" i="0">
                <a:solidFill>
                  <a:srgbClr val="4A5A6B"/>
                </a:solidFill>
                <a:latin typeface="Arial"/>
              </a:rPr>
              <a:t>Traefik, Cloudflare Tunnel</a:t>
            </a:r>
          </a:p>
        </p:txBody>
      </p:sp>
      <p:sp>
        <p:nvSpPr>
          <p:cNvPr id="60" name="Rectangle 59"/>
          <p:cNvSpPr/>
          <p:nvPr/>
        </p:nvSpPr>
        <p:spPr>
          <a:xfrm>
            <a:off x="640080" y="5193792"/>
            <a:ext cx="10908792" cy="10972"/>
          </a:xfrm>
          <a:prstGeom prst="rect">
            <a:avLst/>
          </a:prstGeom>
          <a:solidFill>
            <a:srgbClr val="C4CBD0"/>
          </a:solidFill>
          <a:ln>
            <a:noFill/>
          </a:ln>
        </p:spPr>
        <p:txBody>
          <a:bodyPr rtlCol="0" anchor="ctr"/>
          <a:lstStyle/>
          <a:p>
            <a:pPr algn="ctr"/>
          </a:p>
        </p:txBody>
      </p:sp>
      <p:sp>
        <p:nvSpPr>
          <p:cNvPr id="61" name="Rectangle 60"/>
          <p:cNvSpPr/>
          <p:nvPr/>
        </p:nvSpPr>
        <p:spPr>
          <a:xfrm>
            <a:off x="640080" y="5394960"/>
            <a:ext cx="457200" cy="256032"/>
          </a:xfrm>
          <a:prstGeom prst="rect">
            <a:avLst/>
          </a:prstGeom>
          <a:solidFill>
            <a:srgbClr val="C8472D"/>
          </a:solidFill>
          <a:ln w="15875">
            <a:solidFill>
              <a:srgbClr val="10263F"/>
            </a:solidFill>
          </a:ln>
        </p:spPr>
        <p:txBody>
          <a:bodyPr rtlCol="0" anchor="ctr"/>
          <a:lstStyle/>
          <a:p>
            <a:pPr algn="ctr"/>
          </a:p>
        </p:txBody>
      </p:sp>
      <p:sp>
        <p:nvSpPr>
          <p:cNvPr id="62" name="Rectangle 61"/>
          <p:cNvSpPr/>
          <p:nvPr/>
        </p:nvSpPr>
        <p:spPr>
          <a:xfrm>
            <a:off x="731519" y="5440680"/>
            <a:ext cx="7315" cy="164592"/>
          </a:xfrm>
          <a:prstGeom prst="rect">
            <a:avLst/>
          </a:prstGeom>
          <a:solidFill>
            <a:srgbClr val="A03824"/>
          </a:solidFill>
          <a:ln>
            <a:noFill/>
          </a:ln>
        </p:spPr>
        <p:txBody>
          <a:bodyPr rtlCol="0" anchor="ctr"/>
          <a:lstStyle/>
          <a:p>
            <a:pPr algn="ctr"/>
          </a:p>
        </p:txBody>
      </p:sp>
      <p:sp>
        <p:nvSpPr>
          <p:cNvPr id="63" name="Rectangle 62"/>
          <p:cNvSpPr/>
          <p:nvPr/>
        </p:nvSpPr>
        <p:spPr>
          <a:xfrm>
            <a:off x="822959" y="5440680"/>
            <a:ext cx="7315" cy="164592"/>
          </a:xfrm>
          <a:prstGeom prst="rect">
            <a:avLst/>
          </a:prstGeom>
          <a:solidFill>
            <a:srgbClr val="A03824"/>
          </a:solidFill>
          <a:ln>
            <a:noFill/>
          </a:ln>
        </p:spPr>
        <p:txBody>
          <a:bodyPr rtlCol="0" anchor="ctr"/>
          <a:lstStyle/>
          <a:p>
            <a:pPr algn="ctr"/>
          </a:p>
        </p:txBody>
      </p:sp>
      <p:sp>
        <p:nvSpPr>
          <p:cNvPr id="64" name="Rectangle 63"/>
          <p:cNvSpPr/>
          <p:nvPr/>
        </p:nvSpPr>
        <p:spPr>
          <a:xfrm>
            <a:off x="914400" y="5440680"/>
            <a:ext cx="7315" cy="164592"/>
          </a:xfrm>
          <a:prstGeom prst="rect">
            <a:avLst/>
          </a:prstGeom>
          <a:solidFill>
            <a:srgbClr val="A03824"/>
          </a:solidFill>
          <a:ln>
            <a:noFill/>
          </a:ln>
        </p:spPr>
        <p:txBody>
          <a:bodyPr rtlCol="0" anchor="ctr"/>
          <a:lstStyle/>
          <a:p>
            <a:pPr algn="ctr"/>
          </a:p>
        </p:txBody>
      </p:sp>
      <p:sp>
        <p:nvSpPr>
          <p:cNvPr id="65" name="Rectangle 64"/>
          <p:cNvSpPr/>
          <p:nvPr/>
        </p:nvSpPr>
        <p:spPr>
          <a:xfrm>
            <a:off x="1005840" y="5440680"/>
            <a:ext cx="7315" cy="164592"/>
          </a:xfrm>
          <a:prstGeom prst="rect">
            <a:avLst/>
          </a:prstGeom>
          <a:solidFill>
            <a:srgbClr val="A03824"/>
          </a:solidFill>
          <a:ln>
            <a:noFill/>
          </a:ln>
        </p:spPr>
        <p:txBody>
          <a:bodyPr rtlCol="0" anchor="ctr"/>
          <a:lstStyle/>
          <a:p>
            <a:pPr algn="ctr"/>
          </a:p>
        </p:txBody>
      </p:sp>
      <p:sp>
        <p:nvSpPr>
          <p:cNvPr id="66" name="TextBox 65"/>
          <p:cNvSpPr txBox="1"/>
          <p:nvPr/>
        </p:nvSpPr>
        <p:spPr>
          <a:xfrm>
            <a:off x="1325880" y="5193792"/>
            <a:ext cx="1828800" cy="658368"/>
          </a:xfrm>
          <a:prstGeom prst="rect">
            <a:avLst/>
          </a:prstGeom>
          <a:noFill/>
        </p:spPr>
        <p:txBody>
          <a:bodyPr wrap="square" lIns="0" rIns="0" tIns="0" bIns="0" anchor="ctr">
            <a:noAutofit/>
          </a:bodyPr>
          <a:lstStyle/>
          <a:p>
            <a:pPr algn="l">
              <a:lnSpc>
                <a:spcPct val="105000"/>
              </a:lnSpc>
              <a:spcBef>
                <a:spcPts val="0"/>
              </a:spcBef>
              <a:spcAft>
                <a:spcPts val="0"/>
              </a:spcAft>
            </a:pPr>
            <a:r>
              <a:rPr sz="1400" b="1" i="0">
                <a:solidFill>
                  <a:srgbClr val="10263F"/>
                </a:solidFill>
                <a:latin typeface="Georgia"/>
              </a:rPr>
              <a:t>Operate</a:t>
            </a:r>
          </a:p>
        </p:txBody>
      </p:sp>
      <p:sp>
        <p:nvSpPr>
          <p:cNvPr id="67" name="TextBox 66"/>
          <p:cNvSpPr txBox="1"/>
          <p:nvPr/>
        </p:nvSpPr>
        <p:spPr>
          <a:xfrm>
            <a:off x="3246120" y="5193792"/>
            <a:ext cx="6126480" cy="658368"/>
          </a:xfrm>
          <a:prstGeom prst="rect">
            <a:avLst/>
          </a:prstGeom>
          <a:noFill/>
        </p:spPr>
        <p:txBody>
          <a:bodyPr wrap="square" lIns="0" rIns="0" tIns="0" bIns="0" anchor="ctr">
            <a:noAutofit/>
          </a:bodyPr>
          <a:lstStyle/>
          <a:p>
            <a:pPr algn="l">
              <a:lnSpc>
                <a:spcPct val="110000"/>
              </a:lnSpc>
              <a:spcBef>
                <a:spcPts val="0"/>
              </a:spcBef>
              <a:spcAft>
                <a:spcPts val="0"/>
              </a:spcAft>
            </a:pPr>
            <a:r>
              <a:rPr sz="1250" b="0" i="0">
                <a:solidFill>
                  <a:srgbClr val="4A5A6B"/>
                </a:solidFill>
                <a:latin typeface="Arial"/>
              </a:rPr>
              <a:t>Live build logs, webhook delivery history, and cleanup when a branch is deleted.</a:t>
            </a:r>
          </a:p>
        </p:txBody>
      </p:sp>
      <p:sp>
        <p:nvSpPr>
          <p:cNvPr id="68" name="TextBox 67"/>
          <p:cNvSpPr txBox="1"/>
          <p:nvPr/>
        </p:nvSpPr>
        <p:spPr>
          <a:xfrm>
            <a:off x="9509759" y="5193792"/>
            <a:ext cx="2011680" cy="658368"/>
          </a:xfrm>
          <a:prstGeom prst="rect">
            <a:avLst/>
          </a:prstGeom>
          <a:noFill/>
        </p:spPr>
        <p:txBody>
          <a:bodyPr wrap="square" lIns="0" rIns="0" tIns="0" bIns="0" anchor="ctr">
            <a:noAutofit/>
          </a:bodyPr>
          <a:lstStyle/>
          <a:p>
            <a:pPr algn="l">
              <a:lnSpc>
                <a:spcPct val="110000"/>
              </a:lnSpc>
              <a:spcBef>
                <a:spcPts val="0"/>
              </a:spcBef>
              <a:spcAft>
                <a:spcPts val="0"/>
              </a:spcAft>
            </a:pPr>
            <a:r>
              <a:rPr sz="1250" b="0" i="0">
                <a:solidFill>
                  <a:srgbClr val="4A5A6B"/>
                </a:solidFill>
                <a:latin typeface="Arial"/>
              </a:rPr>
              <a:t>SSE, SQLite</a:t>
            </a:r>
          </a:p>
        </p:txBody>
      </p:sp>
      <p:sp>
        <p:nvSpPr>
          <p:cNvPr id="69" name="Rectangle 68"/>
          <p:cNvSpPr/>
          <p:nvPr/>
        </p:nvSpPr>
        <p:spPr>
          <a:xfrm>
            <a:off x="640080" y="5852160"/>
            <a:ext cx="10908792" cy="10972"/>
          </a:xfrm>
          <a:prstGeom prst="rect">
            <a:avLst/>
          </a:prstGeom>
          <a:solidFill>
            <a:srgbClr val="C4CBD0"/>
          </a:solidFill>
          <a:ln>
            <a:noFill/>
          </a:ln>
        </p:spPr>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40080" y="731520"/>
            <a:ext cx="566928" cy="310896"/>
          </a:xfrm>
          <a:prstGeom prst="rect">
            <a:avLst/>
          </a:prstGeom>
          <a:solidFill>
            <a:srgbClr val="2B6CA3"/>
          </a:solidFill>
          <a:ln w="15875">
            <a:solidFill>
              <a:srgbClr val="10263F"/>
            </a:solidFill>
          </a:ln>
        </p:spPr>
        <p:txBody>
          <a:bodyPr rtlCol="0" anchor="ctr"/>
          <a:lstStyle/>
          <a:p>
            <a:pPr algn="ctr"/>
          </a:p>
        </p:txBody>
      </p:sp>
      <p:sp>
        <p:nvSpPr>
          <p:cNvPr id="3" name="Rectangle 2"/>
          <p:cNvSpPr/>
          <p:nvPr/>
        </p:nvSpPr>
        <p:spPr>
          <a:xfrm>
            <a:off x="753465" y="777240"/>
            <a:ext cx="7315" cy="219456"/>
          </a:xfrm>
          <a:prstGeom prst="rect">
            <a:avLst/>
          </a:prstGeom>
          <a:solidFill>
            <a:srgbClr val="225682"/>
          </a:solidFill>
          <a:ln>
            <a:noFill/>
          </a:ln>
        </p:spPr>
        <p:txBody>
          <a:bodyPr rtlCol="0" anchor="ctr"/>
          <a:lstStyle/>
          <a:p>
            <a:pPr algn="ctr"/>
          </a:p>
        </p:txBody>
      </p:sp>
      <p:sp>
        <p:nvSpPr>
          <p:cNvPr id="4" name="Rectangle 3"/>
          <p:cNvSpPr/>
          <p:nvPr/>
        </p:nvSpPr>
        <p:spPr>
          <a:xfrm>
            <a:off x="866851" y="777240"/>
            <a:ext cx="7315" cy="219456"/>
          </a:xfrm>
          <a:prstGeom prst="rect">
            <a:avLst/>
          </a:prstGeom>
          <a:solidFill>
            <a:srgbClr val="225682"/>
          </a:solidFill>
          <a:ln>
            <a:noFill/>
          </a:ln>
        </p:spPr>
        <p:txBody>
          <a:bodyPr rtlCol="0" anchor="ctr"/>
          <a:lstStyle/>
          <a:p>
            <a:pPr algn="ctr"/>
          </a:p>
        </p:txBody>
      </p:sp>
      <p:sp>
        <p:nvSpPr>
          <p:cNvPr id="5" name="Rectangle 4"/>
          <p:cNvSpPr/>
          <p:nvPr/>
        </p:nvSpPr>
        <p:spPr>
          <a:xfrm>
            <a:off x="980236" y="777240"/>
            <a:ext cx="7315" cy="219456"/>
          </a:xfrm>
          <a:prstGeom prst="rect">
            <a:avLst/>
          </a:prstGeom>
          <a:solidFill>
            <a:srgbClr val="225682"/>
          </a:solidFill>
          <a:ln>
            <a:noFill/>
          </a:ln>
        </p:spPr>
        <p:txBody>
          <a:bodyPr rtlCol="0" anchor="ctr"/>
          <a:lstStyle/>
          <a:p>
            <a:pPr algn="ctr"/>
          </a:p>
        </p:txBody>
      </p:sp>
      <p:sp>
        <p:nvSpPr>
          <p:cNvPr id="6" name="Rectangle 5"/>
          <p:cNvSpPr/>
          <p:nvPr/>
        </p:nvSpPr>
        <p:spPr>
          <a:xfrm>
            <a:off x="1093622" y="777240"/>
            <a:ext cx="7315" cy="219456"/>
          </a:xfrm>
          <a:prstGeom prst="rect">
            <a:avLst/>
          </a:prstGeom>
          <a:solidFill>
            <a:srgbClr val="225682"/>
          </a:solidFill>
          <a:ln>
            <a:noFill/>
          </a:ln>
        </p:spPr>
        <p:txBody>
          <a:bodyPr rtlCol="0" anchor="ctr"/>
          <a:lstStyle/>
          <a:p>
            <a:pPr algn="ctr"/>
          </a:p>
        </p:txBody>
      </p:sp>
      <p:sp>
        <p:nvSpPr>
          <p:cNvPr id="7" name="TextBox 6"/>
          <p:cNvSpPr txBox="1"/>
          <p:nvPr/>
        </p:nvSpPr>
        <p:spPr>
          <a:xfrm>
            <a:off x="1417320" y="548640"/>
            <a:ext cx="10149840" cy="685800"/>
          </a:xfrm>
          <a:prstGeom prst="rect">
            <a:avLst/>
          </a:prstGeom>
          <a:noFill/>
        </p:spPr>
        <p:txBody>
          <a:bodyPr wrap="square" lIns="0" rIns="0" tIns="0" bIns="0" anchor="ctr">
            <a:noAutofit/>
          </a:bodyPr>
          <a:lstStyle/>
          <a:p>
            <a:pPr algn="l">
              <a:spcBef>
                <a:spcPts val="0"/>
              </a:spcBef>
              <a:spcAft>
                <a:spcPts val="0"/>
              </a:spcAft>
            </a:pPr>
            <a:r>
              <a:rPr sz="3000" b="1" i="0">
                <a:solidFill>
                  <a:srgbClr val="10263F"/>
                </a:solidFill>
                <a:latin typeface="Georgia"/>
              </a:rPr>
              <a:t>The web app</a:t>
            </a:r>
          </a:p>
        </p:txBody>
      </p:sp>
      <p:cxnSp>
        <p:nvCxnSpPr>
          <p:cNvPr id="8" name="Connector 7"/>
          <p:cNvCxnSpPr/>
          <p:nvPr/>
        </p:nvCxnSpPr>
        <p:spPr>
          <a:xfrm>
            <a:off x="640080" y="1335024"/>
            <a:ext cx="10908792" cy="0"/>
          </a:xfrm>
          <a:prstGeom prst="line">
            <a:avLst/>
          </a:prstGeom>
          <a:ln w="15875">
            <a:solidFill>
              <a:srgbClr val="9AA5AE"/>
            </a:solidFill>
            <a:prstDash val="dash"/>
          </a:ln>
        </p:spPr>
      </p:cxnSp>
      <p:pic>
        <p:nvPicPr>
          <p:cNvPr id="9" name="Picture 8" descr="wave_band.png"/>
          <p:cNvPicPr>
            <a:picLocks noChangeAspect="1"/>
          </p:cNvPicPr>
          <p:nvPr/>
        </p:nvPicPr>
        <p:blipFill>
          <a:blip r:embed="rId2"/>
          <a:stretch>
            <a:fillRect/>
          </a:stretch>
        </p:blipFill>
        <p:spPr>
          <a:xfrm>
            <a:off x="0" y="6355080"/>
            <a:ext cx="12191695" cy="502845"/>
          </a:xfrm>
          <a:prstGeom prst="rect">
            <a:avLst/>
          </a:prstGeom>
        </p:spPr>
      </p:pic>
      <p:pic>
        <p:nvPicPr>
          <p:cNvPr id="10" name="Picture 9" descr="tug_small.png"/>
          <p:cNvPicPr>
            <a:picLocks noChangeAspect="1"/>
          </p:cNvPicPr>
          <p:nvPr/>
        </p:nvPicPr>
        <p:blipFill>
          <a:blip r:embed="rId3"/>
          <a:stretch>
            <a:fillRect/>
          </a:stretch>
        </p:blipFill>
        <p:spPr>
          <a:xfrm>
            <a:off x="5797296" y="6078380"/>
            <a:ext cx="566928" cy="450436"/>
          </a:xfrm>
          <a:prstGeom prst="rect">
            <a:avLst/>
          </a:prstGeom>
        </p:spPr>
      </p:pic>
      <p:sp>
        <p:nvSpPr>
          <p:cNvPr id="11" name="TextBox 10"/>
          <p:cNvSpPr txBox="1"/>
          <p:nvPr/>
        </p:nvSpPr>
        <p:spPr>
          <a:xfrm>
            <a:off x="640080" y="6126480"/>
            <a:ext cx="2743200" cy="228600"/>
          </a:xfrm>
          <a:prstGeom prst="rect">
            <a:avLst/>
          </a:prstGeom>
          <a:noFill/>
        </p:spPr>
        <p:txBody>
          <a:bodyPr wrap="square" lIns="0" rIns="0" tIns="0" bIns="0" anchor="ctr">
            <a:noAutofit/>
          </a:bodyPr>
          <a:lstStyle/>
          <a:p>
            <a:pPr algn="l">
              <a:spcBef>
                <a:spcPts val="0"/>
              </a:spcBef>
              <a:spcAft>
                <a:spcPts val="0"/>
              </a:spcAft>
            </a:pPr>
            <a:r>
              <a:rPr sz="1000" b="0" i="0">
                <a:solidFill>
                  <a:srgbClr val="7E8A97"/>
                </a:solidFill>
                <a:latin typeface="Arial"/>
              </a:rPr>
              <a:t>Tugboat   6 / 12</a:t>
            </a:r>
          </a:p>
        </p:txBody>
      </p:sp>
      <p:sp>
        <p:nvSpPr>
          <p:cNvPr id="12" name="Rectangle 11"/>
          <p:cNvSpPr/>
          <p:nvPr/>
        </p:nvSpPr>
        <p:spPr>
          <a:xfrm>
            <a:off x="640080" y="1554480"/>
            <a:ext cx="5394960" cy="10972"/>
          </a:xfrm>
          <a:prstGeom prst="rect">
            <a:avLst/>
          </a:prstGeom>
          <a:solidFill>
            <a:srgbClr val="C4CBD0"/>
          </a:solidFill>
          <a:ln>
            <a:noFill/>
          </a:ln>
        </p:spPr>
        <p:txBody>
          <a:bodyPr rtlCol="0" anchor="ctr"/>
          <a:lstStyle/>
          <a:p>
            <a:pPr algn="ctr"/>
          </a:p>
        </p:txBody>
      </p:sp>
      <p:sp>
        <p:nvSpPr>
          <p:cNvPr id="13" name="Rectangle 12"/>
          <p:cNvSpPr/>
          <p:nvPr/>
        </p:nvSpPr>
        <p:spPr>
          <a:xfrm>
            <a:off x="640080" y="1773936"/>
            <a:ext cx="365760" cy="237744"/>
          </a:xfrm>
          <a:prstGeom prst="rect">
            <a:avLst/>
          </a:prstGeom>
          <a:solidFill>
            <a:srgbClr val="C8472D"/>
          </a:solidFill>
          <a:ln w="15875">
            <a:solidFill>
              <a:srgbClr val="10263F"/>
            </a:solidFill>
          </a:ln>
        </p:spPr>
        <p:txBody>
          <a:bodyPr rtlCol="0" anchor="ctr"/>
          <a:lstStyle/>
          <a:p>
            <a:pPr algn="ctr"/>
          </a:p>
        </p:txBody>
      </p:sp>
      <p:sp>
        <p:nvSpPr>
          <p:cNvPr id="14" name="Rectangle 13"/>
          <p:cNvSpPr/>
          <p:nvPr/>
        </p:nvSpPr>
        <p:spPr>
          <a:xfrm>
            <a:off x="713231" y="1819656"/>
            <a:ext cx="7315" cy="146304"/>
          </a:xfrm>
          <a:prstGeom prst="rect">
            <a:avLst/>
          </a:prstGeom>
          <a:solidFill>
            <a:srgbClr val="A03824"/>
          </a:solidFill>
          <a:ln>
            <a:noFill/>
          </a:ln>
        </p:spPr>
        <p:txBody>
          <a:bodyPr rtlCol="0" anchor="ctr"/>
          <a:lstStyle/>
          <a:p>
            <a:pPr algn="ctr"/>
          </a:p>
        </p:txBody>
      </p:sp>
      <p:sp>
        <p:nvSpPr>
          <p:cNvPr id="15" name="Rectangle 14"/>
          <p:cNvSpPr/>
          <p:nvPr/>
        </p:nvSpPr>
        <p:spPr>
          <a:xfrm>
            <a:off x="786384" y="1819656"/>
            <a:ext cx="7315" cy="146304"/>
          </a:xfrm>
          <a:prstGeom prst="rect">
            <a:avLst/>
          </a:prstGeom>
          <a:solidFill>
            <a:srgbClr val="A03824"/>
          </a:solidFill>
          <a:ln>
            <a:noFill/>
          </a:ln>
        </p:spPr>
        <p:txBody>
          <a:bodyPr rtlCol="0" anchor="ctr"/>
          <a:lstStyle/>
          <a:p>
            <a:pPr algn="ctr"/>
          </a:p>
        </p:txBody>
      </p:sp>
      <p:sp>
        <p:nvSpPr>
          <p:cNvPr id="16" name="Rectangle 15"/>
          <p:cNvSpPr/>
          <p:nvPr/>
        </p:nvSpPr>
        <p:spPr>
          <a:xfrm>
            <a:off x="859536" y="1819656"/>
            <a:ext cx="7315" cy="146304"/>
          </a:xfrm>
          <a:prstGeom prst="rect">
            <a:avLst/>
          </a:prstGeom>
          <a:solidFill>
            <a:srgbClr val="A03824"/>
          </a:solidFill>
          <a:ln>
            <a:noFill/>
          </a:ln>
        </p:spPr>
        <p:txBody>
          <a:bodyPr rtlCol="0" anchor="ctr"/>
          <a:lstStyle/>
          <a:p>
            <a:pPr algn="ctr"/>
          </a:p>
        </p:txBody>
      </p:sp>
      <p:sp>
        <p:nvSpPr>
          <p:cNvPr id="17" name="Rectangle 16"/>
          <p:cNvSpPr/>
          <p:nvPr/>
        </p:nvSpPr>
        <p:spPr>
          <a:xfrm>
            <a:off x="932688" y="1819656"/>
            <a:ext cx="7315" cy="146304"/>
          </a:xfrm>
          <a:prstGeom prst="rect">
            <a:avLst/>
          </a:prstGeom>
          <a:solidFill>
            <a:srgbClr val="A03824"/>
          </a:solidFill>
          <a:ln>
            <a:noFill/>
          </a:ln>
        </p:spPr>
        <p:txBody>
          <a:bodyPr rtlCol="0" anchor="ctr"/>
          <a:lstStyle/>
          <a:p>
            <a:pPr algn="ctr"/>
          </a:p>
        </p:txBody>
      </p:sp>
      <p:sp>
        <p:nvSpPr>
          <p:cNvPr id="18" name="TextBox 17"/>
          <p:cNvSpPr txBox="1"/>
          <p:nvPr/>
        </p:nvSpPr>
        <p:spPr>
          <a:xfrm>
            <a:off x="1188720" y="1554480"/>
            <a:ext cx="4846320" cy="694944"/>
          </a:xfrm>
          <a:prstGeom prst="rect">
            <a:avLst/>
          </a:prstGeom>
          <a:noFill/>
        </p:spPr>
        <p:txBody>
          <a:bodyPr wrap="square" lIns="0" rIns="0" tIns="0" bIns="0" anchor="ctr">
            <a:noAutofit/>
          </a:bodyPr>
          <a:lstStyle/>
          <a:p>
            <a:pPr algn="l">
              <a:lnSpc>
                <a:spcPct val="115000"/>
              </a:lnSpc>
              <a:spcBef>
                <a:spcPts val="0"/>
              </a:spcBef>
              <a:spcAft>
                <a:spcPts val="0"/>
              </a:spcAft>
            </a:pPr>
            <a:r>
              <a:rPr sz="1450" b="0" i="0">
                <a:solidFill>
                  <a:srgbClr val="10263F"/>
                </a:solidFill>
                <a:latin typeface="Arial"/>
              </a:rPr>
              <a:t>Sign in with GitHub. The session survives restarts.</a:t>
            </a:r>
          </a:p>
        </p:txBody>
      </p:sp>
      <p:sp>
        <p:nvSpPr>
          <p:cNvPr id="19" name="Rectangle 18"/>
          <p:cNvSpPr/>
          <p:nvPr/>
        </p:nvSpPr>
        <p:spPr>
          <a:xfrm>
            <a:off x="640080" y="2249424"/>
            <a:ext cx="5394960" cy="10972"/>
          </a:xfrm>
          <a:prstGeom prst="rect">
            <a:avLst/>
          </a:prstGeom>
          <a:solidFill>
            <a:srgbClr val="C4CBD0"/>
          </a:solidFill>
          <a:ln>
            <a:noFill/>
          </a:ln>
        </p:spPr>
        <p:txBody>
          <a:bodyPr rtlCol="0" anchor="ctr"/>
          <a:lstStyle/>
          <a:p>
            <a:pPr algn="ctr"/>
          </a:p>
        </p:txBody>
      </p:sp>
      <p:sp>
        <p:nvSpPr>
          <p:cNvPr id="20" name="Rectangle 19"/>
          <p:cNvSpPr/>
          <p:nvPr/>
        </p:nvSpPr>
        <p:spPr>
          <a:xfrm>
            <a:off x="640080" y="2468880"/>
            <a:ext cx="365760" cy="237744"/>
          </a:xfrm>
          <a:prstGeom prst="rect">
            <a:avLst/>
          </a:prstGeom>
          <a:solidFill>
            <a:srgbClr val="E9B93A"/>
          </a:solidFill>
          <a:ln w="15875">
            <a:solidFill>
              <a:srgbClr val="10263F"/>
            </a:solidFill>
          </a:ln>
        </p:spPr>
        <p:txBody>
          <a:bodyPr rtlCol="0" anchor="ctr"/>
          <a:lstStyle/>
          <a:p>
            <a:pPr algn="ctr"/>
          </a:p>
        </p:txBody>
      </p:sp>
      <p:sp>
        <p:nvSpPr>
          <p:cNvPr id="21" name="Rectangle 20"/>
          <p:cNvSpPr/>
          <p:nvPr/>
        </p:nvSpPr>
        <p:spPr>
          <a:xfrm>
            <a:off x="713231" y="2514600"/>
            <a:ext cx="7315" cy="146304"/>
          </a:xfrm>
          <a:prstGeom prst="rect">
            <a:avLst/>
          </a:prstGeom>
          <a:solidFill>
            <a:srgbClr val="BA942E"/>
          </a:solidFill>
          <a:ln>
            <a:noFill/>
          </a:ln>
        </p:spPr>
        <p:txBody>
          <a:bodyPr rtlCol="0" anchor="ctr"/>
          <a:lstStyle/>
          <a:p>
            <a:pPr algn="ctr"/>
          </a:p>
        </p:txBody>
      </p:sp>
      <p:sp>
        <p:nvSpPr>
          <p:cNvPr id="22" name="Rectangle 21"/>
          <p:cNvSpPr/>
          <p:nvPr/>
        </p:nvSpPr>
        <p:spPr>
          <a:xfrm>
            <a:off x="786384" y="2514600"/>
            <a:ext cx="7315" cy="146304"/>
          </a:xfrm>
          <a:prstGeom prst="rect">
            <a:avLst/>
          </a:prstGeom>
          <a:solidFill>
            <a:srgbClr val="BA942E"/>
          </a:solidFill>
          <a:ln>
            <a:noFill/>
          </a:ln>
        </p:spPr>
        <p:txBody>
          <a:bodyPr rtlCol="0" anchor="ctr"/>
          <a:lstStyle/>
          <a:p>
            <a:pPr algn="ctr"/>
          </a:p>
        </p:txBody>
      </p:sp>
      <p:sp>
        <p:nvSpPr>
          <p:cNvPr id="23" name="Rectangle 22"/>
          <p:cNvSpPr/>
          <p:nvPr/>
        </p:nvSpPr>
        <p:spPr>
          <a:xfrm>
            <a:off x="859536" y="2514600"/>
            <a:ext cx="7315" cy="146304"/>
          </a:xfrm>
          <a:prstGeom prst="rect">
            <a:avLst/>
          </a:prstGeom>
          <a:solidFill>
            <a:srgbClr val="BA942E"/>
          </a:solidFill>
          <a:ln>
            <a:noFill/>
          </a:ln>
        </p:spPr>
        <p:txBody>
          <a:bodyPr rtlCol="0" anchor="ctr"/>
          <a:lstStyle/>
          <a:p>
            <a:pPr algn="ctr"/>
          </a:p>
        </p:txBody>
      </p:sp>
      <p:sp>
        <p:nvSpPr>
          <p:cNvPr id="24" name="Rectangle 23"/>
          <p:cNvSpPr/>
          <p:nvPr/>
        </p:nvSpPr>
        <p:spPr>
          <a:xfrm>
            <a:off x="932688" y="2514600"/>
            <a:ext cx="7315" cy="146304"/>
          </a:xfrm>
          <a:prstGeom prst="rect">
            <a:avLst/>
          </a:prstGeom>
          <a:solidFill>
            <a:srgbClr val="BA942E"/>
          </a:solidFill>
          <a:ln>
            <a:noFill/>
          </a:ln>
        </p:spPr>
        <p:txBody>
          <a:bodyPr rtlCol="0" anchor="ctr"/>
          <a:lstStyle/>
          <a:p>
            <a:pPr algn="ctr"/>
          </a:p>
        </p:txBody>
      </p:sp>
      <p:sp>
        <p:nvSpPr>
          <p:cNvPr id="25" name="TextBox 24"/>
          <p:cNvSpPr txBox="1"/>
          <p:nvPr/>
        </p:nvSpPr>
        <p:spPr>
          <a:xfrm>
            <a:off x="1188720" y="2249424"/>
            <a:ext cx="4846320" cy="694944"/>
          </a:xfrm>
          <a:prstGeom prst="rect">
            <a:avLst/>
          </a:prstGeom>
          <a:noFill/>
        </p:spPr>
        <p:txBody>
          <a:bodyPr wrap="square" lIns="0" rIns="0" tIns="0" bIns="0" anchor="ctr">
            <a:noAutofit/>
          </a:bodyPr>
          <a:lstStyle/>
          <a:p>
            <a:pPr algn="l">
              <a:lnSpc>
                <a:spcPct val="115000"/>
              </a:lnSpc>
              <a:spcBef>
                <a:spcPts val="0"/>
              </a:spcBef>
              <a:spcAft>
                <a:spcPts val="0"/>
              </a:spcAft>
            </a:pPr>
            <a:r>
              <a:rPr sz="1450" b="0" i="0">
                <a:solidFill>
                  <a:srgbClr val="10263F"/>
                </a:solidFill>
                <a:latin typeface="Arial"/>
              </a:rPr>
              <a:t>Pick any of your repos to link. You can point at a subfolder if it's a monorepo.</a:t>
            </a:r>
          </a:p>
        </p:txBody>
      </p:sp>
      <p:sp>
        <p:nvSpPr>
          <p:cNvPr id="26" name="Rectangle 25"/>
          <p:cNvSpPr/>
          <p:nvPr/>
        </p:nvSpPr>
        <p:spPr>
          <a:xfrm>
            <a:off x="640080" y="2944368"/>
            <a:ext cx="5394960" cy="10972"/>
          </a:xfrm>
          <a:prstGeom prst="rect">
            <a:avLst/>
          </a:prstGeom>
          <a:solidFill>
            <a:srgbClr val="C4CBD0"/>
          </a:solidFill>
          <a:ln>
            <a:noFill/>
          </a:ln>
        </p:spPr>
        <p:txBody>
          <a:bodyPr rtlCol="0" anchor="ctr"/>
          <a:lstStyle/>
          <a:p>
            <a:pPr algn="ctr"/>
          </a:p>
        </p:txBody>
      </p:sp>
      <p:sp>
        <p:nvSpPr>
          <p:cNvPr id="27" name="Rectangle 26"/>
          <p:cNvSpPr/>
          <p:nvPr/>
        </p:nvSpPr>
        <p:spPr>
          <a:xfrm>
            <a:off x="640080" y="3163824"/>
            <a:ext cx="365760" cy="237744"/>
          </a:xfrm>
          <a:prstGeom prst="rect">
            <a:avLst/>
          </a:prstGeom>
          <a:solidFill>
            <a:srgbClr val="2F8F83"/>
          </a:solidFill>
          <a:ln w="15875">
            <a:solidFill>
              <a:srgbClr val="10263F"/>
            </a:solidFill>
          </a:ln>
        </p:spPr>
        <p:txBody>
          <a:bodyPr rtlCol="0" anchor="ctr"/>
          <a:lstStyle/>
          <a:p>
            <a:pPr algn="ctr"/>
          </a:p>
        </p:txBody>
      </p:sp>
      <p:sp>
        <p:nvSpPr>
          <p:cNvPr id="28" name="Rectangle 27"/>
          <p:cNvSpPr/>
          <p:nvPr/>
        </p:nvSpPr>
        <p:spPr>
          <a:xfrm>
            <a:off x="713231" y="3209544"/>
            <a:ext cx="7315" cy="146304"/>
          </a:xfrm>
          <a:prstGeom prst="rect">
            <a:avLst/>
          </a:prstGeom>
          <a:solidFill>
            <a:srgbClr val="257268"/>
          </a:solidFill>
          <a:ln>
            <a:noFill/>
          </a:ln>
        </p:spPr>
        <p:txBody>
          <a:bodyPr rtlCol="0" anchor="ctr"/>
          <a:lstStyle/>
          <a:p>
            <a:pPr algn="ctr"/>
          </a:p>
        </p:txBody>
      </p:sp>
      <p:sp>
        <p:nvSpPr>
          <p:cNvPr id="29" name="Rectangle 28"/>
          <p:cNvSpPr/>
          <p:nvPr/>
        </p:nvSpPr>
        <p:spPr>
          <a:xfrm>
            <a:off x="786384" y="3209544"/>
            <a:ext cx="7315" cy="146304"/>
          </a:xfrm>
          <a:prstGeom prst="rect">
            <a:avLst/>
          </a:prstGeom>
          <a:solidFill>
            <a:srgbClr val="257268"/>
          </a:solidFill>
          <a:ln>
            <a:noFill/>
          </a:ln>
        </p:spPr>
        <p:txBody>
          <a:bodyPr rtlCol="0" anchor="ctr"/>
          <a:lstStyle/>
          <a:p>
            <a:pPr algn="ctr"/>
          </a:p>
        </p:txBody>
      </p:sp>
      <p:sp>
        <p:nvSpPr>
          <p:cNvPr id="30" name="Rectangle 29"/>
          <p:cNvSpPr/>
          <p:nvPr/>
        </p:nvSpPr>
        <p:spPr>
          <a:xfrm>
            <a:off x="859536" y="3209544"/>
            <a:ext cx="7315" cy="146304"/>
          </a:xfrm>
          <a:prstGeom prst="rect">
            <a:avLst/>
          </a:prstGeom>
          <a:solidFill>
            <a:srgbClr val="257268"/>
          </a:solidFill>
          <a:ln>
            <a:noFill/>
          </a:ln>
        </p:spPr>
        <p:txBody>
          <a:bodyPr rtlCol="0" anchor="ctr"/>
          <a:lstStyle/>
          <a:p>
            <a:pPr algn="ctr"/>
          </a:p>
        </p:txBody>
      </p:sp>
      <p:sp>
        <p:nvSpPr>
          <p:cNvPr id="31" name="Rectangle 30"/>
          <p:cNvSpPr/>
          <p:nvPr/>
        </p:nvSpPr>
        <p:spPr>
          <a:xfrm>
            <a:off x="932688" y="3209544"/>
            <a:ext cx="7315" cy="146304"/>
          </a:xfrm>
          <a:prstGeom prst="rect">
            <a:avLst/>
          </a:prstGeom>
          <a:solidFill>
            <a:srgbClr val="257268"/>
          </a:solidFill>
          <a:ln>
            <a:noFill/>
          </a:ln>
        </p:spPr>
        <p:txBody>
          <a:bodyPr rtlCol="0" anchor="ctr"/>
          <a:lstStyle/>
          <a:p>
            <a:pPr algn="ctr"/>
          </a:p>
        </p:txBody>
      </p:sp>
      <p:sp>
        <p:nvSpPr>
          <p:cNvPr id="32" name="TextBox 31"/>
          <p:cNvSpPr txBox="1"/>
          <p:nvPr/>
        </p:nvSpPr>
        <p:spPr>
          <a:xfrm>
            <a:off x="1188720" y="2944368"/>
            <a:ext cx="4846320" cy="694944"/>
          </a:xfrm>
          <a:prstGeom prst="rect">
            <a:avLst/>
          </a:prstGeom>
          <a:noFill/>
        </p:spPr>
        <p:txBody>
          <a:bodyPr wrap="square" lIns="0" rIns="0" tIns="0" bIns="0" anchor="ctr">
            <a:noAutofit/>
          </a:bodyPr>
          <a:lstStyle/>
          <a:p>
            <a:pPr algn="l">
              <a:lnSpc>
                <a:spcPct val="115000"/>
              </a:lnSpc>
              <a:spcBef>
                <a:spcPts val="0"/>
              </a:spcBef>
              <a:spcAft>
                <a:spcPts val="0"/>
              </a:spcAft>
            </a:pPr>
            <a:r>
              <a:rPr sz="1450" b="0" i="0">
                <a:solidFill>
                  <a:srgbClr val="10263F"/>
                </a:solidFill>
                <a:latin typeface="Arial"/>
              </a:rPr>
              <a:t>The build log streams to the browser while pack runs.</a:t>
            </a:r>
          </a:p>
        </p:txBody>
      </p:sp>
      <p:sp>
        <p:nvSpPr>
          <p:cNvPr id="33" name="Rectangle 32"/>
          <p:cNvSpPr/>
          <p:nvPr/>
        </p:nvSpPr>
        <p:spPr>
          <a:xfrm>
            <a:off x="640080" y="3639312"/>
            <a:ext cx="5394960" cy="10972"/>
          </a:xfrm>
          <a:prstGeom prst="rect">
            <a:avLst/>
          </a:prstGeom>
          <a:solidFill>
            <a:srgbClr val="C4CBD0"/>
          </a:solidFill>
          <a:ln>
            <a:noFill/>
          </a:ln>
        </p:spPr>
        <p:txBody>
          <a:bodyPr rtlCol="0" anchor="ctr"/>
          <a:lstStyle/>
          <a:p>
            <a:pPr algn="ctr"/>
          </a:p>
        </p:txBody>
      </p:sp>
      <p:sp>
        <p:nvSpPr>
          <p:cNvPr id="34" name="Rectangle 33"/>
          <p:cNvSpPr/>
          <p:nvPr/>
        </p:nvSpPr>
        <p:spPr>
          <a:xfrm>
            <a:off x="640080" y="3858768"/>
            <a:ext cx="365760" cy="237744"/>
          </a:xfrm>
          <a:prstGeom prst="rect">
            <a:avLst/>
          </a:prstGeom>
          <a:solidFill>
            <a:srgbClr val="E58A2B"/>
          </a:solidFill>
          <a:ln w="15875">
            <a:solidFill>
              <a:srgbClr val="10263F"/>
            </a:solidFill>
          </a:ln>
        </p:spPr>
        <p:txBody>
          <a:bodyPr rtlCol="0" anchor="ctr"/>
          <a:lstStyle/>
          <a:p>
            <a:pPr algn="ctr"/>
          </a:p>
        </p:txBody>
      </p:sp>
      <p:sp>
        <p:nvSpPr>
          <p:cNvPr id="35" name="Rectangle 34"/>
          <p:cNvSpPr/>
          <p:nvPr/>
        </p:nvSpPr>
        <p:spPr>
          <a:xfrm>
            <a:off x="713231" y="3904488"/>
            <a:ext cx="7315" cy="146304"/>
          </a:xfrm>
          <a:prstGeom prst="rect">
            <a:avLst/>
          </a:prstGeom>
          <a:solidFill>
            <a:srgbClr val="B76E22"/>
          </a:solidFill>
          <a:ln>
            <a:noFill/>
          </a:ln>
        </p:spPr>
        <p:txBody>
          <a:bodyPr rtlCol="0" anchor="ctr"/>
          <a:lstStyle/>
          <a:p>
            <a:pPr algn="ctr"/>
          </a:p>
        </p:txBody>
      </p:sp>
      <p:sp>
        <p:nvSpPr>
          <p:cNvPr id="36" name="Rectangle 35"/>
          <p:cNvSpPr/>
          <p:nvPr/>
        </p:nvSpPr>
        <p:spPr>
          <a:xfrm>
            <a:off x="786384" y="3904488"/>
            <a:ext cx="7315" cy="146304"/>
          </a:xfrm>
          <a:prstGeom prst="rect">
            <a:avLst/>
          </a:prstGeom>
          <a:solidFill>
            <a:srgbClr val="B76E22"/>
          </a:solidFill>
          <a:ln>
            <a:noFill/>
          </a:ln>
        </p:spPr>
        <p:txBody>
          <a:bodyPr rtlCol="0" anchor="ctr"/>
          <a:lstStyle/>
          <a:p>
            <a:pPr algn="ctr"/>
          </a:p>
        </p:txBody>
      </p:sp>
      <p:sp>
        <p:nvSpPr>
          <p:cNvPr id="37" name="Rectangle 36"/>
          <p:cNvSpPr/>
          <p:nvPr/>
        </p:nvSpPr>
        <p:spPr>
          <a:xfrm>
            <a:off x="859536" y="3904488"/>
            <a:ext cx="7315" cy="146304"/>
          </a:xfrm>
          <a:prstGeom prst="rect">
            <a:avLst/>
          </a:prstGeom>
          <a:solidFill>
            <a:srgbClr val="B76E22"/>
          </a:solidFill>
          <a:ln>
            <a:noFill/>
          </a:ln>
        </p:spPr>
        <p:txBody>
          <a:bodyPr rtlCol="0" anchor="ctr"/>
          <a:lstStyle/>
          <a:p>
            <a:pPr algn="ctr"/>
          </a:p>
        </p:txBody>
      </p:sp>
      <p:sp>
        <p:nvSpPr>
          <p:cNvPr id="38" name="Rectangle 37"/>
          <p:cNvSpPr/>
          <p:nvPr/>
        </p:nvSpPr>
        <p:spPr>
          <a:xfrm>
            <a:off x="932688" y="3904488"/>
            <a:ext cx="7315" cy="146304"/>
          </a:xfrm>
          <a:prstGeom prst="rect">
            <a:avLst/>
          </a:prstGeom>
          <a:solidFill>
            <a:srgbClr val="B76E22"/>
          </a:solidFill>
          <a:ln>
            <a:noFill/>
          </a:ln>
        </p:spPr>
        <p:txBody>
          <a:bodyPr rtlCol="0" anchor="ctr"/>
          <a:lstStyle/>
          <a:p>
            <a:pPr algn="ctr"/>
          </a:p>
        </p:txBody>
      </p:sp>
      <p:sp>
        <p:nvSpPr>
          <p:cNvPr id="39" name="TextBox 38"/>
          <p:cNvSpPr txBox="1"/>
          <p:nvPr/>
        </p:nvSpPr>
        <p:spPr>
          <a:xfrm>
            <a:off x="1188720" y="3639312"/>
            <a:ext cx="4846320" cy="694944"/>
          </a:xfrm>
          <a:prstGeom prst="rect">
            <a:avLst/>
          </a:prstGeom>
          <a:noFill/>
        </p:spPr>
        <p:txBody>
          <a:bodyPr wrap="square" lIns="0" rIns="0" tIns="0" bIns="0" anchor="ctr">
            <a:noAutofit/>
          </a:bodyPr>
          <a:lstStyle/>
          <a:p>
            <a:pPr algn="l">
              <a:lnSpc>
                <a:spcPct val="115000"/>
              </a:lnSpc>
              <a:spcBef>
                <a:spcPts val="0"/>
              </a:spcBef>
              <a:spcAft>
                <a:spcPts val="0"/>
              </a:spcAft>
            </a:pPr>
            <a:r>
              <a:rPr sz="1450" b="0" i="0">
                <a:solidFill>
                  <a:srgbClr val="10263F"/>
                </a:solidFill>
                <a:latin typeface="Arial"/>
              </a:rPr>
              <a:t>Each project has settings for environment variables and memory and CPU limits.</a:t>
            </a:r>
          </a:p>
        </p:txBody>
      </p:sp>
      <p:sp>
        <p:nvSpPr>
          <p:cNvPr id="40" name="Rectangle 39"/>
          <p:cNvSpPr/>
          <p:nvPr/>
        </p:nvSpPr>
        <p:spPr>
          <a:xfrm>
            <a:off x="640080" y="4334256"/>
            <a:ext cx="5394960" cy="10972"/>
          </a:xfrm>
          <a:prstGeom prst="rect">
            <a:avLst/>
          </a:prstGeom>
          <a:solidFill>
            <a:srgbClr val="C4CBD0"/>
          </a:solidFill>
          <a:ln>
            <a:noFill/>
          </a:ln>
        </p:spPr>
        <p:txBody>
          <a:bodyPr rtlCol="0" anchor="ctr"/>
          <a:lstStyle/>
          <a:p>
            <a:pPr algn="ctr"/>
          </a:p>
        </p:txBody>
      </p:sp>
      <p:sp>
        <p:nvSpPr>
          <p:cNvPr id="41" name="Rectangle 40"/>
          <p:cNvSpPr/>
          <p:nvPr/>
        </p:nvSpPr>
        <p:spPr>
          <a:xfrm>
            <a:off x="640080" y="4553712"/>
            <a:ext cx="365760" cy="237744"/>
          </a:xfrm>
          <a:prstGeom prst="rect">
            <a:avLst/>
          </a:prstGeom>
          <a:solidFill>
            <a:srgbClr val="2B6CA3"/>
          </a:solidFill>
          <a:ln w="15875">
            <a:solidFill>
              <a:srgbClr val="10263F"/>
            </a:solidFill>
          </a:ln>
        </p:spPr>
        <p:txBody>
          <a:bodyPr rtlCol="0" anchor="ctr"/>
          <a:lstStyle/>
          <a:p>
            <a:pPr algn="ctr"/>
          </a:p>
        </p:txBody>
      </p:sp>
      <p:sp>
        <p:nvSpPr>
          <p:cNvPr id="42" name="Rectangle 41"/>
          <p:cNvSpPr/>
          <p:nvPr/>
        </p:nvSpPr>
        <p:spPr>
          <a:xfrm>
            <a:off x="713231" y="4599432"/>
            <a:ext cx="7315" cy="146304"/>
          </a:xfrm>
          <a:prstGeom prst="rect">
            <a:avLst/>
          </a:prstGeom>
          <a:solidFill>
            <a:srgbClr val="225682"/>
          </a:solidFill>
          <a:ln>
            <a:noFill/>
          </a:ln>
        </p:spPr>
        <p:txBody>
          <a:bodyPr rtlCol="0" anchor="ctr"/>
          <a:lstStyle/>
          <a:p>
            <a:pPr algn="ctr"/>
          </a:p>
        </p:txBody>
      </p:sp>
      <p:sp>
        <p:nvSpPr>
          <p:cNvPr id="43" name="Rectangle 42"/>
          <p:cNvSpPr/>
          <p:nvPr/>
        </p:nvSpPr>
        <p:spPr>
          <a:xfrm>
            <a:off x="786384" y="4599432"/>
            <a:ext cx="7315" cy="146304"/>
          </a:xfrm>
          <a:prstGeom prst="rect">
            <a:avLst/>
          </a:prstGeom>
          <a:solidFill>
            <a:srgbClr val="225682"/>
          </a:solidFill>
          <a:ln>
            <a:noFill/>
          </a:ln>
        </p:spPr>
        <p:txBody>
          <a:bodyPr rtlCol="0" anchor="ctr"/>
          <a:lstStyle/>
          <a:p>
            <a:pPr algn="ctr"/>
          </a:p>
        </p:txBody>
      </p:sp>
      <p:sp>
        <p:nvSpPr>
          <p:cNvPr id="44" name="Rectangle 43"/>
          <p:cNvSpPr/>
          <p:nvPr/>
        </p:nvSpPr>
        <p:spPr>
          <a:xfrm>
            <a:off x="859536" y="4599432"/>
            <a:ext cx="7315" cy="146304"/>
          </a:xfrm>
          <a:prstGeom prst="rect">
            <a:avLst/>
          </a:prstGeom>
          <a:solidFill>
            <a:srgbClr val="225682"/>
          </a:solidFill>
          <a:ln>
            <a:noFill/>
          </a:ln>
        </p:spPr>
        <p:txBody>
          <a:bodyPr rtlCol="0" anchor="ctr"/>
          <a:lstStyle/>
          <a:p>
            <a:pPr algn="ctr"/>
          </a:p>
        </p:txBody>
      </p:sp>
      <p:sp>
        <p:nvSpPr>
          <p:cNvPr id="45" name="Rectangle 44"/>
          <p:cNvSpPr/>
          <p:nvPr/>
        </p:nvSpPr>
        <p:spPr>
          <a:xfrm>
            <a:off x="932688" y="4599432"/>
            <a:ext cx="7315" cy="146304"/>
          </a:xfrm>
          <a:prstGeom prst="rect">
            <a:avLst/>
          </a:prstGeom>
          <a:solidFill>
            <a:srgbClr val="225682"/>
          </a:solidFill>
          <a:ln>
            <a:noFill/>
          </a:ln>
        </p:spPr>
        <p:txBody>
          <a:bodyPr rtlCol="0" anchor="ctr"/>
          <a:lstStyle/>
          <a:p>
            <a:pPr algn="ctr"/>
          </a:p>
        </p:txBody>
      </p:sp>
      <p:sp>
        <p:nvSpPr>
          <p:cNvPr id="46" name="TextBox 45"/>
          <p:cNvSpPr txBox="1"/>
          <p:nvPr/>
        </p:nvSpPr>
        <p:spPr>
          <a:xfrm>
            <a:off x="1188720" y="4334256"/>
            <a:ext cx="4846320" cy="694944"/>
          </a:xfrm>
          <a:prstGeom prst="rect">
            <a:avLst/>
          </a:prstGeom>
          <a:noFill/>
        </p:spPr>
        <p:txBody>
          <a:bodyPr wrap="square" lIns="0" rIns="0" tIns="0" bIns="0" anchor="ctr">
            <a:noAutofit/>
          </a:bodyPr>
          <a:lstStyle/>
          <a:p>
            <a:pPr algn="l">
              <a:lnSpc>
                <a:spcPct val="115000"/>
              </a:lnSpc>
              <a:spcBef>
                <a:spcPts val="0"/>
              </a:spcBef>
              <a:spcAft>
                <a:spcPts val="0"/>
              </a:spcAft>
            </a:pPr>
            <a:r>
              <a:rPr sz="1450" b="0" i="0">
                <a:solidFill>
                  <a:srgbClr val="10263F"/>
                </a:solidFill>
                <a:latin typeface="Arial"/>
              </a:rPr>
              <a:t>A project page also shows webhook history and has Rollback and Redeploy buttons.</a:t>
            </a:r>
          </a:p>
        </p:txBody>
      </p:sp>
      <p:sp>
        <p:nvSpPr>
          <p:cNvPr id="47" name="Rectangle 46"/>
          <p:cNvSpPr/>
          <p:nvPr/>
        </p:nvSpPr>
        <p:spPr>
          <a:xfrm>
            <a:off x="640080" y="5029200"/>
            <a:ext cx="5394960" cy="10972"/>
          </a:xfrm>
          <a:prstGeom prst="rect">
            <a:avLst/>
          </a:prstGeom>
          <a:solidFill>
            <a:srgbClr val="C4CBD0"/>
          </a:solidFill>
          <a:ln>
            <a:noFill/>
          </a:ln>
        </p:spPr>
        <p:txBody>
          <a:bodyPr rtlCol="0" anchor="ctr"/>
          <a:lstStyle/>
          <a:p>
            <a:pPr algn="ctr"/>
          </a:p>
        </p:txBody>
      </p:sp>
      <p:sp>
        <p:nvSpPr>
          <p:cNvPr id="48" name="Rectangle 47"/>
          <p:cNvSpPr/>
          <p:nvPr/>
        </p:nvSpPr>
        <p:spPr>
          <a:xfrm>
            <a:off x="640080" y="5248656"/>
            <a:ext cx="365760" cy="237744"/>
          </a:xfrm>
          <a:prstGeom prst="rect">
            <a:avLst/>
          </a:prstGeom>
          <a:solidFill>
            <a:srgbClr val="C8472D"/>
          </a:solidFill>
          <a:ln w="15875">
            <a:solidFill>
              <a:srgbClr val="10263F"/>
            </a:solidFill>
          </a:ln>
        </p:spPr>
        <p:txBody>
          <a:bodyPr rtlCol="0" anchor="ctr"/>
          <a:lstStyle/>
          <a:p>
            <a:pPr algn="ctr"/>
          </a:p>
        </p:txBody>
      </p:sp>
      <p:sp>
        <p:nvSpPr>
          <p:cNvPr id="49" name="Rectangle 48"/>
          <p:cNvSpPr/>
          <p:nvPr/>
        </p:nvSpPr>
        <p:spPr>
          <a:xfrm>
            <a:off x="713231" y="5294376"/>
            <a:ext cx="7315" cy="146304"/>
          </a:xfrm>
          <a:prstGeom prst="rect">
            <a:avLst/>
          </a:prstGeom>
          <a:solidFill>
            <a:srgbClr val="A03824"/>
          </a:solidFill>
          <a:ln>
            <a:noFill/>
          </a:ln>
        </p:spPr>
        <p:txBody>
          <a:bodyPr rtlCol="0" anchor="ctr"/>
          <a:lstStyle/>
          <a:p>
            <a:pPr algn="ctr"/>
          </a:p>
        </p:txBody>
      </p:sp>
      <p:sp>
        <p:nvSpPr>
          <p:cNvPr id="50" name="Rectangle 49"/>
          <p:cNvSpPr/>
          <p:nvPr/>
        </p:nvSpPr>
        <p:spPr>
          <a:xfrm>
            <a:off x="786384" y="5294376"/>
            <a:ext cx="7315" cy="146304"/>
          </a:xfrm>
          <a:prstGeom prst="rect">
            <a:avLst/>
          </a:prstGeom>
          <a:solidFill>
            <a:srgbClr val="A03824"/>
          </a:solidFill>
          <a:ln>
            <a:noFill/>
          </a:ln>
        </p:spPr>
        <p:txBody>
          <a:bodyPr rtlCol="0" anchor="ctr"/>
          <a:lstStyle/>
          <a:p>
            <a:pPr algn="ctr"/>
          </a:p>
        </p:txBody>
      </p:sp>
      <p:sp>
        <p:nvSpPr>
          <p:cNvPr id="51" name="Rectangle 50"/>
          <p:cNvSpPr/>
          <p:nvPr/>
        </p:nvSpPr>
        <p:spPr>
          <a:xfrm>
            <a:off x="859536" y="5294376"/>
            <a:ext cx="7315" cy="146304"/>
          </a:xfrm>
          <a:prstGeom prst="rect">
            <a:avLst/>
          </a:prstGeom>
          <a:solidFill>
            <a:srgbClr val="A03824"/>
          </a:solidFill>
          <a:ln>
            <a:noFill/>
          </a:ln>
        </p:spPr>
        <p:txBody>
          <a:bodyPr rtlCol="0" anchor="ctr"/>
          <a:lstStyle/>
          <a:p>
            <a:pPr algn="ctr"/>
          </a:p>
        </p:txBody>
      </p:sp>
      <p:sp>
        <p:nvSpPr>
          <p:cNvPr id="52" name="Rectangle 51"/>
          <p:cNvSpPr/>
          <p:nvPr/>
        </p:nvSpPr>
        <p:spPr>
          <a:xfrm>
            <a:off x="932688" y="5294376"/>
            <a:ext cx="7315" cy="146304"/>
          </a:xfrm>
          <a:prstGeom prst="rect">
            <a:avLst/>
          </a:prstGeom>
          <a:solidFill>
            <a:srgbClr val="A03824"/>
          </a:solidFill>
          <a:ln>
            <a:noFill/>
          </a:ln>
        </p:spPr>
        <p:txBody>
          <a:bodyPr rtlCol="0" anchor="ctr"/>
          <a:lstStyle/>
          <a:p>
            <a:pPr algn="ctr"/>
          </a:p>
        </p:txBody>
      </p:sp>
      <p:sp>
        <p:nvSpPr>
          <p:cNvPr id="53" name="TextBox 52"/>
          <p:cNvSpPr txBox="1"/>
          <p:nvPr/>
        </p:nvSpPr>
        <p:spPr>
          <a:xfrm>
            <a:off x="1188720" y="5029200"/>
            <a:ext cx="4846320" cy="694944"/>
          </a:xfrm>
          <a:prstGeom prst="rect">
            <a:avLst/>
          </a:prstGeom>
          <a:noFill/>
        </p:spPr>
        <p:txBody>
          <a:bodyPr wrap="square" lIns="0" rIns="0" tIns="0" bIns="0" anchor="ctr">
            <a:noAutofit/>
          </a:bodyPr>
          <a:lstStyle/>
          <a:p>
            <a:pPr algn="l">
              <a:lnSpc>
                <a:spcPct val="115000"/>
              </a:lnSpc>
              <a:spcBef>
                <a:spcPts val="0"/>
              </a:spcBef>
              <a:spcAft>
                <a:spcPts val="0"/>
              </a:spcAft>
            </a:pPr>
            <a:r>
              <a:rPr sz="1450" b="0" i="0">
                <a:solidFill>
                  <a:srgbClr val="10263F"/>
                </a:solidFill>
                <a:latin typeface="Arial"/>
              </a:rPr>
              <a:t>Unlinking removes the webhook, containers, images and build cache.</a:t>
            </a:r>
          </a:p>
        </p:txBody>
      </p:sp>
      <p:sp>
        <p:nvSpPr>
          <p:cNvPr id="54" name="Rectangle 53"/>
          <p:cNvSpPr/>
          <p:nvPr/>
        </p:nvSpPr>
        <p:spPr>
          <a:xfrm>
            <a:off x="640080" y="5724144"/>
            <a:ext cx="5394960" cy="10972"/>
          </a:xfrm>
          <a:prstGeom prst="rect">
            <a:avLst/>
          </a:prstGeom>
          <a:solidFill>
            <a:srgbClr val="C4CBD0"/>
          </a:solidFill>
          <a:ln>
            <a:noFill/>
          </a:ln>
        </p:spPr>
        <p:txBody>
          <a:bodyPr rtlCol="0" anchor="ctr"/>
          <a:lstStyle/>
          <a:p>
            <a:pPr algn="ctr"/>
          </a:p>
        </p:txBody>
      </p:sp>
      <p:sp>
        <p:nvSpPr>
          <p:cNvPr id="55" name="Rectangle 54"/>
          <p:cNvSpPr/>
          <p:nvPr/>
        </p:nvSpPr>
        <p:spPr>
          <a:xfrm>
            <a:off x="6656832" y="1673352"/>
            <a:ext cx="4663440" cy="3986784"/>
          </a:xfrm>
          <a:prstGeom prst="rect">
            <a:avLst/>
          </a:prstGeom>
          <a:solidFill>
            <a:srgbClr val="10263F"/>
          </a:solidFill>
          <a:ln>
            <a:noFill/>
          </a:ln>
        </p:spPr>
        <p:txBody>
          <a:bodyPr rtlCol="0" anchor="ctr"/>
          <a:lstStyle/>
          <a:p>
            <a:pPr algn="ctr"/>
          </a:p>
        </p:txBody>
      </p:sp>
      <p:pic>
        <p:nvPicPr>
          <p:cNvPr id="56" name="Picture 55" descr="frame_project.png"/>
          <p:cNvPicPr>
            <a:picLocks noChangeAspect="1"/>
          </p:cNvPicPr>
          <p:nvPr/>
        </p:nvPicPr>
        <p:blipFill>
          <a:blip r:embed="rId5"/>
          <a:stretch>
            <a:fillRect/>
          </a:stretch>
        </p:blipFill>
        <p:spPr>
          <a:xfrm>
            <a:off x="6583680" y="1600200"/>
            <a:ext cx="4663440" cy="3987579"/>
          </a:xfrm>
          <a:prstGeom prst="rect">
            <a:avLst/>
          </a:prstGeom>
        </p:spPr>
      </p:pic>
      <p:sp>
        <p:nvSpPr>
          <p:cNvPr id="57" name="TextBox 56"/>
          <p:cNvSpPr txBox="1"/>
          <p:nvPr/>
        </p:nvSpPr>
        <p:spPr>
          <a:xfrm>
            <a:off x="6583680" y="5760720"/>
            <a:ext cx="4663440" cy="228600"/>
          </a:xfrm>
          <a:prstGeom prst="rect">
            <a:avLst/>
          </a:prstGeom>
          <a:noFill/>
        </p:spPr>
        <p:txBody>
          <a:bodyPr wrap="square" lIns="0" rIns="0" tIns="0" bIns="0" anchor="t">
            <a:noAutofit/>
          </a:bodyPr>
          <a:lstStyle/>
          <a:p>
            <a:pPr algn="l">
              <a:spcBef>
                <a:spcPts val="0"/>
              </a:spcBef>
              <a:spcAft>
                <a:spcPts val="0"/>
              </a:spcAft>
            </a:pPr>
            <a:r>
              <a:rPr sz="1000" b="0" i="0">
                <a:solidFill>
                  <a:srgbClr val="7E8A97"/>
                </a:solidFill>
                <a:latin typeface="Arial"/>
              </a:rPr>
              <a:t>Project page, shown with sample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40080" y="731520"/>
            <a:ext cx="566928" cy="310896"/>
          </a:xfrm>
          <a:prstGeom prst="rect">
            <a:avLst/>
          </a:prstGeom>
          <a:solidFill>
            <a:srgbClr val="C8472D"/>
          </a:solidFill>
          <a:ln w="15875">
            <a:solidFill>
              <a:srgbClr val="10263F"/>
            </a:solidFill>
          </a:ln>
        </p:spPr>
        <p:txBody>
          <a:bodyPr rtlCol="0" anchor="ctr"/>
          <a:lstStyle/>
          <a:p>
            <a:pPr algn="ctr"/>
          </a:p>
        </p:txBody>
      </p:sp>
      <p:sp>
        <p:nvSpPr>
          <p:cNvPr id="3" name="Rectangle 2"/>
          <p:cNvSpPr/>
          <p:nvPr/>
        </p:nvSpPr>
        <p:spPr>
          <a:xfrm>
            <a:off x="753465" y="777240"/>
            <a:ext cx="7315" cy="219456"/>
          </a:xfrm>
          <a:prstGeom prst="rect">
            <a:avLst/>
          </a:prstGeom>
          <a:solidFill>
            <a:srgbClr val="A03824"/>
          </a:solidFill>
          <a:ln>
            <a:noFill/>
          </a:ln>
        </p:spPr>
        <p:txBody>
          <a:bodyPr rtlCol="0" anchor="ctr"/>
          <a:lstStyle/>
          <a:p>
            <a:pPr algn="ctr"/>
          </a:p>
        </p:txBody>
      </p:sp>
      <p:sp>
        <p:nvSpPr>
          <p:cNvPr id="4" name="Rectangle 3"/>
          <p:cNvSpPr/>
          <p:nvPr/>
        </p:nvSpPr>
        <p:spPr>
          <a:xfrm>
            <a:off x="866851" y="777240"/>
            <a:ext cx="7315" cy="219456"/>
          </a:xfrm>
          <a:prstGeom prst="rect">
            <a:avLst/>
          </a:prstGeom>
          <a:solidFill>
            <a:srgbClr val="A03824"/>
          </a:solidFill>
          <a:ln>
            <a:noFill/>
          </a:ln>
        </p:spPr>
        <p:txBody>
          <a:bodyPr rtlCol="0" anchor="ctr"/>
          <a:lstStyle/>
          <a:p>
            <a:pPr algn="ctr"/>
          </a:p>
        </p:txBody>
      </p:sp>
      <p:sp>
        <p:nvSpPr>
          <p:cNvPr id="5" name="Rectangle 4"/>
          <p:cNvSpPr/>
          <p:nvPr/>
        </p:nvSpPr>
        <p:spPr>
          <a:xfrm>
            <a:off x="980236" y="777240"/>
            <a:ext cx="7315" cy="219456"/>
          </a:xfrm>
          <a:prstGeom prst="rect">
            <a:avLst/>
          </a:prstGeom>
          <a:solidFill>
            <a:srgbClr val="A03824"/>
          </a:solidFill>
          <a:ln>
            <a:noFill/>
          </a:ln>
        </p:spPr>
        <p:txBody>
          <a:bodyPr rtlCol="0" anchor="ctr"/>
          <a:lstStyle/>
          <a:p>
            <a:pPr algn="ctr"/>
          </a:p>
        </p:txBody>
      </p:sp>
      <p:sp>
        <p:nvSpPr>
          <p:cNvPr id="6" name="Rectangle 5"/>
          <p:cNvSpPr/>
          <p:nvPr/>
        </p:nvSpPr>
        <p:spPr>
          <a:xfrm>
            <a:off x="1093622" y="777240"/>
            <a:ext cx="7315" cy="219456"/>
          </a:xfrm>
          <a:prstGeom prst="rect">
            <a:avLst/>
          </a:prstGeom>
          <a:solidFill>
            <a:srgbClr val="A03824"/>
          </a:solidFill>
          <a:ln>
            <a:noFill/>
          </a:ln>
        </p:spPr>
        <p:txBody>
          <a:bodyPr rtlCol="0" anchor="ctr"/>
          <a:lstStyle/>
          <a:p>
            <a:pPr algn="ctr"/>
          </a:p>
        </p:txBody>
      </p:sp>
      <p:sp>
        <p:nvSpPr>
          <p:cNvPr id="7" name="TextBox 6"/>
          <p:cNvSpPr txBox="1"/>
          <p:nvPr/>
        </p:nvSpPr>
        <p:spPr>
          <a:xfrm>
            <a:off x="1417320" y="548640"/>
            <a:ext cx="10149840" cy="685800"/>
          </a:xfrm>
          <a:prstGeom prst="rect">
            <a:avLst/>
          </a:prstGeom>
          <a:noFill/>
        </p:spPr>
        <p:txBody>
          <a:bodyPr wrap="square" lIns="0" rIns="0" tIns="0" bIns="0" anchor="ctr">
            <a:noAutofit/>
          </a:bodyPr>
          <a:lstStyle/>
          <a:p>
            <a:pPr algn="l">
              <a:spcBef>
                <a:spcPts val="0"/>
              </a:spcBef>
              <a:spcAft>
                <a:spcPts val="0"/>
              </a:spcAft>
            </a:pPr>
            <a:r>
              <a:rPr sz="3000" b="1" i="0">
                <a:solidFill>
                  <a:srgbClr val="10263F"/>
                </a:solidFill>
                <a:latin typeface="Georgia"/>
              </a:rPr>
              <a:t>Swapping production without downtime</a:t>
            </a:r>
          </a:p>
        </p:txBody>
      </p:sp>
      <p:cxnSp>
        <p:nvCxnSpPr>
          <p:cNvPr id="8" name="Connector 7"/>
          <p:cNvCxnSpPr/>
          <p:nvPr/>
        </p:nvCxnSpPr>
        <p:spPr>
          <a:xfrm>
            <a:off x="640080" y="1335024"/>
            <a:ext cx="10908792" cy="0"/>
          </a:xfrm>
          <a:prstGeom prst="line">
            <a:avLst/>
          </a:prstGeom>
          <a:ln w="15875">
            <a:solidFill>
              <a:srgbClr val="9AA5AE"/>
            </a:solidFill>
            <a:prstDash val="dash"/>
          </a:ln>
        </p:spPr>
      </p:cxnSp>
      <p:pic>
        <p:nvPicPr>
          <p:cNvPr id="9" name="Picture 8" descr="wave_band.png"/>
          <p:cNvPicPr>
            <a:picLocks noChangeAspect="1"/>
          </p:cNvPicPr>
          <p:nvPr/>
        </p:nvPicPr>
        <p:blipFill>
          <a:blip r:embed="rId2"/>
          <a:stretch>
            <a:fillRect/>
          </a:stretch>
        </p:blipFill>
        <p:spPr>
          <a:xfrm>
            <a:off x="0" y="6355080"/>
            <a:ext cx="12191695" cy="502845"/>
          </a:xfrm>
          <a:prstGeom prst="rect">
            <a:avLst/>
          </a:prstGeom>
        </p:spPr>
      </p:pic>
      <p:pic>
        <p:nvPicPr>
          <p:cNvPr id="10" name="Picture 9" descr="tug_small.png"/>
          <p:cNvPicPr>
            <a:picLocks noChangeAspect="1"/>
          </p:cNvPicPr>
          <p:nvPr/>
        </p:nvPicPr>
        <p:blipFill>
          <a:blip r:embed="rId3"/>
          <a:stretch>
            <a:fillRect/>
          </a:stretch>
        </p:blipFill>
        <p:spPr>
          <a:xfrm>
            <a:off x="6720840" y="6078380"/>
            <a:ext cx="566928" cy="450436"/>
          </a:xfrm>
          <a:prstGeom prst="rect">
            <a:avLst/>
          </a:prstGeom>
        </p:spPr>
      </p:pic>
      <p:sp>
        <p:nvSpPr>
          <p:cNvPr id="11" name="TextBox 10"/>
          <p:cNvSpPr txBox="1"/>
          <p:nvPr/>
        </p:nvSpPr>
        <p:spPr>
          <a:xfrm>
            <a:off x="640080" y="6126480"/>
            <a:ext cx="2743200" cy="228600"/>
          </a:xfrm>
          <a:prstGeom prst="rect">
            <a:avLst/>
          </a:prstGeom>
          <a:noFill/>
        </p:spPr>
        <p:txBody>
          <a:bodyPr wrap="square" lIns="0" rIns="0" tIns="0" bIns="0" anchor="ctr">
            <a:noAutofit/>
          </a:bodyPr>
          <a:lstStyle/>
          <a:p>
            <a:pPr algn="l">
              <a:spcBef>
                <a:spcPts val="0"/>
              </a:spcBef>
              <a:spcAft>
                <a:spcPts val="0"/>
              </a:spcAft>
            </a:pPr>
            <a:r>
              <a:rPr sz="1000" b="0" i="0">
                <a:solidFill>
                  <a:srgbClr val="7E8A97"/>
                </a:solidFill>
                <a:latin typeface="Arial"/>
              </a:rPr>
              <a:t>Tugboat   7 / 12</a:t>
            </a:r>
          </a:p>
        </p:txBody>
      </p:sp>
      <p:sp>
        <p:nvSpPr>
          <p:cNvPr id="12" name="Rounded Rectangle 11"/>
          <p:cNvSpPr/>
          <p:nvPr/>
        </p:nvSpPr>
        <p:spPr>
          <a:xfrm>
            <a:off x="640080" y="1874519"/>
            <a:ext cx="457200" cy="457200"/>
          </a:xfrm>
          <a:prstGeom prst="roundRect">
            <a:avLst>
              <a:gd name="adj" fmla="val 10000"/>
            </a:avLst>
          </a:prstGeom>
          <a:solidFill>
            <a:srgbClr val="C8472D"/>
          </a:solidFill>
          <a:ln w="19050">
            <a:solidFill>
              <a:srgbClr val="10263F"/>
            </a:solidFill>
          </a:ln>
        </p:spPr>
        <p:txBody>
          <a:bodyPr rtlCol="0" anchor="ctr"/>
          <a:lstStyle/>
          <a:p>
            <a:pPr algn="ctr"/>
          </a:p>
        </p:txBody>
      </p:sp>
      <p:sp>
        <p:nvSpPr>
          <p:cNvPr id="13" name="TextBox 12"/>
          <p:cNvSpPr txBox="1"/>
          <p:nvPr/>
        </p:nvSpPr>
        <p:spPr>
          <a:xfrm>
            <a:off x="640080" y="1874519"/>
            <a:ext cx="457200" cy="457200"/>
          </a:xfrm>
          <a:prstGeom prst="rect">
            <a:avLst/>
          </a:prstGeom>
          <a:noFill/>
        </p:spPr>
        <p:txBody>
          <a:bodyPr wrap="square" lIns="0" rIns="0" tIns="0" bIns="0" anchor="ctr">
            <a:noAutofit/>
          </a:bodyPr>
          <a:lstStyle/>
          <a:p>
            <a:pPr algn="ctr">
              <a:spcBef>
                <a:spcPts val="0"/>
              </a:spcBef>
              <a:spcAft>
                <a:spcPts val="0"/>
              </a:spcAft>
            </a:pPr>
            <a:r>
              <a:rPr sz="1800" b="1" i="0">
                <a:solidFill>
                  <a:srgbClr val="FFFFFF"/>
                </a:solidFill>
                <a:latin typeface="Georgia"/>
              </a:rPr>
              <a:t>1</a:t>
            </a:r>
          </a:p>
        </p:txBody>
      </p:sp>
      <p:sp>
        <p:nvSpPr>
          <p:cNvPr id="14" name="TextBox 13"/>
          <p:cNvSpPr txBox="1"/>
          <p:nvPr/>
        </p:nvSpPr>
        <p:spPr>
          <a:xfrm>
            <a:off x="1325880" y="1554480"/>
            <a:ext cx="5349240" cy="1097280"/>
          </a:xfrm>
          <a:prstGeom prst="rect">
            <a:avLst/>
          </a:prstGeom>
          <a:noFill/>
        </p:spPr>
        <p:txBody>
          <a:bodyPr wrap="square" lIns="0" rIns="0" tIns="0" bIns="0" anchor="ctr">
            <a:noAutofit/>
          </a:bodyPr>
          <a:lstStyle/>
          <a:p>
            <a:pPr algn="l">
              <a:lnSpc>
                <a:spcPct val="112000"/>
              </a:lnSpc>
              <a:spcBef>
                <a:spcPts val="0"/>
              </a:spcBef>
              <a:spcAft>
                <a:spcPts val="0"/>
              </a:spcAft>
            </a:pPr>
            <a:r>
              <a:rPr sz="1650" b="0" i="0">
                <a:solidFill>
                  <a:srgbClr val="10263F"/>
                </a:solidFill>
                <a:latin typeface="Arial"/>
              </a:rPr>
              <a:t>Start the new version next to the old one. Production keeps serving.</a:t>
            </a:r>
          </a:p>
        </p:txBody>
      </p:sp>
      <p:sp>
        <p:nvSpPr>
          <p:cNvPr id="15" name="Rectangle 14"/>
          <p:cNvSpPr/>
          <p:nvPr/>
        </p:nvSpPr>
        <p:spPr>
          <a:xfrm>
            <a:off x="640080" y="2651760"/>
            <a:ext cx="6035040" cy="10972"/>
          </a:xfrm>
          <a:prstGeom prst="rect">
            <a:avLst/>
          </a:prstGeom>
          <a:solidFill>
            <a:srgbClr val="C4CBD0"/>
          </a:solidFill>
          <a:ln>
            <a:noFill/>
          </a:ln>
        </p:spPr>
        <p:txBody>
          <a:bodyPr rtlCol="0" anchor="ctr"/>
          <a:lstStyle/>
          <a:p>
            <a:pPr algn="ctr"/>
          </a:p>
        </p:txBody>
      </p:sp>
      <p:sp>
        <p:nvSpPr>
          <p:cNvPr id="16" name="Rounded Rectangle 15"/>
          <p:cNvSpPr/>
          <p:nvPr/>
        </p:nvSpPr>
        <p:spPr>
          <a:xfrm>
            <a:off x="640080" y="2971800"/>
            <a:ext cx="457200" cy="457200"/>
          </a:xfrm>
          <a:prstGeom prst="roundRect">
            <a:avLst>
              <a:gd name="adj" fmla="val 10000"/>
            </a:avLst>
          </a:prstGeom>
          <a:solidFill>
            <a:srgbClr val="E9B93A"/>
          </a:solidFill>
          <a:ln w="19050">
            <a:solidFill>
              <a:srgbClr val="10263F"/>
            </a:solidFill>
          </a:ln>
        </p:spPr>
        <p:txBody>
          <a:bodyPr rtlCol="0" anchor="ctr"/>
          <a:lstStyle/>
          <a:p>
            <a:pPr algn="ctr"/>
          </a:p>
        </p:txBody>
      </p:sp>
      <p:sp>
        <p:nvSpPr>
          <p:cNvPr id="17" name="TextBox 16"/>
          <p:cNvSpPr txBox="1"/>
          <p:nvPr/>
        </p:nvSpPr>
        <p:spPr>
          <a:xfrm>
            <a:off x="640080" y="2971800"/>
            <a:ext cx="457200" cy="457200"/>
          </a:xfrm>
          <a:prstGeom prst="rect">
            <a:avLst/>
          </a:prstGeom>
          <a:noFill/>
        </p:spPr>
        <p:txBody>
          <a:bodyPr wrap="square" lIns="0" rIns="0" tIns="0" bIns="0" anchor="ctr">
            <a:noAutofit/>
          </a:bodyPr>
          <a:lstStyle/>
          <a:p>
            <a:pPr algn="ctr">
              <a:spcBef>
                <a:spcPts val="0"/>
              </a:spcBef>
              <a:spcAft>
                <a:spcPts val="0"/>
              </a:spcAft>
            </a:pPr>
            <a:r>
              <a:rPr sz="1800" b="1" i="0">
                <a:solidFill>
                  <a:srgbClr val="10263F"/>
                </a:solidFill>
                <a:latin typeface="Georgia"/>
              </a:rPr>
              <a:t>2</a:t>
            </a:r>
          </a:p>
        </p:txBody>
      </p:sp>
      <p:sp>
        <p:nvSpPr>
          <p:cNvPr id="18" name="TextBox 17"/>
          <p:cNvSpPr txBox="1"/>
          <p:nvPr/>
        </p:nvSpPr>
        <p:spPr>
          <a:xfrm>
            <a:off x="1325880" y="2651760"/>
            <a:ext cx="5349240" cy="1097280"/>
          </a:xfrm>
          <a:prstGeom prst="rect">
            <a:avLst/>
          </a:prstGeom>
          <a:noFill/>
        </p:spPr>
        <p:txBody>
          <a:bodyPr wrap="square" lIns="0" rIns="0" tIns="0" bIns="0" anchor="ctr">
            <a:noAutofit/>
          </a:bodyPr>
          <a:lstStyle/>
          <a:p>
            <a:pPr algn="l">
              <a:lnSpc>
                <a:spcPct val="112000"/>
              </a:lnSpc>
              <a:spcBef>
                <a:spcPts val="0"/>
              </a:spcBef>
              <a:spcAft>
                <a:spcPts val="0"/>
              </a:spcAft>
            </a:pPr>
            <a:r>
              <a:rPr sz="1650" b="0" i="0">
                <a:solidFill>
                  <a:srgbClr val="10263F"/>
                </a:solidFill>
                <a:latin typeface="Arial"/>
              </a:rPr>
              <a:t>Check that the new container answers /health. Nothing is routed to it yet.</a:t>
            </a:r>
          </a:p>
        </p:txBody>
      </p:sp>
      <p:sp>
        <p:nvSpPr>
          <p:cNvPr id="19" name="Rectangle 18"/>
          <p:cNvSpPr/>
          <p:nvPr/>
        </p:nvSpPr>
        <p:spPr>
          <a:xfrm>
            <a:off x="640080" y="3749039"/>
            <a:ext cx="6035040" cy="10972"/>
          </a:xfrm>
          <a:prstGeom prst="rect">
            <a:avLst/>
          </a:prstGeom>
          <a:solidFill>
            <a:srgbClr val="C4CBD0"/>
          </a:solidFill>
          <a:ln>
            <a:noFill/>
          </a:ln>
        </p:spPr>
        <p:txBody>
          <a:bodyPr rtlCol="0" anchor="ctr"/>
          <a:lstStyle/>
          <a:p>
            <a:pPr algn="ctr"/>
          </a:p>
        </p:txBody>
      </p:sp>
      <p:sp>
        <p:nvSpPr>
          <p:cNvPr id="20" name="Rounded Rectangle 19"/>
          <p:cNvSpPr/>
          <p:nvPr/>
        </p:nvSpPr>
        <p:spPr>
          <a:xfrm>
            <a:off x="640080" y="4069079"/>
            <a:ext cx="457200" cy="457200"/>
          </a:xfrm>
          <a:prstGeom prst="roundRect">
            <a:avLst>
              <a:gd name="adj" fmla="val 10000"/>
            </a:avLst>
          </a:prstGeom>
          <a:solidFill>
            <a:srgbClr val="2F8F83"/>
          </a:solidFill>
          <a:ln w="19050">
            <a:solidFill>
              <a:srgbClr val="10263F"/>
            </a:solidFill>
          </a:ln>
        </p:spPr>
        <p:txBody>
          <a:bodyPr rtlCol="0" anchor="ctr"/>
          <a:lstStyle/>
          <a:p>
            <a:pPr algn="ctr"/>
          </a:p>
        </p:txBody>
      </p:sp>
      <p:sp>
        <p:nvSpPr>
          <p:cNvPr id="21" name="TextBox 20"/>
          <p:cNvSpPr txBox="1"/>
          <p:nvPr/>
        </p:nvSpPr>
        <p:spPr>
          <a:xfrm>
            <a:off x="640080" y="4069079"/>
            <a:ext cx="457200" cy="457200"/>
          </a:xfrm>
          <a:prstGeom prst="rect">
            <a:avLst/>
          </a:prstGeom>
          <a:noFill/>
        </p:spPr>
        <p:txBody>
          <a:bodyPr wrap="square" lIns="0" rIns="0" tIns="0" bIns="0" anchor="ctr">
            <a:noAutofit/>
          </a:bodyPr>
          <a:lstStyle/>
          <a:p>
            <a:pPr algn="ctr">
              <a:spcBef>
                <a:spcPts val="0"/>
              </a:spcBef>
              <a:spcAft>
                <a:spcPts val="0"/>
              </a:spcAft>
            </a:pPr>
            <a:r>
              <a:rPr sz="1800" b="1" i="0">
                <a:solidFill>
                  <a:srgbClr val="FFFFFF"/>
                </a:solidFill>
                <a:latin typeface="Georgia"/>
              </a:rPr>
              <a:t>3</a:t>
            </a:r>
          </a:p>
        </p:txBody>
      </p:sp>
      <p:sp>
        <p:nvSpPr>
          <p:cNvPr id="22" name="TextBox 21"/>
          <p:cNvSpPr txBox="1"/>
          <p:nvPr/>
        </p:nvSpPr>
        <p:spPr>
          <a:xfrm>
            <a:off x="1325880" y="3749039"/>
            <a:ext cx="5349240" cy="1097280"/>
          </a:xfrm>
          <a:prstGeom prst="rect">
            <a:avLst/>
          </a:prstGeom>
          <a:noFill/>
        </p:spPr>
        <p:txBody>
          <a:bodyPr wrap="square" lIns="0" rIns="0" tIns="0" bIns="0" anchor="ctr">
            <a:noAutofit/>
          </a:bodyPr>
          <a:lstStyle/>
          <a:p>
            <a:pPr algn="l">
              <a:lnSpc>
                <a:spcPct val="112000"/>
              </a:lnSpc>
              <a:spcBef>
                <a:spcPts val="0"/>
              </a:spcBef>
              <a:spcAft>
                <a:spcPts val="0"/>
              </a:spcAft>
            </a:pPr>
            <a:r>
              <a:rPr sz="1650" b="0" i="0">
                <a:solidFill>
                  <a:srgbClr val="10263F"/>
                </a:solidFill>
                <a:latin typeface="Arial"/>
              </a:rPr>
              <a:t>Point Traefik's production route at it in one step, then confirm through Traefik's API that the route loaded.</a:t>
            </a:r>
          </a:p>
        </p:txBody>
      </p:sp>
      <p:sp>
        <p:nvSpPr>
          <p:cNvPr id="23" name="Rectangle 22"/>
          <p:cNvSpPr/>
          <p:nvPr/>
        </p:nvSpPr>
        <p:spPr>
          <a:xfrm>
            <a:off x="640080" y="4846320"/>
            <a:ext cx="6035040" cy="10972"/>
          </a:xfrm>
          <a:prstGeom prst="rect">
            <a:avLst/>
          </a:prstGeom>
          <a:solidFill>
            <a:srgbClr val="C4CBD0"/>
          </a:solidFill>
          <a:ln>
            <a:noFill/>
          </a:ln>
        </p:spPr>
        <p:txBody>
          <a:bodyPr rtlCol="0" anchor="ctr"/>
          <a:lstStyle/>
          <a:p>
            <a:pPr algn="ctr"/>
          </a:p>
        </p:txBody>
      </p:sp>
      <p:sp>
        <p:nvSpPr>
          <p:cNvPr id="24" name="Rounded Rectangle 23"/>
          <p:cNvSpPr/>
          <p:nvPr/>
        </p:nvSpPr>
        <p:spPr>
          <a:xfrm>
            <a:off x="640080" y="5166359"/>
            <a:ext cx="457200" cy="457200"/>
          </a:xfrm>
          <a:prstGeom prst="roundRect">
            <a:avLst>
              <a:gd name="adj" fmla="val 10000"/>
            </a:avLst>
          </a:prstGeom>
          <a:solidFill>
            <a:srgbClr val="E58A2B"/>
          </a:solidFill>
          <a:ln w="19050">
            <a:solidFill>
              <a:srgbClr val="10263F"/>
            </a:solidFill>
          </a:ln>
        </p:spPr>
        <p:txBody>
          <a:bodyPr rtlCol="0" anchor="ctr"/>
          <a:lstStyle/>
          <a:p>
            <a:pPr algn="ctr"/>
          </a:p>
        </p:txBody>
      </p:sp>
      <p:sp>
        <p:nvSpPr>
          <p:cNvPr id="25" name="TextBox 24"/>
          <p:cNvSpPr txBox="1"/>
          <p:nvPr/>
        </p:nvSpPr>
        <p:spPr>
          <a:xfrm>
            <a:off x="640080" y="5166359"/>
            <a:ext cx="457200" cy="457200"/>
          </a:xfrm>
          <a:prstGeom prst="rect">
            <a:avLst/>
          </a:prstGeom>
          <a:noFill/>
        </p:spPr>
        <p:txBody>
          <a:bodyPr wrap="square" lIns="0" rIns="0" tIns="0" bIns="0" anchor="ctr">
            <a:noAutofit/>
          </a:bodyPr>
          <a:lstStyle/>
          <a:p>
            <a:pPr algn="ctr">
              <a:spcBef>
                <a:spcPts val="0"/>
              </a:spcBef>
              <a:spcAft>
                <a:spcPts val="0"/>
              </a:spcAft>
            </a:pPr>
            <a:r>
              <a:rPr sz="1800" b="1" i="0">
                <a:solidFill>
                  <a:srgbClr val="10263F"/>
                </a:solidFill>
                <a:latin typeface="Georgia"/>
              </a:rPr>
              <a:t>4</a:t>
            </a:r>
          </a:p>
        </p:txBody>
      </p:sp>
      <p:sp>
        <p:nvSpPr>
          <p:cNvPr id="26" name="TextBox 25"/>
          <p:cNvSpPr txBox="1"/>
          <p:nvPr/>
        </p:nvSpPr>
        <p:spPr>
          <a:xfrm>
            <a:off x="1325880" y="4846320"/>
            <a:ext cx="5349240" cy="1097280"/>
          </a:xfrm>
          <a:prstGeom prst="rect">
            <a:avLst/>
          </a:prstGeom>
          <a:noFill/>
        </p:spPr>
        <p:txBody>
          <a:bodyPr wrap="square" lIns="0" rIns="0" tIns="0" bIns="0" anchor="ctr">
            <a:noAutofit/>
          </a:bodyPr>
          <a:lstStyle/>
          <a:p>
            <a:pPr algn="l">
              <a:lnSpc>
                <a:spcPct val="112000"/>
              </a:lnSpc>
              <a:spcBef>
                <a:spcPts val="0"/>
              </a:spcBef>
              <a:spcAft>
                <a:spcPts val="0"/>
              </a:spcAft>
            </a:pPr>
            <a:r>
              <a:rPr sz="1650" b="0" i="0">
                <a:solidFill>
                  <a:srgbClr val="10263F"/>
                </a:solidFill>
                <a:latin typeface="Arial"/>
              </a:rPr>
              <a:t>Stop the old container.</a:t>
            </a:r>
          </a:p>
        </p:txBody>
      </p:sp>
      <p:sp>
        <p:nvSpPr>
          <p:cNvPr id="27" name="Rounded Rectangle 26"/>
          <p:cNvSpPr/>
          <p:nvPr/>
        </p:nvSpPr>
        <p:spPr>
          <a:xfrm rot="21360000">
            <a:off x="7818120" y="1645920"/>
            <a:ext cx="3566160" cy="2240280"/>
          </a:xfrm>
          <a:prstGeom prst="roundRect">
            <a:avLst>
              <a:gd name="adj" fmla="val 2448"/>
            </a:avLst>
          </a:prstGeom>
          <a:noFill/>
          <a:ln w="57150">
            <a:solidFill>
              <a:srgbClr val="2F8F83"/>
            </a:solidFill>
          </a:ln>
        </p:spPr>
        <p:txBody>
          <a:bodyPr rtlCol="0" anchor="ctr"/>
          <a:lstStyle/>
          <a:p>
            <a:pPr algn="ctr"/>
          </a:p>
        </p:txBody>
      </p:sp>
      <p:sp>
        <p:nvSpPr>
          <p:cNvPr id="28" name="Rounded Rectangle 27"/>
          <p:cNvSpPr/>
          <p:nvPr/>
        </p:nvSpPr>
        <p:spPr>
          <a:xfrm rot="21360000">
            <a:off x="7927848" y="1755648"/>
            <a:ext cx="3346704" cy="2020824"/>
          </a:xfrm>
          <a:prstGeom prst="roundRect">
            <a:avLst>
              <a:gd name="adj" fmla="val 1809"/>
            </a:avLst>
          </a:prstGeom>
          <a:noFill/>
          <a:ln w="15875">
            <a:solidFill>
              <a:srgbClr val="2F8F83"/>
            </a:solidFill>
          </a:ln>
        </p:spPr>
        <p:txBody>
          <a:bodyPr rtlCol="0" anchor="ctr"/>
          <a:lstStyle/>
          <a:p>
            <a:pPr algn="ctr"/>
          </a:p>
        </p:txBody>
      </p:sp>
      <p:sp>
        <p:nvSpPr>
          <p:cNvPr id="29" name="TextBox 28"/>
          <p:cNvSpPr txBox="1"/>
          <p:nvPr/>
        </p:nvSpPr>
        <p:spPr>
          <a:xfrm rot="21360000">
            <a:off x="7818120" y="1645920"/>
            <a:ext cx="3566160" cy="2240280"/>
          </a:xfrm>
          <a:prstGeom prst="rect">
            <a:avLst/>
          </a:prstGeom>
          <a:noFill/>
        </p:spPr>
        <p:txBody>
          <a:bodyPr wrap="square" lIns="0" rIns="0" tIns="0" bIns="0" anchor="ctr">
            <a:noAutofit/>
          </a:bodyPr>
          <a:lstStyle/>
          <a:p>
            <a:pPr algn="ctr">
              <a:lnSpc>
                <a:spcPct val="90000"/>
              </a:lnSpc>
              <a:spcBef>
                <a:spcPts val="0"/>
              </a:spcBef>
              <a:spcAft>
                <a:spcPts val="0"/>
              </a:spcAft>
            </a:pPr>
            <a:r>
              <a:rPr sz="8400" b="1" i="0">
                <a:solidFill>
                  <a:srgbClr val="2F8F83"/>
                </a:solidFill>
                <a:latin typeface="Georgia"/>
              </a:rPr>
              <a:t>0</a:t>
            </a:r>
          </a:p>
          <a:p>
            <a:pPr algn="ctr">
              <a:spcBef>
                <a:spcPts val="0"/>
              </a:spcBef>
              <a:spcAft>
                <a:spcPts val="0"/>
              </a:spcAft>
            </a:pPr>
            <a:r>
              <a:rPr sz="2000" b="1" i="0">
                <a:solidFill>
                  <a:srgbClr val="2F8F83"/>
                </a:solidFill>
                <a:latin typeface="Georgia"/>
              </a:rPr>
              <a:t>failed requests</a:t>
            </a:r>
          </a:p>
        </p:txBody>
      </p:sp>
      <p:sp>
        <p:nvSpPr>
          <p:cNvPr id="30" name="TextBox 29"/>
          <p:cNvSpPr txBox="1"/>
          <p:nvPr/>
        </p:nvSpPr>
        <p:spPr>
          <a:xfrm>
            <a:off x="7589520" y="4251960"/>
            <a:ext cx="3931920" cy="1005840"/>
          </a:xfrm>
          <a:prstGeom prst="rect">
            <a:avLst/>
          </a:prstGeom>
          <a:noFill/>
        </p:spPr>
        <p:txBody>
          <a:bodyPr wrap="square" lIns="0" rIns="0" tIns="0" bIns="0" anchor="t">
            <a:noAutofit/>
          </a:bodyPr>
          <a:lstStyle/>
          <a:p>
            <a:pPr algn="l">
              <a:lnSpc>
                <a:spcPct val="125000"/>
              </a:lnSpc>
              <a:spcBef>
                <a:spcPts val="0"/>
              </a:spcBef>
              <a:spcAft>
                <a:spcPts val="0"/>
              </a:spcAft>
            </a:pPr>
            <a:r>
              <a:rPr sz="1350" b="0" i="0">
                <a:solidFill>
                  <a:srgbClr val="4A5A6B"/>
                </a:solidFill>
                <a:latin typeface="Arial"/>
              </a:rPr>
              <a:t>In the integration test I send a request every 50 ms while production is promoted twice in a row. None of them fail.</a:t>
            </a:r>
          </a:p>
        </p:txBody>
      </p:sp>
      <p:sp>
        <p:nvSpPr>
          <p:cNvPr id="31" name="Rectangle 30"/>
          <p:cNvSpPr/>
          <p:nvPr/>
        </p:nvSpPr>
        <p:spPr>
          <a:xfrm>
            <a:off x="7589520" y="5257800"/>
            <a:ext cx="3959352" cy="10972"/>
          </a:xfrm>
          <a:prstGeom prst="rect">
            <a:avLst/>
          </a:prstGeom>
          <a:solidFill>
            <a:srgbClr val="C4CBD0"/>
          </a:solidFill>
          <a:ln>
            <a:noFill/>
          </a:ln>
        </p:spPr>
        <p:txBody>
          <a:bodyPr rtlCol="0" anchor="ctr"/>
          <a:lstStyle/>
          <a:p>
            <a:pPr algn="ctr"/>
          </a:p>
        </p:txBody>
      </p:sp>
      <p:sp>
        <p:nvSpPr>
          <p:cNvPr id="32" name="TextBox 31"/>
          <p:cNvSpPr txBox="1"/>
          <p:nvPr/>
        </p:nvSpPr>
        <p:spPr>
          <a:xfrm>
            <a:off x="7589520" y="5349240"/>
            <a:ext cx="3931920" cy="548640"/>
          </a:xfrm>
          <a:prstGeom prst="rect">
            <a:avLst/>
          </a:prstGeom>
          <a:noFill/>
        </p:spPr>
        <p:txBody>
          <a:bodyPr wrap="square" lIns="0" rIns="0" tIns="0" bIns="0" anchor="t">
            <a:noAutofit/>
          </a:bodyPr>
          <a:lstStyle/>
          <a:p>
            <a:pPr algn="l">
              <a:lnSpc>
                <a:spcPct val="120000"/>
              </a:lnSpc>
              <a:spcBef>
                <a:spcPts val="0"/>
              </a:spcBef>
              <a:spcAft>
                <a:spcPts val="0"/>
              </a:spcAft>
            </a:pPr>
            <a:r>
              <a:rPr sz="1400" b="1" i="0">
                <a:solidFill>
                  <a:srgbClr val="10263F"/>
                </a:solidFill>
                <a:latin typeface="Arial"/>
              </a:rPr>
              <a:t>Rollback runs the same steps with the previous image.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40080" y="731520"/>
            <a:ext cx="566928" cy="310896"/>
          </a:xfrm>
          <a:prstGeom prst="rect">
            <a:avLst/>
          </a:prstGeom>
          <a:solidFill>
            <a:srgbClr val="E9B93A"/>
          </a:solidFill>
          <a:ln w="15875">
            <a:solidFill>
              <a:srgbClr val="10263F"/>
            </a:solidFill>
          </a:ln>
        </p:spPr>
        <p:txBody>
          <a:bodyPr rtlCol="0" anchor="ctr"/>
          <a:lstStyle/>
          <a:p>
            <a:pPr algn="ctr"/>
          </a:p>
        </p:txBody>
      </p:sp>
      <p:sp>
        <p:nvSpPr>
          <p:cNvPr id="3" name="Rectangle 2"/>
          <p:cNvSpPr/>
          <p:nvPr/>
        </p:nvSpPr>
        <p:spPr>
          <a:xfrm>
            <a:off x="753465" y="777240"/>
            <a:ext cx="7315" cy="219456"/>
          </a:xfrm>
          <a:prstGeom prst="rect">
            <a:avLst/>
          </a:prstGeom>
          <a:solidFill>
            <a:srgbClr val="BA942E"/>
          </a:solidFill>
          <a:ln>
            <a:noFill/>
          </a:ln>
        </p:spPr>
        <p:txBody>
          <a:bodyPr rtlCol="0" anchor="ctr"/>
          <a:lstStyle/>
          <a:p>
            <a:pPr algn="ctr"/>
          </a:p>
        </p:txBody>
      </p:sp>
      <p:sp>
        <p:nvSpPr>
          <p:cNvPr id="4" name="Rectangle 3"/>
          <p:cNvSpPr/>
          <p:nvPr/>
        </p:nvSpPr>
        <p:spPr>
          <a:xfrm>
            <a:off x="866851" y="777240"/>
            <a:ext cx="7315" cy="219456"/>
          </a:xfrm>
          <a:prstGeom prst="rect">
            <a:avLst/>
          </a:prstGeom>
          <a:solidFill>
            <a:srgbClr val="BA942E"/>
          </a:solidFill>
          <a:ln>
            <a:noFill/>
          </a:ln>
        </p:spPr>
        <p:txBody>
          <a:bodyPr rtlCol="0" anchor="ctr"/>
          <a:lstStyle/>
          <a:p>
            <a:pPr algn="ctr"/>
          </a:p>
        </p:txBody>
      </p:sp>
      <p:sp>
        <p:nvSpPr>
          <p:cNvPr id="5" name="Rectangle 4"/>
          <p:cNvSpPr/>
          <p:nvPr/>
        </p:nvSpPr>
        <p:spPr>
          <a:xfrm>
            <a:off x="980236" y="777240"/>
            <a:ext cx="7315" cy="219456"/>
          </a:xfrm>
          <a:prstGeom prst="rect">
            <a:avLst/>
          </a:prstGeom>
          <a:solidFill>
            <a:srgbClr val="BA942E"/>
          </a:solidFill>
          <a:ln>
            <a:noFill/>
          </a:ln>
        </p:spPr>
        <p:txBody>
          <a:bodyPr rtlCol="0" anchor="ctr"/>
          <a:lstStyle/>
          <a:p>
            <a:pPr algn="ctr"/>
          </a:p>
        </p:txBody>
      </p:sp>
      <p:sp>
        <p:nvSpPr>
          <p:cNvPr id="6" name="Rectangle 5"/>
          <p:cNvSpPr/>
          <p:nvPr/>
        </p:nvSpPr>
        <p:spPr>
          <a:xfrm>
            <a:off x="1093622" y="777240"/>
            <a:ext cx="7315" cy="219456"/>
          </a:xfrm>
          <a:prstGeom prst="rect">
            <a:avLst/>
          </a:prstGeom>
          <a:solidFill>
            <a:srgbClr val="BA942E"/>
          </a:solidFill>
          <a:ln>
            <a:noFill/>
          </a:ln>
        </p:spPr>
        <p:txBody>
          <a:bodyPr rtlCol="0" anchor="ctr"/>
          <a:lstStyle/>
          <a:p>
            <a:pPr algn="ctr"/>
          </a:p>
        </p:txBody>
      </p:sp>
      <p:sp>
        <p:nvSpPr>
          <p:cNvPr id="7" name="TextBox 6"/>
          <p:cNvSpPr txBox="1"/>
          <p:nvPr/>
        </p:nvSpPr>
        <p:spPr>
          <a:xfrm>
            <a:off x="1417320" y="548640"/>
            <a:ext cx="10149840" cy="685800"/>
          </a:xfrm>
          <a:prstGeom prst="rect">
            <a:avLst/>
          </a:prstGeom>
          <a:noFill/>
        </p:spPr>
        <p:txBody>
          <a:bodyPr wrap="square" lIns="0" rIns="0" tIns="0" bIns="0" anchor="ctr">
            <a:noAutofit/>
          </a:bodyPr>
          <a:lstStyle/>
          <a:p>
            <a:pPr algn="l">
              <a:spcBef>
                <a:spcPts val="0"/>
              </a:spcBef>
              <a:spcAft>
                <a:spcPts val="0"/>
              </a:spcAft>
            </a:pPr>
            <a:r>
              <a:rPr sz="3000" b="1" i="0">
                <a:solidFill>
                  <a:srgbClr val="10263F"/>
                </a:solidFill>
                <a:latin typeface="Georgia"/>
              </a:rPr>
              <a:t>How I tested it</a:t>
            </a:r>
          </a:p>
        </p:txBody>
      </p:sp>
      <p:cxnSp>
        <p:nvCxnSpPr>
          <p:cNvPr id="8" name="Connector 7"/>
          <p:cNvCxnSpPr/>
          <p:nvPr/>
        </p:nvCxnSpPr>
        <p:spPr>
          <a:xfrm>
            <a:off x="640080" y="1335024"/>
            <a:ext cx="10908792" cy="0"/>
          </a:xfrm>
          <a:prstGeom prst="line">
            <a:avLst/>
          </a:prstGeom>
          <a:ln w="15875">
            <a:solidFill>
              <a:srgbClr val="9AA5AE"/>
            </a:solidFill>
            <a:prstDash val="dash"/>
          </a:ln>
        </p:spPr>
      </p:cxnSp>
      <p:pic>
        <p:nvPicPr>
          <p:cNvPr id="9" name="Picture 8" descr="wave_band.png"/>
          <p:cNvPicPr>
            <a:picLocks noChangeAspect="1"/>
          </p:cNvPicPr>
          <p:nvPr/>
        </p:nvPicPr>
        <p:blipFill>
          <a:blip r:embed="rId2"/>
          <a:stretch>
            <a:fillRect/>
          </a:stretch>
        </p:blipFill>
        <p:spPr>
          <a:xfrm>
            <a:off x="0" y="6355080"/>
            <a:ext cx="12191695" cy="502845"/>
          </a:xfrm>
          <a:prstGeom prst="rect">
            <a:avLst/>
          </a:prstGeom>
        </p:spPr>
      </p:pic>
      <p:pic>
        <p:nvPicPr>
          <p:cNvPr id="10" name="Picture 9" descr="tug_small.png"/>
          <p:cNvPicPr>
            <a:picLocks noChangeAspect="1"/>
          </p:cNvPicPr>
          <p:nvPr/>
        </p:nvPicPr>
        <p:blipFill>
          <a:blip r:embed="rId3"/>
          <a:stretch>
            <a:fillRect/>
          </a:stretch>
        </p:blipFill>
        <p:spPr>
          <a:xfrm>
            <a:off x="7644383" y="6078380"/>
            <a:ext cx="566928" cy="450436"/>
          </a:xfrm>
          <a:prstGeom prst="rect">
            <a:avLst/>
          </a:prstGeom>
        </p:spPr>
      </p:pic>
      <p:sp>
        <p:nvSpPr>
          <p:cNvPr id="11" name="TextBox 10"/>
          <p:cNvSpPr txBox="1"/>
          <p:nvPr/>
        </p:nvSpPr>
        <p:spPr>
          <a:xfrm>
            <a:off x="640080" y="6126480"/>
            <a:ext cx="2743200" cy="228600"/>
          </a:xfrm>
          <a:prstGeom prst="rect">
            <a:avLst/>
          </a:prstGeom>
          <a:noFill/>
        </p:spPr>
        <p:txBody>
          <a:bodyPr wrap="square" lIns="0" rIns="0" tIns="0" bIns="0" anchor="ctr">
            <a:noAutofit/>
          </a:bodyPr>
          <a:lstStyle/>
          <a:p>
            <a:pPr algn="l">
              <a:spcBef>
                <a:spcPts val="0"/>
              </a:spcBef>
              <a:spcAft>
                <a:spcPts val="0"/>
              </a:spcAft>
            </a:pPr>
            <a:r>
              <a:rPr sz="1000" b="0" i="0">
                <a:solidFill>
                  <a:srgbClr val="7E8A97"/>
                </a:solidFill>
                <a:latin typeface="Arial"/>
              </a:rPr>
              <a:t>Tugboat   8 / 12</a:t>
            </a:r>
          </a:p>
        </p:txBody>
      </p:sp>
      <p:sp>
        <p:nvSpPr>
          <p:cNvPr id="12" name="Rectangle 11"/>
          <p:cNvSpPr/>
          <p:nvPr/>
        </p:nvSpPr>
        <p:spPr>
          <a:xfrm>
            <a:off x="640080" y="1783080"/>
            <a:ext cx="502920" cy="292608"/>
          </a:xfrm>
          <a:prstGeom prst="rect">
            <a:avLst/>
          </a:prstGeom>
          <a:solidFill>
            <a:srgbClr val="C8472D"/>
          </a:solidFill>
          <a:ln w="15875">
            <a:solidFill>
              <a:srgbClr val="10263F"/>
            </a:solidFill>
          </a:ln>
        </p:spPr>
        <p:txBody>
          <a:bodyPr rtlCol="0" anchor="ctr"/>
          <a:lstStyle/>
          <a:p>
            <a:pPr algn="ctr"/>
          </a:p>
        </p:txBody>
      </p:sp>
      <p:sp>
        <p:nvSpPr>
          <p:cNvPr id="13" name="Rectangle 12"/>
          <p:cNvSpPr/>
          <p:nvPr/>
        </p:nvSpPr>
        <p:spPr>
          <a:xfrm>
            <a:off x="740664" y="1828800"/>
            <a:ext cx="7315" cy="201168"/>
          </a:xfrm>
          <a:prstGeom prst="rect">
            <a:avLst/>
          </a:prstGeom>
          <a:solidFill>
            <a:srgbClr val="A03824"/>
          </a:solidFill>
          <a:ln>
            <a:noFill/>
          </a:ln>
        </p:spPr>
        <p:txBody>
          <a:bodyPr rtlCol="0" anchor="ctr"/>
          <a:lstStyle/>
          <a:p>
            <a:pPr algn="ctr"/>
          </a:p>
        </p:txBody>
      </p:sp>
      <p:sp>
        <p:nvSpPr>
          <p:cNvPr id="14" name="Rectangle 13"/>
          <p:cNvSpPr/>
          <p:nvPr/>
        </p:nvSpPr>
        <p:spPr>
          <a:xfrm>
            <a:off x="841247" y="1828800"/>
            <a:ext cx="7315" cy="201168"/>
          </a:xfrm>
          <a:prstGeom prst="rect">
            <a:avLst/>
          </a:prstGeom>
          <a:solidFill>
            <a:srgbClr val="A03824"/>
          </a:solidFill>
          <a:ln>
            <a:noFill/>
          </a:ln>
        </p:spPr>
        <p:txBody>
          <a:bodyPr rtlCol="0" anchor="ctr"/>
          <a:lstStyle/>
          <a:p>
            <a:pPr algn="ctr"/>
          </a:p>
        </p:txBody>
      </p:sp>
      <p:sp>
        <p:nvSpPr>
          <p:cNvPr id="15" name="Rectangle 14"/>
          <p:cNvSpPr/>
          <p:nvPr/>
        </p:nvSpPr>
        <p:spPr>
          <a:xfrm>
            <a:off x="941832" y="1828800"/>
            <a:ext cx="7315" cy="201168"/>
          </a:xfrm>
          <a:prstGeom prst="rect">
            <a:avLst/>
          </a:prstGeom>
          <a:solidFill>
            <a:srgbClr val="A03824"/>
          </a:solidFill>
          <a:ln>
            <a:noFill/>
          </a:ln>
        </p:spPr>
        <p:txBody>
          <a:bodyPr rtlCol="0" anchor="ctr"/>
          <a:lstStyle/>
          <a:p>
            <a:pPr algn="ctr"/>
          </a:p>
        </p:txBody>
      </p:sp>
      <p:sp>
        <p:nvSpPr>
          <p:cNvPr id="16" name="Rectangle 15"/>
          <p:cNvSpPr/>
          <p:nvPr/>
        </p:nvSpPr>
        <p:spPr>
          <a:xfrm>
            <a:off x="1042416" y="1828800"/>
            <a:ext cx="7315" cy="201168"/>
          </a:xfrm>
          <a:prstGeom prst="rect">
            <a:avLst/>
          </a:prstGeom>
          <a:solidFill>
            <a:srgbClr val="A03824"/>
          </a:solidFill>
          <a:ln>
            <a:noFill/>
          </a:ln>
        </p:spPr>
        <p:txBody>
          <a:bodyPr rtlCol="0" anchor="ctr"/>
          <a:lstStyle/>
          <a:p>
            <a:pPr algn="ctr"/>
          </a:p>
        </p:txBody>
      </p:sp>
      <p:sp>
        <p:nvSpPr>
          <p:cNvPr id="17" name="TextBox 16"/>
          <p:cNvSpPr txBox="1"/>
          <p:nvPr/>
        </p:nvSpPr>
        <p:spPr>
          <a:xfrm>
            <a:off x="1371600" y="1691640"/>
            <a:ext cx="5212080" cy="914400"/>
          </a:xfrm>
          <a:prstGeom prst="rect">
            <a:avLst/>
          </a:prstGeom>
          <a:noFill/>
        </p:spPr>
        <p:txBody>
          <a:bodyPr wrap="square" lIns="0" rIns="0" tIns="0" bIns="0" anchor="t">
            <a:noAutofit/>
          </a:bodyPr>
          <a:lstStyle/>
          <a:p>
            <a:pPr algn="l">
              <a:lnSpc>
                <a:spcPct val="125000"/>
              </a:lnSpc>
              <a:spcBef>
                <a:spcPts val="0"/>
              </a:spcBef>
              <a:spcAft>
                <a:spcPts val="0"/>
              </a:spcAft>
            </a:pPr>
            <a:r>
              <a:rPr sz="1550" b="0" i="0">
                <a:solidFill>
                  <a:srgbClr val="10263F"/>
                </a:solidFill>
                <a:latin typeface="Arial"/>
              </a:rPr>
              <a:t>I wrote each feature test-first: a failing test, then the code to make it pass.</a:t>
            </a:r>
          </a:p>
        </p:txBody>
      </p:sp>
      <p:sp>
        <p:nvSpPr>
          <p:cNvPr id="18" name="Rectangle 17"/>
          <p:cNvSpPr/>
          <p:nvPr/>
        </p:nvSpPr>
        <p:spPr>
          <a:xfrm>
            <a:off x="640080" y="2807208"/>
            <a:ext cx="502920" cy="292608"/>
          </a:xfrm>
          <a:prstGeom prst="rect">
            <a:avLst/>
          </a:prstGeom>
          <a:solidFill>
            <a:srgbClr val="E9B93A"/>
          </a:solidFill>
          <a:ln w="15875">
            <a:solidFill>
              <a:srgbClr val="10263F"/>
            </a:solidFill>
          </a:ln>
        </p:spPr>
        <p:txBody>
          <a:bodyPr rtlCol="0" anchor="ctr"/>
          <a:lstStyle/>
          <a:p>
            <a:pPr algn="ctr"/>
          </a:p>
        </p:txBody>
      </p:sp>
      <p:sp>
        <p:nvSpPr>
          <p:cNvPr id="19" name="Rectangle 18"/>
          <p:cNvSpPr/>
          <p:nvPr/>
        </p:nvSpPr>
        <p:spPr>
          <a:xfrm>
            <a:off x="740664" y="2852928"/>
            <a:ext cx="7315" cy="201168"/>
          </a:xfrm>
          <a:prstGeom prst="rect">
            <a:avLst/>
          </a:prstGeom>
          <a:solidFill>
            <a:srgbClr val="BA942E"/>
          </a:solidFill>
          <a:ln>
            <a:noFill/>
          </a:ln>
        </p:spPr>
        <p:txBody>
          <a:bodyPr rtlCol="0" anchor="ctr"/>
          <a:lstStyle/>
          <a:p>
            <a:pPr algn="ctr"/>
          </a:p>
        </p:txBody>
      </p:sp>
      <p:sp>
        <p:nvSpPr>
          <p:cNvPr id="20" name="Rectangle 19"/>
          <p:cNvSpPr/>
          <p:nvPr/>
        </p:nvSpPr>
        <p:spPr>
          <a:xfrm>
            <a:off x="841247" y="2852928"/>
            <a:ext cx="7315" cy="201168"/>
          </a:xfrm>
          <a:prstGeom prst="rect">
            <a:avLst/>
          </a:prstGeom>
          <a:solidFill>
            <a:srgbClr val="BA942E"/>
          </a:solidFill>
          <a:ln>
            <a:noFill/>
          </a:ln>
        </p:spPr>
        <p:txBody>
          <a:bodyPr rtlCol="0" anchor="ctr"/>
          <a:lstStyle/>
          <a:p>
            <a:pPr algn="ctr"/>
          </a:p>
        </p:txBody>
      </p:sp>
      <p:sp>
        <p:nvSpPr>
          <p:cNvPr id="21" name="Rectangle 20"/>
          <p:cNvSpPr/>
          <p:nvPr/>
        </p:nvSpPr>
        <p:spPr>
          <a:xfrm>
            <a:off x="941832" y="2852928"/>
            <a:ext cx="7315" cy="201168"/>
          </a:xfrm>
          <a:prstGeom prst="rect">
            <a:avLst/>
          </a:prstGeom>
          <a:solidFill>
            <a:srgbClr val="BA942E"/>
          </a:solidFill>
          <a:ln>
            <a:noFill/>
          </a:ln>
        </p:spPr>
        <p:txBody>
          <a:bodyPr rtlCol="0" anchor="ctr"/>
          <a:lstStyle/>
          <a:p>
            <a:pPr algn="ctr"/>
          </a:p>
        </p:txBody>
      </p:sp>
      <p:sp>
        <p:nvSpPr>
          <p:cNvPr id="22" name="Rectangle 21"/>
          <p:cNvSpPr/>
          <p:nvPr/>
        </p:nvSpPr>
        <p:spPr>
          <a:xfrm>
            <a:off x="1042416" y="2852928"/>
            <a:ext cx="7315" cy="201168"/>
          </a:xfrm>
          <a:prstGeom prst="rect">
            <a:avLst/>
          </a:prstGeom>
          <a:solidFill>
            <a:srgbClr val="BA942E"/>
          </a:solidFill>
          <a:ln>
            <a:noFill/>
          </a:ln>
        </p:spPr>
        <p:txBody>
          <a:bodyPr rtlCol="0" anchor="ctr"/>
          <a:lstStyle/>
          <a:p>
            <a:pPr algn="ctr"/>
          </a:p>
        </p:txBody>
      </p:sp>
      <p:sp>
        <p:nvSpPr>
          <p:cNvPr id="23" name="TextBox 22"/>
          <p:cNvSpPr txBox="1"/>
          <p:nvPr/>
        </p:nvSpPr>
        <p:spPr>
          <a:xfrm>
            <a:off x="1371600" y="2715768"/>
            <a:ext cx="5212080" cy="914400"/>
          </a:xfrm>
          <a:prstGeom prst="rect">
            <a:avLst/>
          </a:prstGeom>
          <a:noFill/>
        </p:spPr>
        <p:txBody>
          <a:bodyPr wrap="square" lIns="0" rIns="0" tIns="0" bIns="0" anchor="t">
            <a:noAutofit/>
          </a:bodyPr>
          <a:lstStyle/>
          <a:p>
            <a:pPr algn="l">
              <a:lnSpc>
                <a:spcPct val="125000"/>
              </a:lnSpc>
              <a:spcBef>
                <a:spcPts val="0"/>
              </a:spcBef>
              <a:spcAft>
                <a:spcPts val="0"/>
              </a:spcAft>
            </a:pPr>
            <a:r>
              <a:rPr sz="1550" b="0" i="0">
                <a:solidFill>
                  <a:srgbClr val="10263F"/>
                </a:solidFill>
                <a:latin typeface="Arial"/>
              </a:rPr>
              <a:t>Integration tests run the real tools: docker, pack, Traefik and cloudflared. Nothing is mocked.</a:t>
            </a:r>
          </a:p>
        </p:txBody>
      </p:sp>
      <p:sp>
        <p:nvSpPr>
          <p:cNvPr id="24" name="Rectangle 23"/>
          <p:cNvSpPr/>
          <p:nvPr/>
        </p:nvSpPr>
        <p:spPr>
          <a:xfrm>
            <a:off x="640080" y="3831335"/>
            <a:ext cx="502920" cy="292608"/>
          </a:xfrm>
          <a:prstGeom prst="rect">
            <a:avLst/>
          </a:prstGeom>
          <a:solidFill>
            <a:srgbClr val="2F8F83"/>
          </a:solidFill>
          <a:ln w="15875">
            <a:solidFill>
              <a:srgbClr val="10263F"/>
            </a:solidFill>
          </a:ln>
        </p:spPr>
        <p:txBody>
          <a:bodyPr rtlCol="0" anchor="ctr"/>
          <a:lstStyle/>
          <a:p>
            <a:pPr algn="ctr"/>
          </a:p>
        </p:txBody>
      </p:sp>
      <p:sp>
        <p:nvSpPr>
          <p:cNvPr id="25" name="Rectangle 24"/>
          <p:cNvSpPr/>
          <p:nvPr/>
        </p:nvSpPr>
        <p:spPr>
          <a:xfrm>
            <a:off x="740664" y="3877055"/>
            <a:ext cx="7315" cy="201168"/>
          </a:xfrm>
          <a:prstGeom prst="rect">
            <a:avLst/>
          </a:prstGeom>
          <a:solidFill>
            <a:srgbClr val="257268"/>
          </a:solidFill>
          <a:ln>
            <a:noFill/>
          </a:ln>
        </p:spPr>
        <p:txBody>
          <a:bodyPr rtlCol="0" anchor="ctr"/>
          <a:lstStyle/>
          <a:p>
            <a:pPr algn="ctr"/>
          </a:p>
        </p:txBody>
      </p:sp>
      <p:sp>
        <p:nvSpPr>
          <p:cNvPr id="26" name="Rectangle 25"/>
          <p:cNvSpPr/>
          <p:nvPr/>
        </p:nvSpPr>
        <p:spPr>
          <a:xfrm>
            <a:off x="841247" y="3877055"/>
            <a:ext cx="7315" cy="201168"/>
          </a:xfrm>
          <a:prstGeom prst="rect">
            <a:avLst/>
          </a:prstGeom>
          <a:solidFill>
            <a:srgbClr val="257268"/>
          </a:solidFill>
          <a:ln>
            <a:noFill/>
          </a:ln>
        </p:spPr>
        <p:txBody>
          <a:bodyPr rtlCol="0" anchor="ctr"/>
          <a:lstStyle/>
          <a:p>
            <a:pPr algn="ctr"/>
          </a:p>
        </p:txBody>
      </p:sp>
      <p:sp>
        <p:nvSpPr>
          <p:cNvPr id="27" name="Rectangle 26"/>
          <p:cNvSpPr/>
          <p:nvPr/>
        </p:nvSpPr>
        <p:spPr>
          <a:xfrm>
            <a:off x="941832" y="3877055"/>
            <a:ext cx="7315" cy="201168"/>
          </a:xfrm>
          <a:prstGeom prst="rect">
            <a:avLst/>
          </a:prstGeom>
          <a:solidFill>
            <a:srgbClr val="257268"/>
          </a:solidFill>
          <a:ln>
            <a:noFill/>
          </a:ln>
        </p:spPr>
        <p:txBody>
          <a:bodyPr rtlCol="0" anchor="ctr"/>
          <a:lstStyle/>
          <a:p>
            <a:pPr algn="ctr"/>
          </a:p>
        </p:txBody>
      </p:sp>
      <p:sp>
        <p:nvSpPr>
          <p:cNvPr id="28" name="Rectangle 27"/>
          <p:cNvSpPr/>
          <p:nvPr/>
        </p:nvSpPr>
        <p:spPr>
          <a:xfrm>
            <a:off x="1042416" y="3877055"/>
            <a:ext cx="7315" cy="201168"/>
          </a:xfrm>
          <a:prstGeom prst="rect">
            <a:avLst/>
          </a:prstGeom>
          <a:solidFill>
            <a:srgbClr val="257268"/>
          </a:solidFill>
          <a:ln>
            <a:noFill/>
          </a:ln>
        </p:spPr>
        <p:txBody>
          <a:bodyPr rtlCol="0" anchor="ctr"/>
          <a:lstStyle/>
          <a:p>
            <a:pPr algn="ctr"/>
          </a:p>
        </p:txBody>
      </p:sp>
      <p:sp>
        <p:nvSpPr>
          <p:cNvPr id="29" name="TextBox 28"/>
          <p:cNvSpPr txBox="1"/>
          <p:nvPr/>
        </p:nvSpPr>
        <p:spPr>
          <a:xfrm>
            <a:off x="1371600" y="3739896"/>
            <a:ext cx="5212080" cy="914400"/>
          </a:xfrm>
          <a:prstGeom prst="rect">
            <a:avLst/>
          </a:prstGeom>
          <a:noFill/>
        </p:spPr>
        <p:txBody>
          <a:bodyPr wrap="square" lIns="0" rIns="0" tIns="0" bIns="0" anchor="t">
            <a:noAutofit/>
          </a:bodyPr>
          <a:lstStyle/>
          <a:p>
            <a:pPr algn="l">
              <a:lnSpc>
                <a:spcPct val="125000"/>
              </a:lnSpc>
              <a:spcBef>
                <a:spcPts val="0"/>
              </a:spcBef>
              <a:spcAft>
                <a:spcPts val="0"/>
              </a:spcAft>
            </a:pPr>
            <a:r>
              <a:rPr sz="1550" b="0" i="0">
                <a:solidFill>
                  <a:srgbClr val="10263F"/>
                </a:solidFill>
                <a:latin typeface="Arial"/>
              </a:rPr>
              <a:t>The webhook tests use payloads captured from real GitHub deliveries, with their signatures checked.</a:t>
            </a:r>
          </a:p>
        </p:txBody>
      </p:sp>
      <p:sp>
        <p:nvSpPr>
          <p:cNvPr id="30" name="Rectangle 29"/>
          <p:cNvSpPr/>
          <p:nvPr/>
        </p:nvSpPr>
        <p:spPr>
          <a:xfrm>
            <a:off x="640080" y="4855464"/>
            <a:ext cx="502920" cy="292608"/>
          </a:xfrm>
          <a:prstGeom prst="rect">
            <a:avLst/>
          </a:prstGeom>
          <a:solidFill>
            <a:srgbClr val="E58A2B"/>
          </a:solidFill>
          <a:ln w="15875">
            <a:solidFill>
              <a:srgbClr val="10263F"/>
            </a:solidFill>
          </a:ln>
        </p:spPr>
        <p:txBody>
          <a:bodyPr rtlCol="0" anchor="ctr"/>
          <a:lstStyle/>
          <a:p>
            <a:pPr algn="ctr"/>
          </a:p>
        </p:txBody>
      </p:sp>
      <p:sp>
        <p:nvSpPr>
          <p:cNvPr id="31" name="Rectangle 30"/>
          <p:cNvSpPr/>
          <p:nvPr/>
        </p:nvSpPr>
        <p:spPr>
          <a:xfrm>
            <a:off x="740664" y="4901184"/>
            <a:ext cx="7315" cy="201168"/>
          </a:xfrm>
          <a:prstGeom prst="rect">
            <a:avLst/>
          </a:prstGeom>
          <a:solidFill>
            <a:srgbClr val="B76E22"/>
          </a:solidFill>
          <a:ln>
            <a:noFill/>
          </a:ln>
        </p:spPr>
        <p:txBody>
          <a:bodyPr rtlCol="0" anchor="ctr"/>
          <a:lstStyle/>
          <a:p>
            <a:pPr algn="ctr"/>
          </a:p>
        </p:txBody>
      </p:sp>
      <p:sp>
        <p:nvSpPr>
          <p:cNvPr id="32" name="Rectangle 31"/>
          <p:cNvSpPr/>
          <p:nvPr/>
        </p:nvSpPr>
        <p:spPr>
          <a:xfrm>
            <a:off x="841247" y="4901184"/>
            <a:ext cx="7315" cy="201168"/>
          </a:xfrm>
          <a:prstGeom prst="rect">
            <a:avLst/>
          </a:prstGeom>
          <a:solidFill>
            <a:srgbClr val="B76E22"/>
          </a:solidFill>
          <a:ln>
            <a:noFill/>
          </a:ln>
        </p:spPr>
        <p:txBody>
          <a:bodyPr rtlCol="0" anchor="ctr"/>
          <a:lstStyle/>
          <a:p>
            <a:pPr algn="ctr"/>
          </a:p>
        </p:txBody>
      </p:sp>
      <p:sp>
        <p:nvSpPr>
          <p:cNvPr id="33" name="Rectangle 32"/>
          <p:cNvSpPr/>
          <p:nvPr/>
        </p:nvSpPr>
        <p:spPr>
          <a:xfrm>
            <a:off x="941832" y="4901184"/>
            <a:ext cx="7315" cy="201168"/>
          </a:xfrm>
          <a:prstGeom prst="rect">
            <a:avLst/>
          </a:prstGeom>
          <a:solidFill>
            <a:srgbClr val="B76E22"/>
          </a:solidFill>
          <a:ln>
            <a:noFill/>
          </a:ln>
        </p:spPr>
        <p:txBody>
          <a:bodyPr rtlCol="0" anchor="ctr"/>
          <a:lstStyle/>
          <a:p>
            <a:pPr algn="ctr"/>
          </a:p>
        </p:txBody>
      </p:sp>
      <p:sp>
        <p:nvSpPr>
          <p:cNvPr id="34" name="Rectangle 33"/>
          <p:cNvSpPr/>
          <p:nvPr/>
        </p:nvSpPr>
        <p:spPr>
          <a:xfrm>
            <a:off x="1042416" y="4901184"/>
            <a:ext cx="7315" cy="201168"/>
          </a:xfrm>
          <a:prstGeom prst="rect">
            <a:avLst/>
          </a:prstGeom>
          <a:solidFill>
            <a:srgbClr val="B76E22"/>
          </a:solidFill>
          <a:ln>
            <a:noFill/>
          </a:ln>
        </p:spPr>
        <p:txBody>
          <a:bodyPr rtlCol="0" anchor="ctr"/>
          <a:lstStyle/>
          <a:p>
            <a:pPr algn="ctr"/>
          </a:p>
        </p:txBody>
      </p:sp>
      <p:sp>
        <p:nvSpPr>
          <p:cNvPr id="35" name="TextBox 34"/>
          <p:cNvSpPr txBox="1"/>
          <p:nvPr/>
        </p:nvSpPr>
        <p:spPr>
          <a:xfrm>
            <a:off x="1371600" y="4764024"/>
            <a:ext cx="5212080" cy="914400"/>
          </a:xfrm>
          <a:prstGeom prst="rect">
            <a:avLst/>
          </a:prstGeom>
          <a:noFill/>
        </p:spPr>
        <p:txBody>
          <a:bodyPr wrap="square" lIns="0" rIns="0" tIns="0" bIns="0" anchor="t">
            <a:noAutofit/>
          </a:bodyPr>
          <a:lstStyle/>
          <a:p>
            <a:pPr algn="l">
              <a:lnSpc>
                <a:spcPct val="125000"/>
              </a:lnSpc>
              <a:spcBef>
                <a:spcPts val="0"/>
              </a:spcBef>
              <a:spcAft>
                <a:spcPts val="0"/>
              </a:spcAft>
            </a:pPr>
            <a:r>
              <a:rPr sz="1550" b="0" i="0">
                <a:solidFill>
                  <a:srgbClr val="10263F"/>
                </a:solidFill>
                <a:latin typeface="Arial"/>
              </a:rPr>
              <a:t>The database only has rows from real builds and real webhooks. I never seeded it.</a:t>
            </a:r>
          </a:p>
        </p:txBody>
      </p:sp>
      <p:sp>
        <p:nvSpPr>
          <p:cNvPr id="36" name="Rectangle 35"/>
          <p:cNvSpPr/>
          <p:nvPr/>
        </p:nvSpPr>
        <p:spPr>
          <a:xfrm>
            <a:off x="7315200" y="1691640"/>
            <a:ext cx="4233672" cy="1188720"/>
          </a:xfrm>
          <a:prstGeom prst="rect">
            <a:avLst/>
          </a:prstGeom>
          <a:solidFill>
            <a:srgbClr val="C8472D"/>
          </a:solidFill>
          <a:ln w="22225">
            <a:solidFill>
              <a:srgbClr val="10263F"/>
            </a:solidFill>
          </a:ln>
        </p:spPr>
        <p:txBody>
          <a:bodyPr rtlCol="0" anchor="ctr"/>
          <a:lstStyle/>
          <a:p>
            <a:pPr algn="ctr"/>
          </a:p>
        </p:txBody>
      </p:sp>
      <p:sp>
        <p:nvSpPr>
          <p:cNvPr id="37" name="Rectangle 36"/>
          <p:cNvSpPr/>
          <p:nvPr/>
        </p:nvSpPr>
        <p:spPr>
          <a:xfrm>
            <a:off x="7456322" y="1764792"/>
            <a:ext cx="7315" cy="1042416"/>
          </a:xfrm>
          <a:prstGeom prst="rect">
            <a:avLst/>
          </a:prstGeom>
          <a:solidFill>
            <a:srgbClr val="AC3D26"/>
          </a:solidFill>
          <a:ln>
            <a:noFill/>
          </a:ln>
        </p:spPr>
        <p:txBody>
          <a:bodyPr rtlCol="0" anchor="ctr"/>
          <a:lstStyle/>
          <a:p>
            <a:pPr algn="ctr"/>
          </a:p>
        </p:txBody>
      </p:sp>
      <p:sp>
        <p:nvSpPr>
          <p:cNvPr id="38" name="Rectangle 37"/>
          <p:cNvSpPr/>
          <p:nvPr/>
        </p:nvSpPr>
        <p:spPr>
          <a:xfrm>
            <a:off x="7597444" y="1764792"/>
            <a:ext cx="7315" cy="1042416"/>
          </a:xfrm>
          <a:prstGeom prst="rect">
            <a:avLst/>
          </a:prstGeom>
          <a:solidFill>
            <a:srgbClr val="AC3D26"/>
          </a:solidFill>
          <a:ln>
            <a:noFill/>
          </a:ln>
        </p:spPr>
        <p:txBody>
          <a:bodyPr rtlCol="0" anchor="ctr"/>
          <a:lstStyle/>
          <a:p>
            <a:pPr algn="ctr"/>
          </a:p>
        </p:txBody>
      </p:sp>
      <p:sp>
        <p:nvSpPr>
          <p:cNvPr id="39" name="Rectangle 38"/>
          <p:cNvSpPr/>
          <p:nvPr/>
        </p:nvSpPr>
        <p:spPr>
          <a:xfrm>
            <a:off x="7738567" y="1764792"/>
            <a:ext cx="7315" cy="1042416"/>
          </a:xfrm>
          <a:prstGeom prst="rect">
            <a:avLst/>
          </a:prstGeom>
          <a:solidFill>
            <a:srgbClr val="AC3D26"/>
          </a:solidFill>
          <a:ln>
            <a:noFill/>
          </a:ln>
        </p:spPr>
        <p:txBody>
          <a:bodyPr rtlCol="0" anchor="ctr"/>
          <a:lstStyle/>
          <a:p>
            <a:pPr algn="ctr"/>
          </a:p>
        </p:txBody>
      </p:sp>
      <p:sp>
        <p:nvSpPr>
          <p:cNvPr id="40" name="Rectangle 39"/>
          <p:cNvSpPr/>
          <p:nvPr/>
        </p:nvSpPr>
        <p:spPr>
          <a:xfrm>
            <a:off x="7879689" y="1764792"/>
            <a:ext cx="7315" cy="1042416"/>
          </a:xfrm>
          <a:prstGeom prst="rect">
            <a:avLst/>
          </a:prstGeom>
          <a:solidFill>
            <a:srgbClr val="AC3D26"/>
          </a:solidFill>
          <a:ln>
            <a:noFill/>
          </a:ln>
        </p:spPr>
        <p:txBody>
          <a:bodyPr rtlCol="0" anchor="ctr"/>
          <a:lstStyle/>
          <a:p>
            <a:pPr algn="ctr"/>
          </a:p>
        </p:txBody>
      </p:sp>
      <p:sp>
        <p:nvSpPr>
          <p:cNvPr id="41" name="Rectangle 40"/>
          <p:cNvSpPr/>
          <p:nvPr/>
        </p:nvSpPr>
        <p:spPr>
          <a:xfrm>
            <a:off x="8020812" y="1764792"/>
            <a:ext cx="7315" cy="1042416"/>
          </a:xfrm>
          <a:prstGeom prst="rect">
            <a:avLst/>
          </a:prstGeom>
          <a:solidFill>
            <a:srgbClr val="AC3D26"/>
          </a:solidFill>
          <a:ln>
            <a:noFill/>
          </a:ln>
        </p:spPr>
        <p:txBody>
          <a:bodyPr rtlCol="0" anchor="ctr"/>
          <a:lstStyle/>
          <a:p>
            <a:pPr algn="ctr"/>
          </a:p>
        </p:txBody>
      </p:sp>
      <p:sp>
        <p:nvSpPr>
          <p:cNvPr id="42" name="Rectangle 41"/>
          <p:cNvSpPr/>
          <p:nvPr/>
        </p:nvSpPr>
        <p:spPr>
          <a:xfrm>
            <a:off x="8161934" y="1764792"/>
            <a:ext cx="7315" cy="1042416"/>
          </a:xfrm>
          <a:prstGeom prst="rect">
            <a:avLst/>
          </a:prstGeom>
          <a:solidFill>
            <a:srgbClr val="AC3D26"/>
          </a:solidFill>
          <a:ln>
            <a:noFill/>
          </a:ln>
        </p:spPr>
        <p:txBody>
          <a:bodyPr rtlCol="0" anchor="ctr"/>
          <a:lstStyle/>
          <a:p>
            <a:pPr algn="ctr"/>
          </a:p>
        </p:txBody>
      </p:sp>
      <p:sp>
        <p:nvSpPr>
          <p:cNvPr id="43" name="Rectangle 42"/>
          <p:cNvSpPr/>
          <p:nvPr/>
        </p:nvSpPr>
        <p:spPr>
          <a:xfrm>
            <a:off x="8303056" y="1764792"/>
            <a:ext cx="7315" cy="1042416"/>
          </a:xfrm>
          <a:prstGeom prst="rect">
            <a:avLst/>
          </a:prstGeom>
          <a:solidFill>
            <a:srgbClr val="AC3D26"/>
          </a:solidFill>
          <a:ln>
            <a:noFill/>
          </a:ln>
        </p:spPr>
        <p:txBody>
          <a:bodyPr rtlCol="0" anchor="ctr"/>
          <a:lstStyle/>
          <a:p>
            <a:pPr algn="ctr"/>
          </a:p>
        </p:txBody>
      </p:sp>
      <p:sp>
        <p:nvSpPr>
          <p:cNvPr id="44" name="Rectangle 43"/>
          <p:cNvSpPr/>
          <p:nvPr/>
        </p:nvSpPr>
        <p:spPr>
          <a:xfrm>
            <a:off x="8444179" y="1764792"/>
            <a:ext cx="7315" cy="1042416"/>
          </a:xfrm>
          <a:prstGeom prst="rect">
            <a:avLst/>
          </a:prstGeom>
          <a:solidFill>
            <a:srgbClr val="AC3D26"/>
          </a:solidFill>
          <a:ln>
            <a:noFill/>
          </a:ln>
        </p:spPr>
        <p:txBody>
          <a:bodyPr rtlCol="0" anchor="ctr"/>
          <a:lstStyle/>
          <a:p>
            <a:pPr algn="ctr"/>
          </a:p>
        </p:txBody>
      </p:sp>
      <p:sp>
        <p:nvSpPr>
          <p:cNvPr id="45" name="Rectangle 44"/>
          <p:cNvSpPr/>
          <p:nvPr/>
        </p:nvSpPr>
        <p:spPr>
          <a:xfrm>
            <a:off x="8585301" y="1764792"/>
            <a:ext cx="7315" cy="1042416"/>
          </a:xfrm>
          <a:prstGeom prst="rect">
            <a:avLst/>
          </a:prstGeom>
          <a:solidFill>
            <a:srgbClr val="AC3D26"/>
          </a:solidFill>
          <a:ln>
            <a:noFill/>
          </a:ln>
        </p:spPr>
        <p:txBody>
          <a:bodyPr rtlCol="0" anchor="ctr"/>
          <a:lstStyle/>
          <a:p>
            <a:pPr algn="ctr"/>
          </a:p>
        </p:txBody>
      </p:sp>
      <p:sp>
        <p:nvSpPr>
          <p:cNvPr id="46" name="Rectangle 45"/>
          <p:cNvSpPr/>
          <p:nvPr/>
        </p:nvSpPr>
        <p:spPr>
          <a:xfrm>
            <a:off x="8726424" y="1764792"/>
            <a:ext cx="7315" cy="1042416"/>
          </a:xfrm>
          <a:prstGeom prst="rect">
            <a:avLst/>
          </a:prstGeom>
          <a:solidFill>
            <a:srgbClr val="AC3D26"/>
          </a:solidFill>
          <a:ln>
            <a:noFill/>
          </a:ln>
        </p:spPr>
        <p:txBody>
          <a:bodyPr rtlCol="0" anchor="ctr"/>
          <a:lstStyle/>
          <a:p>
            <a:pPr algn="ctr"/>
          </a:p>
        </p:txBody>
      </p:sp>
      <p:sp>
        <p:nvSpPr>
          <p:cNvPr id="47" name="Rectangle 46"/>
          <p:cNvSpPr/>
          <p:nvPr/>
        </p:nvSpPr>
        <p:spPr>
          <a:xfrm>
            <a:off x="8867546" y="1764792"/>
            <a:ext cx="7315" cy="1042416"/>
          </a:xfrm>
          <a:prstGeom prst="rect">
            <a:avLst/>
          </a:prstGeom>
          <a:solidFill>
            <a:srgbClr val="AC3D26"/>
          </a:solidFill>
          <a:ln>
            <a:noFill/>
          </a:ln>
        </p:spPr>
        <p:txBody>
          <a:bodyPr rtlCol="0" anchor="ctr"/>
          <a:lstStyle/>
          <a:p>
            <a:pPr algn="ctr"/>
          </a:p>
        </p:txBody>
      </p:sp>
      <p:sp>
        <p:nvSpPr>
          <p:cNvPr id="48" name="Rectangle 47"/>
          <p:cNvSpPr/>
          <p:nvPr/>
        </p:nvSpPr>
        <p:spPr>
          <a:xfrm>
            <a:off x="9008668" y="1764792"/>
            <a:ext cx="7315" cy="1042416"/>
          </a:xfrm>
          <a:prstGeom prst="rect">
            <a:avLst/>
          </a:prstGeom>
          <a:solidFill>
            <a:srgbClr val="AC3D26"/>
          </a:solidFill>
          <a:ln>
            <a:noFill/>
          </a:ln>
        </p:spPr>
        <p:txBody>
          <a:bodyPr rtlCol="0" anchor="ctr"/>
          <a:lstStyle/>
          <a:p>
            <a:pPr algn="ctr"/>
          </a:p>
        </p:txBody>
      </p:sp>
      <p:sp>
        <p:nvSpPr>
          <p:cNvPr id="49" name="Rectangle 48"/>
          <p:cNvSpPr/>
          <p:nvPr/>
        </p:nvSpPr>
        <p:spPr>
          <a:xfrm>
            <a:off x="9149791" y="1764792"/>
            <a:ext cx="7315" cy="1042416"/>
          </a:xfrm>
          <a:prstGeom prst="rect">
            <a:avLst/>
          </a:prstGeom>
          <a:solidFill>
            <a:srgbClr val="AC3D26"/>
          </a:solidFill>
          <a:ln>
            <a:noFill/>
          </a:ln>
        </p:spPr>
        <p:txBody>
          <a:bodyPr rtlCol="0" anchor="ctr"/>
          <a:lstStyle/>
          <a:p>
            <a:pPr algn="ctr"/>
          </a:p>
        </p:txBody>
      </p:sp>
      <p:sp>
        <p:nvSpPr>
          <p:cNvPr id="50" name="Rectangle 49"/>
          <p:cNvSpPr/>
          <p:nvPr/>
        </p:nvSpPr>
        <p:spPr>
          <a:xfrm>
            <a:off x="9290913" y="1764792"/>
            <a:ext cx="7315" cy="1042416"/>
          </a:xfrm>
          <a:prstGeom prst="rect">
            <a:avLst/>
          </a:prstGeom>
          <a:solidFill>
            <a:srgbClr val="AC3D26"/>
          </a:solidFill>
          <a:ln>
            <a:noFill/>
          </a:ln>
        </p:spPr>
        <p:txBody>
          <a:bodyPr rtlCol="0" anchor="ctr"/>
          <a:lstStyle/>
          <a:p>
            <a:pPr algn="ctr"/>
          </a:p>
        </p:txBody>
      </p:sp>
      <p:sp>
        <p:nvSpPr>
          <p:cNvPr id="51" name="Rectangle 50"/>
          <p:cNvSpPr/>
          <p:nvPr/>
        </p:nvSpPr>
        <p:spPr>
          <a:xfrm>
            <a:off x="9432036" y="1764792"/>
            <a:ext cx="7315" cy="1042416"/>
          </a:xfrm>
          <a:prstGeom prst="rect">
            <a:avLst/>
          </a:prstGeom>
          <a:solidFill>
            <a:srgbClr val="AC3D26"/>
          </a:solidFill>
          <a:ln>
            <a:noFill/>
          </a:ln>
        </p:spPr>
        <p:txBody>
          <a:bodyPr rtlCol="0" anchor="ctr"/>
          <a:lstStyle/>
          <a:p>
            <a:pPr algn="ctr"/>
          </a:p>
        </p:txBody>
      </p:sp>
      <p:sp>
        <p:nvSpPr>
          <p:cNvPr id="52" name="Rectangle 51"/>
          <p:cNvSpPr/>
          <p:nvPr/>
        </p:nvSpPr>
        <p:spPr>
          <a:xfrm>
            <a:off x="9573158" y="1764792"/>
            <a:ext cx="7315" cy="1042416"/>
          </a:xfrm>
          <a:prstGeom prst="rect">
            <a:avLst/>
          </a:prstGeom>
          <a:solidFill>
            <a:srgbClr val="AC3D26"/>
          </a:solidFill>
          <a:ln>
            <a:noFill/>
          </a:ln>
        </p:spPr>
        <p:txBody>
          <a:bodyPr rtlCol="0" anchor="ctr"/>
          <a:lstStyle/>
          <a:p>
            <a:pPr algn="ctr"/>
          </a:p>
        </p:txBody>
      </p:sp>
      <p:sp>
        <p:nvSpPr>
          <p:cNvPr id="53" name="Rectangle 52"/>
          <p:cNvSpPr/>
          <p:nvPr/>
        </p:nvSpPr>
        <p:spPr>
          <a:xfrm>
            <a:off x="9714280" y="1764792"/>
            <a:ext cx="7315" cy="1042416"/>
          </a:xfrm>
          <a:prstGeom prst="rect">
            <a:avLst/>
          </a:prstGeom>
          <a:solidFill>
            <a:srgbClr val="AC3D26"/>
          </a:solidFill>
          <a:ln>
            <a:noFill/>
          </a:ln>
        </p:spPr>
        <p:txBody>
          <a:bodyPr rtlCol="0" anchor="ctr"/>
          <a:lstStyle/>
          <a:p>
            <a:pPr algn="ctr"/>
          </a:p>
        </p:txBody>
      </p:sp>
      <p:sp>
        <p:nvSpPr>
          <p:cNvPr id="54" name="Rectangle 53"/>
          <p:cNvSpPr/>
          <p:nvPr/>
        </p:nvSpPr>
        <p:spPr>
          <a:xfrm>
            <a:off x="9855403" y="1764792"/>
            <a:ext cx="7315" cy="1042416"/>
          </a:xfrm>
          <a:prstGeom prst="rect">
            <a:avLst/>
          </a:prstGeom>
          <a:solidFill>
            <a:srgbClr val="AC3D26"/>
          </a:solidFill>
          <a:ln>
            <a:noFill/>
          </a:ln>
        </p:spPr>
        <p:txBody>
          <a:bodyPr rtlCol="0" anchor="ctr"/>
          <a:lstStyle/>
          <a:p>
            <a:pPr algn="ctr"/>
          </a:p>
        </p:txBody>
      </p:sp>
      <p:sp>
        <p:nvSpPr>
          <p:cNvPr id="55" name="Rectangle 54"/>
          <p:cNvSpPr/>
          <p:nvPr/>
        </p:nvSpPr>
        <p:spPr>
          <a:xfrm>
            <a:off x="9996525" y="1764792"/>
            <a:ext cx="7315" cy="1042416"/>
          </a:xfrm>
          <a:prstGeom prst="rect">
            <a:avLst/>
          </a:prstGeom>
          <a:solidFill>
            <a:srgbClr val="AC3D26"/>
          </a:solidFill>
          <a:ln>
            <a:noFill/>
          </a:ln>
        </p:spPr>
        <p:txBody>
          <a:bodyPr rtlCol="0" anchor="ctr"/>
          <a:lstStyle/>
          <a:p>
            <a:pPr algn="ctr"/>
          </a:p>
        </p:txBody>
      </p:sp>
      <p:sp>
        <p:nvSpPr>
          <p:cNvPr id="56" name="Rectangle 55"/>
          <p:cNvSpPr/>
          <p:nvPr/>
        </p:nvSpPr>
        <p:spPr>
          <a:xfrm>
            <a:off x="10137648" y="1764792"/>
            <a:ext cx="7315" cy="1042416"/>
          </a:xfrm>
          <a:prstGeom prst="rect">
            <a:avLst/>
          </a:prstGeom>
          <a:solidFill>
            <a:srgbClr val="AC3D26"/>
          </a:solidFill>
          <a:ln>
            <a:noFill/>
          </a:ln>
        </p:spPr>
        <p:txBody>
          <a:bodyPr rtlCol="0" anchor="ctr"/>
          <a:lstStyle/>
          <a:p>
            <a:pPr algn="ctr"/>
          </a:p>
        </p:txBody>
      </p:sp>
      <p:sp>
        <p:nvSpPr>
          <p:cNvPr id="57" name="Rectangle 56"/>
          <p:cNvSpPr/>
          <p:nvPr/>
        </p:nvSpPr>
        <p:spPr>
          <a:xfrm>
            <a:off x="10278770" y="1764792"/>
            <a:ext cx="7315" cy="1042416"/>
          </a:xfrm>
          <a:prstGeom prst="rect">
            <a:avLst/>
          </a:prstGeom>
          <a:solidFill>
            <a:srgbClr val="AC3D26"/>
          </a:solidFill>
          <a:ln>
            <a:noFill/>
          </a:ln>
        </p:spPr>
        <p:txBody>
          <a:bodyPr rtlCol="0" anchor="ctr"/>
          <a:lstStyle/>
          <a:p>
            <a:pPr algn="ctr"/>
          </a:p>
        </p:txBody>
      </p:sp>
      <p:sp>
        <p:nvSpPr>
          <p:cNvPr id="58" name="Rectangle 57"/>
          <p:cNvSpPr/>
          <p:nvPr/>
        </p:nvSpPr>
        <p:spPr>
          <a:xfrm>
            <a:off x="10419892" y="1764792"/>
            <a:ext cx="7315" cy="1042416"/>
          </a:xfrm>
          <a:prstGeom prst="rect">
            <a:avLst/>
          </a:prstGeom>
          <a:solidFill>
            <a:srgbClr val="AC3D26"/>
          </a:solidFill>
          <a:ln>
            <a:noFill/>
          </a:ln>
        </p:spPr>
        <p:txBody>
          <a:bodyPr rtlCol="0" anchor="ctr"/>
          <a:lstStyle/>
          <a:p>
            <a:pPr algn="ctr"/>
          </a:p>
        </p:txBody>
      </p:sp>
      <p:sp>
        <p:nvSpPr>
          <p:cNvPr id="59" name="Rectangle 58"/>
          <p:cNvSpPr/>
          <p:nvPr/>
        </p:nvSpPr>
        <p:spPr>
          <a:xfrm>
            <a:off x="10561015" y="1764792"/>
            <a:ext cx="7315" cy="1042416"/>
          </a:xfrm>
          <a:prstGeom prst="rect">
            <a:avLst/>
          </a:prstGeom>
          <a:solidFill>
            <a:srgbClr val="AC3D26"/>
          </a:solidFill>
          <a:ln>
            <a:noFill/>
          </a:ln>
        </p:spPr>
        <p:txBody>
          <a:bodyPr rtlCol="0" anchor="ctr"/>
          <a:lstStyle/>
          <a:p>
            <a:pPr algn="ctr"/>
          </a:p>
        </p:txBody>
      </p:sp>
      <p:sp>
        <p:nvSpPr>
          <p:cNvPr id="60" name="Rectangle 59"/>
          <p:cNvSpPr/>
          <p:nvPr/>
        </p:nvSpPr>
        <p:spPr>
          <a:xfrm>
            <a:off x="10702137" y="1764792"/>
            <a:ext cx="7315" cy="1042416"/>
          </a:xfrm>
          <a:prstGeom prst="rect">
            <a:avLst/>
          </a:prstGeom>
          <a:solidFill>
            <a:srgbClr val="AC3D26"/>
          </a:solidFill>
          <a:ln>
            <a:noFill/>
          </a:ln>
        </p:spPr>
        <p:txBody>
          <a:bodyPr rtlCol="0" anchor="ctr"/>
          <a:lstStyle/>
          <a:p>
            <a:pPr algn="ctr"/>
          </a:p>
        </p:txBody>
      </p:sp>
      <p:sp>
        <p:nvSpPr>
          <p:cNvPr id="61" name="Rectangle 60"/>
          <p:cNvSpPr/>
          <p:nvPr/>
        </p:nvSpPr>
        <p:spPr>
          <a:xfrm>
            <a:off x="10843260" y="1764792"/>
            <a:ext cx="7315" cy="1042416"/>
          </a:xfrm>
          <a:prstGeom prst="rect">
            <a:avLst/>
          </a:prstGeom>
          <a:solidFill>
            <a:srgbClr val="AC3D26"/>
          </a:solidFill>
          <a:ln>
            <a:noFill/>
          </a:ln>
        </p:spPr>
        <p:txBody>
          <a:bodyPr rtlCol="0" anchor="ctr"/>
          <a:lstStyle/>
          <a:p>
            <a:pPr algn="ctr"/>
          </a:p>
        </p:txBody>
      </p:sp>
      <p:sp>
        <p:nvSpPr>
          <p:cNvPr id="62" name="Rectangle 61"/>
          <p:cNvSpPr/>
          <p:nvPr/>
        </p:nvSpPr>
        <p:spPr>
          <a:xfrm>
            <a:off x="10984382" y="1764792"/>
            <a:ext cx="7315" cy="1042416"/>
          </a:xfrm>
          <a:prstGeom prst="rect">
            <a:avLst/>
          </a:prstGeom>
          <a:solidFill>
            <a:srgbClr val="AC3D26"/>
          </a:solidFill>
          <a:ln>
            <a:noFill/>
          </a:ln>
        </p:spPr>
        <p:txBody>
          <a:bodyPr rtlCol="0" anchor="ctr"/>
          <a:lstStyle/>
          <a:p>
            <a:pPr algn="ctr"/>
          </a:p>
        </p:txBody>
      </p:sp>
      <p:sp>
        <p:nvSpPr>
          <p:cNvPr id="63" name="Rectangle 62"/>
          <p:cNvSpPr/>
          <p:nvPr/>
        </p:nvSpPr>
        <p:spPr>
          <a:xfrm>
            <a:off x="11125504" y="1764792"/>
            <a:ext cx="7315" cy="1042416"/>
          </a:xfrm>
          <a:prstGeom prst="rect">
            <a:avLst/>
          </a:prstGeom>
          <a:solidFill>
            <a:srgbClr val="AC3D26"/>
          </a:solidFill>
          <a:ln>
            <a:noFill/>
          </a:ln>
        </p:spPr>
        <p:txBody>
          <a:bodyPr rtlCol="0" anchor="ctr"/>
          <a:lstStyle/>
          <a:p>
            <a:pPr algn="ctr"/>
          </a:p>
        </p:txBody>
      </p:sp>
      <p:sp>
        <p:nvSpPr>
          <p:cNvPr id="64" name="Rectangle 63"/>
          <p:cNvSpPr/>
          <p:nvPr/>
        </p:nvSpPr>
        <p:spPr>
          <a:xfrm>
            <a:off x="11266627" y="1764792"/>
            <a:ext cx="7315" cy="1042416"/>
          </a:xfrm>
          <a:prstGeom prst="rect">
            <a:avLst/>
          </a:prstGeom>
          <a:solidFill>
            <a:srgbClr val="AC3D26"/>
          </a:solidFill>
          <a:ln>
            <a:noFill/>
          </a:ln>
        </p:spPr>
        <p:txBody>
          <a:bodyPr rtlCol="0" anchor="ctr"/>
          <a:lstStyle/>
          <a:p>
            <a:pPr algn="ctr"/>
          </a:p>
        </p:txBody>
      </p:sp>
      <p:sp>
        <p:nvSpPr>
          <p:cNvPr id="65" name="Rectangle 64"/>
          <p:cNvSpPr/>
          <p:nvPr/>
        </p:nvSpPr>
        <p:spPr>
          <a:xfrm>
            <a:off x="11407749" y="1764792"/>
            <a:ext cx="7315" cy="1042416"/>
          </a:xfrm>
          <a:prstGeom prst="rect">
            <a:avLst/>
          </a:prstGeom>
          <a:solidFill>
            <a:srgbClr val="AC3D26"/>
          </a:solidFill>
          <a:ln>
            <a:noFill/>
          </a:ln>
        </p:spPr>
        <p:txBody>
          <a:bodyPr rtlCol="0" anchor="ctr"/>
          <a:lstStyle/>
          <a:p>
            <a:pPr algn="ctr"/>
          </a:p>
        </p:txBody>
      </p:sp>
      <p:sp>
        <p:nvSpPr>
          <p:cNvPr id="66" name="TextBox 65"/>
          <p:cNvSpPr txBox="1"/>
          <p:nvPr/>
        </p:nvSpPr>
        <p:spPr>
          <a:xfrm>
            <a:off x="7589520" y="1691640"/>
            <a:ext cx="1371600" cy="1188720"/>
          </a:xfrm>
          <a:prstGeom prst="rect">
            <a:avLst/>
          </a:prstGeom>
          <a:noFill/>
        </p:spPr>
        <p:txBody>
          <a:bodyPr wrap="square" lIns="0" rIns="0" tIns="0" bIns="0" anchor="ctr">
            <a:noAutofit/>
          </a:bodyPr>
          <a:lstStyle/>
          <a:p>
            <a:pPr algn="l">
              <a:spcBef>
                <a:spcPts val="0"/>
              </a:spcBef>
              <a:spcAft>
                <a:spcPts val="0"/>
              </a:spcAft>
            </a:pPr>
            <a:r>
              <a:rPr sz="4800" b="1" i="0">
                <a:solidFill>
                  <a:srgbClr val="FFFFFF"/>
                </a:solidFill>
                <a:latin typeface="Georgia"/>
              </a:rPr>
              <a:t>74</a:t>
            </a:r>
          </a:p>
        </p:txBody>
      </p:sp>
      <p:sp>
        <p:nvSpPr>
          <p:cNvPr id="67" name="TextBox 66"/>
          <p:cNvSpPr txBox="1"/>
          <p:nvPr/>
        </p:nvSpPr>
        <p:spPr>
          <a:xfrm>
            <a:off x="9052560" y="1691640"/>
            <a:ext cx="2331720" cy="1188720"/>
          </a:xfrm>
          <a:prstGeom prst="rect">
            <a:avLst/>
          </a:prstGeom>
          <a:noFill/>
        </p:spPr>
        <p:txBody>
          <a:bodyPr wrap="square" lIns="0" rIns="0" tIns="0" bIns="0" anchor="ctr">
            <a:noAutofit/>
          </a:bodyPr>
          <a:lstStyle/>
          <a:p>
            <a:pPr algn="l">
              <a:lnSpc>
                <a:spcPct val="120000"/>
              </a:lnSpc>
              <a:spcBef>
                <a:spcPts val="0"/>
              </a:spcBef>
              <a:spcAft>
                <a:spcPts val="0"/>
              </a:spcAft>
            </a:pPr>
            <a:r>
              <a:rPr sz="1350" b="0" i="0">
                <a:solidFill>
                  <a:srgbClr val="FFFFFF"/>
                </a:solidFill>
                <a:latin typeface="Arial"/>
              </a:rPr>
              <a:t>tests</a:t>
            </a:r>
          </a:p>
        </p:txBody>
      </p:sp>
      <p:sp>
        <p:nvSpPr>
          <p:cNvPr id="68" name="Rectangle 67"/>
          <p:cNvSpPr/>
          <p:nvPr/>
        </p:nvSpPr>
        <p:spPr>
          <a:xfrm>
            <a:off x="7315200" y="3063240"/>
            <a:ext cx="4233672" cy="1188720"/>
          </a:xfrm>
          <a:prstGeom prst="rect">
            <a:avLst/>
          </a:prstGeom>
          <a:solidFill>
            <a:srgbClr val="2F8F83"/>
          </a:solidFill>
          <a:ln w="22225">
            <a:solidFill>
              <a:srgbClr val="10263F"/>
            </a:solidFill>
          </a:ln>
        </p:spPr>
        <p:txBody>
          <a:bodyPr rtlCol="0" anchor="ctr"/>
          <a:lstStyle/>
          <a:p>
            <a:pPr algn="ctr"/>
          </a:p>
        </p:txBody>
      </p:sp>
      <p:sp>
        <p:nvSpPr>
          <p:cNvPr id="69" name="Rectangle 68"/>
          <p:cNvSpPr/>
          <p:nvPr/>
        </p:nvSpPr>
        <p:spPr>
          <a:xfrm>
            <a:off x="7456322" y="3136392"/>
            <a:ext cx="7315" cy="1042416"/>
          </a:xfrm>
          <a:prstGeom prst="rect">
            <a:avLst/>
          </a:prstGeom>
          <a:solidFill>
            <a:srgbClr val="287A70"/>
          </a:solidFill>
          <a:ln>
            <a:noFill/>
          </a:ln>
        </p:spPr>
        <p:txBody>
          <a:bodyPr rtlCol="0" anchor="ctr"/>
          <a:lstStyle/>
          <a:p>
            <a:pPr algn="ctr"/>
          </a:p>
        </p:txBody>
      </p:sp>
      <p:sp>
        <p:nvSpPr>
          <p:cNvPr id="70" name="Rectangle 69"/>
          <p:cNvSpPr/>
          <p:nvPr/>
        </p:nvSpPr>
        <p:spPr>
          <a:xfrm>
            <a:off x="7597444" y="3136392"/>
            <a:ext cx="7315" cy="1042416"/>
          </a:xfrm>
          <a:prstGeom prst="rect">
            <a:avLst/>
          </a:prstGeom>
          <a:solidFill>
            <a:srgbClr val="287A70"/>
          </a:solidFill>
          <a:ln>
            <a:noFill/>
          </a:ln>
        </p:spPr>
        <p:txBody>
          <a:bodyPr rtlCol="0" anchor="ctr"/>
          <a:lstStyle/>
          <a:p>
            <a:pPr algn="ctr"/>
          </a:p>
        </p:txBody>
      </p:sp>
      <p:sp>
        <p:nvSpPr>
          <p:cNvPr id="71" name="Rectangle 70"/>
          <p:cNvSpPr/>
          <p:nvPr/>
        </p:nvSpPr>
        <p:spPr>
          <a:xfrm>
            <a:off x="7738567" y="3136392"/>
            <a:ext cx="7315" cy="1042416"/>
          </a:xfrm>
          <a:prstGeom prst="rect">
            <a:avLst/>
          </a:prstGeom>
          <a:solidFill>
            <a:srgbClr val="287A70"/>
          </a:solidFill>
          <a:ln>
            <a:noFill/>
          </a:ln>
        </p:spPr>
        <p:txBody>
          <a:bodyPr rtlCol="0" anchor="ctr"/>
          <a:lstStyle/>
          <a:p>
            <a:pPr algn="ctr"/>
          </a:p>
        </p:txBody>
      </p:sp>
      <p:sp>
        <p:nvSpPr>
          <p:cNvPr id="72" name="Rectangle 71"/>
          <p:cNvSpPr/>
          <p:nvPr/>
        </p:nvSpPr>
        <p:spPr>
          <a:xfrm>
            <a:off x="7879689" y="3136392"/>
            <a:ext cx="7315" cy="1042416"/>
          </a:xfrm>
          <a:prstGeom prst="rect">
            <a:avLst/>
          </a:prstGeom>
          <a:solidFill>
            <a:srgbClr val="287A70"/>
          </a:solidFill>
          <a:ln>
            <a:noFill/>
          </a:ln>
        </p:spPr>
        <p:txBody>
          <a:bodyPr rtlCol="0" anchor="ctr"/>
          <a:lstStyle/>
          <a:p>
            <a:pPr algn="ctr"/>
          </a:p>
        </p:txBody>
      </p:sp>
      <p:sp>
        <p:nvSpPr>
          <p:cNvPr id="73" name="Rectangle 72"/>
          <p:cNvSpPr/>
          <p:nvPr/>
        </p:nvSpPr>
        <p:spPr>
          <a:xfrm>
            <a:off x="8020812" y="3136392"/>
            <a:ext cx="7315" cy="1042416"/>
          </a:xfrm>
          <a:prstGeom prst="rect">
            <a:avLst/>
          </a:prstGeom>
          <a:solidFill>
            <a:srgbClr val="287A70"/>
          </a:solidFill>
          <a:ln>
            <a:noFill/>
          </a:ln>
        </p:spPr>
        <p:txBody>
          <a:bodyPr rtlCol="0" anchor="ctr"/>
          <a:lstStyle/>
          <a:p>
            <a:pPr algn="ctr"/>
          </a:p>
        </p:txBody>
      </p:sp>
      <p:sp>
        <p:nvSpPr>
          <p:cNvPr id="74" name="Rectangle 73"/>
          <p:cNvSpPr/>
          <p:nvPr/>
        </p:nvSpPr>
        <p:spPr>
          <a:xfrm>
            <a:off x="8161934" y="3136392"/>
            <a:ext cx="7315" cy="1042416"/>
          </a:xfrm>
          <a:prstGeom prst="rect">
            <a:avLst/>
          </a:prstGeom>
          <a:solidFill>
            <a:srgbClr val="287A70"/>
          </a:solidFill>
          <a:ln>
            <a:noFill/>
          </a:ln>
        </p:spPr>
        <p:txBody>
          <a:bodyPr rtlCol="0" anchor="ctr"/>
          <a:lstStyle/>
          <a:p>
            <a:pPr algn="ctr"/>
          </a:p>
        </p:txBody>
      </p:sp>
      <p:sp>
        <p:nvSpPr>
          <p:cNvPr id="75" name="Rectangle 74"/>
          <p:cNvSpPr/>
          <p:nvPr/>
        </p:nvSpPr>
        <p:spPr>
          <a:xfrm>
            <a:off x="8303056" y="3136392"/>
            <a:ext cx="7315" cy="1042416"/>
          </a:xfrm>
          <a:prstGeom prst="rect">
            <a:avLst/>
          </a:prstGeom>
          <a:solidFill>
            <a:srgbClr val="287A70"/>
          </a:solidFill>
          <a:ln>
            <a:noFill/>
          </a:ln>
        </p:spPr>
        <p:txBody>
          <a:bodyPr rtlCol="0" anchor="ctr"/>
          <a:lstStyle/>
          <a:p>
            <a:pPr algn="ctr"/>
          </a:p>
        </p:txBody>
      </p:sp>
      <p:sp>
        <p:nvSpPr>
          <p:cNvPr id="76" name="Rectangle 75"/>
          <p:cNvSpPr/>
          <p:nvPr/>
        </p:nvSpPr>
        <p:spPr>
          <a:xfrm>
            <a:off x="8444179" y="3136392"/>
            <a:ext cx="7315" cy="1042416"/>
          </a:xfrm>
          <a:prstGeom prst="rect">
            <a:avLst/>
          </a:prstGeom>
          <a:solidFill>
            <a:srgbClr val="287A70"/>
          </a:solidFill>
          <a:ln>
            <a:noFill/>
          </a:ln>
        </p:spPr>
        <p:txBody>
          <a:bodyPr rtlCol="0" anchor="ctr"/>
          <a:lstStyle/>
          <a:p>
            <a:pPr algn="ctr"/>
          </a:p>
        </p:txBody>
      </p:sp>
      <p:sp>
        <p:nvSpPr>
          <p:cNvPr id="77" name="Rectangle 76"/>
          <p:cNvSpPr/>
          <p:nvPr/>
        </p:nvSpPr>
        <p:spPr>
          <a:xfrm>
            <a:off x="8585301" y="3136392"/>
            <a:ext cx="7315" cy="1042416"/>
          </a:xfrm>
          <a:prstGeom prst="rect">
            <a:avLst/>
          </a:prstGeom>
          <a:solidFill>
            <a:srgbClr val="287A70"/>
          </a:solidFill>
          <a:ln>
            <a:noFill/>
          </a:ln>
        </p:spPr>
        <p:txBody>
          <a:bodyPr rtlCol="0" anchor="ctr"/>
          <a:lstStyle/>
          <a:p>
            <a:pPr algn="ctr"/>
          </a:p>
        </p:txBody>
      </p:sp>
      <p:sp>
        <p:nvSpPr>
          <p:cNvPr id="78" name="Rectangle 77"/>
          <p:cNvSpPr/>
          <p:nvPr/>
        </p:nvSpPr>
        <p:spPr>
          <a:xfrm>
            <a:off x="8726424" y="3136392"/>
            <a:ext cx="7315" cy="1042416"/>
          </a:xfrm>
          <a:prstGeom prst="rect">
            <a:avLst/>
          </a:prstGeom>
          <a:solidFill>
            <a:srgbClr val="287A70"/>
          </a:solidFill>
          <a:ln>
            <a:noFill/>
          </a:ln>
        </p:spPr>
        <p:txBody>
          <a:bodyPr rtlCol="0" anchor="ctr"/>
          <a:lstStyle/>
          <a:p>
            <a:pPr algn="ctr"/>
          </a:p>
        </p:txBody>
      </p:sp>
      <p:sp>
        <p:nvSpPr>
          <p:cNvPr id="79" name="Rectangle 78"/>
          <p:cNvSpPr/>
          <p:nvPr/>
        </p:nvSpPr>
        <p:spPr>
          <a:xfrm>
            <a:off x="8867546" y="3136392"/>
            <a:ext cx="7315" cy="1042416"/>
          </a:xfrm>
          <a:prstGeom prst="rect">
            <a:avLst/>
          </a:prstGeom>
          <a:solidFill>
            <a:srgbClr val="287A70"/>
          </a:solidFill>
          <a:ln>
            <a:noFill/>
          </a:ln>
        </p:spPr>
        <p:txBody>
          <a:bodyPr rtlCol="0" anchor="ctr"/>
          <a:lstStyle/>
          <a:p>
            <a:pPr algn="ctr"/>
          </a:p>
        </p:txBody>
      </p:sp>
      <p:sp>
        <p:nvSpPr>
          <p:cNvPr id="80" name="Rectangle 79"/>
          <p:cNvSpPr/>
          <p:nvPr/>
        </p:nvSpPr>
        <p:spPr>
          <a:xfrm>
            <a:off x="9008668" y="3136392"/>
            <a:ext cx="7315" cy="1042416"/>
          </a:xfrm>
          <a:prstGeom prst="rect">
            <a:avLst/>
          </a:prstGeom>
          <a:solidFill>
            <a:srgbClr val="287A70"/>
          </a:solidFill>
          <a:ln>
            <a:noFill/>
          </a:ln>
        </p:spPr>
        <p:txBody>
          <a:bodyPr rtlCol="0" anchor="ctr"/>
          <a:lstStyle/>
          <a:p>
            <a:pPr algn="ctr"/>
          </a:p>
        </p:txBody>
      </p:sp>
      <p:sp>
        <p:nvSpPr>
          <p:cNvPr id="81" name="Rectangle 80"/>
          <p:cNvSpPr/>
          <p:nvPr/>
        </p:nvSpPr>
        <p:spPr>
          <a:xfrm>
            <a:off x="9149791" y="3136392"/>
            <a:ext cx="7315" cy="1042416"/>
          </a:xfrm>
          <a:prstGeom prst="rect">
            <a:avLst/>
          </a:prstGeom>
          <a:solidFill>
            <a:srgbClr val="287A70"/>
          </a:solidFill>
          <a:ln>
            <a:noFill/>
          </a:ln>
        </p:spPr>
        <p:txBody>
          <a:bodyPr rtlCol="0" anchor="ctr"/>
          <a:lstStyle/>
          <a:p>
            <a:pPr algn="ctr"/>
          </a:p>
        </p:txBody>
      </p:sp>
      <p:sp>
        <p:nvSpPr>
          <p:cNvPr id="82" name="Rectangle 81"/>
          <p:cNvSpPr/>
          <p:nvPr/>
        </p:nvSpPr>
        <p:spPr>
          <a:xfrm>
            <a:off x="9290913" y="3136392"/>
            <a:ext cx="7315" cy="1042416"/>
          </a:xfrm>
          <a:prstGeom prst="rect">
            <a:avLst/>
          </a:prstGeom>
          <a:solidFill>
            <a:srgbClr val="287A70"/>
          </a:solidFill>
          <a:ln>
            <a:noFill/>
          </a:ln>
        </p:spPr>
        <p:txBody>
          <a:bodyPr rtlCol="0" anchor="ctr"/>
          <a:lstStyle/>
          <a:p>
            <a:pPr algn="ctr"/>
          </a:p>
        </p:txBody>
      </p:sp>
      <p:sp>
        <p:nvSpPr>
          <p:cNvPr id="83" name="Rectangle 82"/>
          <p:cNvSpPr/>
          <p:nvPr/>
        </p:nvSpPr>
        <p:spPr>
          <a:xfrm>
            <a:off x="9432036" y="3136392"/>
            <a:ext cx="7315" cy="1042416"/>
          </a:xfrm>
          <a:prstGeom prst="rect">
            <a:avLst/>
          </a:prstGeom>
          <a:solidFill>
            <a:srgbClr val="287A70"/>
          </a:solidFill>
          <a:ln>
            <a:noFill/>
          </a:ln>
        </p:spPr>
        <p:txBody>
          <a:bodyPr rtlCol="0" anchor="ctr"/>
          <a:lstStyle/>
          <a:p>
            <a:pPr algn="ctr"/>
          </a:p>
        </p:txBody>
      </p:sp>
      <p:sp>
        <p:nvSpPr>
          <p:cNvPr id="84" name="Rectangle 83"/>
          <p:cNvSpPr/>
          <p:nvPr/>
        </p:nvSpPr>
        <p:spPr>
          <a:xfrm>
            <a:off x="9573158" y="3136392"/>
            <a:ext cx="7315" cy="1042416"/>
          </a:xfrm>
          <a:prstGeom prst="rect">
            <a:avLst/>
          </a:prstGeom>
          <a:solidFill>
            <a:srgbClr val="287A70"/>
          </a:solidFill>
          <a:ln>
            <a:noFill/>
          </a:ln>
        </p:spPr>
        <p:txBody>
          <a:bodyPr rtlCol="0" anchor="ctr"/>
          <a:lstStyle/>
          <a:p>
            <a:pPr algn="ctr"/>
          </a:p>
        </p:txBody>
      </p:sp>
      <p:sp>
        <p:nvSpPr>
          <p:cNvPr id="85" name="Rectangle 84"/>
          <p:cNvSpPr/>
          <p:nvPr/>
        </p:nvSpPr>
        <p:spPr>
          <a:xfrm>
            <a:off x="9714280" y="3136392"/>
            <a:ext cx="7315" cy="1042416"/>
          </a:xfrm>
          <a:prstGeom prst="rect">
            <a:avLst/>
          </a:prstGeom>
          <a:solidFill>
            <a:srgbClr val="287A70"/>
          </a:solidFill>
          <a:ln>
            <a:noFill/>
          </a:ln>
        </p:spPr>
        <p:txBody>
          <a:bodyPr rtlCol="0" anchor="ctr"/>
          <a:lstStyle/>
          <a:p>
            <a:pPr algn="ctr"/>
          </a:p>
        </p:txBody>
      </p:sp>
      <p:sp>
        <p:nvSpPr>
          <p:cNvPr id="86" name="Rectangle 85"/>
          <p:cNvSpPr/>
          <p:nvPr/>
        </p:nvSpPr>
        <p:spPr>
          <a:xfrm>
            <a:off x="9855403" y="3136392"/>
            <a:ext cx="7315" cy="1042416"/>
          </a:xfrm>
          <a:prstGeom prst="rect">
            <a:avLst/>
          </a:prstGeom>
          <a:solidFill>
            <a:srgbClr val="287A70"/>
          </a:solidFill>
          <a:ln>
            <a:noFill/>
          </a:ln>
        </p:spPr>
        <p:txBody>
          <a:bodyPr rtlCol="0" anchor="ctr"/>
          <a:lstStyle/>
          <a:p>
            <a:pPr algn="ctr"/>
          </a:p>
        </p:txBody>
      </p:sp>
      <p:sp>
        <p:nvSpPr>
          <p:cNvPr id="87" name="Rectangle 86"/>
          <p:cNvSpPr/>
          <p:nvPr/>
        </p:nvSpPr>
        <p:spPr>
          <a:xfrm>
            <a:off x="9996525" y="3136392"/>
            <a:ext cx="7315" cy="1042416"/>
          </a:xfrm>
          <a:prstGeom prst="rect">
            <a:avLst/>
          </a:prstGeom>
          <a:solidFill>
            <a:srgbClr val="287A70"/>
          </a:solidFill>
          <a:ln>
            <a:noFill/>
          </a:ln>
        </p:spPr>
        <p:txBody>
          <a:bodyPr rtlCol="0" anchor="ctr"/>
          <a:lstStyle/>
          <a:p>
            <a:pPr algn="ctr"/>
          </a:p>
        </p:txBody>
      </p:sp>
      <p:sp>
        <p:nvSpPr>
          <p:cNvPr id="88" name="Rectangle 87"/>
          <p:cNvSpPr/>
          <p:nvPr/>
        </p:nvSpPr>
        <p:spPr>
          <a:xfrm>
            <a:off x="10137648" y="3136392"/>
            <a:ext cx="7315" cy="1042416"/>
          </a:xfrm>
          <a:prstGeom prst="rect">
            <a:avLst/>
          </a:prstGeom>
          <a:solidFill>
            <a:srgbClr val="287A70"/>
          </a:solidFill>
          <a:ln>
            <a:noFill/>
          </a:ln>
        </p:spPr>
        <p:txBody>
          <a:bodyPr rtlCol="0" anchor="ctr"/>
          <a:lstStyle/>
          <a:p>
            <a:pPr algn="ctr"/>
          </a:p>
        </p:txBody>
      </p:sp>
      <p:sp>
        <p:nvSpPr>
          <p:cNvPr id="89" name="Rectangle 88"/>
          <p:cNvSpPr/>
          <p:nvPr/>
        </p:nvSpPr>
        <p:spPr>
          <a:xfrm>
            <a:off x="10278770" y="3136392"/>
            <a:ext cx="7315" cy="1042416"/>
          </a:xfrm>
          <a:prstGeom prst="rect">
            <a:avLst/>
          </a:prstGeom>
          <a:solidFill>
            <a:srgbClr val="287A70"/>
          </a:solidFill>
          <a:ln>
            <a:noFill/>
          </a:ln>
        </p:spPr>
        <p:txBody>
          <a:bodyPr rtlCol="0" anchor="ctr"/>
          <a:lstStyle/>
          <a:p>
            <a:pPr algn="ctr"/>
          </a:p>
        </p:txBody>
      </p:sp>
      <p:sp>
        <p:nvSpPr>
          <p:cNvPr id="90" name="Rectangle 89"/>
          <p:cNvSpPr/>
          <p:nvPr/>
        </p:nvSpPr>
        <p:spPr>
          <a:xfrm>
            <a:off x="10419892" y="3136392"/>
            <a:ext cx="7315" cy="1042416"/>
          </a:xfrm>
          <a:prstGeom prst="rect">
            <a:avLst/>
          </a:prstGeom>
          <a:solidFill>
            <a:srgbClr val="287A70"/>
          </a:solidFill>
          <a:ln>
            <a:noFill/>
          </a:ln>
        </p:spPr>
        <p:txBody>
          <a:bodyPr rtlCol="0" anchor="ctr"/>
          <a:lstStyle/>
          <a:p>
            <a:pPr algn="ctr"/>
          </a:p>
        </p:txBody>
      </p:sp>
      <p:sp>
        <p:nvSpPr>
          <p:cNvPr id="91" name="Rectangle 90"/>
          <p:cNvSpPr/>
          <p:nvPr/>
        </p:nvSpPr>
        <p:spPr>
          <a:xfrm>
            <a:off x="10561015" y="3136392"/>
            <a:ext cx="7315" cy="1042416"/>
          </a:xfrm>
          <a:prstGeom prst="rect">
            <a:avLst/>
          </a:prstGeom>
          <a:solidFill>
            <a:srgbClr val="287A70"/>
          </a:solidFill>
          <a:ln>
            <a:noFill/>
          </a:ln>
        </p:spPr>
        <p:txBody>
          <a:bodyPr rtlCol="0" anchor="ctr"/>
          <a:lstStyle/>
          <a:p>
            <a:pPr algn="ctr"/>
          </a:p>
        </p:txBody>
      </p:sp>
      <p:sp>
        <p:nvSpPr>
          <p:cNvPr id="92" name="Rectangle 91"/>
          <p:cNvSpPr/>
          <p:nvPr/>
        </p:nvSpPr>
        <p:spPr>
          <a:xfrm>
            <a:off x="10702137" y="3136392"/>
            <a:ext cx="7315" cy="1042416"/>
          </a:xfrm>
          <a:prstGeom prst="rect">
            <a:avLst/>
          </a:prstGeom>
          <a:solidFill>
            <a:srgbClr val="287A70"/>
          </a:solidFill>
          <a:ln>
            <a:noFill/>
          </a:ln>
        </p:spPr>
        <p:txBody>
          <a:bodyPr rtlCol="0" anchor="ctr"/>
          <a:lstStyle/>
          <a:p>
            <a:pPr algn="ctr"/>
          </a:p>
        </p:txBody>
      </p:sp>
      <p:sp>
        <p:nvSpPr>
          <p:cNvPr id="93" name="Rectangle 92"/>
          <p:cNvSpPr/>
          <p:nvPr/>
        </p:nvSpPr>
        <p:spPr>
          <a:xfrm>
            <a:off x="10843260" y="3136392"/>
            <a:ext cx="7315" cy="1042416"/>
          </a:xfrm>
          <a:prstGeom prst="rect">
            <a:avLst/>
          </a:prstGeom>
          <a:solidFill>
            <a:srgbClr val="287A70"/>
          </a:solidFill>
          <a:ln>
            <a:noFill/>
          </a:ln>
        </p:spPr>
        <p:txBody>
          <a:bodyPr rtlCol="0" anchor="ctr"/>
          <a:lstStyle/>
          <a:p>
            <a:pPr algn="ctr"/>
          </a:p>
        </p:txBody>
      </p:sp>
      <p:sp>
        <p:nvSpPr>
          <p:cNvPr id="94" name="Rectangle 93"/>
          <p:cNvSpPr/>
          <p:nvPr/>
        </p:nvSpPr>
        <p:spPr>
          <a:xfrm>
            <a:off x="10984382" y="3136392"/>
            <a:ext cx="7315" cy="1042416"/>
          </a:xfrm>
          <a:prstGeom prst="rect">
            <a:avLst/>
          </a:prstGeom>
          <a:solidFill>
            <a:srgbClr val="287A70"/>
          </a:solidFill>
          <a:ln>
            <a:noFill/>
          </a:ln>
        </p:spPr>
        <p:txBody>
          <a:bodyPr rtlCol="0" anchor="ctr"/>
          <a:lstStyle/>
          <a:p>
            <a:pPr algn="ctr"/>
          </a:p>
        </p:txBody>
      </p:sp>
      <p:sp>
        <p:nvSpPr>
          <p:cNvPr id="95" name="Rectangle 94"/>
          <p:cNvSpPr/>
          <p:nvPr/>
        </p:nvSpPr>
        <p:spPr>
          <a:xfrm>
            <a:off x="11125504" y="3136392"/>
            <a:ext cx="7315" cy="1042416"/>
          </a:xfrm>
          <a:prstGeom prst="rect">
            <a:avLst/>
          </a:prstGeom>
          <a:solidFill>
            <a:srgbClr val="287A70"/>
          </a:solidFill>
          <a:ln>
            <a:noFill/>
          </a:ln>
        </p:spPr>
        <p:txBody>
          <a:bodyPr rtlCol="0" anchor="ctr"/>
          <a:lstStyle/>
          <a:p>
            <a:pPr algn="ctr"/>
          </a:p>
        </p:txBody>
      </p:sp>
      <p:sp>
        <p:nvSpPr>
          <p:cNvPr id="96" name="Rectangle 95"/>
          <p:cNvSpPr/>
          <p:nvPr/>
        </p:nvSpPr>
        <p:spPr>
          <a:xfrm>
            <a:off x="11266627" y="3136392"/>
            <a:ext cx="7315" cy="1042416"/>
          </a:xfrm>
          <a:prstGeom prst="rect">
            <a:avLst/>
          </a:prstGeom>
          <a:solidFill>
            <a:srgbClr val="287A70"/>
          </a:solidFill>
          <a:ln>
            <a:noFill/>
          </a:ln>
        </p:spPr>
        <p:txBody>
          <a:bodyPr rtlCol="0" anchor="ctr"/>
          <a:lstStyle/>
          <a:p>
            <a:pPr algn="ctr"/>
          </a:p>
        </p:txBody>
      </p:sp>
      <p:sp>
        <p:nvSpPr>
          <p:cNvPr id="97" name="Rectangle 96"/>
          <p:cNvSpPr/>
          <p:nvPr/>
        </p:nvSpPr>
        <p:spPr>
          <a:xfrm>
            <a:off x="11407749" y="3136392"/>
            <a:ext cx="7315" cy="1042416"/>
          </a:xfrm>
          <a:prstGeom prst="rect">
            <a:avLst/>
          </a:prstGeom>
          <a:solidFill>
            <a:srgbClr val="287A70"/>
          </a:solidFill>
          <a:ln>
            <a:noFill/>
          </a:ln>
        </p:spPr>
        <p:txBody>
          <a:bodyPr rtlCol="0" anchor="ctr"/>
          <a:lstStyle/>
          <a:p>
            <a:pPr algn="ctr"/>
          </a:p>
        </p:txBody>
      </p:sp>
      <p:sp>
        <p:nvSpPr>
          <p:cNvPr id="98" name="TextBox 97"/>
          <p:cNvSpPr txBox="1"/>
          <p:nvPr/>
        </p:nvSpPr>
        <p:spPr>
          <a:xfrm>
            <a:off x="7589520" y="3063240"/>
            <a:ext cx="1371600" cy="1188720"/>
          </a:xfrm>
          <a:prstGeom prst="rect">
            <a:avLst/>
          </a:prstGeom>
          <a:noFill/>
        </p:spPr>
        <p:txBody>
          <a:bodyPr wrap="square" lIns="0" rIns="0" tIns="0" bIns="0" anchor="ctr">
            <a:noAutofit/>
          </a:bodyPr>
          <a:lstStyle/>
          <a:p>
            <a:pPr algn="l">
              <a:spcBef>
                <a:spcPts val="0"/>
              </a:spcBef>
              <a:spcAft>
                <a:spcPts val="0"/>
              </a:spcAft>
            </a:pPr>
            <a:r>
              <a:rPr sz="4800" b="1" i="0">
                <a:solidFill>
                  <a:srgbClr val="FFFFFF"/>
                </a:solidFill>
                <a:latin typeface="Georgia"/>
              </a:rPr>
              <a:t>28</a:t>
            </a:r>
          </a:p>
        </p:txBody>
      </p:sp>
      <p:sp>
        <p:nvSpPr>
          <p:cNvPr id="99" name="TextBox 98"/>
          <p:cNvSpPr txBox="1"/>
          <p:nvPr/>
        </p:nvSpPr>
        <p:spPr>
          <a:xfrm>
            <a:off x="9052560" y="3063240"/>
            <a:ext cx="2331720" cy="1188720"/>
          </a:xfrm>
          <a:prstGeom prst="rect">
            <a:avLst/>
          </a:prstGeom>
          <a:noFill/>
        </p:spPr>
        <p:txBody>
          <a:bodyPr wrap="square" lIns="0" rIns="0" tIns="0" bIns="0" anchor="ctr">
            <a:noAutofit/>
          </a:bodyPr>
          <a:lstStyle/>
          <a:p>
            <a:pPr algn="l">
              <a:lnSpc>
                <a:spcPct val="120000"/>
              </a:lnSpc>
              <a:spcBef>
                <a:spcPts val="0"/>
              </a:spcBef>
              <a:spcAft>
                <a:spcPts val="0"/>
              </a:spcAft>
            </a:pPr>
            <a:r>
              <a:rPr sz="1350" b="0" i="0">
                <a:solidFill>
                  <a:srgbClr val="FFFFFF"/>
                </a:solidFill>
                <a:latin typeface="Arial"/>
              </a:rPr>
              <a:t>test files: 15 unit, 12 integration, 1 smoke test</a:t>
            </a:r>
          </a:p>
        </p:txBody>
      </p:sp>
      <p:sp>
        <p:nvSpPr>
          <p:cNvPr id="100" name="Rectangle 99"/>
          <p:cNvSpPr/>
          <p:nvPr/>
        </p:nvSpPr>
        <p:spPr>
          <a:xfrm>
            <a:off x="7315200" y="4434840"/>
            <a:ext cx="4233672" cy="1188720"/>
          </a:xfrm>
          <a:prstGeom prst="rect">
            <a:avLst/>
          </a:prstGeom>
          <a:solidFill>
            <a:srgbClr val="E9B93A"/>
          </a:solidFill>
          <a:ln w="22225">
            <a:solidFill>
              <a:srgbClr val="10263F"/>
            </a:solidFill>
          </a:ln>
        </p:spPr>
        <p:txBody>
          <a:bodyPr rtlCol="0" anchor="ctr"/>
          <a:lstStyle/>
          <a:p>
            <a:pPr algn="ctr"/>
          </a:p>
        </p:txBody>
      </p:sp>
      <p:sp>
        <p:nvSpPr>
          <p:cNvPr id="101" name="Rectangle 100"/>
          <p:cNvSpPr/>
          <p:nvPr/>
        </p:nvSpPr>
        <p:spPr>
          <a:xfrm>
            <a:off x="7456322" y="4507992"/>
            <a:ext cx="7315" cy="1042416"/>
          </a:xfrm>
          <a:prstGeom prst="rect">
            <a:avLst/>
          </a:prstGeom>
          <a:solidFill>
            <a:srgbClr val="C89F31"/>
          </a:solidFill>
          <a:ln>
            <a:noFill/>
          </a:ln>
        </p:spPr>
        <p:txBody>
          <a:bodyPr rtlCol="0" anchor="ctr"/>
          <a:lstStyle/>
          <a:p>
            <a:pPr algn="ctr"/>
          </a:p>
        </p:txBody>
      </p:sp>
      <p:sp>
        <p:nvSpPr>
          <p:cNvPr id="102" name="Rectangle 101"/>
          <p:cNvSpPr/>
          <p:nvPr/>
        </p:nvSpPr>
        <p:spPr>
          <a:xfrm>
            <a:off x="7597444" y="4507992"/>
            <a:ext cx="7315" cy="1042416"/>
          </a:xfrm>
          <a:prstGeom prst="rect">
            <a:avLst/>
          </a:prstGeom>
          <a:solidFill>
            <a:srgbClr val="C89F31"/>
          </a:solidFill>
          <a:ln>
            <a:noFill/>
          </a:ln>
        </p:spPr>
        <p:txBody>
          <a:bodyPr rtlCol="0" anchor="ctr"/>
          <a:lstStyle/>
          <a:p>
            <a:pPr algn="ctr"/>
          </a:p>
        </p:txBody>
      </p:sp>
      <p:sp>
        <p:nvSpPr>
          <p:cNvPr id="103" name="Rectangle 102"/>
          <p:cNvSpPr/>
          <p:nvPr/>
        </p:nvSpPr>
        <p:spPr>
          <a:xfrm>
            <a:off x="7738567" y="4507992"/>
            <a:ext cx="7315" cy="1042416"/>
          </a:xfrm>
          <a:prstGeom prst="rect">
            <a:avLst/>
          </a:prstGeom>
          <a:solidFill>
            <a:srgbClr val="C89F31"/>
          </a:solidFill>
          <a:ln>
            <a:noFill/>
          </a:ln>
        </p:spPr>
        <p:txBody>
          <a:bodyPr rtlCol="0" anchor="ctr"/>
          <a:lstStyle/>
          <a:p>
            <a:pPr algn="ctr"/>
          </a:p>
        </p:txBody>
      </p:sp>
      <p:sp>
        <p:nvSpPr>
          <p:cNvPr id="104" name="Rectangle 103"/>
          <p:cNvSpPr/>
          <p:nvPr/>
        </p:nvSpPr>
        <p:spPr>
          <a:xfrm>
            <a:off x="7879689" y="4507992"/>
            <a:ext cx="7315" cy="1042416"/>
          </a:xfrm>
          <a:prstGeom prst="rect">
            <a:avLst/>
          </a:prstGeom>
          <a:solidFill>
            <a:srgbClr val="C89F31"/>
          </a:solidFill>
          <a:ln>
            <a:noFill/>
          </a:ln>
        </p:spPr>
        <p:txBody>
          <a:bodyPr rtlCol="0" anchor="ctr"/>
          <a:lstStyle/>
          <a:p>
            <a:pPr algn="ctr"/>
          </a:p>
        </p:txBody>
      </p:sp>
      <p:sp>
        <p:nvSpPr>
          <p:cNvPr id="105" name="Rectangle 104"/>
          <p:cNvSpPr/>
          <p:nvPr/>
        </p:nvSpPr>
        <p:spPr>
          <a:xfrm>
            <a:off x="8020812" y="4507992"/>
            <a:ext cx="7315" cy="1042416"/>
          </a:xfrm>
          <a:prstGeom prst="rect">
            <a:avLst/>
          </a:prstGeom>
          <a:solidFill>
            <a:srgbClr val="C89F31"/>
          </a:solidFill>
          <a:ln>
            <a:noFill/>
          </a:ln>
        </p:spPr>
        <p:txBody>
          <a:bodyPr rtlCol="0" anchor="ctr"/>
          <a:lstStyle/>
          <a:p>
            <a:pPr algn="ctr"/>
          </a:p>
        </p:txBody>
      </p:sp>
      <p:sp>
        <p:nvSpPr>
          <p:cNvPr id="106" name="Rectangle 105"/>
          <p:cNvSpPr/>
          <p:nvPr/>
        </p:nvSpPr>
        <p:spPr>
          <a:xfrm>
            <a:off x="8161934" y="4507992"/>
            <a:ext cx="7315" cy="1042416"/>
          </a:xfrm>
          <a:prstGeom prst="rect">
            <a:avLst/>
          </a:prstGeom>
          <a:solidFill>
            <a:srgbClr val="C89F31"/>
          </a:solidFill>
          <a:ln>
            <a:noFill/>
          </a:ln>
        </p:spPr>
        <p:txBody>
          <a:bodyPr rtlCol="0" anchor="ctr"/>
          <a:lstStyle/>
          <a:p>
            <a:pPr algn="ctr"/>
          </a:p>
        </p:txBody>
      </p:sp>
      <p:sp>
        <p:nvSpPr>
          <p:cNvPr id="107" name="Rectangle 106"/>
          <p:cNvSpPr/>
          <p:nvPr/>
        </p:nvSpPr>
        <p:spPr>
          <a:xfrm>
            <a:off x="8303056" y="4507992"/>
            <a:ext cx="7315" cy="1042416"/>
          </a:xfrm>
          <a:prstGeom prst="rect">
            <a:avLst/>
          </a:prstGeom>
          <a:solidFill>
            <a:srgbClr val="C89F31"/>
          </a:solidFill>
          <a:ln>
            <a:noFill/>
          </a:ln>
        </p:spPr>
        <p:txBody>
          <a:bodyPr rtlCol="0" anchor="ctr"/>
          <a:lstStyle/>
          <a:p>
            <a:pPr algn="ctr"/>
          </a:p>
        </p:txBody>
      </p:sp>
      <p:sp>
        <p:nvSpPr>
          <p:cNvPr id="108" name="Rectangle 107"/>
          <p:cNvSpPr/>
          <p:nvPr/>
        </p:nvSpPr>
        <p:spPr>
          <a:xfrm>
            <a:off x="8444179" y="4507992"/>
            <a:ext cx="7315" cy="1042416"/>
          </a:xfrm>
          <a:prstGeom prst="rect">
            <a:avLst/>
          </a:prstGeom>
          <a:solidFill>
            <a:srgbClr val="C89F31"/>
          </a:solidFill>
          <a:ln>
            <a:noFill/>
          </a:ln>
        </p:spPr>
        <p:txBody>
          <a:bodyPr rtlCol="0" anchor="ctr"/>
          <a:lstStyle/>
          <a:p>
            <a:pPr algn="ctr"/>
          </a:p>
        </p:txBody>
      </p:sp>
      <p:sp>
        <p:nvSpPr>
          <p:cNvPr id="109" name="Rectangle 108"/>
          <p:cNvSpPr/>
          <p:nvPr/>
        </p:nvSpPr>
        <p:spPr>
          <a:xfrm>
            <a:off x="8585301" y="4507992"/>
            <a:ext cx="7315" cy="1042416"/>
          </a:xfrm>
          <a:prstGeom prst="rect">
            <a:avLst/>
          </a:prstGeom>
          <a:solidFill>
            <a:srgbClr val="C89F31"/>
          </a:solidFill>
          <a:ln>
            <a:noFill/>
          </a:ln>
        </p:spPr>
        <p:txBody>
          <a:bodyPr rtlCol="0" anchor="ctr"/>
          <a:lstStyle/>
          <a:p>
            <a:pPr algn="ctr"/>
          </a:p>
        </p:txBody>
      </p:sp>
      <p:sp>
        <p:nvSpPr>
          <p:cNvPr id="110" name="Rectangle 109"/>
          <p:cNvSpPr/>
          <p:nvPr/>
        </p:nvSpPr>
        <p:spPr>
          <a:xfrm>
            <a:off x="8726424" y="4507992"/>
            <a:ext cx="7315" cy="1042416"/>
          </a:xfrm>
          <a:prstGeom prst="rect">
            <a:avLst/>
          </a:prstGeom>
          <a:solidFill>
            <a:srgbClr val="C89F31"/>
          </a:solidFill>
          <a:ln>
            <a:noFill/>
          </a:ln>
        </p:spPr>
        <p:txBody>
          <a:bodyPr rtlCol="0" anchor="ctr"/>
          <a:lstStyle/>
          <a:p>
            <a:pPr algn="ctr"/>
          </a:p>
        </p:txBody>
      </p:sp>
      <p:sp>
        <p:nvSpPr>
          <p:cNvPr id="111" name="Rectangle 110"/>
          <p:cNvSpPr/>
          <p:nvPr/>
        </p:nvSpPr>
        <p:spPr>
          <a:xfrm>
            <a:off x="8867546" y="4507992"/>
            <a:ext cx="7315" cy="1042416"/>
          </a:xfrm>
          <a:prstGeom prst="rect">
            <a:avLst/>
          </a:prstGeom>
          <a:solidFill>
            <a:srgbClr val="C89F31"/>
          </a:solidFill>
          <a:ln>
            <a:noFill/>
          </a:ln>
        </p:spPr>
        <p:txBody>
          <a:bodyPr rtlCol="0" anchor="ctr"/>
          <a:lstStyle/>
          <a:p>
            <a:pPr algn="ctr"/>
          </a:p>
        </p:txBody>
      </p:sp>
      <p:sp>
        <p:nvSpPr>
          <p:cNvPr id="112" name="Rectangle 111"/>
          <p:cNvSpPr/>
          <p:nvPr/>
        </p:nvSpPr>
        <p:spPr>
          <a:xfrm>
            <a:off x="9008668" y="4507992"/>
            <a:ext cx="7315" cy="1042416"/>
          </a:xfrm>
          <a:prstGeom prst="rect">
            <a:avLst/>
          </a:prstGeom>
          <a:solidFill>
            <a:srgbClr val="C89F31"/>
          </a:solidFill>
          <a:ln>
            <a:noFill/>
          </a:ln>
        </p:spPr>
        <p:txBody>
          <a:bodyPr rtlCol="0" anchor="ctr"/>
          <a:lstStyle/>
          <a:p>
            <a:pPr algn="ctr"/>
          </a:p>
        </p:txBody>
      </p:sp>
      <p:sp>
        <p:nvSpPr>
          <p:cNvPr id="113" name="Rectangle 112"/>
          <p:cNvSpPr/>
          <p:nvPr/>
        </p:nvSpPr>
        <p:spPr>
          <a:xfrm>
            <a:off x="9149791" y="4507992"/>
            <a:ext cx="7315" cy="1042416"/>
          </a:xfrm>
          <a:prstGeom prst="rect">
            <a:avLst/>
          </a:prstGeom>
          <a:solidFill>
            <a:srgbClr val="C89F31"/>
          </a:solidFill>
          <a:ln>
            <a:noFill/>
          </a:ln>
        </p:spPr>
        <p:txBody>
          <a:bodyPr rtlCol="0" anchor="ctr"/>
          <a:lstStyle/>
          <a:p>
            <a:pPr algn="ctr"/>
          </a:p>
        </p:txBody>
      </p:sp>
      <p:sp>
        <p:nvSpPr>
          <p:cNvPr id="114" name="Rectangle 113"/>
          <p:cNvSpPr/>
          <p:nvPr/>
        </p:nvSpPr>
        <p:spPr>
          <a:xfrm>
            <a:off x="9290913" y="4507992"/>
            <a:ext cx="7315" cy="1042416"/>
          </a:xfrm>
          <a:prstGeom prst="rect">
            <a:avLst/>
          </a:prstGeom>
          <a:solidFill>
            <a:srgbClr val="C89F31"/>
          </a:solidFill>
          <a:ln>
            <a:noFill/>
          </a:ln>
        </p:spPr>
        <p:txBody>
          <a:bodyPr rtlCol="0" anchor="ctr"/>
          <a:lstStyle/>
          <a:p>
            <a:pPr algn="ctr"/>
          </a:p>
        </p:txBody>
      </p:sp>
      <p:sp>
        <p:nvSpPr>
          <p:cNvPr id="115" name="Rectangle 114"/>
          <p:cNvSpPr/>
          <p:nvPr/>
        </p:nvSpPr>
        <p:spPr>
          <a:xfrm>
            <a:off x="9432036" y="4507992"/>
            <a:ext cx="7315" cy="1042416"/>
          </a:xfrm>
          <a:prstGeom prst="rect">
            <a:avLst/>
          </a:prstGeom>
          <a:solidFill>
            <a:srgbClr val="C89F31"/>
          </a:solidFill>
          <a:ln>
            <a:noFill/>
          </a:ln>
        </p:spPr>
        <p:txBody>
          <a:bodyPr rtlCol="0" anchor="ctr"/>
          <a:lstStyle/>
          <a:p>
            <a:pPr algn="ctr"/>
          </a:p>
        </p:txBody>
      </p:sp>
      <p:sp>
        <p:nvSpPr>
          <p:cNvPr id="116" name="Rectangle 115"/>
          <p:cNvSpPr/>
          <p:nvPr/>
        </p:nvSpPr>
        <p:spPr>
          <a:xfrm>
            <a:off x="9573158" y="4507992"/>
            <a:ext cx="7315" cy="1042416"/>
          </a:xfrm>
          <a:prstGeom prst="rect">
            <a:avLst/>
          </a:prstGeom>
          <a:solidFill>
            <a:srgbClr val="C89F31"/>
          </a:solidFill>
          <a:ln>
            <a:noFill/>
          </a:ln>
        </p:spPr>
        <p:txBody>
          <a:bodyPr rtlCol="0" anchor="ctr"/>
          <a:lstStyle/>
          <a:p>
            <a:pPr algn="ctr"/>
          </a:p>
        </p:txBody>
      </p:sp>
      <p:sp>
        <p:nvSpPr>
          <p:cNvPr id="117" name="Rectangle 116"/>
          <p:cNvSpPr/>
          <p:nvPr/>
        </p:nvSpPr>
        <p:spPr>
          <a:xfrm>
            <a:off x="9714280" y="4507992"/>
            <a:ext cx="7315" cy="1042416"/>
          </a:xfrm>
          <a:prstGeom prst="rect">
            <a:avLst/>
          </a:prstGeom>
          <a:solidFill>
            <a:srgbClr val="C89F31"/>
          </a:solidFill>
          <a:ln>
            <a:noFill/>
          </a:ln>
        </p:spPr>
        <p:txBody>
          <a:bodyPr rtlCol="0" anchor="ctr"/>
          <a:lstStyle/>
          <a:p>
            <a:pPr algn="ctr"/>
          </a:p>
        </p:txBody>
      </p:sp>
      <p:sp>
        <p:nvSpPr>
          <p:cNvPr id="118" name="Rectangle 117"/>
          <p:cNvSpPr/>
          <p:nvPr/>
        </p:nvSpPr>
        <p:spPr>
          <a:xfrm>
            <a:off x="9855403" y="4507992"/>
            <a:ext cx="7315" cy="1042416"/>
          </a:xfrm>
          <a:prstGeom prst="rect">
            <a:avLst/>
          </a:prstGeom>
          <a:solidFill>
            <a:srgbClr val="C89F31"/>
          </a:solidFill>
          <a:ln>
            <a:noFill/>
          </a:ln>
        </p:spPr>
        <p:txBody>
          <a:bodyPr rtlCol="0" anchor="ctr"/>
          <a:lstStyle/>
          <a:p>
            <a:pPr algn="ctr"/>
          </a:p>
        </p:txBody>
      </p:sp>
      <p:sp>
        <p:nvSpPr>
          <p:cNvPr id="119" name="Rectangle 118"/>
          <p:cNvSpPr/>
          <p:nvPr/>
        </p:nvSpPr>
        <p:spPr>
          <a:xfrm>
            <a:off x="9996525" y="4507992"/>
            <a:ext cx="7315" cy="1042416"/>
          </a:xfrm>
          <a:prstGeom prst="rect">
            <a:avLst/>
          </a:prstGeom>
          <a:solidFill>
            <a:srgbClr val="C89F31"/>
          </a:solidFill>
          <a:ln>
            <a:noFill/>
          </a:ln>
        </p:spPr>
        <p:txBody>
          <a:bodyPr rtlCol="0" anchor="ctr"/>
          <a:lstStyle/>
          <a:p>
            <a:pPr algn="ctr"/>
          </a:p>
        </p:txBody>
      </p:sp>
      <p:sp>
        <p:nvSpPr>
          <p:cNvPr id="120" name="Rectangle 119"/>
          <p:cNvSpPr/>
          <p:nvPr/>
        </p:nvSpPr>
        <p:spPr>
          <a:xfrm>
            <a:off x="10137648" y="4507992"/>
            <a:ext cx="7315" cy="1042416"/>
          </a:xfrm>
          <a:prstGeom prst="rect">
            <a:avLst/>
          </a:prstGeom>
          <a:solidFill>
            <a:srgbClr val="C89F31"/>
          </a:solidFill>
          <a:ln>
            <a:noFill/>
          </a:ln>
        </p:spPr>
        <p:txBody>
          <a:bodyPr rtlCol="0" anchor="ctr"/>
          <a:lstStyle/>
          <a:p>
            <a:pPr algn="ctr"/>
          </a:p>
        </p:txBody>
      </p:sp>
      <p:sp>
        <p:nvSpPr>
          <p:cNvPr id="121" name="Rectangle 120"/>
          <p:cNvSpPr/>
          <p:nvPr/>
        </p:nvSpPr>
        <p:spPr>
          <a:xfrm>
            <a:off x="10278770" y="4507992"/>
            <a:ext cx="7315" cy="1042416"/>
          </a:xfrm>
          <a:prstGeom prst="rect">
            <a:avLst/>
          </a:prstGeom>
          <a:solidFill>
            <a:srgbClr val="C89F31"/>
          </a:solidFill>
          <a:ln>
            <a:noFill/>
          </a:ln>
        </p:spPr>
        <p:txBody>
          <a:bodyPr rtlCol="0" anchor="ctr"/>
          <a:lstStyle/>
          <a:p>
            <a:pPr algn="ctr"/>
          </a:p>
        </p:txBody>
      </p:sp>
      <p:sp>
        <p:nvSpPr>
          <p:cNvPr id="122" name="Rectangle 121"/>
          <p:cNvSpPr/>
          <p:nvPr/>
        </p:nvSpPr>
        <p:spPr>
          <a:xfrm>
            <a:off x="10419892" y="4507992"/>
            <a:ext cx="7315" cy="1042416"/>
          </a:xfrm>
          <a:prstGeom prst="rect">
            <a:avLst/>
          </a:prstGeom>
          <a:solidFill>
            <a:srgbClr val="C89F31"/>
          </a:solidFill>
          <a:ln>
            <a:noFill/>
          </a:ln>
        </p:spPr>
        <p:txBody>
          <a:bodyPr rtlCol="0" anchor="ctr"/>
          <a:lstStyle/>
          <a:p>
            <a:pPr algn="ctr"/>
          </a:p>
        </p:txBody>
      </p:sp>
      <p:sp>
        <p:nvSpPr>
          <p:cNvPr id="123" name="Rectangle 122"/>
          <p:cNvSpPr/>
          <p:nvPr/>
        </p:nvSpPr>
        <p:spPr>
          <a:xfrm>
            <a:off x="10561015" y="4507992"/>
            <a:ext cx="7315" cy="1042416"/>
          </a:xfrm>
          <a:prstGeom prst="rect">
            <a:avLst/>
          </a:prstGeom>
          <a:solidFill>
            <a:srgbClr val="C89F31"/>
          </a:solidFill>
          <a:ln>
            <a:noFill/>
          </a:ln>
        </p:spPr>
        <p:txBody>
          <a:bodyPr rtlCol="0" anchor="ctr"/>
          <a:lstStyle/>
          <a:p>
            <a:pPr algn="ctr"/>
          </a:p>
        </p:txBody>
      </p:sp>
      <p:sp>
        <p:nvSpPr>
          <p:cNvPr id="124" name="Rectangle 123"/>
          <p:cNvSpPr/>
          <p:nvPr/>
        </p:nvSpPr>
        <p:spPr>
          <a:xfrm>
            <a:off x="10702137" y="4507992"/>
            <a:ext cx="7315" cy="1042416"/>
          </a:xfrm>
          <a:prstGeom prst="rect">
            <a:avLst/>
          </a:prstGeom>
          <a:solidFill>
            <a:srgbClr val="C89F31"/>
          </a:solidFill>
          <a:ln>
            <a:noFill/>
          </a:ln>
        </p:spPr>
        <p:txBody>
          <a:bodyPr rtlCol="0" anchor="ctr"/>
          <a:lstStyle/>
          <a:p>
            <a:pPr algn="ctr"/>
          </a:p>
        </p:txBody>
      </p:sp>
      <p:sp>
        <p:nvSpPr>
          <p:cNvPr id="125" name="Rectangle 124"/>
          <p:cNvSpPr/>
          <p:nvPr/>
        </p:nvSpPr>
        <p:spPr>
          <a:xfrm>
            <a:off x="10843260" y="4507992"/>
            <a:ext cx="7315" cy="1042416"/>
          </a:xfrm>
          <a:prstGeom prst="rect">
            <a:avLst/>
          </a:prstGeom>
          <a:solidFill>
            <a:srgbClr val="C89F31"/>
          </a:solidFill>
          <a:ln>
            <a:noFill/>
          </a:ln>
        </p:spPr>
        <p:txBody>
          <a:bodyPr rtlCol="0" anchor="ctr"/>
          <a:lstStyle/>
          <a:p>
            <a:pPr algn="ctr"/>
          </a:p>
        </p:txBody>
      </p:sp>
      <p:sp>
        <p:nvSpPr>
          <p:cNvPr id="126" name="Rectangle 125"/>
          <p:cNvSpPr/>
          <p:nvPr/>
        </p:nvSpPr>
        <p:spPr>
          <a:xfrm>
            <a:off x="10984382" y="4507992"/>
            <a:ext cx="7315" cy="1042416"/>
          </a:xfrm>
          <a:prstGeom prst="rect">
            <a:avLst/>
          </a:prstGeom>
          <a:solidFill>
            <a:srgbClr val="C89F31"/>
          </a:solidFill>
          <a:ln>
            <a:noFill/>
          </a:ln>
        </p:spPr>
        <p:txBody>
          <a:bodyPr rtlCol="0" anchor="ctr"/>
          <a:lstStyle/>
          <a:p>
            <a:pPr algn="ctr"/>
          </a:p>
        </p:txBody>
      </p:sp>
      <p:sp>
        <p:nvSpPr>
          <p:cNvPr id="127" name="Rectangle 126"/>
          <p:cNvSpPr/>
          <p:nvPr/>
        </p:nvSpPr>
        <p:spPr>
          <a:xfrm>
            <a:off x="11125504" y="4507992"/>
            <a:ext cx="7315" cy="1042416"/>
          </a:xfrm>
          <a:prstGeom prst="rect">
            <a:avLst/>
          </a:prstGeom>
          <a:solidFill>
            <a:srgbClr val="C89F31"/>
          </a:solidFill>
          <a:ln>
            <a:noFill/>
          </a:ln>
        </p:spPr>
        <p:txBody>
          <a:bodyPr rtlCol="0" anchor="ctr"/>
          <a:lstStyle/>
          <a:p>
            <a:pPr algn="ctr"/>
          </a:p>
        </p:txBody>
      </p:sp>
      <p:sp>
        <p:nvSpPr>
          <p:cNvPr id="128" name="Rectangle 127"/>
          <p:cNvSpPr/>
          <p:nvPr/>
        </p:nvSpPr>
        <p:spPr>
          <a:xfrm>
            <a:off x="11266627" y="4507992"/>
            <a:ext cx="7315" cy="1042416"/>
          </a:xfrm>
          <a:prstGeom prst="rect">
            <a:avLst/>
          </a:prstGeom>
          <a:solidFill>
            <a:srgbClr val="C89F31"/>
          </a:solidFill>
          <a:ln>
            <a:noFill/>
          </a:ln>
        </p:spPr>
        <p:txBody>
          <a:bodyPr rtlCol="0" anchor="ctr"/>
          <a:lstStyle/>
          <a:p>
            <a:pPr algn="ctr"/>
          </a:p>
        </p:txBody>
      </p:sp>
      <p:sp>
        <p:nvSpPr>
          <p:cNvPr id="129" name="Rectangle 128"/>
          <p:cNvSpPr/>
          <p:nvPr/>
        </p:nvSpPr>
        <p:spPr>
          <a:xfrm>
            <a:off x="11407749" y="4507992"/>
            <a:ext cx="7315" cy="1042416"/>
          </a:xfrm>
          <a:prstGeom prst="rect">
            <a:avLst/>
          </a:prstGeom>
          <a:solidFill>
            <a:srgbClr val="C89F31"/>
          </a:solidFill>
          <a:ln>
            <a:noFill/>
          </a:ln>
        </p:spPr>
        <p:txBody>
          <a:bodyPr rtlCol="0" anchor="ctr"/>
          <a:lstStyle/>
          <a:p>
            <a:pPr algn="ctr"/>
          </a:p>
        </p:txBody>
      </p:sp>
      <p:sp>
        <p:nvSpPr>
          <p:cNvPr id="130" name="TextBox 129"/>
          <p:cNvSpPr txBox="1"/>
          <p:nvPr/>
        </p:nvSpPr>
        <p:spPr>
          <a:xfrm>
            <a:off x="7589520" y="4434840"/>
            <a:ext cx="1371600" cy="1188720"/>
          </a:xfrm>
          <a:prstGeom prst="rect">
            <a:avLst/>
          </a:prstGeom>
          <a:noFill/>
        </p:spPr>
        <p:txBody>
          <a:bodyPr wrap="square" lIns="0" rIns="0" tIns="0" bIns="0" anchor="ctr">
            <a:noAutofit/>
          </a:bodyPr>
          <a:lstStyle/>
          <a:p>
            <a:pPr algn="l">
              <a:spcBef>
                <a:spcPts val="0"/>
              </a:spcBef>
              <a:spcAft>
                <a:spcPts val="0"/>
              </a:spcAft>
            </a:pPr>
            <a:r>
              <a:rPr sz="4800" b="1" i="0">
                <a:solidFill>
                  <a:srgbClr val="10263F"/>
                </a:solidFill>
                <a:latin typeface="Georgia"/>
              </a:rPr>
              <a:t>0</a:t>
            </a:r>
          </a:p>
        </p:txBody>
      </p:sp>
      <p:sp>
        <p:nvSpPr>
          <p:cNvPr id="131" name="TextBox 130"/>
          <p:cNvSpPr txBox="1"/>
          <p:nvPr/>
        </p:nvSpPr>
        <p:spPr>
          <a:xfrm>
            <a:off x="9052560" y="4434840"/>
            <a:ext cx="2331720" cy="1188720"/>
          </a:xfrm>
          <a:prstGeom prst="rect">
            <a:avLst/>
          </a:prstGeom>
          <a:noFill/>
        </p:spPr>
        <p:txBody>
          <a:bodyPr wrap="square" lIns="0" rIns="0" tIns="0" bIns="0" anchor="ctr">
            <a:noAutofit/>
          </a:bodyPr>
          <a:lstStyle/>
          <a:p>
            <a:pPr algn="l">
              <a:lnSpc>
                <a:spcPct val="120000"/>
              </a:lnSpc>
              <a:spcBef>
                <a:spcPts val="0"/>
              </a:spcBef>
              <a:spcAft>
                <a:spcPts val="0"/>
              </a:spcAft>
            </a:pPr>
            <a:r>
              <a:rPr sz="1350" b="0" i="0">
                <a:solidFill>
                  <a:srgbClr val="10263F"/>
                </a:solidFill>
                <a:latin typeface="Arial"/>
              </a:rPr>
              <a:t>mocked services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40080" y="731520"/>
            <a:ext cx="566928" cy="310896"/>
          </a:xfrm>
          <a:prstGeom prst="rect">
            <a:avLst/>
          </a:prstGeom>
          <a:solidFill>
            <a:srgbClr val="2F8F83"/>
          </a:solidFill>
          <a:ln w="15875">
            <a:solidFill>
              <a:srgbClr val="10263F"/>
            </a:solidFill>
          </a:ln>
        </p:spPr>
        <p:txBody>
          <a:bodyPr rtlCol="0" anchor="ctr"/>
          <a:lstStyle/>
          <a:p>
            <a:pPr algn="ctr"/>
          </a:p>
        </p:txBody>
      </p:sp>
      <p:sp>
        <p:nvSpPr>
          <p:cNvPr id="3" name="Rectangle 2"/>
          <p:cNvSpPr/>
          <p:nvPr/>
        </p:nvSpPr>
        <p:spPr>
          <a:xfrm>
            <a:off x="753465" y="777240"/>
            <a:ext cx="7315" cy="219456"/>
          </a:xfrm>
          <a:prstGeom prst="rect">
            <a:avLst/>
          </a:prstGeom>
          <a:solidFill>
            <a:srgbClr val="257268"/>
          </a:solidFill>
          <a:ln>
            <a:noFill/>
          </a:ln>
        </p:spPr>
        <p:txBody>
          <a:bodyPr rtlCol="0" anchor="ctr"/>
          <a:lstStyle/>
          <a:p>
            <a:pPr algn="ctr"/>
          </a:p>
        </p:txBody>
      </p:sp>
      <p:sp>
        <p:nvSpPr>
          <p:cNvPr id="4" name="Rectangle 3"/>
          <p:cNvSpPr/>
          <p:nvPr/>
        </p:nvSpPr>
        <p:spPr>
          <a:xfrm>
            <a:off x="866851" y="777240"/>
            <a:ext cx="7315" cy="219456"/>
          </a:xfrm>
          <a:prstGeom prst="rect">
            <a:avLst/>
          </a:prstGeom>
          <a:solidFill>
            <a:srgbClr val="257268"/>
          </a:solidFill>
          <a:ln>
            <a:noFill/>
          </a:ln>
        </p:spPr>
        <p:txBody>
          <a:bodyPr rtlCol="0" anchor="ctr"/>
          <a:lstStyle/>
          <a:p>
            <a:pPr algn="ctr"/>
          </a:p>
        </p:txBody>
      </p:sp>
      <p:sp>
        <p:nvSpPr>
          <p:cNvPr id="5" name="Rectangle 4"/>
          <p:cNvSpPr/>
          <p:nvPr/>
        </p:nvSpPr>
        <p:spPr>
          <a:xfrm>
            <a:off x="980236" y="777240"/>
            <a:ext cx="7315" cy="219456"/>
          </a:xfrm>
          <a:prstGeom prst="rect">
            <a:avLst/>
          </a:prstGeom>
          <a:solidFill>
            <a:srgbClr val="257268"/>
          </a:solidFill>
          <a:ln>
            <a:noFill/>
          </a:ln>
        </p:spPr>
        <p:txBody>
          <a:bodyPr rtlCol="0" anchor="ctr"/>
          <a:lstStyle/>
          <a:p>
            <a:pPr algn="ctr"/>
          </a:p>
        </p:txBody>
      </p:sp>
      <p:sp>
        <p:nvSpPr>
          <p:cNvPr id="6" name="Rectangle 5"/>
          <p:cNvSpPr/>
          <p:nvPr/>
        </p:nvSpPr>
        <p:spPr>
          <a:xfrm>
            <a:off x="1093622" y="777240"/>
            <a:ext cx="7315" cy="219456"/>
          </a:xfrm>
          <a:prstGeom prst="rect">
            <a:avLst/>
          </a:prstGeom>
          <a:solidFill>
            <a:srgbClr val="257268"/>
          </a:solidFill>
          <a:ln>
            <a:noFill/>
          </a:ln>
        </p:spPr>
        <p:txBody>
          <a:bodyPr rtlCol="0" anchor="ctr"/>
          <a:lstStyle/>
          <a:p>
            <a:pPr algn="ctr"/>
          </a:p>
        </p:txBody>
      </p:sp>
      <p:sp>
        <p:nvSpPr>
          <p:cNvPr id="7" name="TextBox 6"/>
          <p:cNvSpPr txBox="1"/>
          <p:nvPr/>
        </p:nvSpPr>
        <p:spPr>
          <a:xfrm>
            <a:off x="1417320" y="548640"/>
            <a:ext cx="10149840" cy="685800"/>
          </a:xfrm>
          <a:prstGeom prst="rect">
            <a:avLst/>
          </a:prstGeom>
          <a:noFill/>
        </p:spPr>
        <p:txBody>
          <a:bodyPr wrap="square" lIns="0" rIns="0" tIns="0" bIns="0" anchor="ctr">
            <a:noAutofit/>
          </a:bodyPr>
          <a:lstStyle/>
          <a:p>
            <a:pPr algn="l">
              <a:spcBef>
                <a:spcPts val="0"/>
              </a:spcBef>
              <a:spcAft>
                <a:spcPts val="0"/>
              </a:spcAft>
            </a:pPr>
            <a:r>
              <a:rPr sz="3000" b="1" i="0">
                <a:solidFill>
                  <a:srgbClr val="10263F"/>
                </a:solidFill>
                <a:latin typeface="Georgia"/>
              </a:rPr>
              <a:t>Problems I hit</a:t>
            </a:r>
          </a:p>
        </p:txBody>
      </p:sp>
      <p:cxnSp>
        <p:nvCxnSpPr>
          <p:cNvPr id="8" name="Connector 7"/>
          <p:cNvCxnSpPr/>
          <p:nvPr/>
        </p:nvCxnSpPr>
        <p:spPr>
          <a:xfrm>
            <a:off x="640080" y="1335024"/>
            <a:ext cx="10908792" cy="0"/>
          </a:xfrm>
          <a:prstGeom prst="line">
            <a:avLst/>
          </a:prstGeom>
          <a:ln w="15875">
            <a:solidFill>
              <a:srgbClr val="9AA5AE"/>
            </a:solidFill>
            <a:prstDash val="dash"/>
          </a:ln>
        </p:spPr>
      </p:cxnSp>
      <p:pic>
        <p:nvPicPr>
          <p:cNvPr id="9" name="Picture 8" descr="wave_band.png"/>
          <p:cNvPicPr>
            <a:picLocks noChangeAspect="1"/>
          </p:cNvPicPr>
          <p:nvPr/>
        </p:nvPicPr>
        <p:blipFill>
          <a:blip r:embed="rId2"/>
          <a:stretch>
            <a:fillRect/>
          </a:stretch>
        </p:blipFill>
        <p:spPr>
          <a:xfrm>
            <a:off x="0" y="6355080"/>
            <a:ext cx="12191695" cy="502845"/>
          </a:xfrm>
          <a:prstGeom prst="rect">
            <a:avLst/>
          </a:prstGeom>
        </p:spPr>
      </p:pic>
      <p:pic>
        <p:nvPicPr>
          <p:cNvPr id="10" name="Picture 9" descr="tug_small.png"/>
          <p:cNvPicPr>
            <a:picLocks noChangeAspect="1"/>
          </p:cNvPicPr>
          <p:nvPr/>
        </p:nvPicPr>
        <p:blipFill>
          <a:blip r:embed="rId3"/>
          <a:stretch>
            <a:fillRect/>
          </a:stretch>
        </p:blipFill>
        <p:spPr>
          <a:xfrm>
            <a:off x="8567928" y="6078380"/>
            <a:ext cx="566928" cy="450436"/>
          </a:xfrm>
          <a:prstGeom prst="rect">
            <a:avLst/>
          </a:prstGeom>
        </p:spPr>
      </p:pic>
      <p:sp>
        <p:nvSpPr>
          <p:cNvPr id="11" name="TextBox 10"/>
          <p:cNvSpPr txBox="1"/>
          <p:nvPr/>
        </p:nvSpPr>
        <p:spPr>
          <a:xfrm>
            <a:off x="640080" y="6126480"/>
            <a:ext cx="2743200" cy="228600"/>
          </a:xfrm>
          <a:prstGeom prst="rect">
            <a:avLst/>
          </a:prstGeom>
          <a:noFill/>
        </p:spPr>
        <p:txBody>
          <a:bodyPr wrap="square" lIns="0" rIns="0" tIns="0" bIns="0" anchor="ctr">
            <a:noAutofit/>
          </a:bodyPr>
          <a:lstStyle/>
          <a:p>
            <a:pPr algn="l">
              <a:spcBef>
                <a:spcPts val="0"/>
              </a:spcBef>
              <a:spcAft>
                <a:spcPts val="0"/>
              </a:spcAft>
            </a:pPr>
            <a:r>
              <a:rPr sz="1000" b="0" i="0">
                <a:solidFill>
                  <a:srgbClr val="7E8A97"/>
                </a:solidFill>
                <a:latin typeface="Arial"/>
              </a:rPr>
              <a:t>Tugboat   9 / 12</a:t>
            </a:r>
          </a:p>
        </p:txBody>
      </p:sp>
      <p:sp>
        <p:nvSpPr>
          <p:cNvPr id="12" name="TextBox 11"/>
          <p:cNvSpPr txBox="1"/>
          <p:nvPr/>
        </p:nvSpPr>
        <p:spPr>
          <a:xfrm>
            <a:off x="1325880" y="1554480"/>
            <a:ext cx="2606040" cy="274320"/>
          </a:xfrm>
          <a:prstGeom prst="rect">
            <a:avLst/>
          </a:prstGeom>
          <a:noFill/>
        </p:spPr>
        <p:txBody>
          <a:bodyPr wrap="square" lIns="0" rIns="0" tIns="0" bIns="0" anchor="t">
            <a:noAutofit/>
          </a:bodyPr>
          <a:lstStyle/>
          <a:p>
            <a:pPr algn="l">
              <a:spcBef>
                <a:spcPts val="0"/>
              </a:spcBef>
              <a:spcAft>
                <a:spcPts val="0"/>
              </a:spcAft>
            </a:pPr>
            <a:r>
              <a:rPr sz="1050" b="1" i="0">
                <a:solidFill>
                  <a:srgbClr val="7E8A97"/>
                </a:solidFill>
                <a:latin typeface="Arial"/>
              </a:rPr>
              <a:t>What went wrong</a:t>
            </a:r>
          </a:p>
        </p:txBody>
      </p:sp>
      <p:sp>
        <p:nvSpPr>
          <p:cNvPr id="13" name="TextBox 12"/>
          <p:cNvSpPr txBox="1"/>
          <p:nvPr/>
        </p:nvSpPr>
        <p:spPr>
          <a:xfrm>
            <a:off x="4114800" y="1554480"/>
            <a:ext cx="3520440" cy="274320"/>
          </a:xfrm>
          <a:prstGeom prst="rect">
            <a:avLst/>
          </a:prstGeom>
          <a:noFill/>
        </p:spPr>
        <p:txBody>
          <a:bodyPr wrap="square" lIns="0" rIns="0" tIns="0" bIns="0" anchor="t">
            <a:noAutofit/>
          </a:bodyPr>
          <a:lstStyle/>
          <a:p>
            <a:pPr algn="l">
              <a:spcBef>
                <a:spcPts val="0"/>
              </a:spcBef>
              <a:spcAft>
                <a:spcPts val="0"/>
              </a:spcAft>
            </a:pPr>
            <a:r>
              <a:rPr sz="1050" b="1" i="0">
                <a:solidFill>
                  <a:srgbClr val="7E8A97"/>
                </a:solidFill>
                <a:latin typeface="Arial"/>
              </a:rPr>
              <a:t>Why</a:t>
            </a:r>
          </a:p>
        </p:txBody>
      </p:sp>
      <p:sp>
        <p:nvSpPr>
          <p:cNvPr id="14" name="TextBox 13"/>
          <p:cNvSpPr txBox="1"/>
          <p:nvPr/>
        </p:nvSpPr>
        <p:spPr>
          <a:xfrm>
            <a:off x="7772400" y="1554480"/>
            <a:ext cx="3749039" cy="274320"/>
          </a:xfrm>
          <a:prstGeom prst="rect">
            <a:avLst/>
          </a:prstGeom>
          <a:noFill/>
        </p:spPr>
        <p:txBody>
          <a:bodyPr wrap="square" lIns="0" rIns="0" tIns="0" bIns="0" anchor="t">
            <a:noAutofit/>
          </a:bodyPr>
          <a:lstStyle/>
          <a:p>
            <a:pPr algn="l">
              <a:spcBef>
                <a:spcPts val="0"/>
              </a:spcBef>
              <a:spcAft>
                <a:spcPts val="0"/>
              </a:spcAft>
            </a:pPr>
            <a:r>
              <a:rPr sz="1050" b="1" i="0">
                <a:solidFill>
                  <a:srgbClr val="7E8A97"/>
                </a:solidFill>
                <a:latin typeface="Arial"/>
              </a:rPr>
              <a:t>What I did</a:t>
            </a:r>
          </a:p>
        </p:txBody>
      </p:sp>
      <p:sp>
        <p:nvSpPr>
          <p:cNvPr id="15" name="Rectangle 14"/>
          <p:cNvSpPr/>
          <p:nvPr/>
        </p:nvSpPr>
        <p:spPr>
          <a:xfrm>
            <a:off x="640080" y="1901952"/>
            <a:ext cx="10908792" cy="10972"/>
          </a:xfrm>
          <a:prstGeom prst="rect">
            <a:avLst/>
          </a:prstGeom>
          <a:solidFill>
            <a:srgbClr val="C4CBD0"/>
          </a:solidFill>
          <a:ln>
            <a:noFill/>
          </a:ln>
        </p:spPr>
        <p:txBody>
          <a:bodyPr rtlCol="0" anchor="ctr"/>
          <a:lstStyle/>
          <a:p>
            <a:pPr algn="ctr"/>
          </a:p>
        </p:txBody>
      </p:sp>
      <p:sp>
        <p:nvSpPr>
          <p:cNvPr id="16" name="Rectangle 15"/>
          <p:cNvSpPr/>
          <p:nvPr/>
        </p:nvSpPr>
        <p:spPr>
          <a:xfrm>
            <a:off x="640080" y="2157984"/>
            <a:ext cx="457200" cy="256032"/>
          </a:xfrm>
          <a:prstGeom prst="rect">
            <a:avLst/>
          </a:prstGeom>
          <a:solidFill>
            <a:srgbClr val="C8472D"/>
          </a:solidFill>
          <a:ln w="15875">
            <a:solidFill>
              <a:srgbClr val="10263F"/>
            </a:solidFill>
          </a:ln>
        </p:spPr>
        <p:txBody>
          <a:bodyPr rtlCol="0" anchor="ctr"/>
          <a:lstStyle/>
          <a:p>
            <a:pPr algn="ctr"/>
          </a:p>
        </p:txBody>
      </p:sp>
      <p:sp>
        <p:nvSpPr>
          <p:cNvPr id="17" name="Rectangle 16"/>
          <p:cNvSpPr/>
          <p:nvPr/>
        </p:nvSpPr>
        <p:spPr>
          <a:xfrm>
            <a:off x="731519" y="2203703"/>
            <a:ext cx="7315" cy="164592"/>
          </a:xfrm>
          <a:prstGeom prst="rect">
            <a:avLst/>
          </a:prstGeom>
          <a:solidFill>
            <a:srgbClr val="A03824"/>
          </a:solidFill>
          <a:ln>
            <a:noFill/>
          </a:ln>
        </p:spPr>
        <p:txBody>
          <a:bodyPr rtlCol="0" anchor="ctr"/>
          <a:lstStyle/>
          <a:p>
            <a:pPr algn="ctr"/>
          </a:p>
        </p:txBody>
      </p:sp>
      <p:sp>
        <p:nvSpPr>
          <p:cNvPr id="18" name="Rectangle 17"/>
          <p:cNvSpPr/>
          <p:nvPr/>
        </p:nvSpPr>
        <p:spPr>
          <a:xfrm>
            <a:off x="822959" y="2203703"/>
            <a:ext cx="7315" cy="164592"/>
          </a:xfrm>
          <a:prstGeom prst="rect">
            <a:avLst/>
          </a:prstGeom>
          <a:solidFill>
            <a:srgbClr val="A03824"/>
          </a:solidFill>
          <a:ln>
            <a:noFill/>
          </a:ln>
        </p:spPr>
        <p:txBody>
          <a:bodyPr rtlCol="0" anchor="ctr"/>
          <a:lstStyle/>
          <a:p>
            <a:pPr algn="ctr"/>
          </a:p>
        </p:txBody>
      </p:sp>
      <p:sp>
        <p:nvSpPr>
          <p:cNvPr id="19" name="Rectangle 18"/>
          <p:cNvSpPr/>
          <p:nvPr/>
        </p:nvSpPr>
        <p:spPr>
          <a:xfrm>
            <a:off x="914400" y="2203703"/>
            <a:ext cx="7315" cy="164592"/>
          </a:xfrm>
          <a:prstGeom prst="rect">
            <a:avLst/>
          </a:prstGeom>
          <a:solidFill>
            <a:srgbClr val="A03824"/>
          </a:solidFill>
          <a:ln>
            <a:noFill/>
          </a:ln>
        </p:spPr>
        <p:txBody>
          <a:bodyPr rtlCol="0" anchor="ctr"/>
          <a:lstStyle/>
          <a:p>
            <a:pPr algn="ctr"/>
          </a:p>
        </p:txBody>
      </p:sp>
      <p:sp>
        <p:nvSpPr>
          <p:cNvPr id="20" name="Rectangle 19"/>
          <p:cNvSpPr/>
          <p:nvPr/>
        </p:nvSpPr>
        <p:spPr>
          <a:xfrm>
            <a:off x="1005840" y="2203703"/>
            <a:ext cx="7315" cy="164592"/>
          </a:xfrm>
          <a:prstGeom prst="rect">
            <a:avLst/>
          </a:prstGeom>
          <a:solidFill>
            <a:srgbClr val="A03824"/>
          </a:solidFill>
          <a:ln>
            <a:noFill/>
          </a:ln>
        </p:spPr>
        <p:txBody>
          <a:bodyPr rtlCol="0" anchor="ctr"/>
          <a:lstStyle/>
          <a:p>
            <a:pPr algn="ctr"/>
          </a:p>
        </p:txBody>
      </p:sp>
      <p:sp>
        <p:nvSpPr>
          <p:cNvPr id="21" name="TextBox 20"/>
          <p:cNvSpPr txBox="1"/>
          <p:nvPr/>
        </p:nvSpPr>
        <p:spPr>
          <a:xfrm>
            <a:off x="1325880" y="1901952"/>
            <a:ext cx="2606040" cy="768096"/>
          </a:xfrm>
          <a:prstGeom prst="rect">
            <a:avLst/>
          </a:prstGeom>
          <a:noFill/>
        </p:spPr>
        <p:txBody>
          <a:bodyPr wrap="square" lIns="0" rIns="0" tIns="0" bIns="0" anchor="ctr">
            <a:noAutofit/>
          </a:bodyPr>
          <a:lstStyle/>
          <a:p>
            <a:pPr algn="l">
              <a:lnSpc>
                <a:spcPct val="105000"/>
              </a:lnSpc>
              <a:spcBef>
                <a:spcPts val="0"/>
              </a:spcBef>
              <a:spcAft>
                <a:spcPts val="0"/>
              </a:spcAft>
            </a:pPr>
            <a:r>
              <a:rPr sz="1350" b="1" i="0">
                <a:solidFill>
                  <a:srgbClr val="10263F"/>
                </a:solidFill>
                <a:latin typeface="Georgia"/>
              </a:rPr>
              <a:t>Traefik couldn't talk to Docker on OrbStack</a:t>
            </a:r>
          </a:p>
        </p:txBody>
      </p:sp>
      <p:sp>
        <p:nvSpPr>
          <p:cNvPr id="22" name="TextBox 21"/>
          <p:cNvSpPr txBox="1"/>
          <p:nvPr/>
        </p:nvSpPr>
        <p:spPr>
          <a:xfrm>
            <a:off x="4114800" y="1901952"/>
            <a:ext cx="3520440" cy="768096"/>
          </a:xfrm>
          <a:prstGeom prst="rect">
            <a:avLst/>
          </a:prstGeom>
          <a:noFill/>
        </p:spPr>
        <p:txBody>
          <a:bodyPr wrap="square" lIns="0" rIns="0" tIns="0" bIns="0" anchor="ctr">
            <a:noAutofit/>
          </a:bodyPr>
          <a:lstStyle/>
          <a:p>
            <a:pPr algn="l">
              <a:lnSpc>
                <a:spcPct val="110000"/>
              </a:lnSpc>
              <a:spcBef>
                <a:spcPts val="0"/>
              </a:spcBef>
              <a:spcAft>
                <a:spcPts val="0"/>
              </a:spcAft>
            </a:pPr>
            <a:r>
              <a:rPr sz="1200" b="0" i="0">
                <a:solidFill>
                  <a:srgbClr val="4A5A6B"/>
                </a:solidFill>
                <a:latin typeface="Arial"/>
              </a:rPr>
              <a:t>Traefik's Docker client uses API 1.24, and OrbStack needs 1.40 or newer.</a:t>
            </a:r>
          </a:p>
        </p:txBody>
      </p:sp>
      <p:sp>
        <p:nvSpPr>
          <p:cNvPr id="23" name="TextBox 22"/>
          <p:cNvSpPr txBox="1"/>
          <p:nvPr/>
        </p:nvSpPr>
        <p:spPr>
          <a:xfrm>
            <a:off x="7772400" y="1901952"/>
            <a:ext cx="3749039" cy="768096"/>
          </a:xfrm>
          <a:prstGeom prst="rect">
            <a:avLst/>
          </a:prstGeom>
          <a:noFill/>
        </p:spPr>
        <p:txBody>
          <a:bodyPr wrap="square" lIns="0" rIns="0" tIns="0" bIns="0" anchor="ctr">
            <a:noAutofit/>
          </a:bodyPr>
          <a:lstStyle/>
          <a:p>
            <a:pPr algn="l">
              <a:lnSpc>
                <a:spcPct val="110000"/>
              </a:lnSpc>
              <a:spcBef>
                <a:spcPts val="0"/>
              </a:spcBef>
              <a:spcAft>
                <a:spcPts val="0"/>
              </a:spcAft>
            </a:pPr>
            <a:r>
              <a:rPr sz="1200" b="0" i="0">
                <a:solidFill>
                  <a:srgbClr val="4A5A6B"/>
                </a:solidFill>
                <a:latin typeface="Arial"/>
              </a:rPr>
              <a:t>I put an nginx proxy in front of the socket that rewrites the API paths.</a:t>
            </a:r>
          </a:p>
        </p:txBody>
      </p:sp>
      <p:sp>
        <p:nvSpPr>
          <p:cNvPr id="24" name="Rectangle 23"/>
          <p:cNvSpPr/>
          <p:nvPr/>
        </p:nvSpPr>
        <p:spPr>
          <a:xfrm>
            <a:off x="640080" y="2670048"/>
            <a:ext cx="10908792" cy="10972"/>
          </a:xfrm>
          <a:prstGeom prst="rect">
            <a:avLst/>
          </a:prstGeom>
          <a:solidFill>
            <a:srgbClr val="C4CBD0"/>
          </a:solidFill>
          <a:ln>
            <a:noFill/>
          </a:ln>
        </p:spPr>
        <p:txBody>
          <a:bodyPr rtlCol="0" anchor="ctr"/>
          <a:lstStyle/>
          <a:p>
            <a:pPr algn="ctr"/>
          </a:p>
        </p:txBody>
      </p:sp>
      <p:sp>
        <p:nvSpPr>
          <p:cNvPr id="25" name="Rectangle 24"/>
          <p:cNvSpPr/>
          <p:nvPr/>
        </p:nvSpPr>
        <p:spPr>
          <a:xfrm>
            <a:off x="640080" y="2926079"/>
            <a:ext cx="457200" cy="256032"/>
          </a:xfrm>
          <a:prstGeom prst="rect">
            <a:avLst/>
          </a:prstGeom>
          <a:solidFill>
            <a:srgbClr val="E9B93A"/>
          </a:solidFill>
          <a:ln w="15875">
            <a:solidFill>
              <a:srgbClr val="10263F"/>
            </a:solidFill>
          </a:ln>
        </p:spPr>
        <p:txBody>
          <a:bodyPr rtlCol="0" anchor="ctr"/>
          <a:lstStyle/>
          <a:p>
            <a:pPr algn="ctr"/>
          </a:p>
        </p:txBody>
      </p:sp>
      <p:sp>
        <p:nvSpPr>
          <p:cNvPr id="26" name="Rectangle 25"/>
          <p:cNvSpPr/>
          <p:nvPr/>
        </p:nvSpPr>
        <p:spPr>
          <a:xfrm>
            <a:off x="731519" y="2971799"/>
            <a:ext cx="7315" cy="164592"/>
          </a:xfrm>
          <a:prstGeom prst="rect">
            <a:avLst/>
          </a:prstGeom>
          <a:solidFill>
            <a:srgbClr val="BA942E"/>
          </a:solidFill>
          <a:ln>
            <a:noFill/>
          </a:ln>
        </p:spPr>
        <p:txBody>
          <a:bodyPr rtlCol="0" anchor="ctr"/>
          <a:lstStyle/>
          <a:p>
            <a:pPr algn="ctr"/>
          </a:p>
        </p:txBody>
      </p:sp>
      <p:sp>
        <p:nvSpPr>
          <p:cNvPr id="27" name="Rectangle 26"/>
          <p:cNvSpPr/>
          <p:nvPr/>
        </p:nvSpPr>
        <p:spPr>
          <a:xfrm>
            <a:off x="822959" y="2971799"/>
            <a:ext cx="7315" cy="164592"/>
          </a:xfrm>
          <a:prstGeom prst="rect">
            <a:avLst/>
          </a:prstGeom>
          <a:solidFill>
            <a:srgbClr val="BA942E"/>
          </a:solidFill>
          <a:ln>
            <a:noFill/>
          </a:ln>
        </p:spPr>
        <p:txBody>
          <a:bodyPr rtlCol="0" anchor="ctr"/>
          <a:lstStyle/>
          <a:p>
            <a:pPr algn="ctr"/>
          </a:p>
        </p:txBody>
      </p:sp>
      <p:sp>
        <p:nvSpPr>
          <p:cNvPr id="28" name="Rectangle 27"/>
          <p:cNvSpPr/>
          <p:nvPr/>
        </p:nvSpPr>
        <p:spPr>
          <a:xfrm>
            <a:off x="914400" y="2971799"/>
            <a:ext cx="7315" cy="164592"/>
          </a:xfrm>
          <a:prstGeom prst="rect">
            <a:avLst/>
          </a:prstGeom>
          <a:solidFill>
            <a:srgbClr val="BA942E"/>
          </a:solidFill>
          <a:ln>
            <a:noFill/>
          </a:ln>
        </p:spPr>
        <p:txBody>
          <a:bodyPr rtlCol="0" anchor="ctr"/>
          <a:lstStyle/>
          <a:p>
            <a:pPr algn="ctr"/>
          </a:p>
        </p:txBody>
      </p:sp>
      <p:sp>
        <p:nvSpPr>
          <p:cNvPr id="29" name="Rectangle 28"/>
          <p:cNvSpPr/>
          <p:nvPr/>
        </p:nvSpPr>
        <p:spPr>
          <a:xfrm>
            <a:off x="1005840" y="2971799"/>
            <a:ext cx="7315" cy="164592"/>
          </a:xfrm>
          <a:prstGeom prst="rect">
            <a:avLst/>
          </a:prstGeom>
          <a:solidFill>
            <a:srgbClr val="BA942E"/>
          </a:solidFill>
          <a:ln>
            <a:noFill/>
          </a:ln>
        </p:spPr>
        <p:txBody>
          <a:bodyPr rtlCol="0" anchor="ctr"/>
          <a:lstStyle/>
          <a:p>
            <a:pPr algn="ctr"/>
          </a:p>
        </p:txBody>
      </p:sp>
      <p:sp>
        <p:nvSpPr>
          <p:cNvPr id="30" name="TextBox 29"/>
          <p:cNvSpPr txBox="1"/>
          <p:nvPr/>
        </p:nvSpPr>
        <p:spPr>
          <a:xfrm>
            <a:off x="1325880" y="2670048"/>
            <a:ext cx="2606040" cy="768096"/>
          </a:xfrm>
          <a:prstGeom prst="rect">
            <a:avLst/>
          </a:prstGeom>
          <a:noFill/>
        </p:spPr>
        <p:txBody>
          <a:bodyPr wrap="square" lIns="0" rIns="0" tIns="0" bIns="0" anchor="ctr">
            <a:noAutofit/>
          </a:bodyPr>
          <a:lstStyle/>
          <a:p>
            <a:pPr algn="l">
              <a:lnSpc>
                <a:spcPct val="105000"/>
              </a:lnSpc>
              <a:spcBef>
                <a:spcPts val="0"/>
              </a:spcBef>
              <a:spcAft>
                <a:spcPts val="0"/>
              </a:spcAft>
            </a:pPr>
            <a:r>
              <a:rPr sz="1350" b="1" i="0">
                <a:solidFill>
                  <a:srgbClr val="10263F"/>
                </a:solidFill>
                <a:latin typeface="Georgia"/>
              </a:rPr>
              <a:t>Requests dropped during production swaps</a:t>
            </a:r>
          </a:p>
        </p:txBody>
      </p:sp>
      <p:sp>
        <p:nvSpPr>
          <p:cNvPr id="31" name="TextBox 30"/>
          <p:cNvSpPr txBox="1"/>
          <p:nvPr/>
        </p:nvSpPr>
        <p:spPr>
          <a:xfrm>
            <a:off x="4114800" y="2670048"/>
            <a:ext cx="3520440" cy="768096"/>
          </a:xfrm>
          <a:prstGeom prst="rect">
            <a:avLst/>
          </a:prstGeom>
          <a:noFill/>
        </p:spPr>
        <p:txBody>
          <a:bodyPr wrap="square" lIns="0" rIns="0" tIns="0" bIns="0" anchor="ctr">
            <a:noAutofit/>
          </a:bodyPr>
          <a:lstStyle/>
          <a:p>
            <a:pPr algn="l">
              <a:lnSpc>
                <a:spcPct val="110000"/>
              </a:lnSpc>
              <a:spcBef>
                <a:spcPts val="0"/>
              </a:spcBef>
              <a:spcAft>
                <a:spcPts val="0"/>
              </a:spcAft>
            </a:pPr>
            <a:r>
              <a:rPr sz="1200" b="0" i="0">
                <a:solidFill>
                  <a:srgbClr val="4A5A6B"/>
                </a:solidFill>
                <a:latin typeface="Arial"/>
              </a:rPr>
              <a:t>Traefik sent traffic to the new container before its first health check.</a:t>
            </a:r>
          </a:p>
        </p:txBody>
      </p:sp>
      <p:sp>
        <p:nvSpPr>
          <p:cNvPr id="32" name="TextBox 31"/>
          <p:cNvSpPr txBox="1"/>
          <p:nvPr/>
        </p:nvSpPr>
        <p:spPr>
          <a:xfrm>
            <a:off x="7772400" y="2670048"/>
            <a:ext cx="3749039" cy="768096"/>
          </a:xfrm>
          <a:prstGeom prst="rect">
            <a:avLst/>
          </a:prstGeom>
          <a:noFill/>
        </p:spPr>
        <p:txBody>
          <a:bodyPr wrap="square" lIns="0" rIns="0" tIns="0" bIns="0" anchor="ctr">
            <a:noAutofit/>
          </a:bodyPr>
          <a:lstStyle/>
          <a:p>
            <a:pPr algn="l">
              <a:lnSpc>
                <a:spcPct val="110000"/>
              </a:lnSpc>
              <a:spcBef>
                <a:spcPts val="0"/>
              </a:spcBef>
              <a:spcAft>
                <a:spcPts val="0"/>
              </a:spcAft>
            </a:pPr>
            <a:r>
              <a:rPr sz="1200" b="0" i="0">
                <a:solidFill>
                  <a:srgbClr val="4A5A6B"/>
                </a:solidFill>
                <a:latin typeface="Arial"/>
              </a:rPr>
              <a:t>I moved production to Traefik's file provider and swap the route in one step after the health check.</a:t>
            </a:r>
          </a:p>
        </p:txBody>
      </p:sp>
      <p:sp>
        <p:nvSpPr>
          <p:cNvPr id="33" name="Rectangle 32"/>
          <p:cNvSpPr/>
          <p:nvPr/>
        </p:nvSpPr>
        <p:spPr>
          <a:xfrm>
            <a:off x="640080" y="3438144"/>
            <a:ext cx="10908792" cy="10972"/>
          </a:xfrm>
          <a:prstGeom prst="rect">
            <a:avLst/>
          </a:prstGeom>
          <a:solidFill>
            <a:srgbClr val="C4CBD0"/>
          </a:solidFill>
          <a:ln>
            <a:noFill/>
          </a:ln>
        </p:spPr>
        <p:txBody>
          <a:bodyPr rtlCol="0" anchor="ctr"/>
          <a:lstStyle/>
          <a:p>
            <a:pPr algn="ctr"/>
          </a:p>
        </p:txBody>
      </p:sp>
      <p:sp>
        <p:nvSpPr>
          <p:cNvPr id="34" name="Rectangle 33"/>
          <p:cNvSpPr/>
          <p:nvPr/>
        </p:nvSpPr>
        <p:spPr>
          <a:xfrm>
            <a:off x="640080" y="3694176"/>
            <a:ext cx="457200" cy="256032"/>
          </a:xfrm>
          <a:prstGeom prst="rect">
            <a:avLst/>
          </a:prstGeom>
          <a:solidFill>
            <a:srgbClr val="2F8F83"/>
          </a:solidFill>
          <a:ln w="15875">
            <a:solidFill>
              <a:srgbClr val="10263F"/>
            </a:solidFill>
          </a:ln>
        </p:spPr>
        <p:txBody>
          <a:bodyPr rtlCol="0" anchor="ctr"/>
          <a:lstStyle/>
          <a:p>
            <a:pPr algn="ctr"/>
          </a:p>
        </p:txBody>
      </p:sp>
      <p:sp>
        <p:nvSpPr>
          <p:cNvPr id="35" name="Rectangle 34"/>
          <p:cNvSpPr/>
          <p:nvPr/>
        </p:nvSpPr>
        <p:spPr>
          <a:xfrm>
            <a:off x="731519" y="3739896"/>
            <a:ext cx="7315" cy="164592"/>
          </a:xfrm>
          <a:prstGeom prst="rect">
            <a:avLst/>
          </a:prstGeom>
          <a:solidFill>
            <a:srgbClr val="257268"/>
          </a:solidFill>
          <a:ln>
            <a:noFill/>
          </a:ln>
        </p:spPr>
        <p:txBody>
          <a:bodyPr rtlCol="0" anchor="ctr"/>
          <a:lstStyle/>
          <a:p>
            <a:pPr algn="ctr"/>
          </a:p>
        </p:txBody>
      </p:sp>
      <p:sp>
        <p:nvSpPr>
          <p:cNvPr id="36" name="Rectangle 35"/>
          <p:cNvSpPr/>
          <p:nvPr/>
        </p:nvSpPr>
        <p:spPr>
          <a:xfrm>
            <a:off x="822959" y="3739896"/>
            <a:ext cx="7315" cy="164592"/>
          </a:xfrm>
          <a:prstGeom prst="rect">
            <a:avLst/>
          </a:prstGeom>
          <a:solidFill>
            <a:srgbClr val="257268"/>
          </a:solidFill>
          <a:ln>
            <a:noFill/>
          </a:ln>
        </p:spPr>
        <p:txBody>
          <a:bodyPr rtlCol="0" anchor="ctr"/>
          <a:lstStyle/>
          <a:p>
            <a:pPr algn="ctr"/>
          </a:p>
        </p:txBody>
      </p:sp>
      <p:sp>
        <p:nvSpPr>
          <p:cNvPr id="37" name="Rectangle 36"/>
          <p:cNvSpPr/>
          <p:nvPr/>
        </p:nvSpPr>
        <p:spPr>
          <a:xfrm>
            <a:off x="914400" y="3739896"/>
            <a:ext cx="7315" cy="164592"/>
          </a:xfrm>
          <a:prstGeom prst="rect">
            <a:avLst/>
          </a:prstGeom>
          <a:solidFill>
            <a:srgbClr val="257268"/>
          </a:solidFill>
          <a:ln>
            <a:noFill/>
          </a:ln>
        </p:spPr>
        <p:txBody>
          <a:bodyPr rtlCol="0" anchor="ctr"/>
          <a:lstStyle/>
          <a:p>
            <a:pPr algn="ctr"/>
          </a:p>
        </p:txBody>
      </p:sp>
      <p:sp>
        <p:nvSpPr>
          <p:cNvPr id="38" name="Rectangle 37"/>
          <p:cNvSpPr/>
          <p:nvPr/>
        </p:nvSpPr>
        <p:spPr>
          <a:xfrm>
            <a:off x="1005840" y="3739896"/>
            <a:ext cx="7315" cy="164592"/>
          </a:xfrm>
          <a:prstGeom prst="rect">
            <a:avLst/>
          </a:prstGeom>
          <a:solidFill>
            <a:srgbClr val="257268"/>
          </a:solidFill>
          <a:ln>
            <a:noFill/>
          </a:ln>
        </p:spPr>
        <p:txBody>
          <a:bodyPr rtlCol="0" anchor="ctr"/>
          <a:lstStyle/>
          <a:p>
            <a:pPr algn="ctr"/>
          </a:p>
        </p:txBody>
      </p:sp>
      <p:sp>
        <p:nvSpPr>
          <p:cNvPr id="39" name="TextBox 38"/>
          <p:cNvSpPr txBox="1"/>
          <p:nvPr/>
        </p:nvSpPr>
        <p:spPr>
          <a:xfrm>
            <a:off x="1325880" y="3438144"/>
            <a:ext cx="2606040" cy="768096"/>
          </a:xfrm>
          <a:prstGeom prst="rect">
            <a:avLst/>
          </a:prstGeom>
          <a:noFill/>
        </p:spPr>
        <p:txBody>
          <a:bodyPr wrap="square" lIns="0" rIns="0" tIns="0" bIns="0" anchor="ctr">
            <a:noAutofit/>
          </a:bodyPr>
          <a:lstStyle/>
          <a:p>
            <a:pPr algn="l">
              <a:lnSpc>
                <a:spcPct val="105000"/>
              </a:lnSpc>
              <a:spcBef>
                <a:spcPts val="0"/>
              </a:spcBef>
              <a:spcAft>
                <a:spcPts val="0"/>
              </a:spcAft>
            </a:pPr>
            <a:r>
              <a:rPr sz="1350" b="1" i="0">
                <a:solidFill>
                  <a:srgbClr val="10263F"/>
                </a:solidFill>
                <a:latin typeface="Georgia"/>
              </a:rPr>
              <a:t>Route changes weren't picked up on macOS</a:t>
            </a:r>
          </a:p>
        </p:txBody>
      </p:sp>
      <p:sp>
        <p:nvSpPr>
          <p:cNvPr id="40" name="TextBox 39"/>
          <p:cNvSpPr txBox="1"/>
          <p:nvPr/>
        </p:nvSpPr>
        <p:spPr>
          <a:xfrm>
            <a:off x="4114800" y="3438144"/>
            <a:ext cx="3520440" cy="768096"/>
          </a:xfrm>
          <a:prstGeom prst="rect">
            <a:avLst/>
          </a:prstGeom>
          <a:noFill/>
        </p:spPr>
        <p:txBody>
          <a:bodyPr wrap="square" lIns="0" rIns="0" tIns="0" bIns="0" anchor="ctr">
            <a:noAutofit/>
          </a:bodyPr>
          <a:lstStyle/>
          <a:p>
            <a:pPr algn="l">
              <a:lnSpc>
                <a:spcPct val="110000"/>
              </a:lnSpc>
              <a:spcBef>
                <a:spcPts val="0"/>
              </a:spcBef>
              <a:spcAft>
                <a:spcPts val="0"/>
              </a:spcAft>
            </a:pPr>
            <a:r>
              <a:rPr sz="1200" b="0" i="0">
                <a:solidFill>
                  <a:srgbClr val="4A5A6B"/>
                </a:solidFill>
                <a:latin typeface="Arial"/>
              </a:rPr>
              <a:t>Writes through a bind mount don't trigger inotify across the VM.</a:t>
            </a:r>
          </a:p>
        </p:txBody>
      </p:sp>
      <p:sp>
        <p:nvSpPr>
          <p:cNvPr id="41" name="TextBox 40"/>
          <p:cNvSpPr txBox="1"/>
          <p:nvPr/>
        </p:nvSpPr>
        <p:spPr>
          <a:xfrm>
            <a:off x="7772400" y="3438144"/>
            <a:ext cx="3749039" cy="768096"/>
          </a:xfrm>
          <a:prstGeom prst="rect">
            <a:avLst/>
          </a:prstGeom>
          <a:noFill/>
        </p:spPr>
        <p:txBody>
          <a:bodyPr wrap="square" lIns="0" rIns="0" tIns="0" bIns="0" anchor="ctr">
            <a:noAutofit/>
          </a:bodyPr>
          <a:lstStyle/>
          <a:p>
            <a:pPr algn="l">
              <a:lnSpc>
                <a:spcPct val="110000"/>
              </a:lnSpc>
              <a:spcBef>
                <a:spcPts val="0"/>
              </a:spcBef>
              <a:spcAft>
                <a:spcPts val="0"/>
              </a:spcAft>
            </a:pPr>
            <a:r>
              <a:rPr sz="1200" b="0" i="0">
                <a:solidFill>
                  <a:srgbClr val="4A5A6B"/>
                </a:solidFill>
                <a:latin typeface="Arial"/>
              </a:rPr>
              <a:t>I write the route file with docker cp instead.</a:t>
            </a:r>
          </a:p>
        </p:txBody>
      </p:sp>
      <p:sp>
        <p:nvSpPr>
          <p:cNvPr id="42" name="Rectangle 41"/>
          <p:cNvSpPr/>
          <p:nvPr/>
        </p:nvSpPr>
        <p:spPr>
          <a:xfrm>
            <a:off x="640080" y="4206240"/>
            <a:ext cx="10908792" cy="10972"/>
          </a:xfrm>
          <a:prstGeom prst="rect">
            <a:avLst/>
          </a:prstGeom>
          <a:solidFill>
            <a:srgbClr val="C4CBD0"/>
          </a:solidFill>
          <a:ln>
            <a:noFill/>
          </a:ln>
        </p:spPr>
        <p:txBody>
          <a:bodyPr rtlCol="0" anchor="ctr"/>
          <a:lstStyle/>
          <a:p>
            <a:pPr algn="ctr"/>
          </a:p>
        </p:txBody>
      </p:sp>
      <p:sp>
        <p:nvSpPr>
          <p:cNvPr id="43" name="Rectangle 42"/>
          <p:cNvSpPr/>
          <p:nvPr/>
        </p:nvSpPr>
        <p:spPr>
          <a:xfrm>
            <a:off x="640080" y="4462272"/>
            <a:ext cx="457200" cy="256032"/>
          </a:xfrm>
          <a:prstGeom prst="rect">
            <a:avLst/>
          </a:prstGeom>
          <a:solidFill>
            <a:srgbClr val="E58A2B"/>
          </a:solidFill>
          <a:ln w="15875">
            <a:solidFill>
              <a:srgbClr val="10263F"/>
            </a:solidFill>
          </a:ln>
        </p:spPr>
        <p:txBody>
          <a:bodyPr rtlCol="0" anchor="ctr"/>
          <a:lstStyle/>
          <a:p>
            <a:pPr algn="ctr"/>
          </a:p>
        </p:txBody>
      </p:sp>
      <p:sp>
        <p:nvSpPr>
          <p:cNvPr id="44" name="Rectangle 43"/>
          <p:cNvSpPr/>
          <p:nvPr/>
        </p:nvSpPr>
        <p:spPr>
          <a:xfrm>
            <a:off x="731519" y="4507992"/>
            <a:ext cx="7315" cy="164592"/>
          </a:xfrm>
          <a:prstGeom prst="rect">
            <a:avLst/>
          </a:prstGeom>
          <a:solidFill>
            <a:srgbClr val="B76E22"/>
          </a:solidFill>
          <a:ln>
            <a:noFill/>
          </a:ln>
        </p:spPr>
        <p:txBody>
          <a:bodyPr rtlCol="0" anchor="ctr"/>
          <a:lstStyle/>
          <a:p>
            <a:pPr algn="ctr"/>
          </a:p>
        </p:txBody>
      </p:sp>
      <p:sp>
        <p:nvSpPr>
          <p:cNvPr id="45" name="Rectangle 44"/>
          <p:cNvSpPr/>
          <p:nvPr/>
        </p:nvSpPr>
        <p:spPr>
          <a:xfrm>
            <a:off x="822959" y="4507992"/>
            <a:ext cx="7315" cy="164592"/>
          </a:xfrm>
          <a:prstGeom prst="rect">
            <a:avLst/>
          </a:prstGeom>
          <a:solidFill>
            <a:srgbClr val="B76E22"/>
          </a:solidFill>
          <a:ln>
            <a:noFill/>
          </a:ln>
        </p:spPr>
        <p:txBody>
          <a:bodyPr rtlCol="0" anchor="ctr"/>
          <a:lstStyle/>
          <a:p>
            <a:pPr algn="ctr"/>
          </a:p>
        </p:txBody>
      </p:sp>
      <p:sp>
        <p:nvSpPr>
          <p:cNvPr id="46" name="Rectangle 45"/>
          <p:cNvSpPr/>
          <p:nvPr/>
        </p:nvSpPr>
        <p:spPr>
          <a:xfrm>
            <a:off x="914400" y="4507992"/>
            <a:ext cx="7315" cy="164592"/>
          </a:xfrm>
          <a:prstGeom prst="rect">
            <a:avLst/>
          </a:prstGeom>
          <a:solidFill>
            <a:srgbClr val="B76E22"/>
          </a:solidFill>
          <a:ln>
            <a:noFill/>
          </a:ln>
        </p:spPr>
        <p:txBody>
          <a:bodyPr rtlCol="0" anchor="ctr"/>
          <a:lstStyle/>
          <a:p>
            <a:pPr algn="ctr"/>
          </a:p>
        </p:txBody>
      </p:sp>
      <p:sp>
        <p:nvSpPr>
          <p:cNvPr id="47" name="Rectangle 46"/>
          <p:cNvSpPr/>
          <p:nvPr/>
        </p:nvSpPr>
        <p:spPr>
          <a:xfrm>
            <a:off x="1005840" y="4507992"/>
            <a:ext cx="7315" cy="164592"/>
          </a:xfrm>
          <a:prstGeom prst="rect">
            <a:avLst/>
          </a:prstGeom>
          <a:solidFill>
            <a:srgbClr val="B76E22"/>
          </a:solidFill>
          <a:ln>
            <a:noFill/>
          </a:ln>
        </p:spPr>
        <p:txBody>
          <a:bodyPr rtlCol="0" anchor="ctr"/>
          <a:lstStyle/>
          <a:p>
            <a:pPr algn="ctr"/>
          </a:p>
        </p:txBody>
      </p:sp>
      <p:sp>
        <p:nvSpPr>
          <p:cNvPr id="48" name="TextBox 47"/>
          <p:cNvSpPr txBox="1"/>
          <p:nvPr/>
        </p:nvSpPr>
        <p:spPr>
          <a:xfrm>
            <a:off x="1325880" y="4206240"/>
            <a:ext cx="2606040" cy="768096"/>
          </a:xfrm>
          <a:prstGeom prst="rect">
            <a:avLst/>
          </a:prstGeom>
          <a:noFill/>
        </p:spPr>
        <p:txBody>
          <a:bodyPr wrap="square" lIns="0" rIns="0" tIns="0" bIns="0" anchor="ctr">
            <a:noAutofit/>
          </a:bodyPr>
          <a:lstStyle/>
          <a:p>
            <a:pPr algn="l">
              <a:lnSpc>
                <a:spcPct val="105000"/>
              </a:lnSpc>
              <a:spcBef>
                <a:spcPts val="0"/>
              </a:spcBef>
              <a:spcAft>
                <a:spcPts val="0"/>
              </a:spcAft>
            </a:pPr>
            <a:r>
              <a:rPr sz="1350" b="1" i="0">
                <a:solidFill>
                  <a:srgbClr val="10263F"/>
                </a:solidFill>
                <a:latin typeface="Georgia"/>
              </a:rPr>
              <a:t>Double-clicking Redeploy killed a live preview</a:t>
            </a:r>
          </a:p>
        </p:txBody>
      </p:sp>
      <p:sp>
        <p:nvSpPr>
          <p:cNvPr id="49" name="TextBox 48"/>
          <p:cNvSpPr txBox="1"/>
          <p:nvPr/>
        </p:nvSpPr>
        <p:spPr>
          <a:xfrm>
            <a:off x="4114800" y="4206240"/>
            <a:ext cx="3520440" cy="768096"/>
          </a:xfrm>
          <a:prstGeom prst="rect">
            <a:avLst/>
          </a:prstGeom>
          <a:noFill/>
        </p:spPr>
        <p:txBody>
          <a:bodyPr wrap="square" lIns="0" rIns="0" tIns="0" bIns="0" anchor="ctr">
            <a:noAutofit/>
          </a:bodyPr>
          <a:lstStyle/>
          <a:p>
            <a:pPr algn="l">
              <a:lnSpc>
                <a:spcPct val="110000"/>
              </a:lnSpc>
              <a:spcBef>
                <a:spcPts val="0"/>
              </a:spcBef>
              <a:spcAft>
                <a:spcPts val="0"/>
              </a:spcAft>
            </a:pPr>
            <a:r>
              <a:rPr sz="1200" b="0" i="0">
                <a:solidFill>
                  <a:srgbClr val="4A5A6B"/>
                </a:solidFill>
                <a:latin typeface="Arial"/>
              </a:rPr>
              <a:t>Two builds for the same branch ran at once, and one stopped the other's tunnel.</a:t>
            </a:r>
          </a:p>
        </p:txBody>
      </p:sp>
      <p:sp>
        <p:nvSpPr>
          <p:cNvPr id="50" name="TextBox 49"/>
          <p:cNvSpPr txBox="1"/>
          <p:nvPr/>
        </p:nvSpPr>
        <p:spPr>
          <a:xfrm>
            <a:off x="7772400" y="4206240"/>
            <a:ext cx="3749039" cy="768096"/>
          </a:xfrm>
          <a:prstGeom prst="rect">
            <a:avLst/>
          </a:prstGeom>
          <a:noFill/>
        </p:spPr>
        <p:txBody>
          <a:bodyPr wrap="square" lIns="0" rIns="0" tIns="0" bIns="0" anchor="ctr">
            <a:noAutofit/>
          </a:bodyPr>
          <a:lstStyle/>
          <a:p>
            <a:pPr algn="l">
              <a:lnSpc>
                <a:spcPct val="110000"/>
              </a:lnSpc>
              <a:spcBef>
                <a:spcPts val="0"/>
              </a:spcBef>
              <a:spcAft>
                <a:spcPts val="0"/>
              </a:spcAft>
            </a:pPr>
            <a:r>
              <a:rPr sz="1200" b="0" i="0">
                <a:solidFill>
                  <a:srgbClr val="4A5A6B"/>
                </a:solidFill>
                <a:latin typeface="Arial"/>
              </a:rPr>
              <a:t>I added a lock per branch, with a test that starts two deploys at once.</a:t>
            </a:r>
          </a:p>
        </p:txBody>
      </p:sp>
      <p:sp>
        <p:nvSpPr>
          <p:cNvPr id="51" name="Rectangle 50"/>
          <p:cNvSpPr/>
          <p:nvPr/>
        </p:nvSpPr>
        <p:spPr>
          <a:xfrm>
            <a:off x="640080" y="4974336"/>
            <a:ext cx="10908792" cy="10972"/>
          </a:xfrm>
          <a:prstGeom prst="rect">
            <a:avLst/>
          </a:prstGeom>
          <a:solidFill>
            <a:srgbClr val="C4CBD0"/>
          </a:solidFill>
          <a:ln>
            <a:noFill/>
          </a:ln>
        </p:spPr>
        <p:txBody>
          <a:bodyPr rtlCol="0" anchor="ctr"/>
          <a:lstStyle/>
          <a:p>
            <a:pPr algn="ctr"/>
          </a:p>
        </p:txBody>
      </p:sp>
      <p:sp>
        <p:nvSpPr>
          <p:cNvPr id="52" name="Rectangle 51"/>
          <p:cNvSpPr/>
          <p:nvPr/>
        </p:nvSpPr>
        <p:spPr>
          <a:xfrm>
            <a:off x="640080" y="5230368"/>
            <a:ext cx="457200" cy="256032"/>
          </a:xfrm>
          <a:prstGeom prst="rect">
            <a:avLst/>
          </a:prstGeom>
          <a:solidFill>
            <a:srgbClr val="2B6CA3"/>
          </a:solidFill>
          <a:ln w="15875">
            <a:solidFill>
              <a:srgbClr val="10263F"/>
            </a:solidFill>
          </a:ln>
        </p:spPr>
        <p:txBody>
          <a:bodyPr rtlCol="0" anchor="ctr"/>
          <a:lstStyle/>
          <a:p>
            <a:pPr algn="ctr"/>
          </a:p>
        </p:txBody>
      </p:sp>
      <p:sp>
        <p:nvSpPr>
          <p:cNvPr id="53" name="Rectangle 52"/>
          <p:cNvSpPr/>
          <p:nvPr/>
        </p:nvSpPr>
        <p:spPr>
          <a:xfrm>
            <a:off x="731519" y="5276088"/>
            <a:ext cx="7315" cy="164592"/>
          </a:xfrm>
          <a:prstGeom prst="rect">
            <a:avLst/>
          </a:prstGeom>
          <a:solidFill>
            <a:srgbClr val="225682"/>
          </a:solidFill>
          <a:ln>
            <a:noFill/>
          </a:ln>
        </p:spPr>
        <p:txBody>
          <a:bodyPr rtlCol="0" anchor="ctr"/>
          <a:lstStyle/>
          <a:p>
            <a:pPr algn="ctr"/>
          </a:p>
        </p:txBody>
      </p:sp>
      <p:sp>
        <p:nvSpPr>
          <p:cNvPr id="54" name="Rectangle 53"/>
          <p:cNvSpPr/>
          <p:nvPr/>
        </p:nvSpPr>
        <p:spPr>
          <a:xfrm>
            <a:off x="822959" y="5276088"/>
            <a:ext cx="7315" cy="164592"/>
          </a:xfrm>
          <a:prstGeom prst="rect">
            <a:avLst/>
          </a:prstGeom>
          <a:solidFill>
            <a:srgbClr val="225682"/>
          </a:solidFill>
          <a:ln>
            <a:noFill/>
          </a:ln>
        </p:spPr>
        <p:txBody>
          <a:bodyPr rtlCol="0" anchor="ctr"/>
          <a:lstStyle/>
          <a:p>
            <a:pPr algn="ctr"/>
          </a:p>
        </p:txBody>
      </p:sp>
      <p:sp>
        <p:nvSpPr>
          <p:cNvPr id="55" name="Rectangle 54"/>
          <p:cNvSpPr/>
          <p:nvPr/>
        </p:nvSpPr>
        <p:spPr>
          <a:xfrm>
            <a:off x="914400" y="5276088"/>
            <a:ext cx="7315" cy="164592"/>
          </a:xfrm>
          <a:prstGeom prst="rect">
            <a:avLst/>
          </a:prstGeom>
          <a:solidFill>
            <a:srgbClr val="225682"/>
          </a:solidFill>
          <a:ln>
            <a:noFill/>
          </a:ln>
        </p:spPr>
        <p:txBody>
          <a:bodyPr rtlCol="0" anchor="ctr"/>
          <a:lstStyle/>
          <a:p>
            <a:pPr algn="ctr"/>
          </a:p>
        </p:txBody>
      </p:sp>
      <p:sp>
        <p:nvSpPr>
          <p:cNvPr id="56" name="Rectangle 55"/>
          <p:cNvSpPr/>
          <p:nvPr/>
        </p:nvSpPr>
        <p:spPr>
          <a:xfrm>
            <a:off x="1005840" y="5276088"/>
            <a:ext cx="7315" cy="164592"/>
          </a:xfrm>
          <a:prstGeom prst="rect">
            <a:avLst/>
          </a:prstGeom>
          <a:solidFill>
            <a:srgbClr val="225682"/>
          </a:solidFill>
          <a:ln>
            <a:noFill/>
          </a:ln>
        </p:spPr>
        <p:txBody>
          <a:bodyPr rtlCol="0" anchor="ctr"/>
          <a:lstStyle/>
          <a:p>
            <a:pPr algn="ctr"/>
          </a:p>
        </p:txBody>
      </p:sp>
      <p:sp>
        <p:nvSpPr>
          <p:cNvPr id="57" name="TextBox 56"/>
          <p:cNvSpPr txBox="1"/>
          <p:nvPr/>
        </p:nvSpPr>
        <p:spPr>
          <a:xfrm>
            <a:off x="1325880" y="4974336"/>
            <a:ext cx="2606040" cy="768096"/>
          </a:xfrm>
          <a:prstGeom prst="rect">
            <a:avLst/>
          </a:prstGeom>
          <a:noFill/>
        </p:spPr>
        <p:txBody>
          <a:bodyPr wrap="square" lIns="0" rIns="0" tIns="0" bIns="0" anchor="ctr">
            <a:noAutofit/>
          </a:bodyPr>
          <a:lstStyle/>
          <a:p>
            <a:pPr algn="l">
              <a:lnSpc>
                <a:spcPct val="105000"/>
              </a:lnSpc>
              <a:spcBef>
                <a:spcPts val="0"/>
              </a:spcBef>
              <a:spcAft>
                <a:spcPts val="0"/>
              </a:spcAft>
            </a:pPr>
            <a:r>
              <a:rPr sz="1350" b="1" i="0">
                <a:solidFill>
                  <a:srgbClr val="10263F"/>
                </a:solidFill>
                <a:latin typeface="Georgia"/>
              </a:rPr>
              <a:t>New preview links didn't load for a few seconds</a:t>
            </a:r>
          </a:p>
        </p:txBody>
      </p:sp>
      <p:sp>
        <p:nvSpPr>
          <p:cNvPr id="58" name="TextBox 57"/>
          <p:cNvSpPr txBox="1"/>
          <p:nvPr/>
        </p:nvSpPr>
        <p:spPr>
          <a:xfrm>
            <a:off x="4114800" y="4974336"/>
            <a:ext cx="3520440" cy="768096"/>
          </a:xfrm>
          <a:prstGeom prst="rect">
            <a:avLst/>
          </a:prstGeom>
          <a:noFill/>
        </p:spPr>
        <p:txBody>
          <a:bodyPr wrap="square" lIns="0" rIns="0" tIns="0" bIns="0" anchor="ctr">
            <a:noAutofit/>
          </a:bodyPr>
          <a:lstStyle/>
          <a:p>
            <a:pPr algn="l">
              <a:lnSpc>
                <a:spcPct val="110000"/>
              </a:lnSpc>
              <a:spcBef>
                <a:spcPts val="0"/>
              </a:spcBef>
              <a:spcAft>
                <a:spcPts val="0"/>
              </a:spcAft>
            </a:pPr>
            <a:r>
              <a:rPr sz="1200" b="0" i="0">
                <a:solidFill>
                  <a:srgbClr val="4A5A6B"/>
                </a:solidFill>
                <a:latin typeface="Arial"/>
              </a:rPr>
              <a:t>New trycloudflare.com names take a while to resolve on the local DNS.</a:t>
            </a:r>
          </a:p>
        </p:txBody>
      </p:sp>
      <p:sp>
        <p:nvSpPr>
          <p:cNvPr id="59" name="TextBox 58"/>
          <p:cNvSpPr txBox="1"/>
          <p:nvPr/>
        </p:nvSpPr>
        <p:spPr>
          <a:xfrm>
            <a:off x="7772400" y="4974336"/>
            <a:ext cx="3749039" cy="768096"/>
          </a:xfrm>
          <a:prstGeom prst="rect">
            <a:avLst/>
          </a:prstGeom>
          <a:noFill/>
        </p:spPr>
        <p:txBody>
          <a:bodyPr wrap="square" lIns="0" rIns="0" tIns="0" bIns="0" anchor="ctr">
            <a:noAutofit/>
          </a:bodyPr>
          <a:lstStyle/>
          <a:p>
            <a:pPr algn="l">
              <a:lnSpc>
                <a:spcPct val="110000"/>
              </a:lnSpc>
              <a:spcBef>
                <a:spcPts val="0"/>
              </a:spcBef>
              <a:spcAft>
                <a:spcPts val="0"/>
              </a:spcAft>
            </a:pPr>
            <a:r>
              <a:rPr sz="1200" b="0" i="0">
                <a:solidFill>
                  <a:srgbClr val="4A5A6B"/>
                </a:solidFill>
                <a:latin typeface="Arial"/>
              </a:rPr>
              <a:t>I wait until a public resolver (1.1.1.1) resolves the name, and give the screenshot browser the IP directly.</a:t>
            </a:r>
          </a:p>
        </p:txBody>
      </p:sp>
      <p:sp>
        <p:nvSpPr>
          <p:cNvPr id="60" name="Rectangle 59"/>
          <p:cNvSpPr/>
          <p:nvPr/>
        </p:nvSpPr>
        <p:spPr>
          <a:xfrm>
            <a:off x="640080" y="5742432"/>
            <a:ext cx="10908792" cy="10972"/>
          </a:xfrm>
          <a:prstGeom prst="rect">
            <a:avLst/>
          </a:prstGeom>
          <a:solidFill>
            <a:srgbClr val="C4CBD0"/>
          </a:solidFill>
          <a:ln>
            <a:noFill/>
          </a:ln>
        </p:spPr>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40080" y="731520"/>
            <a:ext cx="566928" cy="310896"/>
          </a:xfrm>
          <a:prstGeom prst="rect">
            <a:avLst/>
          </a:prstGeom>
          <a:solidFill>
            <a:srgbClr val="E58A2B"/>
          </a:solidFill>
          <a:ln w="15875">
            <a:solidFill>
              <a:srgbClr val="10263F"/>
            </a:solidFill>
          </a:ln>
        </p:spPr>
        <p:txBody>
          <a:bodyPr rtlCol="0" anchor="ctr"/>
          <a:lstStyle/>
          <a:p>
            <a:pPr algn="ctr"/>
          </a:p>
        </p:txBody>
      </p:sp>
      <p:sp>
        <p:nvSpPr>
          <p:cNvPr id="3" name="Rectangle 2"/>
          <p:cNvSpPr/>
          <p:nvPr/>
        </p:nvSpPr>
        <p:spPr>
          <a:xfrm>
            <a:off x="753465" y="777240"/>
            <a:ext cx="7315" cy="219456"/>
          </a:xfrm>
          <a:prstGeom prst="rect">
            <a:avLst/>
          </a:prstGeom>
          <a:solidFill>
            <a:srgbClr val="B76E22"/>
          </a:solidFill>
          <a:ln>
            <a:noFill/>
          </a:ln>
        </p:spPr>
        <p:txBody>
          <a:bodyPr rtlCol="0" anchor="ctr"/>
          <a:lstStyle/>
          <a:p>
            <a:pPr algn="ctr"/>
          </a:p>
        </p:txBody>
      </p:sp>
      <p:sp>
        <p:nvSpPr>
          <p:cNvPr id="4" name="Rectangle 3"/>
          <p:cNvSpPr/>
          <p:nvPr/>
        </p:nvSpPr>
        <p:spPr>
          <a:xfrm>
            <a:off x="866851" y="777240"/>
            <a:ext cx="7315" cy="219456"/>
          </a:xfrm>
          <a:prstGeom prst="rect">
            <a:avLst/>
          </a:prstGeom>
          <a:solidFill>
            <a:srgbClr val="B76E22"/>
          </a:solidFill>
          <a:ln>
            <a:noFill/>
          </a:ln>
        </p:spPr>
        <p:txBody>
          <a:bodyPr rtlCol="0" anchor="ctr"/>
          <a:lstStyle/>
          <a:p>
            <a:pPr algn="ctr"/>
          </a:p>
        </p:txBody>
      </p:sp>
      <p:sp>
        <p:nvSpPr>
          <p:cNvPr id="5" name="Rectangle 4"/>
          <p:cNvSpPr/>
          <p:nvPr/>
        </p:nvSpPr>
        <p:spPr>
          <a:xfrm>
            <a:off x="980236" y="777240"/>
            <a:ext cx="7315" cy="219456"/>
          </a:xfrm>
          <a:prstGeom prst="rect">
            <a:avLst/>
          </a:prstGeom>
          <a:solidFill>
            <a:srgbClr val="B76E22"/>
          </a:solidFill>
          <a:ln>
            <a:noFill/>
          </a:ln>
        </p:spPr>
        <p:txBody>
          <a:bodyPr rtlCol="0" anchor="ctr"/>
          <a:lstStyle/>
          <a:p>
            <a:pPr algn="ctr"/>
          </a:p>
        </p:txBody>
      </p:sp>
      <p:sp>
        <p:nvSpPr>
          <p:cNvPr id="6" name="Rectangle 5"/>
          <p:cNvSpPr/>
          <p:nvPr/>
        </p:nvSpPr>
        <p:spPr>
          <a:xfrm>
            <a:off x="1093622" y="777240"/>
            <a:ext cx="7315" cy="219456"/>
          </a:xfrm>
          <a:prstGeom prst="rect">
            <a:avLst/>
          </a:prstGeom>
          <a:solidFill>
            <a:srgbClr val="B76E22"/>
          </a:solidFill>
          <a:ln>
            <a:noFill/>
          </a:ln>
        </p:spPr>
        <p:txBody>
          <a:bodyPr rtlCol="0" anchor="ctr"/>
          <a:lstStyle/>
          <a:p>
            <a:pPr algn="ctr"/>
          </a:p>
        </p:txBody>
      </p:sp>
      <p:sp>
        <p:nvSpPr>
          <p:cNvPr id="7" name="TextBox 6"/>
          <p:cNvSpPr txBox="1"/>
          <p:nvPr/>
        </p:nvSpPr>
        <p:spPr>
          <a:xfrm>
            <a:off x="1417320" y="548640"/>
            <a:ext cx="10149840" cy="685800"/>
          </a:xfrm>
          <a:prstGeom prst="rect">
            <a:avLst/>
          </a:prstGeom>
          <a:noFill/>
        </p:spPr>
        <p:txBody>
          <a:bodyPr wrap="square" lIns="0" rIns="0" tIns="0" bIns="0" anchor="ctr">
            <a:noAutofit/>
          </a:bodyPr>
          <a:lstStyle/>
          <a:p>
            <a:pPr algn="l">
              <a:spcBef>
                <a:spcPts val="0"/>
              </a:spcBef>
              <a:spcAft>
                <a:spcPts val="0"/>
              </a:spcAft>
            </a:pPr>
            <a:r>
              <a:rPr sz="3000" b="1" i="0">
                <a:solidFill>
                  <a:srgbClr val="10263F"/>
                </a:solidFill>
                <a:latin typeface="Georgia"/>
              </a:rPr>
              <a:t>Demo</a:t>
            </a:r>
          </a:p>
        </p:txBody>
      </p:sp>
      <p:cxnSp>
        <p:nvCxnSpPr>
          <p:cNvPr id="8" name="Connector 7"/>
          <p:cNvCxnSpPr/>
          <p:nvPr/>
        </p:nvCxnSpPr>
        <p:spPr>
          <a:xfrm>
            <a:off x="640080" y="1335024"/>
            <a:ext cx="10908792" cy="0"/>
          </a:xfrm>
          <a:prstGeom prst="line">
            <a:avLst/>
          </a:prstGeom>
          <a:ln w="15875">
            <a:solidFill>
              <a:srgbClr val="9AA5AE"/>
            </a:solidFill>
            <a:prstDash val="dash"/>
          </a:ln>
        </p:spPr>
      </p:cxnSp>
      <p:pic>
        <p:nvPicPr>
          <p:cNvPr id="9" name="Picture 8" descr="wave_band.png"/>
          <p:cNvPicPr>
            <a:picLocks noChangeAspect="1"/>
          </p:cNvPicPr>
          <p:nvPr/>
        </p:nvPicPr>
        <p:blipFill>
          <a:blip r:embed="rId2"/>
          <a:stretch>
            <a:fillRect/>
          </a:stretch>
        </p:blipFill>
        <p:spPr>
          <a:xfrm>
            <a:off x="0" y="6355080"/>
            <a:ext cx="12191695" cy="502845"/>
          </a:xfrm>
          <a:prstGeom prst="rect">
            <a:avLst/>
          </a:prstGeom>
        </p:spPr>
      </p:pic>
      <p:pic>
        <p:nvPicPr>
          <p:cNvPr id="10" name="Picture 9" descr="tug_small.png"/>
          <p:cNvPicPr>
            <a:picLocks noChangeAspect="1"/>
          </p:cNvPicPr>
          <p:nvPr/>
        </p:nvPicPr>
        <p:blipFill>
          <a:blip r:embed="rId3"/>
          <a:stretch>
            <a:fillRect/>
          </a:stretch>
        </p:blipFill>
        <p:spPr>
          <a:xfrm>
            <a:off x="9491472" y="6078380"/>
            <a:ext cx="566928" cy="450436"/>
          </a:xfrm>
          <a:prstGeom prst="rect">
            <a:avLst/>
          </a:prstGeom>
        </p:spPr>
      </p:pic>
      <p:sp>
        <p:nvSpPr>
          <p:cNvPr id="11" name="TextBox 10"/>
          <p:cNvSpPr txBox="1"/>
          <p:nvPr/>
        </p:nvSpPr>
        <p:spPr>
          <a:xfrm>
            <a:off x="640080" y="6126480"/>
            <a:ext cx="2743200" cy="228600"/>
          </a:xfrm>
          <a:prstGeom prst="rect">
            <a:avLst/>
          </a:prstGeom>
          <a:noFill/>
        </p:spPr>
        <p:txBody>
          <a:bodyPr wrap="square" lIns="0" rIns="0" tIns="0" bIns="0" anchor="ctr">
            <a:noAutofit/>
          </a:bodyPr>
          <a:lstStyle/>
          <a:p>
            <a:pPr algn="l">
              <a:spcBef>
                <a:spcPts val="0"/>
              </a:spcBef>
              <a:spcAft>
                <a:spcPts val="0"/>
              </a:spcAft>
            </a:pPr>
            <a:r>
              <a:rPr sz="1000" b="0" i="0">
                <a:solidFill>
                  <a:srgbClr val="7E8A97"/>
                </a:solidFill>
                <a:latin typeface="Arial"/>
              </a:rPr>
              <a:t>Tugboat   10 / 12</a:t>
            </a:r>
          </a:p>
        </p:txBody>
      </p:sp>
      <p:sp>
        <p:nvSpPr>
          <p:cNvPr id="12" name="Rounded Rectangle 11"/>
          <p:cNvSpPr/>
          <p:nvPr/>
        </p:nvSpPr>
        <p:spPr>
          <a:xfrm>
            <a:off x="640080" y="1691640"/>
            <a:ext cx="457200" cy="457200"/>
          </a:xfrm>
          <a:prstGeom prst="roundRect">
            <a:avLst>
              <a:gd name="adj" fmla="val 10000"/>
            </a:avLst>
          </a:prstGeom>
          <a:solidFill>
            <a:srgbClr val="C8472D"/>
          </a:solidFill>
          <a:ln w="19050">
            <a:solidFill>
              <a:srgbClr val="10263F"/>
            </a:solidFill>
          </a:ln>
        </p:spPr>
        <p:txBody>
          <a:bodyPr rtlCol="0" anchor="ctr"/>
          <a:lstStyle/>
          <a:p>
            <a:pPr algn="ctr"/>
          </a:p>
        </p:txBody>
      </p:sp>
      <p:sp>
        <p:nvSpPr>
          <p:cNvPr id="13" name="TextBox 12"/>
          <p:cNvSpPr txBox="1"/>
          <p:nvPr/>
        </p:nvSpPr>
        <p:spPr>
          <a:xfrm>
            <a:off x="640080" y="1691640"/>
            <a:ext cx="457200" cy="457200"/>
          </a:xfrm>
          <a:prstGeom prst="rect">
            <a:avLst/>
          </a:prstGeom>
          <a:noFill/>
        </p:spPr>
        <p:txBody>
          <a:bodyPr wrap="square" lIns="0" rIns="0" tIns="0" bIns="0" anchor="ctr">
            <a:noAutofit/>
          </a:bodyPr>
          <a:lstStyle/>
          <a:p>
            <a:pPr algn="ctr">
              <a:spcBef>
                <a:spcPts val="0"/>
              </a:spcBef>
              <a:spcAft>
                <a:spcPts val="0"/>
              </a:spcAft>
            </a:pPr>
            <a:r>
              <a:rPr sz="1800" b="1" i="0">
                <a:solidFill>
                  <a:srgbClr val="FFFFFF"/>
                </a:solidFill>
                <a:latin typeface="Georgia"/>
              </a:rPr>
              <a:t>1</a:t>
            </a:r>
          </a:p>
        </p:txBody>
      </p:sp>
      <p:sp>
        <p:nvSpPr>
          <p:cNvPr id="14" name="TextBox 13"/>
          <p:cNvSpPr txBox="1"/>
          <p:nvPr/>
        </p:nvSpPr>
        <p:spPr>
          <a:xfrm>
            <a:off x="1325880" y="1554480"/>
            <a:ext cx="5257800" cy="731520"/>
          </a:xfrm>
          <a:prstGeom prst="rect">
            <a:avLst/>
          </a:prstGeom>
          <a:noFill/>
        </p:spPr>
        <p:txBody>
          <a:bodyPr wrap="square" lIns="0" rIns="0" tIns="0" bIns="0" anchor="ctr">
            <a:noAutofit/>
          </a:bodyPr>
          <a:lstStyle/>
          <a:p>
            <a:pPr algn="l">
              <a:lnSpc>
                <a:spcPct val="112000"/>
              </a:lnSpc>
              <a:spcBef>
                <a:spcPts val="0"/>
              </a:spcBef>
              <a:spcAft>
                <a:spcPts val="0"/>
              </a:spcAft>
            </a:pPr>
            <a:r>
              <a:rPr sz="1600" b="0" i="0">
                <a:solidFill>
                  <a:srgbClr val="10263F"/>
                </a:solidFill>
                <a:latin typeface="Arial"/>
              </a:rPr>
              <a:t>Sign in with GitHub.</a:t>
            </a:r>
          </a:p>
        </p:txBody>
      </p:sp>
      <p:sp>
        <p:nvSpPr>
          <p:cNvPr id="15" name="Rectangle 14"/>
          <p:cNvSpPr/>
          <p:nvPr/>
        </p:nvSpPr>
        <p:spPr>
          <a:xfrm>
            <a:off x="640080" y="2286000"/>
            <a:ext cx="5943600" cy="10972"/>
          </a:xfrm>
          <a:prstGeom prst="rect">
            <a:avLst/>
          </a:prstGeom>
          <a:solidFill>
            <a:srgbClr val="C4CBD0"/>
          </a:solidFill>
          <a:ln>
            <a:noFill/>
          </a:ln>
        </p:spPr>
        <p:txBody>
          <a:bodyPr rtlCol="0" anchor="ctr"/>
          <a:lstStyle/>
          <a:p>
            <a:pPr algn="ctr"/>
          </a:p>
        </p:txBody>
      </p:sp>
      <p:sp>
        <p:nvSpPr>
          <p:cNvPr id="16" name="Rounded Rectangle 15"/>
          <p:cNvSpPr/>
          <p:nvPr/>
        </p:nvSpPr>
        <p:spPr>
          <a:xfrm>
            <a:off x="640080" y="2423160"/>
            <a:ext cx="457200" cy="457200"/>
          </a:xfrm>
          <a:prstGeom prst="roundRect">
            <a:avLst>
              <a:gd name="adj" fmla="val 10000"/>
            </a:avLst>
          </a:prstGeom>
          <a:solidFill>
            <a:srgbClr val="E9B93A"/>
          </a:solidFill>
          <a:ln w="19050">
            <a:solidFill>
              <a:srgbClr val="10263F"/>
            </a:solidFill>
          </a:ln>
        </p:spPr>
        <p:txBody>
          <a:bodyPr rtlCol="0" anchor="ctr"/>
          <a:lstStyle/>
          <a:p>
            <a:pPr algn="ctr"/>
          </a:p>
        </p:txBody>
      </p:sp>
      <p:sp>
        <p:nvSpPr>
          <p:cNvPr id="17" name="TextBox 16"/>
          <p:cNvSpPr txBox="1"/>
          <p:nvPr/>
        </p:nvSpPr>
        <p:spPr>
          <a:xfrm>
            <a:off x="640080" y="2423160"/>
            <a:ext cx="457200" cy="457200"/>
          </a:xfrm>
          <a:prstGeom prst="rect">
            <a:avLst/>
          </a:prstGeom>
          <a:noFill/>
        </p:spPr>
        <p:txBody>
          <a:bodyPr wrap="square" lIns="0" rIns="0" tIns="0" bIns="0" anchor="ctr">
            <a:noAutofit/>
          </a:bodyPr>
          <a:lstStyle/>
          <a:p>
            <a:pPr algn="ctr">
              <a:spcBef>
                <a:spcPts val="0"/>
              </a:spcBef>
              <a:spcAft>
                <a:spcPts val="0"/>
              </a:spcAft>
            </a:pPr>
            <a:r>
              <a:rPr sz="1800" b="1" i="0">
                <a:solidFill>
                  <a:srgbClr val="10263F"/>
                </a:solidFill>
                <a:latin typeface="Georgia"/>
              </a:rPr>
              <a:t>2</a:t>
            </a:r>
          </a:p>
        </p:txBody>
      </p:sp>
      <p:sp>
        <p:nvSpPr>
          <p:cNvPr id="18" name="TextBox 17"/>
          <p:cNvSpPr txBox="1"/>
          <p:nvPr/>
        </p:nvSpPr>
        <p:spPr>
          <a:xfrm>
            <a:off x="1325880" y="2286000"/>
            <a:ext cx="5257800" cy="731520"/>
          </a:xfrm>
          <a:prstGeom prst="rect">
            <a:avLst/>
          </a:prstGeom>
          <a:noFill/>
        </p:spPr>
        <p:txBody>
          <a:bodyPr wrap="square" lIns="0" rIns="0" tIns="0" bIns="0" anchor="ctr">
            <a:noAutofit/>
          </a:bodyPr>
          <a:lstStyle/>
          <a:p>
            <a:pPr algn="l">
              <a:lnSpc>
                <a:spcPct val="112000"/>
              </a:lnSpc>
              <a:spcBef>
                <a:spcPts val="0"/>
              </a:spcBef>
              <a:spcAft>
                <a:spcPts val="0"/>
              </a:spcAft>
            </a:pPr>
            <a:r>
              <a:rPr sz="1600" b="0" i="0">
                <a:solidFill>
                  <a:srgbClr val="10263F"/>
                </a:solidFill>
                <a:latin typeface="Arial"/>
              </a:rPr>
              <a:t>Link tugboat-cookie-clicker. It deploys right away.</a:t>
            </a:r>
          </a:p>
        </p:txBody>
      </p:sp>
      <p:sp>
        <p:nvSpPr>
          <p:cNvPr id="19" name="Rectangle 18"/>
          <p:cNvSpPr/>
          <p:nvPr/>
        </p:nvSpPr>
        <p:spPr>
          <a:xfrm>
            <a:off x="640080" y="3017520"/>
            <a:ext cx="5943600" cy="10972"/>
          </a:xfrm>
          <a:prstGeom prst="rect">
            <a:avLst/>
          </a:prstGeom>
          <a:solidFill>
            <a:srgbClr val="C4CBD0"/>
          </a:solidFill>
          <a:ln>
            <a:noFill/>
          </a:ln>
        </p:spPr>
        <p:txBody>
          <a:bodyPr rtlCol="0" anchor="ctr"/>
          <a:lstStyle/>
          <a:p>
            <a:pPr algn="ctr"/>
          </a:p>
        </p:txBody>
      </p:sp>
      <p:sp>
        <p:nvSpPr>
          <p:cNvPr id="20" name="Rounded Rectangle 19"/>
          <p:cNvSpPr/>
          <p:nvPr/>
        </p:nvSpPr>
        <p:spPr>
          <a:xfrm>
            <a:off x="640080" y="3154679"/>
            <a:ext cx="457200" cy="457200"/>
          </a:xfrm>
          <a:prstGeom prst="roundRect">
            <a:avLst>
              <a:gd name="adj" fmla="val 10000"/>
            </a:avLst>
          </a:prstGeom>
          <a:solidFill>
            <a:srgbClr val="2F8F83"/>
          </a:solidFill>
          <a:ln w="19050">
            <a:solidFill>
              <a:srgbClr val="10263F"/>
            </a:solidFill>
          </a:ln>
        </p:spPr>
        <p:txBody>
          <a:bodyPr rtlCol="0" anchor="ctr"/>
          <a:lstStyle/>
          <a:p>
            <a:pPr algn="ctr"/>
          </a:p>
        </p:txBody>
      </p:sp>
      <p:sp>
        <p:nvSpPr>
          <p:cNvPr id="21" name="TextBox 20"/>
          <p:cNvSpPr txBox="1"/>
          <p:nvPr/>
        </p:nvSpPr>
        <p:spPr>
          <a:xfrm>
            <a:off x="640080" y="3154679"/>
            <a:ext cx="457200" cy="457200"/>
          </a:xfrm>
          <a:prstGeom prst="rect">
            <a:avLst/>
          </a:prstGeom>
          <a:noFill/>
        </p:spPr>
        <p:txBody>
          <a:bodyPr wrap="square" lIns="0" rIns="0" tIns="0" bIns="0" anchor="ctr">
            <a:noAutofit/>
          </a:bodyPr>
          <a:lstStyle/>
          <a:p>
            <a:pPr algn="ctr">
              <a:spcBef>
                <a:spcPts val="0"/>
              </a:spcBef>
              <a:spcAft>
                <a:spcPts val="0"/>
              </a:spcAft>
            </a:pPr>
            <a:r>
              <a:rPr sz="1800" b="1" i="0">
                <a:solidFill>
                  <a:srgbClr val="FFFFFF"/>
                </a:solidFill>
                <a:latin typeface="Georgia"/>
              </a:rPr>
              <a:t>3</a:t>
            </a:r>
          </a:p>
        </p:txBody>
      </p:sp>
      <p:sp>
        <p:nvSpPr>
          <p:cNvPr id="22" name="TextBox 21"/>
          <p:cNvSpPr txBox="1"/>
          <p:nvPr/>
        </p:nvSpPr>
        <p:spPr>
          <a:xfrm>
            <a:off x="1325880" y="3017520"/>
            <a:ext cx="5257800" cy="731520"/>
          </a:xfrm>
          <a:prstGeom prst="rect">
            <a:avLst/>
          </a:prstGeom>
          <a:noFill/>
        </p:spPr>
        <p:txBody>
          <a:bodyPr wrap="square" lIns="0" rIns="0" tIns="0" bIns="0" anchor="ctr">
            <a:noAutofit/>
          </a:bodyPr>
          <a:lstStyle/>
          <a:p>
            <a:pPr algn="l">
              <a:lnSpc>
                <a:spcPct val="112000"/>
              </a:lnSpc>
              <a:spcBef>
                <a:spcPts val="0"/>
              </a:spcBef>
              <a:spcAft>
                <a:spcPts val="0"/>
              </a:spcAft>
            </a:pPr>
            <a:r>
              <a:rPr sz="1600" b="0" i="0">
                <a:solidFill>
                  <a:srgbClr val="10263F"/>
                </a:solidFill>
                <a:latin typeface="Arial"/>
              </a:rPr>
              <a:t>Open the deployment and watch the build log stream.</a:t>
            </a:r>
          </a:p>
        </p:txBody>
      </p:sp>
      <p:sp>
        <p:nvSpPr>
          <p:cNvPr id="23" name="Rectangle 22"/>
          <p:cNvSpPr/>
          <p:nvPr/>
        </p:nvSpPr>
        <p:spPr>
          <a:xfrm>
            <a:off x="640080" y="3749040"/>
            <a:ext cx="5943600" cy="10972"/>
          </a:xfrm>
          <a:prstGeom prst="rect">
            <a:avLst/>
          </a:prstGeom>
          <a:solidFill>
            <a:srgbClr val="C4CBD0"/>
          </a:solidFill>
          <a:ln>
            <a:noFill/>
          </a:ln>
        </p:spPr>
        <p:txBody>
          <a:bodyPr rtlCol="0" anchor="ctr"/>
          <a:lstStyle/>
          <a:p>
            <a:pPr algn="ctr"/>
          </a:p>
        </p:txBody>
      </p:sp>
      <p:sp>
        <p:nvSpPr>
          <p:cNvPr id="24" name="Rounded Rectangle 23"/>
          <p:cNvSpPr/>
          <p:nvPr/>
        </p:nvSpPr>
        <p:spPr>
          <a:xfrm>
            <a:off x="640080" y="3886200"/>
            <a:ext cx="457200" cy="457200"/>
          </a:xfrm>
          <a:prstGeom prst="roundRect">
            <a:avLst>
              <a:gd name="adj" fmla="val 10000"/>
            </a:avLst>
          </a:prstGeom>
          <a:solidFill>
            <a:srgbClr val="E58A2B"/>
          </a:solidFill>
          <a:ln w="19050">
            <a:solidFill>
              <a:srgbClr val="10263F"/>
            </a:solidFill>
          </a:ln>
        </p:spPr>
        <p:txBody>
          <a:bodyPr rtlCol="0" anchor="ctr"/>
          <a:lstStyle/>
          <a:p>
            <a:pPr algn="ctr"/>
          </a:p>
        </p:txBody>
      </p:sp>
      <p:sp>
        <p:nvSpPr>
          <p:cNvPr id="25" name="TextBox 24"/>
          <p:cNvSpPr txBox="1"/>
          <p:nvPr/>
        </p:nvSpPr>
        <p:spPr>
          <a:xfrm>
            <a:off x="640080" y="3886200"/>
            <a:ext cx="457200" cy="457200"/>
          </a:xfrm>
          <a:prstGeom prst="rect">
            <a:avLst/>
          </a:prstGeom>
          <a:noFill/>
        </p:spPr>
        <p:txBody>
          <a:bodyPr wrap="square" lIns="0" rIns="0" tIns="0" bIns="0" anchor="ctr">
            <a:noAutofit/>
          </a:bodyPr>
          <a:lstStyle/>
          <a:p>
            <a:pPr algn="ctr">
              <a:spcBef>
                <a:spcPts val="0"/>
              </a:spcBef>
              <a:spcAft>
                <a:spcPts val="0"/>
              </a:spcAft>
            </a:pPr>
            <a:r>
              <a:rPr sz="1800" b="1" i="0">
                <a:solidFill>
                  <a:srgbClr val="10263F"/>
                </a:solidFill>
                <a:latin typeface="Georgia"/>
              </a:rPr>
              <a:t>4</a:t>
            </a:r>
          </a:p>
        </p:txBody>
      </p:sp>
      <p:sp>
        <p:nvSpPr>
          <p:cNvPr id="26" name="TextBox 25"/>
          <p:cNvSpPr txBox="1"/>
          <p:nvPr/>
        </p:nvSpPr>
        <p:spPr>
          <a:xfrm>
            <a:off x="1325880" y="3749040"/>
            <a:ext cx="5257800" cy="731520"/>
          </a:xfrm>
          <a:prstGeom prst="rect">
            <a:avLst/>
          </a:prstGeom>
          <a:noFill/>
        </p:spPr>
        <p:txBody>
          <a:bodyPr wrap="square" lIns="0" rIns="0" tIns="0" bIns="0" anchor="ctr">
            <a:noAutofit/>
          </a:bodyPr>
          <a:lstStyle/>
          <a:p>
            <a:pPr algn="l">
              <a:lnSpc>
                <a:spcPct val="112000"/>
              </a:lnSpc>
              <a:spcBef>
                <a:spcPts val="0"/>
              </a:spcBef>
              <a:spcAft>
                <a:spcPts val="0"/>
              </a:spcAft>
            </a:pPr>
            <a:r>
              <a:rPr sz="1600" b="0" i="0">
                <a:solidFill>
                  <a:srgbClr val="10263F"/>
                </a:solidFill>
                <a:latin typeface="Arial"/>
              </a:rPr>
              <a:t>Open the preview URL.</a:t>
            </a:r>
          </a:p>
        </p:txBody>
      </p:sp>
      <p:sp>
        <p:nvSpPr>
          <p:cNvPr id="27" name="Rectangle 26"/>
          <p:cNvSpPr/>
          <p:nvPr/>
        </p:nvSpPr>
        <p:spPr>
          <a:xfrm>
            <a:off x="640080" y="4480560"/>
            <a:ext cx="5943600" cy="10972"/>
          </a:xfrm>
          <a:prstGeom prst="rect">
            <a:avLst/>
          </a:prstGeom>
          <a:solidFill>
            <a:srgbClr val="C4CBD0"/>
          </a:solidFill>
          <a:ln>
            <a:noFill/>
          </a:ln>
        </p:spPr>
        <p:txBody>
          <a:bodyPr rtlCol="0" anchor="ctr"/>
          <a:lstStyle/>
          <a:p>
            <a:pPr algn="ctr"/>
          </a:p>
        </p:txBody>
      </p:sp>
      <p:sp>
        <p:nvSpPr>
          <p:cNvPr id="28" name="Rounded Rectangle 27"/>
          <p:cNvSpPr/>
          <p:nvPr/>
        </p:nvSpPr>
        <p:spPr>
          <a:xfrm>
            <a:off x="640080" y="4617720"/>
            <a:ext cx="457200" cy="457200"/>
          </a:xfrm>
          <a:prstGeom prst="roundRect">
            <a:avLst>
              <a:gd name="adj" fmla="val 10000"/>
            </a:avLst>
          </a:prstGeom>
          <a:solidFill>
            <a:srgbClr val="2B6CA3"/>
          </a:solidFill>
          <a:ln w="19050">
            <a:solidFill>
              <a:srgbClr val="10263F"/>
            </a:solidFill>
          </a:ln>
        </p:spPr>
        <p:txBody>
          <a:bodyPr rtlCol="0" anchor="ctr"/>
          <a:lstStyle/>
          <a:p>
            <a:pPr algn="ctr"/>
          </a:p>
        </p:txBody>
      </p:sp>
      <p:sp>
        <p:nvSpPr>
          <p:cNvPr id="29" name="TextBox 28"/>
          <p:cNvSpPr txBox="1"/>
          <p:nvPr/>
        </p:nvSpPr>
        <p:spPr>
          <a:xfrm>
            <a:off x="640080" y="4617720"/>
            <a:ext cx="457200" cy="457200"/>
          </a:xfrm>
          <a:prstGeom prst="rect">
            <a:avLst/>
          </a:prstGeom>
          <a:noFill/>
        </p:spPr>
        <p:txBody>
          <a:bodyPr wrap="square" lIns="0" rIns="0" tIns="0" bIns="0" anchor="ctr">
            <a:noAutofit/>
          </a:bodyPr>
          <a:lstStyle/>
          <a:p>
            <a:pPr algn="ctr">
              <a:spcBef>
                <a:spcPts val="0"/>
              </a:spcBef>
              <a:spcAft>
                <a:spcPts val="0"/>
              </a:spcAft>
            </a:pPr>
            <a:r>
              <a:rPr sz="1800" b="1" i="0">
                <a:solidFill>
                  <a:srgbClr val="FFFFFF"/>
                </a:solidFill>
                <a:latin typeface="Georgia"/>
              </a:rPr>
              <a:t>5</a:t>
            </a:r>
          </a:p>
        </p:txBody>
      </p:sp>
      <p:sp>
        <p:nvSpPr>
          <p:cNvPr id="30" name="TextBox 29"/>
          <p:cNvSpPr txBox="1"/>
          <p:nvPr/>
        </p:nvSpPr>
        <p:spPr>
          <a:xfrm>
            <a:off x="1325880" y="4480560"/>
            <a:ext cx="5257800" cy="731520"/>
          </a:xfrm>
          <a:prstGeom prst="rect">
            <a:avLst/>
          </a:prstGeom>
          <a:noFill/>
        </p:spPr>
        <p:txBody>
          <a:bodyPr wrap="square" lIns="0" rIns="0" tIns="0" bIns="0" anchor="ctr">
            <a:noAutofit/>
          </a:bodyPr>
          <a:lstStyle/>
          <a:p>
            <a:pPr algn="l">
              <a:lnSpc>
                <a:spcPct val="112000"/>
              </a:lnSpc>
              <a:spcBef>
                <a:spcPts val="0"/>
              </a:spcBef>
              <a:spcAft>
                <a:spcPts val="0"/>
              </a:spcAft>
            </a:pPr>
            <a:r>
              <a:rPr sz="1600" b="0" i="0">
                <a:solidFill>
                  <a:srgbClr val="10263F"/>
                </a:solidFill>
                <a:latin typeface="Arial"/>
              </a:rPr>
              <a:t>Push a commit to main and watch production swap.</a:t>
            </a:r>
          </a:p>
        </p:txBody>
      </p:sp>
      <p:sp>
        <p:nvSpPr>
          <p:cNvPr id="31" name="Rectangle 30"/>
          <p:cNvSpPr/>
          <p:nvPr/>
        </p:nvSpPr>
        <p:spPr>
          <a:xfrm>
            <a:off x="640080" y="5212080"/>
            <a:ext cx="5943600" cy="10972"/>
          </a:xfrm>
          <a:prstGeom prst="rect">
            <a:avLst/>
          </a:prstGeom>
          <a:solidFill>
            <a:srgbClr val="C4CBD0"/>
          </a:solidFill>
          <a:ln>
            <a:noFill/>
          </a:ln>
        </p:spPr>
        <p:txBody>
          <a:bodyPr rtlCol="0" anchor="ctr"/>
          <a:lstStyle/>
          <a:p>
            <a:pPr algn="ctr"/>
          </a:p>
        </p:txBody>
      </p:sp>
      <p:sp>
        <p:nvSpPr>
          <p:cNvPr id="32" name="Rounded Rectangle 31"/>
          <p:cNvSpPr/>
          <p:nvPr/>
        </p:nvSpPr>
        <p:spPr>
          <a:xfrm>
            <a:off x="640080" y="5349240"/>
            <a:ext cx="457200" cy="457200"/>
          </a:xfrm>
          <a:prstGeom prst="roundRect">
            <a:avLst>
              <a:gd name="adj" fmla="val 10000"/>
            </a:avLst>
          </a:prstGeom>
          <a:solidFill>
            <a:srgbClr val="C8472D"/>
          </a:solidFill>
          <a:ln w="19050">
            <a:solidFill>
              <a:srgbClr val="10263F"/>
            </a:solidFill>
          </a:ln>
        </p:spPr>
        <p:txBody>
          <a:bodyPr rtlCol="0" anchor="ctr"/>
          <a:lstStyle/>
          <a:p>
            <a:pPr algn="ctr"/>
          </a:p>
        </p:txBody>
      </p:sp>
      <p:sp>
        <p:nvSpPr>
          <p:cNvPr id="33" name="TextBox 32"/>
          <p:cNvSpPr txBox="1"/>
          <p:nvPr/>
        </p:nvSpPr>
        <p:spPr>
          <a:xfrm>
            <a:off x="640080" y="5349240"/>
            <a:ext cx="457200" cy="457200"/>
          </a:xfrm>
          <a:prstGeom prst="rect">
            <a:avLst/>
          </a:prstGeom>
          <a:noFill/>
        </p:spPr>
        <p:txBody>
          <a:bodyPr wrap="square" lIns="0" rIns="0" tIns="0" bIns="0" anchor="ctr">
            <a:noAutofit/>
          </a:bodyPr>
          <a:lstStyle/>
          <a:p>
            <a:pPr algn="ctr">
              <a:spcBef>
                <a:spcPts val="0"/>
              </a:spcBef>
              <a:spcAft>
                <a:spcPts val="0"/>
              </a:spcAft>
            </a:pPr>
            <a:r>
              <a:rPr sz="1800" b="1" i="0">
                <a:solidFill>
                  <a:srgbClr val="FFFFFF"/>
                </a:solidFill>
                <a:latin typeface="Georgia"/>
              </a:rPr>
              <a:t>6</a:t>
            </a:r>
          </a:p>
        </p:txBody>
      </p:sp>
      <p:sp>
        <p:nvSpPr>
          <p:cNvPr id="34" name="TextBox 33"/>
          <p:cNvSpPr txBox="1"/>
          <p:nvPr/>
        </p:nvSpPr>
        <p:spPr>
          <a:xfrm>
            <a:off x="1325880" y="5212080"/>
            <a:ext cx="5257800" cy="731520"/>
          </a:xfrm>
          <a:prstGeom prst="rect">
            <a:avLst/>
          </a:prstGeom>
          <a:noFill/>
        </p:spPr>
        <p:txBody>
          <a:bodyPr wrap="square" lIns="0" rIns="0" tIns="0" bIns="0" anchor="ctr">
            <a:noAutofit/>
          </a:bodyPr>
          <a:lstStyle/>
          <a:p>
            <a:pPr algn="l">
              <a:lnSpc>
                <a:spcPct val="112000"/>
              </a:lnSpc>
              <a:spcBef>
                <a:spcPts val="0"/>
              </a:spcBef>
              <a:spcAft>
                <a:spcPts val="0"/>
              </a:spcAft>
            </a:pPr>
            <a:r>
              <a:rPr sz="1600" b="0" i="0">
                <a:solidFill>
                  <a:srgbClr val="10263F"/>
                </a:solidFill>
                <a:latin typeface="Arial"/>
              </a:rPr>
              <a:t>Click Rollback, then unlink the project to clean up.</a:t>
            </a:r>
          </a:p>
        </p:txBody>
      </p:sp>
      <p:sp>
        <p:nvSpPr>
          <p:cNvPr id="35" name="Rounded Rectangle 34"/>
          <p:cNvSpPr/>
          <p:nvPr/>
        </p:nvSpPr>
        <p:spPr>
          <a:xfrm>
            <a:off x="7104888" y="1755648"/>
            <a:ext cx="4507992" cy="1463040"/>
          </a:xfrm>
          <a:prstGeom prst="roundRect">
            <a:avLst>
              <a:gd name="adj" fmla="val 2500"/>
            </a:avLst>
          </a:prstGeom>
          <a:solidFill>
            <a:srgbClr val="8FA3B5"/>
          </a:solidFill>
          <a:ln>
            <a:noFill/>
          </a:ln>
        </p:spPr>
        <p:txBody>
          <a:bodyPr rtlCol="0" anchor="ctr"/>
          <a:lstStyle/>
          <a:p>
            <a:pPr algn="ctr"/>
          </a:p>
        </p:txBody>
      </p:sp>
      <p:sp>
        <p:nvSpPr>
          <p:cNvPr id="36" name="Rounded Rectangle 35"/>
          <p:cNvSpPr/>
          <p:nvPr/>
        </p:nvSpPr>
        <p:spPr>
          <a:xfrm>
            <a:off x="7040880" y="1691640"/>
            <a:ext cx="4507992" cy="1463040"/>
          </a:xfrm>
          <a:prstGeom prst="roundRect">
            <a:avLst>
              <a:gd name="adj" fmla="val 2500"/>
            </a:avLst>
          </a:prstGeom>
          <a:solidFill>
            <a:srgbClr val="10263F"/>
          </a:solidFill>
          <a:ln w="22225">
            <a:solidFill>
              <a:srgbClr val="10263F"/>
            </a:solidFill>
          </a:ln>
        </p:spPr>
        <p:txBody>
          <a:bodyPr rtlCol="0" anchor="ctr"/>
          <a:lstStyle/>
          <a:p>
            <a:pPr algn="ctr"/>
          </a:p>
        </p:txBody>
      </p:sp>
      <p:sp>
        <p:nvSpPr>
          <p:cNvPr id="37" name="TextBox 36"/>
          <p:cNvSpPr txBox="1"/>
          <p:nvPr/>
        </p:nvSpPr>
        <p:spPr>
          <a:xfrm>
            <a:off x="7315200" y="1901952"/>
            <a:ext cx="4023360" cy="1097280"/>
          </a:xfrm>
          <a:prstGeom prst="rect">
            <a:avLst/>
          </a:prstGeom>
          <a:noFill/>
        </p:spPr>
        <p:txBody>
          <a:bodyPr wrap="square" lIns="0" rIns="0" tIns="0" bIns="0" anchor="t">
            <a:noAutofit/>
          </a:bodyPr>
          <a:lstStyle/>
          <a:p>
            <a:pPr algn="l">
              <a:spcBef>
                <a:spcPts val="0"/>
              </a:spcBef>
              <a:spcAft>
                <a:spcPts val="400"/>
              </a:spcAft>
            </a:pPr>
            <a:r>
              <a:rPr sz="1400" b="0" i="0">
                <a:solidFill>
                  <a:srgbClr val="8FA3B5"/>
                </a:solidFill>
                <a:latin typeface="Courier New"/>
              </a:rPr>
              <a:t>$ </a:t>
            </a:r>
            <a:r>
              <a:rPr sz="1400" b="0" i="0">
                <a:solidFill>
                  <a:srgbClr val="FFFFFF"/>
                </a:solidFill>
                <a:latin typeface="Courier New"/>
              </a:rPr>
              <a:t>cd control-plane</a:t>
            </a:r>
          </a:p>
          <a:p>
            <a:pPr algn="l">
              <a:spcBef>
                <a:spcPts val="0"/>
              </a:spcBef>
              <a:spcAft>
                <a:spcPts val="1000"/>
              </a:spcAft>
            </a:pPr>
            <a:r>
              <a:rPr sz="1400" b="0" i="0">
                <a:solidFill>
                  <a:srgbClr val="8FA3B5"/>
                </a:solidFill>
                <a:latin typeface="Courier New"/>
              </a:rPr>
              <a:t>$ </a:t>
            </a:r>
            <a:r>
              <a:rPr sz="1400" b="0" i="0">
                <a:solidFill>
                  <a:srgbClr val="FFFFFF"/>
                </a:solidFill>
                <a:latin typeface="Courier New"/>
              </a:rPr>
              <a:t>npm start</a:t>
            </a:r>
          </a:p>
          <a:p>
            <a:pPr algn="l">
              <a:spcBef>
                <a:spcPts val="0"/>
              </a:spcBef>
              <a:spcAft>
                <a:spcPts val="0"/>
              </a:spcAft>
            </a:pPr>
            <a:r>
              <a:rPr sz="1400" b="0" i="0">
                <a:solidFill>
                  <a:srgbClr val="8FA3B5"/>
                </a:solidFill>
                <a:latin typeface="Courier New"/>
              </a:rPr>
              <a:t>open </a:t>
            </a:r>
            <a:r>
              <a:rPr sz="1400" b="0" i="0">
                <a:solidFill>
                  <a:srgbClr val="8AB4F8"/>
                </a:solidFill>
                <a:latin typeface="Courier New"/>
              </a:rPr>
              <a:t>http://localhost:4000</a:t>
            </a:r>
          </a:p>
        </p:txBody>
      </p:sp>
      <p:sp>
        <p:nvSpPr>
          <p:cNvPr id="38" name="TextBox 37"/>
          <p:cNvSpPr txBox="1"/>
          <p:nvPr/>
        </p:nvSpPr>
        <p:spPr>
          <a:xfrm>
            <a:off x="7040880" y="3611880"/>
            <a:ext cx="4480560" cy="274320"/>
          </a:xfrm>
          <a:prstGeom prst="rect">
            <a:avLst/>
          </a:prstGeom>
          <a:noFill/>
        </p:spPr>
        <p:txBody>
          <a:bodyPr wrap="square" lIns="0" rIns="0" tIns="0" bIns="0" anchor="t">
            <a:noAutofit/>
          </a:bodyPr>
          <a:lstStyle/>
          <a:p>
            <a:pPr algn="l">
              <a:spcBef>
                <a:spcPts val="0"/>
              </a:spcBef>
              <a:spcAft>
                <a:spcPts val="0"/>
              </a:spcAft>
            </a:pPr>
            <a:r>
              <a:rPr sz="1400" b="1" i="0">
                <a:solidFill>
                  <a:srgbClr val="10263F"/>
                </a:solidFill>
                <a:latin typeface="Georgia"/>
              </a:rPr>
              <a:t>Before starting</a:t>
            </a:r>
          </a:p>
        </p:txBody>
      </p:sp>
      <p:sp>
        <p:nvSpPr>
          <p:cNvPr id="39" name="Rectangle 38"/>
          <p:cNvSpPr/>
          <p:nvPr/>
        </p:nvSpPr>
        <p:spPr>
          <a:xfrm>
            <a:off x="7040880" y="4023360"/>
            <a:ext cx="4507992" cy="10972"/>
          </a:xfrm>
          <a:prstGeom prst="rect">
            <a:avLst/>
          </a:prstGeom>
          <a:solidFill>
            <a:srgbClr val="C4CBD0"/>
          </a:solidFill>
          <a:ln>
            <a:noFill/>
          </a:ln>
        </p:spPr>
        <p:txBody>
          <a:bodyPr rtlCol="0" anchor="ctr"/>
          <a:lstStyle/>
          <a:p>
            <a:pPr algn="ctr"/>
          </a:p>
        </p:txBody>
      </p:sp>
      <p:sp>
        <p:nvSpPr>
          <p:cNvPr id="40" name="Rectangle 39"/>
          <p:cNvSpPr/>
          <p:nvPr/>
        </p:nvSpPr>
        <p:spPr>
          <a:xfrm>
            <a:off x="7040880" y="4178808"/>
            <a:ext cx="146304" cy="146304"/>
          </a:xfrm>
          <a:prstGeom prst="rect">
            <a:avLst/>
          </a:prstGeom>
          <a:solidFill>
            <a:srgbClr val="2F8F83"/>
          </a:solidFill>
          <a:ln w="12700">
            <a:solidFill>
              <a:srgbClr val="10263F"/>
            </a:solidFill>
          </a:ln>
        </p:spPr>
        <p:txBody>
          <a:bodyPr rtlCol="0" anchor="ctr"/>
          <a:lstStyle/>
          <a:p>
            <a:pPr algn="ctr"/>
          </a:p>
        </p:txBody>
      </p:sp>
      <p:sp>
        <p:nvSpPr>
          <p:cNvPr id="41" name="TextBox 40"/>
          <p:cNvSpPr txBox="1"/>
          <p:nvPr/>
        </p:nvSpPr>
        <p:spPr>
          <a:xfrm>
            <a:off x="7360920" y="4023360"/>
            <a:ext cx="4206240" cy="457200"/>
          </a:xfrm>
          <a:prstGeom prst="rect">
            <a:avLst/>
          </a:prstGeom>
          <a:noFill/>
        </p:spPr>
        <p:txBody>
          <a:bodyPr wrap="square" lIns="0" rIns="0" tIns="0" bIns="0" anchor="ctr">
            <a:noAutofit/>
          </a:bodyPr>
          <a:lstStyle/>
          <a:p>
            <a:pPr algn="l">
              <a:spcBef>
                <a:spcPts val="0"/>
              </a:spcBef>
              <a:spcAft>
                <a:spcPts val="0"/>
              </a:spcAft>
            </a:pPr>
            <a:r>
              <a:rPr sz="1300" b="0" i="0">
                <a:solidFill>
                  <a:srgbClr val="4A5A6B"/>
                </a:solidFill>
                <a:latin typeface="Arial"/>
              </a:rPr>
              <a:t>Docker (OrbStack) is running</a:t>
            </a:r>
          </a:p>
        </p:txBody>
      </p:sp>
      <p:sp>
        <p:nvSpPr>
          <p:cNvPr id="42" name="Rectangle 41"/>
          <p:cNvSpPr/>
          <p:nvPr/>
        </p:nvSpPr>
        <p:spPr>
          <a:xfrm>
            <a:off x="7040880" y="4480560"/>
            <a:ext cx="4507992" cy="10972"/>
          </a:xfrm>
          <a:prstGeom prst="rect">
            <a:avLst/>
          </a:prstGeom>
          <a:solidFill>
            <a:srgbClr val="C4CBD0"/>
          </a:solidFill>
          <a:ln>
            <a:noFill/>
          </a:ln>
        </p:spPr>
        <p:txBody>
          <a:bodyPr rtlCol="0" anchor="ctr"/>
          <a:lstStyle/>
          <a:p>
            <a:pPr algn="ctr"/>
          </a:p>
        </p:txBody>
      </p:sp>
      <p:sp>
        <p:nvSpPr>
          <p:cNvPr id="43" name="Rectangle 42"/>
          <p:cNvSpPr/>
          <p:nvPr/>
        </p:nvSpPr>
        <p:spPr>
          <a:xfrm>
            <a:off x="7040880" y="4636008"/>
            <a:ext cx="146304" cy="146304"/>
          </a:xfrm>
          <a:prstGeom prst="rect">
            <a:avLst/>
          </a:prstGeom>
          <a:solidFill>
            <a:srgbClr val="2F8F83"/>
          </a:solidFill>
          <a:ln w="12700">
            <a:solidFill>
              <a:srgbClr val="10263F"/>
            </a:solidFill>
          </a:ln>
        </p:spPr>
        <p:txBody>
          <a:bodyPr rtlCol="0" anchor="ctr"/>
          <a:lstStyle/>
          <a:p>
            <a:pPr algn="ctr"/>
          </a:p>
        </p:txBody>
      </p:sp>
      <p:sp>
        <p:nvSpPr>
          <p:cNvPr id="44" name="TextBox 43"/>
          <p:cNvSpPr txBox="1"/>
          <p:nvPr/>
        </p:nvSpPr>
        <p:spPr>
          <a:xfrm>
            <a:off x="7360920" y="4480560"/>
            <a:ext cx="4206240" cy="457200"/>
          </a:xfrm>
          <a:prstGeom prst="rect">
            <a:avLst/>
          </a:prstGeom>
          <a:noFill/>
        </p:spPr>
        <p:txBody>
          <a:bodyPr wrap="square" lIns="0" rIns="0" tIns="0" bIns="0" anchor="ctr">
            <a:noAutofit/>
          </a:bodyPr>
          <a:lstStyle/>
          <a:p>
            <a:pPr algn="l">
              <a:spcBef>
                <a:spcPts val="0"/>
              </a:spcBef>
              <a:spcAft>
                <a:spcPts val="0"/>
              </a:spcAft>
            </a:pPr>
            <a:r>
              <a:rPr sz="1300" b="0" i="0">
                <a:solidFill>
                  <a:srgbClr val="4A5A6B"/>
                </a:solidFill>
                <a:latin typeface="Arial"/>
              </a:rPr>
              <a:t>pack and cloudflared are installed</a:t>
            </a:r>
          </a:p>
        </p:txBody>
      </p:sp>
      <p:sp>
        <p:nvSpPr>
          <p:cNvPr id="45" name="Rectangle 44"/>
          <p:cNvSpPr/>
          <p:nvPr/>
        </p:nvSpPr>
        <p:spPr>
          <a:xfrm>
            <a:off x="7040880" y="4937760"/>
            <a:ext cx="4507992" cy="10972"/>
          </a:xfrm>
          <a:prstGeom prst="rect">
            <a:avLst/>
          </a:prstGeom>
          <a:solidFill>
            <a:srgbClr val="C4CBD0"/>
          </a:solidFill>
          <a:ln>
            <a:noFill/>
          </a:ln>
        </p:spPr>
        <p:txBody>
          <a:bodyPr rtlCol="0" anchor="ctr"/>
          <a:lstStyle/>
          <a:p>
            <a:pPr algn="ctr"/>
          </a:p>
        </p:txBody>
      </p:sp>
      <p:sp>
        <p:nvSpPr>
          <p:cNvPr id="46" name="Rectangle 45"/>
          <p:cNvSpPr/>
          <p:nvPr/>
        </p:nvSpPr>
        <p:spPr>
          <a:xfrm>
            <a:off x="7040880" y="5093208"/>
            <a:ext cx="146304" cy="146304"/>
          </a:xfrm>
          <a:prstGeom prst="rect">
            <a:avLst/>
          </a:prstGeom>
          <a:solidFill>
            <a:srgbClr val="2F8F83"/>
          </a:solidFill>
          <a:ln w="12700">
            <a:solidFill>
              <a:srgbClr val="10263F"/>
            </a:solidFill>
          </a:ln>
        </p:spPr>
        <p:txBody>
          <a:bodyPr rtlCol="0" anchor="ctr"/>
          <a:lstStyle/>
          <a:p>
            <a:pPr algn="ctr"/>
          </a:p>
        </p:txBody>
      </p:sp>
      <p:sp>
        <p:nvSpPr>
          <p:cNvPr id="47" name="TextBox 46"/>
          <p:cNvSpPr txBox="1"/>
          <p:nvPr/>
        </p:nvSpPr>
        <p:spPr>
          <a:xfrm>
            <a:off x="7360920" y="4937760"/>
            <a:ext cx="4206240" cy="457200"/>
          </a:xfrm>
          <a:prstGeom prst="rect">
            <a:avLst/>
          </a:prstGeom>
          <a:noFill/>
        </p:spPr>
        <p:txBody>
          <a:bodyPr wrap="square" lIns="0" rIns="0" tIns="0" bIns="0" anchor="ctr">
            <a:noAutofit/>
          </a:bodyPr>
          <a:lstStyle/>
          <a:p>
            <a:pPr algn="l">
              <a:spcBef>
                <a:spcPts val="0"/>
              </a:spcBef>
              <a:spcAft>
                <a:spcPts val="0"/>
              </a:spcAft>
            </a:pPr>
            <a:r>
              <a:rPr sz="1300" b="0" i="0">
                <a:solidFill>
                  <a:srgbClr val="4A5A6B"/>
                </a:solidFill>
                <a:latin typeface="Arial"/>
              </a:rPr>
              <a:t>control-plane/.env is filled in</a:t>
            </a:r>
          </a:p>
        </p:txBody>
      </p:sp>
      <p:sp>
        <p:nvSpPr>
          <p:cNvPr id="48" name="Rectangle 47"/>
          <p:cNvSpPr/>
          <p:nvPr/>
        </p:nvSpPr>
        <p:spPr>
          <a:xfrm>
            <a:off x="7040880" y="5394960"/>
            <a:ext cx="4507992" cy="10972"/>
          </a:xfrm>
          <a:prstGeom prst="rect">
            <a:avLst/>
          </a:prstGeom>
          <a:solidFill>
            <a:srgbClr val="C4CBD0"/>
          </a:solidFill>
          <a:ln>
            <a:noFill/>
          </a:ln>
        </p:spPr>
        <p:txBody>
          <a:bodyPr rtlCol="0" anchor="ctr"/>
          <a:lstStyle/>
          <a:p>
            <a:pPr algn="ctr"/>
          </a:p>
        </p:txBody>
      </p:sp>
      <p:sp>
        <p:nvSpPr>
          <p:cNvPr id="49" name="Rectangle 48"/>
          <p:cNvSpPr/>
          <p:nvPr/>
        </p:nvSpPr>
        <p:spPr>
          <a:xfrm>
            <a:off x="7040880" y="5550408"/>
            <a:ext cx="146304" cy="146304"/>
          </a:xfrm>
          <a:prstGeom prst="rect">
            <a:avLst/>
          </a:prstGeom>
          <a:solidFill>
            <a:srgbClr val="2F8F83"/>
          </a:solidFill>
          <a:ln w="12700">
            <a:solidFill>
              <a:srgbClr val="10263F"/>
            </a:solidFill>
          </a:ln>
        </p:spPr>
        <p:txBody>
          <a:bodyPr rtlCol="0" anchor="ctr"/>
          <a:lstStyle/>
          <a:p>
            <a:pPr algn="ctr"/>
          </a:p>
        </p:txBody>
      </p:sp>
      <p:sp>
        <p:nvSpPr>
          <p:cNvPr id="50" name="TextBox 49"/>
          <p:cNvSpPr txBox="1"/>
          <p:nvPr/>
        </p:nvSpPr>
        <p:spPr>
          <a:xfrm>
            <a:off x="7360920" y="5394960"/>
            <a:ext cx="4206240" cy="457200"/>
          </a:xfrm>
          <a:prstGeom prst="rect">
            <a:avLst/>
          </a:prstGeom>
          <a:noFill/>
        </p:spPr>
        <p:txBody>
          <a:bodyPr wrap="square" lIns="0" rIns="0" tIns="0" bIns="0" anchor="ctr">
            <a:noAutofit/>
          </a:bodyPr>
          <a:lstStyle/>
          <a:p>
            <a:pPr algn="l">
              <a:spcBef>
                <a:spcPts val="0"/>
              </a:spcBef>
              <a:spcAft>
                <a:spcPts val="0"/>
              </a:spcAft>
            </a:pPr>
            <a:r>
              <a:rPr sz="1300" b="0" i="0">
                <a:solidFill>
                  <a:srgbClr val="4A5A6B"/>
                </a:solidFill>
                <a:latin typeface="Arial"/>
              </a:rPr>
              <a:t>Base images pulled (first build downloads about 5 GB)</a:t>
            </a:r>
          </a:p>
        </p:txBody>
      </p:sp>
      <p:sp>
        <p:nvSpPr>
          <p:cNvPr id="51" name="Rectangle 50"/>
          <p:cNvSpPr/>
          <p:nvPr/>
        </p:nvSpPr>
        <p:spPr>
          <a:xfrm>
            <a:off x="7040880" y="5852160"/>
            <a:ext cx="4507992" cy="10972"/>
          </a:xfrm>
          <a:prstGeom prst="rect">
            <a:avLst/>
          </a:prstGeom>
          <a:solidFill>
            <a:srgbClr val="C4CBD0"/>
          </a:solidFill>
          <a:ln>
            <a:noFill/>
          </a:ln>
        </p:spPr>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40080" y="731520"/>
            <a:ext cx="566928" cy="310896"/>
          </a:xfrm>
          <a:prstGeom prst="rect">
            <a:avLst/>
          </a:prstGeom>
          <a:solidFill>
            <a:srgbClr val="2B6CA3"/>
          </a:solidFill>
          <a:ln w="15875">
            <a:solidFill>
              <a:srgbClr val="10263F"/>
            </a:solidFill>
          </a:ln>
        </p:spPr>
        <p:txBody>
          <a:bodyPr rtlCol="0" anchor="ctr"/>
          <a:lstStyle/>
          <a:p>
            <a:pPr algn="ctr"/>
          </a:p>
        </p:txBody>
      </p:sp>
      <p:sp>
        <p:nvSpPr>
          <p:cNvPr id="3" name="Rectangle 2"/>
          <p:cNvSpPr/>
          <p:nvPr/>
        </p:nvSpPr>
        <p:spPr>
          <a:xfrm>
            <a:off x="753465" y="777240"/>
            <a:ext cx="7315" cy="219456"/>
          </a:xfrm>
          <a:prstGeom prst="rect">
            <a:avLst/>
          </a:prstGeom>
          <a:solidFill>
            <a:srgbClr val="225682"/>
          </a:solidFill>
          <a:ln>
            <a:noFill/>
          </a:ln>
        </p:spPr>
        <p:txBody>
          <a:bodyPr rtlCol="0" anchor="ctr"/>
          <a:lstStyle/>
          <a:p>
            <a:pPr algn="ctr"/>
          </a:p>
        </p:txBody>
      </p:sp>
      <p:sp>
        <p:nvSpPr>
          <p:cNvPr id="4" name="Rectangle 3"/>
          <p:cNvSpPr/>
          <p:nvPr/>
        </p:nvSpPr>
        <p:spPr>
          <a:xfrm>
            <a:off x="866851" y="777240"/>
            <a:ext cx="7315" cy="219456"/>
          </a:xfrm>
          <a:prstGeom prst="rect">
            <a:avLst/>
          </a:prstGeom>
          <a:solidFill>
            <a:srgbClr val="225682"/>
          </a:solidFill>
          <a:ln>
            <a:noFill/>
          </a:ln>
        </p:spPr>
        <p:txBody>
          <a:bodyPr rtlCol="0" anchor="ctr"/>
          <a:lstStyle/>
          <a:p>
            <a:pPr algn="ctr"/>
          </a:p>
        </p:txBody>
      </p:sp>
      <p:sp>
        <p:nvSpPr>
          <p:cNvPr id="5" name="Rectangle 4"/>
          <p:cNvSpPr/>
          <p:nvPr/>
        </p:nvSpPr>
        <p:spPr>
          <a:xfrm>
            <a:off x="980236" y="777240"/>
            <a:ext cx="7315" cy="219456"/>
          </a:xfrm>
          <a:prstGeom prst="rect">
            <a:avLst/>
          </a:prstGeom>
          <a:solidFill>
            <a:srgbClr val="225682"/>
          </a:solidFill>
          <a:ln>
            <a:noFill/>
          </a:ln>
        </p:spPr>
        <p:txBody>
          <a:bodyPr rtlCol="0" anchor="ctr"/>
          <a:lstStyle/>
          <a:p>
            <a:pPr algn="ctr"/>
          </a:p>
        </p:txBody>
      </p:sp>
      <p:sp>
        <p:nvSpPr>
          <p:cNvPr id="6" name="Rectangle 5"/>
          <p:cNvSpPr/>
          <p:nvPr/>
        </p:nvSpPr>
        <p:spPr>
          <a:xfrm>
            <a:off x="1093622" y="777240"/>
            <a:ext cx="7315" cy="219456"/>
          </a:xfrm>
          <a:prstGeom prst="rect">
            <a:avLst/>
          </a:prstGeom>
          <a:solidFill>
            <a:srgbClr val="225682"/>
          </a:solidFill>
          <a:ln>
            <a:noFill/>
          </a:ln>
        </p:spPr>
        <p:txBody>
          <a:bodyPr rtlCol="0" anchor="ctr"/>
          <a:lstStyle/>
          <a:p>
            <a:pPr algn="ctr"/>
          </a:p>
        </p:txBody>
      </p:sp>
      <p:sp>
        <p:nvSpPr>
          <p:cNvPr id="7" name="TextBox 6"/>
          <p:cNvSpPr txBox="1"/>
          <p:nvPr/>
        </p:nvSpPr>
        <p:spPr>
          <a:xfrm>
            <a:off x="1417320" y="548640"/>
            <a:ext cx="10149840" cy="685800"/>
          </a:xfrm>
          <a:prstGeom prst="rect">
            <a:avLst/>
          </a:prstGeom>
          <a:noFill/>
        </p:spPr>
        <p:txBody>
          <a:bodyPr wrap="square" lIns="0" rIns="0" tIns="0" bIns="0" anchor="ctr">
            <a:noAutofit/>
          </a:bodyPr>
          <a:lstStyle/>
          <a:p>
            <a:pPr algn="l">
              <a:spcBef>
                <a:spcPts val="0"/>
              </a:spcBef>
              <a:spcAft>
                <a:spcPts val="0"/>
              </a:spcAft>
            </a:pPr>
            <a:r>
              <a:rPr sz="3000" b="1" i="0">
                <a:solidFill>
                  <a:srgbClr val="10263F"/>
                </a:solidFill>
                <a:latin typeface="Georgia"/>
              </a:rPr>
              <a:t>Limits and what I'd do next</a:t>
            </a:r>
          </a:p>
        </p:txBody>
      </p:sp>
      <p:cxnSp>
        <p:nvCxnSpPr>
          <p:cNvPr id="8" name="Connector 7"/>
          <p:cNvCxnSpPr/>
          <p:nvPr/>
        </p:nvCxnSpPr>
        <p:spPr>
          <a:xfrm>
            <a:off x="640080" y="1335024"/>
            <a:ext cx="10908792" cy="0"/>
          </a:xfrm>
          <a:prstGeom prst="line">
            <a:avLst/>
          </a:prstGeom>
          <a:ln w="15875">
            <a:solidFill>
              <a:srgbClr val="9AA5AE"/>
            </a:solidFill>
            <a:prstDash val="dash"/>
          </a:ln>
        </p:spPr>
      </p:cxnSp>
      <p:pic>
        <p:nvPicPr>
          <p:cNvPr id="9" name="Picture 8" descr="wave_band.png"/>
          <p:cNvPicPr>
            <a:picLocks noChangeAspect="1"/>
          </p:cNvPicPr>
          <p:nvPr/>
        </p:nvPicPr>
        <p:blipFill>
          <a:blip r:embed="rId2"/>
          <a:stretch>
            <a:fillRect/>
          </a:stretch>
        </p:blipFill>
        <p:spPr>
          <a:xfrm>
            <a:off x="0" y="6355080"/>
            <a:ext cx="12191695" cy="502845"/>
          </a:xfrm>
          <a:prstGeom prst="rect">
            <a:avLst/>
          </a:prstGeom>
        </p:spPr>
      </p:pic>
      <p:pic>
        <p:nvPicPr>
          <p:cNvPr id="10" name="Picture 9" descr="tug_small.png"/>
          <p:cNvPicPr>
            <a:picLocks noChangeAspect="1"/>
          </p:cNvPicPr>
          <p:nvPr/>
        </p:nvPicPr>
        <p:blipFill>
          <a:blip r:embed="rId3"/>
          <a:stretch>
            <a:fillRect/>
          </a:stretch>
        </p:blipFill>
        <p:spPr>
          <a:xfrm>
            <a:off x="10415016" y="6078380"/>
            <a:ext cx="566928" cy="450436"/>
          </a:xfrm>
          <a:prstGeom prst="rect">
            <a:avLst/>
          </a:prstGeom>
        </p:spPr>
      </p:pic>
      <p:sp>
        <p:nvSpPr>
          <p:cNvPr id="11" name="TextBox 10"/>
          <p:cNvSpPr txBox="1"/>
          <p:nvPr/>
        </p:nvSpPr>
        <p:spPr>
          <a:xfrm>
            <a:off x="640080" y="6126480"/>
            <a:ext cx="2743200" cy="228600"/>
          </a:xfrm>
          <a:prstGeom prst="rect">
            <a:avLst/>
          </a:prstGeom>
          <a:noFill/>
        </p:spPr>
        <p:txBody>
          <a:bodyPr wrap="square" lIns="0" rIns="0" tIns="0" bIns="0" anchor="ctr">
            <a:noAutofit/>
          </a:bodyPr>
          <a:lstStyle/>
          <a:p>
            <a:pPr algn="l">
              <a:spcBef>
                <a:spcPts val="0"/>
              </a:spcBef>
              <a:spcAft>
                <a:spcPts val="0"/>
              </a:spcAft>
            </a:pPr>
            <a:r>
              <a:rPr sz="1000" b="0" i="0">
                <a:solidFill>
                  <a:srgbClr val="7E8A97"/>
                </a:solidFill>
                <a:latin typeface="Arial"/>
              </a:rPr>
              <a:t>Tugboat   11 / 12</a:t>
            </a:r>
          </a:p>
        </p:txBody>
      </p:sp>
      <p:sp>
        <p:nvSpPr>
          <p:cNvPr id="12" name="TextBox 11"/>
          <p:cNvSpPr txBox="1"/>
          <p:nvPr/>
        </p:nvSpPr>
        <p:spPr>
          <a:xfrm>
            <a:off x="1325880" y="1645920"/>
            <a:ext cx="4572000" cy="274320"/>
          </a:xfrm>
          <a:prstGeom prst="rect">
            <a:avLst/>
          </a:prstGeom>
          <a:noFill/>
        </p:spPr>
        <p:txBody>
          <a:bodyPr wrap="square" lIns="0" rIns="0" tIns="0" bIns="0" anchor="t">
            <a:noAutofit/>
          </a:bodyPr>
          <a:lstStyle/>
          <a:p>
            <a:pPr algn="l">
              <a:spcBef>
                <a:spcPts val="0"/>
              </a:spcBef>
              <a:spcAft>
                <a:spcPts val="0"/>
              </a:spcAft>
            </a:pPr>
            <a:r>
              <a:rPr sz="1050" b="1" i="0">
                <a:solidFill>
                  <a:srgbClr val="7E8A97"/>
                </a:solidFill>
                <a:latin typeface="Arial"/>
              </a:rPr>
              <a:t>Limit</a:t>
            </a:r>
          </a:p>
        </p:txBody>
      </p:sp>
      <p:sp>
        <p:nvSpPr>
          <p:cNvPr id="13" name="TextBox 12"/>
          <p:cNvSpPr txBox="1"/>
          <p:nvPr/>
        </p:nvSpPr>
        <p:spPr>
          <a:xfrm>
            <a:off x="6309360" y="1645920"/>
            <a:ext cx="5120640" cy="274320"/>
          </a:xfrm>
          <a:prstGeom prst="rect">
            <a:avLst/>
          </a:prstGeom>
          <a:noFill/>
        </p:spPr>
        <p:txBody>
          <a:bodyPr wrap="square" lIns="0" rIns="0" tIns="0" bIns="0" anchor="t">
            <a:noAutofit/>
          </a:bodyPr>
          <a:lstStyle/>
          <a:p>
            <a:pPr algn="l">
              <a:spcBef>
                <a:spcPts val="0"/>
              </a:spcBef>
              <a:spcAft>
                <a:spcPts val="0"/>
              </a:spcAft>
            </a:pPr>
            <a:r>
              <a:rPr sz="1050" b="1" i="0">
                <a:solidFill>
                  <a:srgbClr val="7E8A97"/>
                </a:solidFill>
                <a:latin typeface="Arial"/>
              </a:rPr>
              <a:t>Next step</a:t>
            </a:r>
          </a:p>
        </p:txBody>
      </p:sp>
      <p:sp>
        <p:nvSpPr>
          <p:cNvPr id="14" name="Rectangle 13"/>
          <p:cNvSpPr/>
          <p:nvPr/>
        </p:nvSpPr>
        <p:spPr>
          <a:xfrm>
            <a:off x="640080" y="1993392"/>
            <a:ext cx="10908792" cy="10972"/>
          </a:xfrm>
          <a:prstGeom prst="rect">
            <a:avLst/>
          </a:prstGeom>
          <a:solidFill>
            <a:srgbClr val="C4CBD0"/>
          </a:solidFill>
          <a:ln>
            <a:noFill/>
          </a:ln>
        </p:spPr>
        <p:txBody>
          <a:bodyPr rtlCol="0" anchor="ctr"/>
          <a:lstStyle/>
          <a:p>
            <a:pPr algn="ctr"/>
          </a:p>
        </p:txBody>
      </p:sp>
      <p:sp>
        <p:nvSpPr>
          <p:cNvPr id="15" name="Rectangle 14"/>
          <p:cNvSpPr/>
          <p:nvPr/>
        </p:nvSpPr>
        <p:spPr>
          <a:xfrm>
            <a:off x="640080" y="2322576"/>
            <a:ext cx="457200" cy="256032"/>
          </a:xfrm>
          <a:prstGeom prst="rect">
            <a:avLst/>
          </a:prstGeom>
          <a:solidFill>
            <a:srgbClr val="C8472D"/>
          </a:solidFill>
          <a:ln w="15875">
            <a:solidFill>
              <a:srgbClr val="10263F"/>
            </a:solidFill>
          </a:ln>
        </p:spPr>
        <p:txBody>
          <a:bodyPr rtlCol="0" anchor="ctr"/>
          <a:lstStyle/>
          <a:p>
            <a:pPr algn="ctr"/>
          </a:p>
        </p:txBody>
      </p:sp>
      <p:sp>
        <p:nvSpPr>
          <p:cNvPr id="16" name="Rectangle 15"/>
          <p:cNvSpPr/>
          <p:nvPr/>
        </p:nvSpPr>
        <p:spPr>
          <a:xfrm>
            <a:off x="731519" y="2368296"/>
            <a:ext cx="7315" cy="164592"/>
          </a:xfrm>
          <a:prstGeom prst="rect">
            <a:avLst/>
          </a:prstGeom>
          <a:solidFill>
            <a:srgbClr val="A03824"/>
          </a:solidFill>
          <a:ln>
            <a:noFill/>
          </a:ln>
        </p:spPr>
        <p:txBody>
          <a:bodyPr rtlCol="0" anchor="ctr"/>
          <a:lstStyle/>
          <a:p>
            <a:pPr algn="ctr"/>
          </a:p>
        </p:txBody>
      </p:sp>
      <p:sp>
        <p:nvSpPr>
          <p:cNvPr id="17" name="Rectangle 16"/>
          <p:cNvSpPr/>
          <p:nvPr/>
        </p:nvSpPr>
        <p:spPr>
          <a:xfrm>
            <a:off x="822959" y="2368296"/>
            <a:ext cx="7315" cy="164592"/>
          </a:xfrm>
          <a:prstGeom prst="rect">
            <a:avLst/>
          </a:prstGeom>
          <a:solidFill>
            <a:srgbClr val="A03824"/>
          </a:solidFill>
          <a:ln>
            <a:noFill/>
          </a:ln>
        </p:spPr>
        <p:txBody>
          <a:bodyPr rtlCol="0" anchor="ctr"/>
          <a:lstStyle/>
          <a:p>
            <a:pPr algn="ctr"/>
          </a:p>
        </p:txBody>
      </p:sp>
      <p:sp>
        <p:nvSpPr>
          <p:cNvPr id="18" name="Rectangle 17"/>
          <p:cNvSpPr/>
          <p:nvPr/>
        </p:nvSpPr>
        <p:spPr>
          <a:xfrm>
            <a:off x="914400" y="2368296"/>
            <a:ext cx="7315" cy="164592"/>
          </a:xfrm>
          <a:prstGeom prst="rect">
            <a:avLst/>
          </a:prstGeom>
          <a:solidFill>
            <a:srgbClr val="A03824"/>
          </a:solidFill>
          <a:ln>
            <a:noFill/>
          </a:ln>
        </p:spPr>
        <p:txBody>
          <a:bodyPr rtlCol="0" anchor="ctr"/>
          <a:lstStyle/>
          <a:p>
            <a:pPr algn="ctr"/>
          </a:p>
        </p:txBody>
      </p:sp>
      <p:sp>
        <p:nvSpPr>
          <p:cNvPr id="19" name="Rectangle 18"/>
          <p:cNvSpPr/>
          <p:nvPr/>
        </p:nvSpPr>
        <p:spPr>
          <a:xfrm>
            <a:off x="1005840" y="2368296"/>
            <a:ext cx="7315" cy="164592"/>
          </a:xfrm>
          <a:prstGeom prst="rect">
            <a:avLst/>
          </a:prstGeom>
          <a:solidFill>
            <a:srgbClr val="A03824"/>
          </a:solidFill>
          <a:ln>
            <a:noFill/>
          </a:ln>
        </p:spPr>
        <p:txBody>
          <a:bodyPr rtlCol="0" anchor="ctr"/>
          <a:lstStyle/>
          <a:p>
            <a:pPr algn="ctr"/>
          </a:p>
        </p:txBody>
      </p:sp>
      <p:sp>
        <p:nvSpPr>
          <p:cNvPr id="20" name="TextBox 19"/>
          <p:cNvSpPr txBox="1"/>
          <p:nvPr/>
        </p:nvSpPr>
        <p:spPr>
          <a:xfrm>
            <a:off x="1325880" y="1993392"/>
            <a:ext cx="4572000" cy="914400"/>
          </a:xfrm>
          <a:prstGeom prst="rect">
            <a:avLst/>
          </a:prstGeom>
          <a:noFill/>
        </p:spPr>
        <p:txBody>
          <a:bodyPr wrap="square" lIns="0" rIns="0" tIns="0" bIns="0" anchor="ctr">
            <a:noAutofit/>
          </a:bodyPr>
          <a:lstStyle/>
          <a:p>
            <a:pPr algn="l">
              <a:lnSpc>
                <a:spcPct val="105000"/>
              </a:lnSpc>
              <a:spcBef>
                <a:spcPts val="0"/>
              </a:spcBef>
              <a:spcAft>
                <a:spcPts val="0"/>
              </a:spcAft>
            </a:pPr>
            <a:r>
              <a:rPr sz="1600" b="1" i="0">
                <a:solidFill>
                  <a:srgbClr val="10263F"/>
                </a:solidFill>
                <a:latin typeface="Georgia"/>
              </a:rPr>
              <a:t>All projects share one production route.</a:t>
            </a:r>
          </a:p>
        </p:txBody>
      </p:sp>
      <p:sp>
        <p:nvSpPr>
          <p:cNvPr id="21" name="TextBox 20"/>
          <p:cNvSpPr txBox="1"/>
          <p:nvPr/>
        </p:nvSpPr>
        <p:spPr>
          <a:xfrm>
            <a:off x="6309360" y="1993392"/>
            <a:ext cx="5120640" cy="914400"/>
          </a:xfrm>
          <a:prstGeom prst="rect">
            <a:avLst/>
          </a:prstGeom>
          <a:noFill/>
        </p:spPr>
        <p:txBody>
          <a:bodyPr wrap="square" lIns="0" rIns="0" tIns="0" bIns="0" anchor="ctr">
            <a:noAutofit/>
          </a:bodyPr>
          <a:lstStyle/>
          <a:p>
            <a:pPr algn="l">
              <a:lnSpc>
                <a:spcPct val="110000"/>
              </a:lnSpc>
              <a:spcBef>
                <a:spcPts val="0"/>
              </a:spcBef>
              <a:spcAft>
                <a:spcPts val="0"/>
              </a:spcAft>
            </a:pPr>
            <a:r>
              <a:rPr sz="1450" b="0" i="0">
                <a:solidFill>
                  <a:srgbClr val="4A5A6B"/>
                </a:solidFill>
                <a:latin typeface="Arial"/>
              </a:rPr>
              <a:t>Give each project its own production route and hostname.</a:t>
            </a:r>
          </a:p>
        </p:txBody>
      </p:sp>
      <p:sp>
        <p:nvSpPr>
          <p:cNvPr id="22" name="Rectangle 21"/>
          <p:cNvSpPr/>
          <p:nvPr/>
        </p:nvSpPr>
        <p:spPr>
          <a:xfrm>
            <a:off x="640080" y="2907792"/>
            <a:ext cx="10908792" cy="10972"/>
          </a:xfrm>
          <a:prstGeom prst="rect">
            <a:avLst/>
          </a:prstGeom>
          <a:solidFill>
            <a:srgbClr val="C4CBD0"/>
          </a:solidFill>
          <a:ln>
            <a:noFill/>
          </a:ln>
        </p:spPr>
        <p:txBody>
          <a:bodyPr rtlCol="0" anchor="ctr"/>
          <a:lstStyle/>
          <a:p>
            <a:pPr algn="ctr"/>
          </a:p>
        </p:txBody>
      </p:sp>
      <p:sp>
        <p:nvSpPr>
          <p:cNvPr id="23" name="Rectangle 22"/>
          <p:cNvSpPr/>
          <p:nvPr/>
        </p:nvSpPr>
        <p:spPr>
          <a:xfrm>
            <a:off x="640080" y="3236976"/>
            <a:ext cx="457200" cy="256032"/>
          </a:xfrm>
          <a:prstGeom prst="rect">
            <a:avLst/>
          </a:prstGeom>
          <a:solidFill>
            <a:srgbClr val="E9B93A"/>
          </a:solidFill>
          <a:ln w="15875">
            <a:solidFill>
              <a:srgbClr val="10263F"/>
            </a:solidFill>
          </a:ln>
        </p:spPr>
        <p:txBody>
          <a:bodyPr rtlCol="0" anchor="ctr"/>
          <a:lstStyle/>
          <a:p>
            <a:pPr algn="ctr"/>
          </a:p>
        </p:txBody>
      </p:sp>
      <p:sp>
        <p:nvSpPr>
          <p:cNvPr id="24" name="Rectangle 23"/>
          <p:cNvSpPr/>
          <p:nvPr/>
        </p:nvSpPr>
        <p:spPr>
          <a:xfrm>
            <a:off x="731519" y="3282696"/>
            <a:ext cx="7315" cy="164592"/>
          </a:xfrm>
          <a:prstGeom prst="rect">
            <a:avLst/>
          </a:prstGeom>
          <a:solidFill>
            <a:srgbClr val="BA942E"/>
          </a:solidFill>
          <a:ln>
            <a:noFill/>
          </a:ln>
        </p:spPr>
        <p:txBody>
          <a:bodyPr rtlCol="0" anchor="ctr"/>
          <a:lstStyle/>
          <a:p>
            <a:pPr algn="ctr"/>
          </a:p>
        </p:txBody>
      </p:sp>
      <p:sp>
        <p:nvSpPr>
          <p:cNvPr id="25" name="Rectangle 24"/>
          <p:cNvSpPr/>
          <p:nvPr/>
        </p:nvSpPr>
        <p:spPr>
          <a:xfrm>
            <a:off x="822959" y="3282696"/>
            <a:ext cx="7315" cy="164592"/>
          </a:xfrm>
          <a:prstGeom prst="rect">
            <a:avLst/>
          </a:prstGeom>
          <a:solidFill>
            <a:srgbClr val="BA942E"/>
          </a:solidFill>
          <a:ln>
            <a:noFill/>
          </a:ln>
        </p:spPr>
        <p:txBody>
          <a:bodyPr rtlCol="0" anchor="ctr"/>
          <a:lstStyle/>
          <a:p>
            <a:pPr algn="ctr"/>
          </a:p>
        </p:txBody>
      </p:sp>
      <p:sp>
        <p:nvSpPr>
          <p:cNvPr id="26" name="Rectangle 25"/>
          <p:cNvSpPr/>
          <p:nvPr/>
        </p:nvSpPr>
        <p:spPr>
          <a:xfrm>
            <a:off x="914400" y="3282696"/>
            <a:ext cx="7315" cy="164592"/>
          </a:xfrm>
          <a:prstGeom prst="rect">
            <a:avLst/>
          </a:prstGeom>
          <a:solidFill>
            <a:srgbClr val="BA942E"/>
          </a:solidFill>
          <a:ln>
            <a:noFill/>
          </a:ln>
        </p:spPr>
        <p:txBody>
          <a:bodyPr rtlCol="0" anchor="ctr"/>
          <a:lstStyle/>
          <a:p>
            <a:pPr algn="ctr"/>
          </a:p>
        </p:txBody>
      </p:sp>
      <p:sp>
        <p:nvSpPr>
          <p:cNvPr id="27" name="Rectangle 26"/>
          <p:cNvSpPr/>
          <p:nvPr/>
        </p:nvSpPr>
        <p:spPr>
          <a:xfrm>
            <a:off x="1005840" y="3282696"/>
            <a:ext cx="7315" cy="164592"/>
          </a:xfrm>
          <a:prstGeom prst="rect">
            <a:avLst/>
          </a:prstGeom>
          <a:solidFill>
            <a:srgbClr val="BA942E"/>
          </a:solidFill>
          <a:ln>
            <a:noFill/>
          </a:ln>
        </p:spPr>
        <p:txBody>
          <a:bodyPr rtlCol="0" anchor="ctr"/>
          <a:lstStyle/>
          <a:p>
            <a:pPr algn="ctr"/>
          </a:p>
        </p:txBody>
      </p:sp>
      <p:sp>
        <p:nvSpPr>
          <p:cNvPr id="28" name="TextBox 27"/>
          <p:cNvSpPr txBox="1"/>
          <p:nvPr/>
        </p:nvSpPr>
        <p:spPr>
          <a:xfrm>
            <a:off x="1325880" y="2907792"/>
            <a:ext cx="4572000" cy="914400"/>
          </a:xfrm>
          <a:prstGeom prst="rect">
            <a:avLst/>
          </a:prstGeom>
          <a:noFill/>
        </p:spPr>
        <p:txBody>
          <a:bodyPr wrap="square" lIns="0" rIns="0" tIns="0" bIns="0" anchor="ctr">
            <a:noAutofit/>
          </a:bodyPr>
          <a:lstStyle/>
          <a:p>
            <a:pPr algn="l">
              <a:lnSpc>
                <a:spcPct val="105000"/>
              </a:lnSpc>
              <a:spcBef>
                <a:spcPts val="0"/>
              </a:spcBef>
              <a:spcAft>
                <a:spcPts val="0"/>
              </a:spcAft>
            </a:pPr>
            <a:r>
              <a:rPr sz="1600" b="1" i="0">
                <a:solidFill>
                  <a:srgbClr val="10263F"/>
                </a:solidFill>
                <a:latin typeface="Georgia"/>
              </a:rPr>
              <a:t>Rollback history only lives in memory.</a:t>
            </a:r>
          </a:p>
        </p:txBody>
      </p:sp>
      <p:sp>
        <p:nvSpPr>
          <p:cNvPr id="29" name="TextBox 28"/>
          <p:cNvSpPr txBox="1"/>
          <p:nvPr/>
        </p:nvSpPr>
        <p:spPr>
          <a:xfrm>
            <a:off x="6309360" y="2907792"/>
            <a:ext cx="5120640" cy="914400"/>
          </a:xfrm>
          <a:prstGeom prst="rect">
            <a:avLst/>
          </a:prstGeom>
          <a:noFill/>
        </p:spPr>
        <p:txBody>
          <a:bodyPr wrap="square" lIns="0" rIns="0" tIns="0" bIns="0" anchor="ctr">
            <a:noAutofit/>
          </a:bodyPr>
          <a:lstStyle/>
          <a:p>
            <a:pPr algn="l">
              <a:lnSpc>
                <a:spcPct val="110000"/>
              </a:lnSpc>
              <a:spcBef>
                <a:spcPts val="0"/>
              </a:spcBef>
              <a:spcAft>
                <a:spcPts val="0"/>
              </a:spcAft>
            </a:pPr>
            <a:r>
              <a:rPr sz="1450" b="0" i="0">
                <a:solidFill>
                  <a:srgbClr val="4A5A6B"/>
                </a:solidFill>
                <a:latin typeface="Arial"/>
              </a:rPr>
              <a:t>Store it in SQLite so it survives a restart.</a:t>
            </a:r>
          </a:p>
        </p:txBody>
      </p:sp>
      <p:sp>
        <p:nvSpPr>
          <p:cNvPr id="30" name="Rectangle 29"/>
          <p:cNvSpPr/>
          <p:nvPr/>
        </p:nvSpPr>
        <p:spPr>
          <a:xfrm>
            <a:off x="640080" y="3822191"/>
            <a:ext cx="10908792" cy="10972"/>
          </a:xfrm>
          <a:prstGeom prst="rect">
            <a:avLst/>
          </a:prstGeom>
          <a:solidFill>
            <a:srgbClr val="C4CBD0"/>
          </a:solidFill>
          <a:ln>
            <a:noFill/>
          </a:ln>
        </p:spPr>
        <p:txBody>
          <a:bodyPr rtlCol="0" anchor="ctr"/>
          <a:lstStyle/>
          <a:p>
            <a:pPr algn="ctr"/>
          </a:p>
        </p:txBody>
      </p:sp>
      <p:sp>
        <p:nvSpPr>
          <p:cNvPr id="31" name="Rectangle 30"/>
          <p:cNvSpPr/>
          <p:nvPr/>
        </p:nvSpPr>
        <p:spPr>
          <a:xfrm>
            <a:off x="640080" y="4151376"/>
            <a:ext cx="457200" cy="256032"/>
          </a:xfrm>
          <a:prstGeom prst="rect">
            <a:avLst/>
          </a:prstGeom>
          <a:solidFill>
            <a:srgbClr val="2F8F83"/>
          </a:solidFill>
          <a:ln w="15875">
            <a:solidFill>
              <a:srgbClr val="10263F"/>
            </a:solidFill>
          </a:ln>
        </p:spPr>
        <p:txBody>
          <a:bodyPr rtlCol="0" anchor="ctr"/>
          <a:lstStyle/>
          <a:p>
            <a:pPr algn="ctr"/>
          </a:p>
        </p:txBody>
      </p:sp>
      <p:sp>
        <p:nvSpPr>
          <p:cNvPr id="32" name="Rectangle 31"/>
          <p:cNvSpPr/>
          <p:nvPr/>
        </p:nvSpPr>
        <p:spPr>
          <a:xfrm>
            <a:off x="731519" y="4197096"/>
            <a:ext cx="7315" cy="164592"/>
          </a:xfrm>
          <a:prstGeom prst="rect">
            <a:avLst/>
          </a:prstGeom>
          <a:solidFill>
            <a:srgbClr val="257268"/>
          </a:solidFill>
          <a:ln>
            <a:noFill/>
          </a:ln>
        </p:spPr>
        <p:txBody>
          <a:bodyPr rtlCol="0" anchor="ctr"/>
          <a:lstStyle/>
          <a:p>
            <a:pPr algn="ctr"/>
          </a:p>
        </p:txBody>
      </p:sp>
      <p:sp>
        <p:nvSpPr>
          <p:cNvPr id="33" name="Rectangle 32"/>
          <p:cNvSpPr/>
          <p:nvPr/>
        </p:nvSpPr>
        <p:spPr>
          <a:xfrm>
            <a:off x="822959" y="4197096"/>
            <a:ext cx="7315" cy="164592"/>
          </a:xfrm>
          <a:prstGeom prst="rect">
            <a:avLst/>
          </a:prstGeom>
          <a:solidFill>
            <a:srgbClr val="257268"/>
          </a:solidFill>
          <a:ln>
            <a:noFill/>
          </a:ln>
        </p:spPr>
        <p:txBody>
          <a:bodyPr rtlCol="0" anchor="ctr"/>
          <a:lstStyle/>
          <a:p>
            <a:pPr algn="ctr"/>
          </a:p>
        </p:txBody>
      </p:sp>
      <p:sp>
        <p:nvSpPr>
          <p:cNvPr id="34" name="Rectangle 33"/>
          <p:cNvSpPr/>
          <p:nvPr/>
        </p:nvSpPr>
        <p:spPr>
          <a:xfrm>
            <a:off x="914400" y="4197096"/>
            <a:ext cx="7315" cy="164592"/>
          </a:xfrm>
          <a:prstGeom prst="rect">
            <a:avLst/>
          </a:prstGeom>
          <a:solidFill>
            <a:srgbClr val="257268"/>
          </a:solidFill>
          <a:ln>
            <a:noFill/>
          </a:ln>
        </p:spPr>
        <p:txBody>
          <a:bodyPr rtlCol="0" anchor="ctr"/>
          <a:lstStyle/>
          <a:p>
            <a:pPr algn="ctr"/>
          </a:p>
        </p:txBody>
      </p:sp>
      <p:sp>
        <p:nvSpPr>
          <p:cNvPr id="35" name="Rectangle 34"/>
          <p:cNvSpPr/>
          <p:nvPr/>
        </p:nvSpPr>
        <p:spPr>
          <a:xfrm>
            <a:off x="1005840" y="4197096"/>
            <a:ext cx="7315" cy="164592"/>
          </a:xfrm>
          <a:prstGeom prst="rect">
            <a:avLst/>
          </a:prstGeom>
          <a:solidFill>
            <a:srgbClr val="257268"/>
          </a:solidFill>
          <a:ln>
            <a:noFill/>
          </a:ln>
        </p:spPr>
        <p:txBody>
          <a:bodyPr rtlCol="0" anchor="ctr"/>
          <a:lstStyle/>
          <a:p>
            <a:pPr algn="ctr"/>
          </a:p>
        </p:txBody>
      </p:sp>
      <p:sp>
        <p:nvSpPr>
          <p:cNvPr id="36" name="TextBox 35"/>
          <p:cNvSpPr txBox="1"/>
          <p:nvPr/>
        </p:nvSpPr>
        <p:spPr>
          <a:xfrm>
            <a:off x="1325880" y="3822191"/>
            <a:ext cx="4572000" cy="914400"/>
          </a:xfrm>
          <a:prstGeom prst="rect">
            <a:avLst/>
          </a:prstGeom>
          <a:noFill/>
        </p:spPr>
        <p:txBody>
          <a:bodyPr wrap="square" lIns="0" rIns="0" tIns="0" bIns="0" anchor="ctr">
            <a:noAutofit/>
          </a:bodyPr>
          <a:lstStyle/>
          <a:p>
            <a:pPr algn="l">
              <a:lnSpc>
                <a:spcPct val="105000"/>
              </a:lnSpc>
              <a:spcBef>
                <a:spcPts val="0"/>
              </a:spcBef>
              <a:spcAft>
                <a:spcPts val="0"/>
              </a:spcAft>
            </a:pPr>
            <a:r>
              <a:rPr sz="1600" b="1" i="0">
                <a:solidFill>
                  <a:srgbClr val="10263F"/>
                </a:solidFill>
                <a:latin typeface="Georgia"/>
              </a:rPr>
              <a:t>Quick tunnel URLs change on every deployment.</a:t>
            </a:r>
          </a:p>
        </p:txBody>
      </p:sp>
      <p:sp>
        <p:nvSpPr>
          <p:cNvPr id="37" name="TextBox 36"/>
          <p:cNvSpPr txBox="1"/>
          <p:nvPr/>
        </p:nvSpPr>
        <p:spPr>
          <a:xfrm>
            <a:off x="6309360" y="3822191"/>
            <a:ext cx="5120640" cy="914400"/>
          </a:xfrm>
          <a:prstGeom prst="rect">
            <a:avLst/>
          </a:prstGeom>
          <a:noFill/>
        </p:spPr>
        <p:txBody>
          <a:bodyPr wrap="square" lIns="0" rIns="0" tIns="0" bIns="0" anchor="ctr">
            <a:noAutofit/>
          </a:bodyPr>
          <a:lstStyle/>
          <a:p>
            <a:pPr algn="l">
              <a:lnSpc>
                <a:spcPct val="110000"/>
              </a:lnSpc>
              <a:spcBef>
                <a:spcPts val="0"/>
              </a:spcBef>
              <a:spcAft>
                <a:spcPts val="0"/>
              </a:spcAft>
            </a:pPr>
            <a:r>
              <a:rPr sz="1450" b="0" i="0">
                <a:solidFill>
                  <a:srgbClr val="4A5A6B"/>
                </a:solidFill>
                <a:latin typeface="Arial"/>
              </a:rPr>
              <a:t>Use named Cloudflare tunnels with custom domains.</a:t>
            </a:r>
          </a:p>
        </p:txBody>
      </p:sp>
      <p:sp>
        <p:nvSpPr>
          <p:cNvPr id="38" name="Rectangle 37"/>
          <p:cNvSpPr/>
          <p:nvPr/>
        </p:nvSpPr>
        <p:spPr>
          <a:xfrm>
            <a:off x="640080" y="4736592"/>
            <a:ext cx="10908792" cy="10972"/>
          </a:xfrm>
          <a:prstGeom prst="rect">
            <a:avLst/>
          </a:prstGeom>
          <a:solidFill>
            <a:srgbClr val="C4CBD0"/>
          </a:solidFill>
          <a:ln>
            <a:noFill/>
          </a:ln>
        </p:spPr>
        <p:txBody>
          <a:bodyPr rtlCol="0" anchor="ctr"/>
          <a:lstStyle/>
          <a:p>
            <a:pPr algn="ctr"/>
          </a:p>
        </p:txBody>
      </p:sp>
      <p:sp>
        <p:nvSpPr>
          <p:cNvPr id="39" name="Rectangle 38"/>
          <p:cNvSpPr/>
          <p:nvPr/>
        </p:nvSpPr>
        <p:spPr>
          <a:xfrm>
            <a:off x="640080" y="5065776"/>
            <a:ext cx="457200" cy="256032"/>
          </a:xfrm>
          <a:prstGeom prst="rect">
            <a:avLst/>
          </a:prstGeom>
          <a:solidFill>
            <a:srgbClr val="E58A2B"/>
          </a:solidFill>
          <a:ln w="15875">
            <a:solidFill>
              <a:srgbClr val="10263F"/>
            </a:solidFill>
          </a:ln>
        </p:spPr>
        <p:txBody>
          <a:bodyPr rtlCol="0" anchor="ctr"/>
          <a:lstStyle/>
          <a:p>
            <a:pPr algn="ctr"/>
          </a:p>
        </p:txBody>
      </p:sp>
      <p:sp>
        <p:nvSpPr>
          <p:cNvPr id="40" name="Rectangle 39"/>
          <p:cNvSpPr/>
          <p:nvPr/>
        </p:nvSpPr>
        <p:spPr>
          <a:xfrm>
            <a:off x="731519" y="5111496"/>
            <a:ext cx="7315" cy="164592"/>
          </a:xfrm>
          <a:prstGeom prst="rect">
            <a:avLst/>
          </a:prstGeom>
          <a:solidFill>
            <a:srgbClr val="B76E22"/>
          </a:solidFill>
          <a:ln>
            <a:noFill/>
          </a:ln>
        </p:spPr>
        <p:txBody>
          <a:bodyPr rtlCol="0" anchor="ctr"/>
          <a:lstStyle/>
          <a:p>
            <a:pPr algn="ctr"/>
          </a:p>
        </p:txBody>
      </p:sp>
      <p:sp>
        <p:nvSpPr>
          <p:cNvPr id="41" name="Rectangle 40"/>
          <p:cNvSpPr/>
          <p:nvPr/>
        </p:nvSpPr>
        <p:spPr>
          <a:xfrm>
            <a:off x="822959" y="5111496"/>
            <a:ext cx="7315" cy="164592"/>
          </a:xfrm>
          <a:prstGeom prst="rect">
            <a:avLst/>
          </a:prstGeom>
          <a:solidFill>
            <a:srgbClr val="B76E22"/>
          </a:solidFill>
          <a:ln>
            <a:noFill/>
          </a:ln>
        </p:spPr>
        <p:txBody>
          <a:bodyPr rtlCol="0" anchor="ctr"/>
          <a:lstStyle/>
          <a:p>
            <a:pPr algn="ctr"/>
          </a:p>
        </p:txBody>
      </p:sp>
      <p:sp>
        <p:nvSpPr>
          <p:cNvPr id="42" name="Rectangle 41"/>
          <p:cNvSpPr/>
          <p:nvPr/>
        </p:nvSpPr>
        <p:spPr>
          <a:xfrm>
            <a:off x="914400" y="5111496"/>
            <a:ext cx="7315" cy="164592"/>
          </a:xfrm>
          <a:prstGeom prst="rect">
            <a:avLst/>
          </a:prstGeom>
          <a:solidFill>
            <a:srgbClr val="B76E22"/>
          </a:solidFill>
          <a:ln>
            <a:noFill/>
          </a:ln>
        </p:spPr>
        <p:txBody>
          <a:bodyPr rtlCol="0" anchor="ctr"/>
          <a:lstStyle/>
          <a:p>
            <a:pPr algn="ctr"/>
          </a:p>
        </p:txBody>
      </p:sp>
      <p:sp>
        <p:nvSpPr>
          <p:cNvPr id="43" name="Rectangle 42"/>
          <p:cNvSpPr/>
          <p:nvPr/>
        </p:nvSpPr>
        <p:spPr>
          <a:xfrm>
            <a:off x="1005840" y="5111496"/>
            <a:ext cx="7315" cy="164592"/>
          </a:xfrm>
          <a:prstGeom prst="rect">
            <a:avLst/>
          </a:prstGeom>
          <a:solidFill>
            <a:srgbClr val="B76E22"/>
          </a:solidFill>
          <a:ln>
            <a:noFill/>
          </a:ln>
        </p:spPr>
        <p:txBody>
          <a:bodyPr rtlCol="0" anchor="ctr"/>
          <a:lstStyle/>
          <a:p>
            <a:pPr algn="ctr"/>
          </a:p>
        </p:txBody>
      </p:sp>
      <p:sp>
        <p:nvSpPr>
          <p:cNvPr id="44" name="TextBox 43"/>
          <p:cNvSpPr txBox="1"/>
          <p:nvPr/>
        </p:nvSpPr>
        <p:spPr>
          <a:xfrm>
            <a:off x="1325880" y="4736592"/>
            <a:ext cx="4572000" cy="914400"/>
          </a:xfrm>
          <a:prstGeom prst="rect">
            <a:avLst/>
          </a:prstGeom>
          <a:noFill/>
        </p:spPr>
        <p:txBody>
          <a:bodyPr wrap="square" lIns="0" rIns="0" tIns="0" bIns="0" anchor="ctr">
            <a:noAutofit/>
          </a:bodyPr>
          <a:lstStyle/>
          <a:p>
            <a:pPr algn="l">
              <a:lnSpc>
                <a:spcPct val="105000"/>
              </a:lnSpc>
              <a:spcBef>
                <a:spcPts val="0"/>
              </a:spcBef>
              <a:spcAft>
                <a:spcPts val="0"/>
              </a:spcAft>
            </a:pPr>
            <a:r>
              <a:rPr sz="1600" b="1" i="0">
                <a:solidFill>
                  <a:srgbClr val="10263F"/>
                </a:solidFill>
                <a:latin typeface="Georgia"/>
              </a:rPr>
              <a:t>OAuth tokens and environment variables are stored unencrypted in SQLite.</a:t>
            </a:r>
          </a:p>
        </p:txBody>
      </p:sp>
      <p:sp>
        <p:nvSpPr>
          <p:cNvPr id="45" name="TextBox 44"/>
          <p:cNvSpPr txBox="1"/>
          <p:nvPr/>
        </p:nvSpPr>
        <p:spPr>
          <a:xfrm>
            <a:off x="6309360" y="4736592"/>
            <a:ext cx="5120640" cy="914400"/>
          </a:xfrm>
          <a:prstGeom prst="rect">
            <a:avLst/>
          </a:prstGeom>
          <a:noFill/>
        </p:spPr>
        <p:txBody>
          <a:bodyPr wrap="square" lIns="0" rIns="0" tIns="0" bIns="0" anchor="ctr">
            <a:noAutofit/>
          </a:bodyPr>
          <a:lstStyle/>
          <a:p>
            <a:pPr algn="l">
              <a:lnSpc>
                <a:spcPct val="110000"/>
              </a:lnSpc>
              <a:spcBef>
                <a:spcPts val="0"/>
              </a:spcBef>
              <a:spcAft>
                <a:spcPts val="0"/>
              </a:spcAft>
            </a:pPr>
            <a:r>
              <a:rPr sz="1450" b="0" i="0">
                <a:solidFill>
                  <a:srgbClr val="4A5A6B"/>
                </a:solidFill>
                <a:latin typeface="Arial"/>
              </a:rPr>
              <a:t>Encrypt them, and add build-time variables.</a:t>
            </a:r>
          </a:p>
        </p:txBody>
      </p:sp>
      <p:sp>
        <p:nvSpPr>
          <p:cNvPr id="46" name="Rectangle 45"/>
          <p:cNvSpPr/>
          <p:nvPr/>
        </p:nvSpPr>
        <p:spPr>
          <a:xfrm>
            <a:off x="640080" y="5650992"/>
            <a:ext cx="10908792" cy="10972"/>
          </a:xfrm>
          <a:prstGeom prst="rect">
            <a:avLst/>
          </a:prstGeom>
          <a:solidFill>
            <a:srgbClr val="C4CBD0"/>
          </a:solidFill>
          <a:ln>
            <a:noFill/>
          </a:ln>
        </p:spPr>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pic>
        <p:nvPicPr>
          <p:cNvPr id="2" name="Picture 1" descr="hero_close.png"/>
          <p:cNvPicPr>
            <a:picLocks noChangeAspect="1"/>
          </p:cNvPicPr>
          <p:nvPr/>
        </p:nvPicPr>
        <p:blipFill>
          <a:blip r:embed="rId2"/>
          <a:stretch>
            <a:fillRect/>
          </a:stretch>
        </p:blipFill>
        <p:spPr>
          <a:xfrm>
            <a:off x="0" y="0"/>
            <a:ext cx="12191695" cy="6856971"/>
          </a:xfrm>
          <a:prstGeom prst="rect">
            <a:avLst/>
          </a:prstGeom>
        </p:spPr>
      </p:pic>
      <p:sp>
        <p:nvSpPr>
          <p:cNvPr id="3" name="TextBox 2"/>
          <p:cNvSpPr txBox="1"/>
          <p:nvPr/>
        </p:nvSpPr>
        <p:spPr>
          <a:xfrm>
            <a:off x="0" y="548640"/>
            <a:ext cx="12191695" cy="1188720"/>
          </a:xfrm>
          <a:prstGeom prst="rect">
            <a:avLst/>
          </a:prstGeom>
          <a:noFill/>
        </p:spPr>
        <p:txBody>
          <a:bodyPr wrap="square" lIns="0" rIns="0" tIns="0" bIns="0" anchor="t">
            <a:noAutofit/>
          </a:bodyPr>
          <a:lstStyle/>
          <a:p>
            <a:pPr algn="ctr">
              <a:spcBef>
                <a:spcPts val="0"/>
              </a:spcBef>
              <a:spcAft>
                <a:spcPts val="0"/>
              </a:spcAft>
            </a:pPr>
            <a:r>
              <a:rPr sz="7000" b="1" i="0">
                <a:solidFill>
                  <a:srgbClr val="10263F"/>
                </a:solidFill>
                <a:latin typeface="Georgia"/>
              </a:rPr>
              <a:t>Thank you</a:t>
            </a:r>
          </a:p>
        </p:txBody>
      </p:sp>
      <p:sp>
        <p:nvSpPr>
          <p:cNvPr id="4" name="TextBox 3"/>
          <p:cNvSpPr txBox="1"/>
          <p:nvPr/>
        </p:nvSpPr>
        <p:spPr>
          <a:xfrm>
            <a:off x="0" y="1783080"/>
            <a:ext cx="12191695" cy="548640"/>
          </a:xfrm>
          <a:prstGeom prst="rect">
            <a:avLst/>
          </a:prstGeom>
          <a:noFill/>
        </p:spPr>
        <p:txBody>
          <a:bodyPr wrap="square" lIns="0" rIns="0" tIns="0" bIns="0" anchor="t">
            <a:noAutofit/>
          </a:bodyPr>
          <a:lstStyle/>
          <a:p>
            <a:pPr algn="ctr">
              <a:spcBef>
                <a:spcPts val="0"/>
              </a:spcBef>
              <a:spcAft>
                <a:spcPts val="0"/>
              </a:spcAft>
            </a:pPr>
            <a:r>
              <a:rPr sz="2800" b="0" i="0">
                <a:solidFill>
                  <a:srgbClr val="4A5A6B"/>
                </a:solidFill>
                <a:latin typeface="Georgia"/>
              </a:rPr>
              <a:t>Questions?</a:t>
            </a:r>
          </a:p>
        </p:txBody>
      </p:sp>
      <p:sp>
        <p:nvSpPr>
          <p:cNvPr id="5" name="Rounded Rectangle 4"/>
          <p:cNvSpPr/>
          <p:nvPr/>
        </p:nvSpPr>
        <p:spPr>
          <a:xfrm>
            <a:off x="4087368" y="2624327"/>
            <a:ext cx="4142232" cy="566928"/>
          </a:xfrm>
          <a:prstGeom prst="roundRect">
            <a:avLst>
              <a:gd name="adj" fmla="val 6451"/>
            </a:avLst>
          </a:prstGeom>
          <a:solidFill>
            <a:srgbClr val="10263F"/>
          </a:solidFill>
          <a:ln>
            <a:noFill/>
          </a:ln>
        </p:spPr>
        <p:txBody>
          <a:bodyPr rtlCol="0" anchor="ctr"/>
          <a:lstStyle/>
          <a:p>
            <a:pPr algn="ctr"/>
          </a:p>
        </p:txBody>
      </p:sp>
      <p:sp>
        <p:nvSpPr>
          <p:cNvPr id="6" name="Rounded Rectangle 5"/>
          <p:cNvSpPr/>
          <p:nvPr/>
        </p:nvSpPr>
        <p:spPr>
          <a:xfrm>
            <a:off x="4023360" y="2560320"/>
            <a:ext cx="4142232" cy="566928"/>
          </a:xfrm>
          <a:prstGeom prst="roundRect">
            <a:avLst>
              <a:gd name="adj" fmla="val 6451"/>
            </a:avLst>
          </a:prstGeom>
          <a:solidFill>
            <a:srgbClr val="FFFFFF"/>
          </a:solidFill>
          <a:ln w="22225">
            <a:solidFill>
              <a:srgbClr val="10263F"/>
            </a:solidFill>
          </a:ln>
        </p:spPr>
        <p:txBody>
          <a:bodyPr rtlCol="0" anchor="ctr"/>
          <a:lstStyle/>
          <a:p>
            <a:pPr algn="ctr"/>
          </a:p>
        </p:txBody>
      </p:sp>
      <p:sp>
        <p:nvSpPr>
          <p:cNvPr id="7" name="TextBox 6"/>
          <p:cNvSpPr txBox="1"/>
          <p:nvPr/>
        </p:nvSpPr>
        <p:spPr>
          <a:xfrm>
            <a:off x="4023360" y="2560320"/>
            <a:ext cx="4142232" cy="566928"/>
          </a:xfrm>
          <a:prstGeom prst="rect">
            <a:avLst/>
          </a:prstGeom>
          <a:noFill/>
        </p:spPr>
        <p:txBody>
          <a:bodyPr wrap="square" lIns="0" rIns="0" tIns="0" bIns="0" anchor="ctr">
            <a:noAutofit/>
          </a:bodyPr>
          <a:lstStyle/>
          <a:p>
            <a:pPr algn="ctr">
              <a:spcBef>
                <a:spcPts val="0"/>
              </a:spcBef>
              <a:spcAft>
                <a:spcPts val="0"/>
              </a:spcAft>
            </a:pPr>
            <a:r>
              <a:rPr sz="1600" b="1" i="0">
                <a:solidFill>
                  <a:srgbClr val="10263F"/>
                </a:solidFill>
                <a:latin typeface="Arial"/>
              </a:rPr>
              <a:t>github.com/altf4-games/tugboat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Tugboat: a self-hosted deploy platform (DevOps mini project)</dc:title>
  <dc:subject/>
  <dc:creator>Pradyum Mistry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